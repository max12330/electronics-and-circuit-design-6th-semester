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93" r:id="rId31"/>
    <p:sldId id="294" r:id="rId32"/>
    <p:sldId id="295" r:id="rId33"/>
    <p:sldId id="296" r:id="rId34"/>
    <p:sldId id="286" r:id="rId35"/>
    <p:sldId id="287" r:id="rId36"/>
    <p:sldId id="288" r:id="rId37"/>
    <p:sldId id="289" r:id="rId38"/>
    <p:sldId id="290" r:id="rId39"/>
    <p:sldId id="291" r:id="rId40"/>
    <p:sldId id="292"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7" r:id="rId101"/>
    <p:sldId id="362" r:id="rId102"/>
    <p:sldId id="363" r:id="rId103"/>
    <p:sldId id="374" r:id="rId104"/>
    <p:sldId id="375" r:id="rId105"/>
    <p:sldId id="376" r:id="rId106"/>
    <p:sldId id="377" r:id="rId107"/>
    <p:sldId id="364" r:id="rId108"/>
    <p:sldId id="365" r:id="rId109"/>
    <p:sldId id="366" r:id="rId110"/>
    <p:sldId id="367" r:id="rId111"/>
    <p:sldId id="368" r:id="rId112"/>
    <p:sldId id="371" r:id="rId113"/>
    <p:sldId id="369" r:id="rId114"/>
    <p:sldId id="372" r:id="rId115"/>
    <p:sldId id="373" r:id="rId116"/>
    <p:sldId id="378" r:id="rId117"/>
    <p:sldId id="379" r:id="rId118"/>
    <p:sldId id="380" r:id="rId119"/>
    <p:sldId id="381" r:id="rId120"/>
    <p:sldId id="382" r:id="rId121"/>
    <p:sldId id="383" r:id="rId122"/>
    <p:sldId id="358" r:id="rId123"/>
    <p:sldId id="359" r:id="rId124"/>
    <p:sldId id="360" r:id="rId125"/>
    <p:sldId id="361" r:id="rId126"/>
    <p:sldId id="384" r:id="rId127"/>
    <p:sldId id="385" r:id="rId128"/>
    <p:sldId id="386" r:id="rId129"/>
    <p:sldId id="387" r:id="rId130"/>
    <p:sldId id="388" r:id="rId131"/>
    <p:sldId id="389" r:id="rId132"/>
    <p:sldId id="390" r:id="rId133"/>
    <p:sldId id="391" r:id="rId134"/>
    <p:sldId id="392" r:id="rId135"/>
    <p:sldId id="393" r:id="rId136"/>
    <p:sldId id="394" r:id="rId137"/>
    <p:sldId id="395" r:id="rId138"/>
    <p:sldId id="397" r:id="rId139"/>
    <p:sldId id="396" r:id="rId140"/>
    <p:sldId id="398" r:id="rId141"/>
    <p:sldId id="400" r:id="rId142"/>
    <p:sldId id="401" r:id="rId143"/>
    <p:sldId id="399" r:id="rId144"/>
    <p:sldId id="402" r:id="rId145"/>
    <p:sldId id="403" r:id="rId146"/>
    <p:sldId id="404" r:id="rId147"/>
    <p:sldId id="405" r:id="rId148"/>
    <p:sldId id="406" r:id="rId149"/>
    <p:sldId id="407" r:id="rId150"/>
    <p:sldId id="408" r:id="rId151"/>
    <p:sldId id="409" r:id="rId152"/>
    <p:sldId id="410" r:id="rId153"/>
    <p:sldId id="412" r:id="rId154"/>
    <p:sldId id="413" r:id="rId155"/>
    <p:sldId id="414" r:id="rId156"/>
    <p:sldId id="415" r:id="rId157"/>
    <p:sldId id="416" r:id="rId158"/>
    <p:sldId id="417" r:id="rId159"/>
    <p:sldId id="428" r:id="rId160"/>
    <p:sldId id="418" r:id="rId161"/>
    <p:sldId id="419" r:id="rId162"/>
    <p:sldId id="420" r:id="rId163"/>
    <p:sldId id="421" r:id="rId164"/>
    <p:sldId id="422" r:id="rId165"/>
    <p:sldId id="423" r:id="rId166"/>
    <p:sldId id="424" r:id="rId167"/>
    <p:sldId id="425" r:id="rId168"/>
    <p:sldId id="426" r:id="rId169"/>
    <p:sldId id="427" r:id="rId170"/>
    <p:sldId id="429" r:id="rId171"/>
    <p:sldId id="430" r:id="rId172"/>
    <p:sldId id="431" r:id="rId173"/>
    <p:sldId id="432" r:id="rId174"/>
    <p:sldId id="433" r:id="rId175"/>
    <p:sldId id="435" r:id="rId176"/>
    <p:sldId id="436" r:id="rId177"/>
    <p:sldId id="437" r:id="rId178"/>
    <p:sldId id="438" r:id="rId179"/>
    <p:sldId id="439" r:id="rId180"/>
    <p:sldId id="440" r:id="rId181"/>
    <p:sldId id="441" r:id="rId182"/>
    <p:sldId id="442" r:id="rId183"/>
    <p:sldId id="443" r:id="rId184"/>
    <p:sldId id="444" r:id="rId185"/>
    <p:sldId id="446" r:id="rId186"/>
    <p:sldId id="447" r:id="rId187"/>
    <p:sldId id="454" r:id="rId188"/>
    <p:sldId id="455" r:id="rId189"/>
    <p:sldId id="456" r:id="rId190"/>
    <p:sldId id="458" r:id="rId191"/>
    <p:sldId id="448" r:id="rId192"/>
    <p:sldId id="449" r:id="rId193"/>
    <p:sldId id="450" r:id="rId194"/>
    <p:sldId id="451" r:id="rId195"/>
    <p:sldId id="452" r:id="rId196"/>
    <p:sldId id="460" r:id="rId197"/>
    <p:sldId id="459" r:id="rId198"/>
    <p:sldId id="461" r:id="rId199"/>
    <p:sldId id="462" r:id="rId200"/>
    <p:sldId id="463" r:id="rId201"/>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7A6B8D3E-782E-47E9-98F3-1DE8AE110A2B}">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93"/>
            <p14:sldId id="294"/>
            <p14:sldId id="295"/>
            <p14:sldId id="296"/>
            <p14:sldId id="286"/>
            <p14:sldId id="287"/>
            <p14:sldId id="288"/>
            <p14:sldId id="289"/>
            <p14:sldId id="290"/>
            <p14:sldId id="291"/>
            <p14:sldId id="292"/>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7"/>
            <p14:sldId id="362"/>
            <p14:sldId id="363"/>
            <p14:sldId id="374"/>
            <p14:sldId id="375"/>
            <p14:sldId id="376"/>
            <p14:sldId id="377"/>
            <p14:sldId id="364"/>
            <p14:sldId id="365"/>
            <p14:sldId id="366"/>
            <p14:sldId id="367"/>
            <p14:sldId id="368"/>
            <p14:sldId id="371"/>
            <p14:sldId id="369"/>
            <p14:sldId id="372"/>
            <p14:sldId id="373"/>
            <p14:sldId id="378"/>
            <p14:sldId id="379"/>
            <p14:sldId id="380"/>
            <p14:sldId id="381"/>
            <p14:sldId id="382"/>
            <p14:sldId id="383"/>
            <p14:sldId id="358"/>
            <p14:sldId id="359"/>
            <p14:sldId id="360"/>
            <p14:sldId id="361"/>
            <p14:sldId id="384"/>
            <p14:sldId id="385"/>
            <p14:sldId id="386"/>
            <p14:sldId id="387"/>
            <p14:sldId id="388"/>
            <p14:sldId id="389"/>
            <p14:sldId id="390"/>
            <p14:sldId id="391"/>
            <p14:sldId id="392"/>
            <p14:sldId id="393"/>
            <p14:sldId id="394"/>
            <p14:sldId id="395"/>
            <p14:sldId id="397"/>
            <p14:sldId id="396"/>
            <p14:sldId id="398"/>
            <p14:sldId id="400"/>
            <p14:sldId id="401"/>
            <p14:sldId id="399"/>
            <p14:sldId id="402"/>
            <p14:sldId id="403"/>
            <p14:sldId id="404"/>
            <p14:sldId id="405"/>
            <p14:sldId id="406"/>
            <p14:sldId id="407"/>
            <p14:sldId id="408"/>
            <p14:sldId id="409"/>
            <p14:sldId id="410"/>
            <p14:sldId id="412"/>
            <p14:sldId id="413"/>
            <p14:sldId id="414"/>
            <p14:sldId id="415"/>
            <p14:sldId id="416"/>
            <p14:sldId id="417"/>
            <p14:sldId id="428"/>
            <p14:sldId id="418"/>
            <p14:sldId id="419"/>
            <p14:sldId id="420"/>
            <p14:sldId id="421"/>
            <p14:sldId id="422"/>
            <p14:sldId id="423"/>
            <p14:sldId id="424"/>
            <p14:sldId id="425"/>
            <p14:sldId id="426"/>
            <p14:sldId id="427"/>
            <p14:sldId id="429"/>
            <p14:sldId id="430"/>
            <p14:sldId id="431"/>
            <p14:sldId id="432"/>
            <p14:sldId id="433"/>
            <p14:sldId id="435"/>
            <p14:sldId id="436"/>
            <p14:sldId id="437"/>
            <p14:sldId id="438"/>
            <p14:sldId id="439"/>
            <p14:sldId id="440"/>
            <p14:sldId id="441"/>
            <p14:sldId id="442"/>
            <p14:sldId id="443"/>
            <p14:sldId id="444"/>
            <p14:sldId id="446"/>
            <p14:sldId id="447"/>
            <p14:sldId id="454"/>
            <p14:sldId id="455"/>
            <p14:sldId id="456"/>
            <p14:sldId id="458"/>
            <p14:sldId id="448"/>
            <p14:sldId id="449"/>
            <p14:sldId id="450"/>
            <p14:sldId id="451"/>
            <p14:sldId id="452"/>
            <p14:sldId id="460"/>
            <p14:sldId id="459"/>
            <p14:sldId id="461"/>
            <p14:sldId id="462"/>
            <p14:sldId id="4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55" autoAdjust="0"/>
    <p:restoredTop sz="94660"/>
  </p:normalViewPr>
  <p:slideViewPr>
    <p:cSldViewPr>
      <p:cViewPr varScale="1">
        <p:scale>
          <a:sx n="89" d="100"/>
          <a:sy n="89" d="100"/>
        </p:scale>
        <p:origin x="1272"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notesMaster" Target="notesMasters/notesMaster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24.wmf"/><Relationship Id="rId3" Type="http://schemas.openxmlformats.org/officeDocument/2006/relationships/image" Target="../media/image14.wmf"/><Relationship Id="rId7" Type="http://schemas.openxmlformats.org/officeDocument/2006/relationships/image" Target="../media/image18.wmf"/><Relationship Id="rId12" Type="http://schemas.openxmlformats.org/officeDocument/2006/relationships/image" Target="../media/image23.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17.wmf"/><Relationship Id="rId11" Type="http://schemas.openxmlformats.org/officeDocument/2006/relationships/image" Target="../media/image22.wmf"/><Relationship Id="rId5" Type="http://schemas.openxmlformats.org/officeDocument/2006/relationships/image" Target="../media/image16.wmf"/><Relationship Id="rId10" Type="http://schemas.openxmlformats.org/officeDocument/2006/relationships/image" Target="../media/image21.wmf"/><Relationship Id="rId4" Type="http://schemas.openxmlformats.org/officeDocument/2006/relationships/image" Target="../media/image15.wmf"/><Relationship Id="rId9"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46.wmf"/><Relationship Id="rId3" Type="http://schemas.openxmlformats.org/officeDocument/2006/relationships/image" Target="../media/image36.wmf"/><Relationship Id="rId7" Type="http://schemas.openxmlformats.org/officeDocument/2006/relationships/image" Target="../media/image40.wmf"/><Relationship Id="rId12" Type="http://schemas.openxmlformats.org/officeDocument/2006/relationships/image" Target="../media/image45.wmf"/><Relationship Id="rId2" Type="http://schemas.openxmlformats.org/officeDocument/2006/relationships/image" Target="../media/image35.wmf"/><Relationship Id="rId16" Type="http://schemas.openxmlformats.org/officeDocument/2006/relationships/image" Target="../media/image49.wmf"/><Relationship Id="rId1" Type="http://schemas.openxmlformats.org/officeDocument/2006/relationships/image" Target="../media/image34.wmf"/><Relationship Id="rId6" Type="http://schemas.openxmlformats.org/officeDocument/2006/relationships/image" Target="../media/image39.wmf"/><Relationship Id="rId11" Type="http://schemas.openxmlformats.org/officeDocument/2006/relationships/image" Target="../media/image44.wmf"/><Relationship Id="rId5" Type="http://schemas.openxmlformats.org/officeDocument/2006/relationships/image" Target="../media/image38.wmf"/><Relationship Id="rId15" Type="http://schemas.openxmlformats.org/officeDocument/2006/relationships/image" Target="../media/image48.wmf"/><Relationship Id="rId10" Type="http://schemas.openxmlformats.org/officeDocument/2006/relationships/image" Target="../media/image43.wmf"/><Relationship Id="rId4" Type="http://schemas.openxmlformats.org/officeDocument/2006/relationships/image" Target="../media/image37.wmf"/><Relationship Id="rId9" Type="http://schemas.openxmlformats.org/officeDocument/2006/relationships/image" Target="../media/image42.wmf"/><Relationship Id="rId14" Type="http://schemas.openxmlformats.org/officeDocument/2006/relationships/image" Target="../media/image4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image" Target="../media/image70.wmf"/><Relationship Id="rId3" Type="http://schemas.openxmlformats.org/officeDocument/2006/relationships/image" Target="../media/image61.wmf"/><Relationship Id="rId7" Type="http://schemas.openxmlformats.org/officeDocument/2006/relationships/image" Target="../media/image64.wmf"/><Relationship Id="rId12" Type="http://schemas.openxmlformats.org/officeDocument/2006/relationships/image" Target="../media/image69.wmf"/><Relationship Id="rId2" Type="http://schemas.openxmlformats.org/officeDocument/2006/relationships/image" Target="../media/image60.wmf"/><Relationship Id="rId1" Type="http://schemas.openxmlformats.org/officeDocument/2006/relationships/image" Target="../media/image59.wmf"/><Relationship Id="rId6" Type="http://schemas.openxmlformats.org/officeDocument/2006/relationships/image" Target="../media/image63.wmf"/><Relationship Id="rId11" Type="http://schemas.openxmlformats.org/officeDocument/2006/relationships/image" Target="../media/image68.wmf"/><Relationship Id="rId5" Type="http://schemas.openxmlformats.org/officeDocument/2006/relationships/image" Target="../media/image62.wmf"/><Relationship Id="rId10" Type="http://schemas.openxmlformats.org/officeDocument/2006/relationships/image" Target="../media/image67.wmf"/><Relationship Id="rId4" Type="http://schemas.openxmlformats.org/officeDocument/2006/relationships/image" Target="../media/image52.wmf"/><Relationship Id="rId9" Type="http://schemas.openxmlformats.org/officeDocument/2006/relationships/image" Target="../media/image6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E5D87C-08FC-4A87-A628-5BAD6A6A8765}" type="datetimeFigureOut">
              <a:rPr lang="ru-RU" smtClean="0"/>
              <a:t>24.07.2020</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CD850A-AB2A-4821-BA3A-6DC4D9690E17}" type="slidenum">
              <a:rPr lang="ru-RU" smtClean="0"/>
              <a:t>‹#›</a:t>
            </a:fld>
            <a:endParaRPr lang="ru-RU"/>
          </a:p>
        </p:txBody>
      </p:sp>
    </p:spTree>
    <p:extLst>
      <p:ext uri="{BB962C8B-B14F-4D97-AF65-F5344CB8AC3E}">
        <p14:creationId xmlns:p14="http://schemas.microsoft.com/office/powerpoint/2010/main" val="2819312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59CD850A-AB2A-4821-BA3A-6DC4D9690E17}" type="slidenum">
              <a:rPr lang="ru-RU" smtClean="0"/>
              <a:t>17</a:t>
            </a:fld>
            <a:endParaRPr lang="ru-RU"/>
          </a:p>
        </p:txBody>
      </p:sp>
    </p:spTree>
    <p:extLst>
      <p:ext uri="{BB962C8B-B14F-4D97-AF65-F5344CB8AC3E}">
        <p14:creationId xmlns:p14="http://schemas.microsoft.com/office/powerpoint/2010/main" val="3109206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B4C1DF76-AAED-47AD-962C-4C9FB81CD637}" type="datetimeFigureOut">
              <a:rPr lang="ru-RU" smtClean="0"/>
              <a:t>24.07.2020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4147854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1DF76-AAED-47AD-962C-4C9FB81CD637}" type="datetimeFigureOut">
              <a:rPr lang="ru-RU" smtClean="0"/>
              <a:t>24.07.2020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2682983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B4C1DF76-AAED-47AD-962C-4C9FB81CD637}" type="datetimeFigureOut">
              <a:rPr lang="ru-RU" smtClean="0"/>
              <a:t>24.07.2020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2612066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B4C1DF76-AAED-47AD-962C-4C9FB81CD637}" type="datetimeFigureOut">
              <a:rPr lang="ru-RU" smtClean="0"/>
              <a:t>24.07.2020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115887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B4C1DF76-AAED-47AD-962C-4C9FB81CD637}" type="datetimeFigureOut">
              <a:rPr lang="ru-RU" smtClean="0"/>
              <a:t>24.07.2020</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1156817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B4C1DF76-AAED-47AD-962C-4C9FB81CD637}" type="datetimeFigureOut">
              <a:rPr lang="ru-RU" smtClean="0"/>
              <a:t>24.07.2020</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1439320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1DF76-AAED-47AD-962C-4C9FB81CD637}" type="datetimeFigureOut">
              <a:rPr lang="ru-RU" smtClean="0"/>
              <a:t>24.07.2020</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85850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1DF76-AAED-47AD-962C-4C9FB81CD637}" type="datetimeFigureOut">
              <a:rPr lang="ru-RU" smtClean="0"/>
              <a:t>24.07.2020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2258620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1DF76-AAED-47AD-962C-4C9FB81CD637}" type="datetimeFigureOut">
              <a:rPr lang="ru-RU" smtClean="0"/>
              <a:t>24.07.2020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387710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1DF76-AAED-47AD-962C-4C9FB81CD637}" type="datetimeFigureOut">
              <a:rPr lang="ru-RU" smtClean="0"/>
              <a:t>24.07.2020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1854920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1DF76-AAED-47AD-962C-4C9FB81CD637}" type="datetimeFigureOut">
              <a:rPr lang="ru-RU" smtClean="0"/>
              <a:t>24.07.2020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BAEE59D-0DFD-4780-B13B-CD9AC12EA2AE}" type="slidenum">
              <a:rPr lang="ru-RU" smtClean="0"/>
              <a:t>‹#›</a:t>
            </a:fld>
            <a:endParaRPr lang="ru-RU"/>
          </a:p>
        </p:txBody>
      </p:sp>
    </p:spTree>
    <p:extLst>
      <p:ext uri="{BB962C8B-B14F-4D97-AF65-F5344CB8AC3E}">
        <p14:creationId xmlns:p14="http://schemas.microsoft.com/office/powerpoint/2010/main" val="3069590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1DF76-AAED-47AD-962C-4C9FB81CD637}" type="datetimeFigureOut">
              <a:rPr lang="ru-RU" smtClean="0"/>
              <a:t>24.07.2020</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EE59D-0DFD-4780-B13B-CD9AC12EA2AE}" type="slidenum">
              <a:rPr lang="ru-RU" smtClean="0"/>
              <a:t>‹#›</a:t>
            </a:fld>
            <a:endParaRPr lang="ru-RU"/>
          </a:p>
        </p:txBody>
      </p:sp>
    </p:spTree>
    <p:extLst>
      <p:ext uri="{BB962C8B-B14F-4D97-AF65-F5344CB8AC3E}">
        <p14:creationId xmlns:p14="http://schemas.microsoft.com/office/powerpoint/2010/main" val="562993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6.bin"/><Relationship Id="rId1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11.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19.bin"/><Relationship Id="rId18" Type="http://schemas.openxmlformats.org/officeDocument/2006/relationships/image" Target="../media/image19.wmf"/><Relationship Id="rId26" Type="http://schemas.openxmlformats.org/officeDocument/2006/relationships/image" Target="../media/image23.wmf"/><Relationship Id="rId3" Type="http://schemas.openxmlformats.org/officeDocument/2006/relationships/oleObject" Target="../embeddings/oleObject14.bin"/><Relationship Id="rId21" Type="http://schemas.openxmlformats.org/officeDocument/2006/relationships/oleObject" Target="../embeddings/oleObject23.bin"/><Relationship Id="rId7" Type="http://schemas.openxmlformats.org/officeDocument/2006/relationships/oleObject" Target="../embeddings/oleObject16.bin"/><Relationship Id="rId12" Type="http://schemas.openxmlformats.org/officeDocument/2006/relationships/image" Target="../media/image16.wmf"/><Relationship Id="rId17" Type="http://schemas.openxmlformats.org/officeDocument/2006/relationships/oleObject" Target="../embeddings/oleObject21.bin"/><Relationship Id="rId25" Type="http://schemas.openxmlformats.org/officeDocument/2006/relationships/oleObject" Target="../embeddings/oleObject25.bin"/><Relationship Id="rId2" Type="http://schemas.openxmlformats.org/officeDocument/2006/relationships/slideLayout" Target="../slideLayouts/slideLayout2.xml"/><Relationship Id="rId16" Type="http://schemas.openxmlformats.org/officeDocument/2006/relationships/image" Target="../media/image18.wmf"/><Relationship Id="rId20" Type="http://schemas.openxmlformats.org/officeDocument/2006/relationships/image" Target="../media/image20.wmf"/><Relationship Id="rId1" Type="http://schemas.openxmlformats.org/officeDocument/2006/relationships/vmlDrawing" Target="../drawings/vmlDrawing4.vml"/><Relationship Id="rId6" Type="http://schemas.openxmlformats.org/officeDocument/2006/relationships/image" Target="../media/image13.wmf"/><Relationship Id="rId11" Type="http://schemas.openxmlformats.org/officeDocument/2006/relationships/oleObject" Target="../embeddings/oleObject18.bin"/><Relationship Id="rId24" Type="http://schemas.openxmlformats.org/officeDocument/2006/relationships/image" Target="../media/image22.wmf"/><Relationship Id="rId5" Type="http://schemas.openxmlformats.org/officeDocument/2006/relationships/oleObject" Target="../embeddings/oleObject15.bin"/><Relationship Id="rId15" Type="http://schemas.openxmlformats.org/officeDocument/2006/relationships/oleObject" Target="../embeddings/oleObject20.bin"/><Relationship Id="rId23" Type="http://schemas.openxmlformats.org/officeDocument/2006/relationships/oleObject" Target="../embeddings/oleObject24.bin"/><Relationship Id="rId28" Type="http://schemas.openxmlformats.org/officeDocument/2006/relationships/image" Target="../media/image24.wmf"/><Relationship Id="rId10" Type="http://schemas.openxmlformats.org/officeDocument/2006/relationships/image" Target="../media/image15.wmf"/><Relationship Id="rId19" Type="http://schemas.openxmlformats.org/officeDocument/2006/relationships/oleObject" Target="../embeddings/oleObject22.bin"/><Relationship Id="rId4" Type="http://schemas.openxmlformats.org/officeDocument/2006/relationships/image" Target="../media/image12.wmf"/><Relationship Id="rId9" Type="http://schemas.openxmlformats.org/officeDocument/2006/relationships/oleObject" Target="../embeddings/oleObject17.bin"/><Relationship Id="rId14" Type="http://schemas.openxmlformats.org/officeDocument/2006/relationships/image" Target="../media/image17.wmf"/><Relationship Id="rId22" Type="http://schemas.openxmlformats.org/officeDocument/2006/relationships/image" Target="../media/image21.wmf"/><Relationship Id="rId27" Type="http://schemas.openxmlformats.org/officeDocument/2006/relationships/oleObject" Target="../embeddings/oleObject26.bin"/></Relationships>
</file>

<file path=ppt/slides/_rels/slide9.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29.wmf"/><Relationship Id="rId2" Type="http://schemas.openxmlformats.org/officeDocument/2006/relationships/slideLayout" Target="../slideLayouts/slideLayout2.xml"/><Relationship Id="rId16" Type="http://schemas.openxmlformats.org/officeDocument/2006/relationships/image" Target="../media/image31.wmf"/><Relationship Id="rId1" Type="http://schemas.openxmlformats.org/officeDocument/2006/relationships/vmlDrawing" Target="../drawings/vmlDrawing5.vml"/><Relationship Id="rId6" Type="http://schemas.openxmlformats.org/officeDocument/2006/relationships/image" Target="../media/image26.wmf"/><Relationship Id="rId11" Type="http://schemas.openxmlformats.org/officeDocument/2006/relationships/oleObject" Target="../embeddings/oleObject31.bin"/><Relationship Id="rId5" Type="http://schemas.openxmlformats.org/officeDocument/2006/relationships/oleObject" Target="../embeddings/oleObject28.bin"/><Relationship Id="rId15" Type="http://schemas.openxmlformats.org/officeDocument/2006/relationships/oleObject" Target="../embeddings/oleObject33.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30.bin"/><Relationship Id="rId14" Type="http://schemas.openxmlformats.org/officeDocument/2006/relationships/image" Target="../media/image30.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3.wmf"/><Relationship Id="rId5" Type="http://schemas.openxmlformats.org/officeDocument/2006/relationships/oleObject" Target="../embeddings/oleObject35.bin"/><Relationship Id="rId4" Type="http://schemas.openxmlformats.org/officeDocument/2006/relationships/image" Target="../media/image32.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42.bin"/><Relationship Id="rId18" Type="http://schemas.openxmlformats.org/officeDocument/2006/relationships/image" Target="../media/image41.wmf"/><Relationship Id="rId26" Type="http://schemas.openxmlformats.org/officeDocument/2006/relationships/image" Target="../media/image45.wmf"/><Relationship Id="rId3" Type="http://schemas.openxmlformats.org/officeDocument/2006/relationships/oleObject" Target="../embeddings/oleObject37.bin"/><Relationship Id="rId21" Type="http://schemas.openxmlformats.org/officeDocument/2006/relationships/oleObject" Target="../embeddings/oleObject46.bin"/><Relationship Id="rId34" Type="http://schemas.openxmlformats.org/officeDocument/2006/relationships/image" Target="../media/image49.wmf"/><Relationship Id="rId7" Type="http://schemas.openxmlformats.org/officeDocument/2006/relationships/oleObject" Target="../embeddings/oleObject39.bin"/><Relationship Id="rId12" Type="http://schemas.openxmlformats.org/officeDocument/2006/relationships/image" Target="../media/image38.wmf"/><Relationship Id="rId17" Type="http://schemas.openxmlformats.org/officeDocument/2006/relationships/oleObject" Target="../embeddings/oleObject44.bin"/><Relationship Id="rId25" Type="http://schemas.openxmlformats.org/officeDocument/2006/relationships/oleObject" Target="../embeddings/oleObject48.bin"/><Relationship Id="rId33" Type="http://schemas.openxmlformats.org/officeDocument/2006/relationships/oleObject" Target="../embeddings/oleObject52.bin"/><Relationship Id="rId2" Type="http://schemas.openxmlformats.org/officeDocument/2006/relationships/slideLayout" Target="../slideLayouts/slideLayout2.xml"/><Relationship Id="rId16" Type="http://schemas.openxmlformats.org/officeDocument/2006/relationships/image" Target="../media/image40.wmf"/><Relationship Id="rId20" Type="http://schemas.openxmlformats.org/officeDocument/2006/relationships/image" Target="../media/image42.wmf"/><Relationship Id="rId29" Type="http://schemas.openxmlformats.org/officeDocument/2006/relationships/oleObject" Target="../embeddings/oleObject50.bin"/><Relationship Id="rId1" Type="http://schemas.openxmlformats.org/officeDocument/2006/relationships/vmlDrawing" Target="../drawings/vmlDrawing7.vml"/><Relationship Id="rId6" Type="http://schemas.openxmlformats.org/officeDocument/2006/relationships/image" Target="../media/image35.wmf"/><Relationship Id="rId11" Type="http://schemas.openxmlformats.org/officeDocument/2006/relationships/oleObject" Target="../embeddings/oleObject41.bin"/><Relationship Id="rId24" Type="http://schemas.openxmlformats.org/officeDocument/2006/relationships/image" Target="../media/image44.wmf"/><Relationship Id="rId32" Type="http://schemas.openxmlformats.org/officeDocument/2006/relationships/image" Target="../media/image48.wmf"/><Relationship Id="rId5" Type="http://schemas.openxmlformats.org/officeDocument/2006/relationships/oleObject" Target="../embeddings/oleObject38.bin"/><Relationship Id="rId15" Type="http://schemas.openxmlformats.org/officeDocument/2006/relationships/oleObject" Target="../embeddings/oleObject43.bin"/><Relationship Id="rId23" Type="http://schemas.openxmlformats.org/officeDocument/2006/relationships/oleObject" Target="../embeddings/oleObject47.bin"/><Relationship Id="rId28" Type="http://schemas.openxmlformats.org/officeDocument/2006/relationships/image" Target="../media/image46.wmf"/><Relationship Id="rId10" Type="http://schemas.openxmlformats.org/officeDocument/2006/relationships/image" Target="../media/image37.wmf"/><Relationship Id="rId19" Type="http://schemas.openxmlformats.org/officeDocument/2006/relationships/oleObject" Target="../embeddings/oleObject45.bin"/><Relationship Id="rId31" Type="http://schemas.openxmlformats.org/officeDocument/2006/relationships/oleObject" Target="../embeddings/oleObject51.bin"/><Relationship Id="rId4" Type="http://schemas.openxmlformats.org/officeDocument/2006/relationships/image" Target="../media/image34.wmf"/><Relationship Id="rId9" Type="http://schemas.openxmlformats.org/officeDocument/2006/relationships/oleObject" Target="../embeddings/oleObject40.bin"/><Relationship Id="rId14" Type="http://schemas.openxmlformats.org/officeDocument/2006/relationships/image" Target="../media/image39.wmf"/><Relationship Id="rId22" Type="http://schemas.openxmlformats.org/officeDocument/2006/relationships/image" Target="../media/image43.wmf"/><Relationship Id="rId27" Type="http://schemas.openxmlformats.org/officeDocument/2006/relationships/oleObject" Target="../embeddings/oleObject49.bin"/><Relationship Id="rId30" Type="http://schemas.openxmlformats.org/officeDocument/2006/relationships/image" Target="../media/image47.wmf"/><Relationship Id="rId8" Type="http://schemas.openxmlformats.org/officeDocument/2006/relationships/image" Target="../media/image36.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51.png"/><Relationship Id="rId4" Type="http://schemas.openxmlformats.org/officeDocument/2006/relationships/image" Target="../media/image50.wmf"/></Relationships>
</file>

<file path=ppt/slides/_rels/slide24.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56.wmf"/><Relationship Id="rId2" Type="http://schemas.openxmlformats.org/officeDocument/2006/relationships/slideLayout" Target="../slideLayouts/slideLayout2.xml"/><Relationship Id="rId16" Type="http://schemas.openxmlformats.org/officeDocument/2006/relationships/image" Target="../media/image58.wmf"/><Relationship Id="rId1" Type="http://schemas.openxmlformats.org/officeDocument/2006/relationships/vmlDrawing" Target="../drawings/vmlDrawing9.vml"/><Relationship Id="rId6" Type="http://schemas.openxmlformats.org/officeDocument/2006/relationships/image" Target="../media/image53.wmf"/><Relationship Id="rId11" Type="http://schemas.openxmlformats.org/officeDocument/2006/relationships/oleObject" Target="../embeddings/oleObject58.bin"/><Relationship Id="rId5" Type="http://schemas.openxmlformats.org/officeDocument/2006/relationships/oleObject" Target="../embeddings/oleObject55.bin"/><Relationship Id="rId15" Type="http://schemas.openxmlformats.org/officeDocument/2006/relationships/oleObject" Target="../embeddings/oleObject60.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57.bin"/><Relationship Id="rId14" Type="http://schemas.openxmlformats.org/officeDocument/2006/relationships/image" Target="../media/image57.wmf"/></Relationships>
</file>

<file path=ppt/slides/_rels/slide25.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66.bin"/><Relationship Id="rId18" Type="http://schemas.openxmlformats.org/officeDocument/2006/relationships/image" Target="../media/image65.wmf"/><Relationship Id="rId26" Type="http://schemas.openxmlformats.org/officeDocument/2006/relationships/image" Target="../media/image69.wmf"/><Relationship Id="rId3" Type="http://schemas.openxmlformats.org/officeDocument/2006/relationships/oleObject" Target="../embeddings/oleObject61.bin"/><Relationship Id="rId21" Type="http://schemas.openxmlformats.org/officeDocument/2006/relationships/oleObject" Target="../embeddings/oleObject70.bin"/><Relationship Id="rId7" Type="http://schemas.openxmlformats.org/officeDocument/2006/relationships/oleObject" Target="../embeddings/oleObject63.bin"/><Relationship Id="rId12" Type="http://schemas.openxmlformats.org/officeDocument/2006/relationships/image" Target="../media/image62.wmf"/><Relationship Id="rId17" Type="http://schemas.openxmlformats.org/officeDocument/2006/relationships/oleObject" Target="../embeddings/oleObject68.bin"/><Relationship Id="rId25" Type="http://schemas.openxmlformats.org/officeDocument/2006/relationships/oleObject" Target="../embeddings/oleObject72.bin"/><Relationship Id="rId2" Type="http://schemas.openxmlformats.org/officeDocument/2006/relationships/slideLayout" Target="../slideLayouts/slideLayout2.xml"/><Relationship Id="rId16" Type="http://schemas.openxmlformats.org/officeDocument/2006/relationships/image" Target="../media/image64.wmf"/><Relationship Id="rId20" Type="http://schemas.openxmlformats.org/officeDocument/2006/relationships/image" Target="../media/image66.wmf"/><Relationship Id="rId1" Type="http://schemas.openxmlformats.org/officeDocument/2006/relationships/vmlDrawing" Target="../drawings/vmlDrawing10.vml"/><Relationship Id="rId6" Type="http://schemas.openxmlformats.org/officeDocument/2006/relationships/image" Target="../media/image60.wmf"/><Relationship Id="rId11" Type="http://schemas.openxmlformats.org/officeDocument/2006/relationships/oleObject" Target="../embeddings/oleObject65.bin"/><Relationship Id="rId24" Type="http://schemas.openxmlformats.org/officeDocument/2006/relationships/image" Target="../media/image68.wmf"/><Relationship Id="rId5" Type="http://schemas.openxmlformats.org/officeDocument/2006/relationships/oleObject" Target="../embeddings/oleObject62.bin"/><Relationship Id="rId15" Type="http://schemas.openxmlformats.org/officeDocument/2006/relationships/oleObject" Target="../embeddings/oleObject67.bin"/><Relationship Id="rId23" Type="http://schemas.openxmlformats.org/officeDocument/2006/relationships/oleObject" Target="../embeddings/oleObject71.bin"/><Relationship Id="rId28" Type="http://schemas.openxmlformats.org/officeDocument/2006/relationships/image" Target="../media/image70.wmf"/><Relationship Id="rId10" Type="http://schemas.openxmlformats.org/officeDocument/2006/relationships/image" Target="../media/image52.wmf"/><Relationship Id="rId19" Type="http://schemas.openxmlformats.org/officeDocument/2006/relationships/oleObject" Target="../embeddings/oleObject69.bin"/><Relationship Id="rId4" Type="http://schemas.openxmlformats.org/officeDocument/2006/relationships/image" Target="../media/image59.wmf"/><Relationship Id="rId9" Type="http://schemas.openxmlformats.org/officeDocument/2006/relationships/oleObject" Target="../embeddings/oleObject64.bin"/><Relationship Id="rId14" Type="http://schemas.openxmlformats.org/officeDocument/2006/relationships/image" Target="../media/image63.wmf"/><Relationship Id="rId22" Type="http://schemas.openxmlformats.org/officeDocument/2006/relationships/image" Target="../media/image67.wmf"/><Relationship Id="rId27" Type="http://schemas.openxmlformats.org/officeDocument/2006/relationships/oleObject" Target="../embeddings/oleObject73.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71.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71.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71.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71.wmf"/></Relationships>
</file>

<file path=ppt/slides/_rels/slide30.xml.rels><?xml version="1.0" encoding="UTF-8" standalone="yes"?>
<Relationships xmlns="http://schemas.openxmlformats.org/package/2006/relationships"><Relationship Id="rId3" Type="http://schemas.openxmlformats.org/officeDocument/2006/relationships/image" Target="../media/image73.gif"/><Relationship Id="rId2" Type="http://schemas.openxmlformats.org/officeDocument/2006/relationships/image" Target="../media/image72.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76.wmf"/><Relationship Id="rId5" Type="http://schemas.openxmlformats.org/officeDocument/2006/relationships/oleObject" Target="../embeddings/oleObject79.bin"/><Relationship Id="rId4" Type="http://schemas.openxmlformats.org/officeDocument/2006/relationships/image" Target="../media/image71.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71.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71.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71.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71.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71.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7.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8.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9.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1.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2.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3.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4.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image" Target="../media/image85.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7.gi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8.gi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9.gi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0.gi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3.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5.gi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6.gi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7.gi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8.gi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9.gi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0.gi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1.gi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2.gi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4.gif"/><Relationship Id="rId2" Type="http://schemas.openxmlformats.org/officeDocument/2006/relationships/image" Target="../media/image103.gi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5.gi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6.gi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7.gi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9.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1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microsoft.com/office/2007/relationships/hdphoto" Target="../media/hdphoto21.wdp"/><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microsoft.com/office/2007/relationships/hdphoto" Target="../media/hdphoto22.wdp"/><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8" Type="http://schemas.openxmlformats.org/officeDocument/2006/relationships/image" Target="../media/image144.wmf"/><Relationship Id="rId3" Type="http://schemas.openxmlformats.org/officeDocument/2006/relationships/oleObject" Target="../embeddings/oleObject85.bin"/><Relationship Id="rId7"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43.wmf"/><Relationship Id="rId5" Type="http://schemas.openxmlformats.org/officeDocument/2006/relationships/oleObject" Target="../embeddings/oleObject86.bin"/><Relationship Id="rId10" Type="http://schemas.openxmlformats.org/officeDocument/2006/relationships/oleObject" Target="../embeddings/oleObject89.bin"/><Relationship Id="rId4" Type="http://schemas.openxmlformats.org/officeDocument/2006/relationships/image" Target="../media/image142.wmf"/><Relationship Id="rId9" Type="http://schemas.openxmlformats.org/officeDocument/2006/relationships/oleObject" Target="../embeddings/oleObject88.bin"/></Relationships>
</file>

<file path=ppt/slides/_rels/slide162.xml.rels><?xml version="1.0" encoding="UTF-8" standalone="yes"?>
<Relationships xmlns="http://schemas.openxmlformats.org/package/2006/relationships"><Relationship Id="rId3" Type="http://schemas.microsoft.com/office/2007/relationships/hdphoto" Target="../media/hdphoto23.wdp"/><Relationship Id="rId2" Type="http://schemas.openxmlformats.org/officeDocument/2006/relationships/image" Target="../media/image145.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147.png"/><Relationship Id="rId1" Type="http://schemas.openxmlformats.org/officeDocument/2006/relationships/slideLayout" Target="../slideLayouts/slideLayout2.xml"/><Relationship Id="rId5" Type="http://schemas.openxmlformats.org/officeDocument/2006/relationships/image" Target="../media/image149.jpeg"/><Relationship Id="rId4" Type="http://schemas.openxmlformats.org/officeDocument/2006/relationships/image" Target="../media/image148.jpeg"/></Relationships>
</file>

<file path=ppt/slides/_rels/slide169.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151.jpeg"/><Relationship Id="rId1" Type="http://schemas.openxmlformats.org/officeDocument/2006/relationships/slideLayout" Target="../slideLayouts/slideLayout2.xml"/><Relationship Id="rId5" Type="http://schemas.openxmlformats.org/officeDocument/2006/relationships/image" Target="../media/image153.png"/><Relationship Id="rId4" Type="http://schemas.openxmlformats.org/officeDocument/2006/relationships/image" Target="../media/image152.jpe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154.png"/><Relationship Id="rId1" Type="http://schemas.openxmlformats.org/officeDocument/2006/relationships/slideLayout" Target="../slideLayouts/slideLayout2.xml"/><Relationship Id="rId5" Type="http://schemas.microsoft.com/office/2007/relationships/hdphoto" Target="../media/hdphoto28.wdp"/><Relationship Id="rId4" Type="http://schemas.openxmlformats.org/officeDocument/2006/relationships/image" Target="../media/image155.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microsoft.com/office/2007/relationships/hdphoto" Target="../media/hdphoto29.wdp"/><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microsoft.com/office/2007/relationships/hdphoto" Target="../media/hdphoto30.wdp"/><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microsoft.com/office/2007/relationships/hdphoto" Target="../media/hdphoto31.wdp"/><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microsoft.com/office/2007/relationships/hdphoto" Target="../media/hdphoto32.wdp"/><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microsoft.com/office/2007/relationships/hdphoto" Target="../media/hdphoto33.wdp"/><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 Id="rId4" Type="http://schemas.microsoft.com/office/2007/relationships/hdphoto" Target="../media/hdphoto34.wdp"/></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microsoft.com/office/2007/relationships/hdphoto" Target="../media/hdphoto35.wdp"/><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microsoft.com/office/2007/relationships/hdphoto" Target="../media/hdphoto36.wdp"/><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microsoft.com/office/2007/relationships/hdphoto" Target="../media/hdphoto37.wdp"/><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51920" y="404664"/>
            <a:ext cx="889987" cy="369332"/>
          </a:xfrm>
          <a:prstGeom prst="rect">
            <a:avLst/>
          </a:prstGeom>
          <a:noFill/>
        </p:spPr>
        <p:txBody>
          <a:bodyPr wrap="none" rtlCol="0">
            <a:spAutoFit/>
          </a:bodyPr>
          <a:lstStyle/>
          <a:p>
            <a:r>
              <a:rPr lang="ru-RU" dirty="0" smtClean="0"/>
              <a:t>Часть 3</a:t>
            </a:r>
            <a:endParaRPr lang="ru-RU" dirty="0"/>
          </a:p>
        </p:txBody>
      </p:sp>
    </p:spTree>
    <p:extLst>
      <p:ext uri="{BB962C8B-B14F-4D97-AF65-F5344CB8AC3E}">
        <p14:creationId xmlns:p14="http://schemas.microsoft.com/office/powerpoint/2010/main" val="403454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881087" y="13654"/>
            <a:ext cx="3724289" cy="646331"/>
          </a:xfrm>
          <a:prstGeom prst="rect">
            <a:avLst/>
          </a:prstGeom>
          <a:noFill/>
        </p:spPr>
        <p:txBody>
          <a:bodyPr wrap="none" rtlCol="0">
            <a:spAutoFit/>
          </a:bodyPr>
          <a:lstStyle/>
          <a:p>
            <a:pPr algn="ctr"/>
            <a:r>
              <a:rPr lang="ru-RU" dirty="0" smtClean="0"/>
              <a:t>Арифметико-логические устройства</a:t>
            </a:r>
          </a:p>
          <a:p>
            <a:pPr algn="ctr"/>
            <a:r>
              <a:rPr lang="ru-RU" dirty="0" smtClean="0"/>
              <a:t>(АЛУ)</a:t>
            </a:r>
            <a:endParaRPr lang="ru-RU" dirty="0"/>
          </a:p>
        </p:txBody>
      </p:sp>
      <p:sp>
        <p:nvSpPr>
          <p:cNvPr id="7" name="TextBox 6"/>
          <p:cNvSpPr txBox="1"/>
          <p:nvPr/>
        </p:nvSpPr>
        <p:spPr>
          <a:xfrm>
            <a:off x="-27617" y="651110"/>
            <a:ext cx="9036496" cy="923330"/>
          </a:xfrm>
          <a:prstGeom prst="rect">
            <a:avLst/>
          </a:prstGeom>
          <a:noFill/>
        </p:spPr>
        <p:txBody>
          <a:bodyPr wrap="square" rtlCol="0">
            <a:spAutoFit/>
          </a:bodyPr>
          <a:lstStyle/>
          <a:p>
            <a:r>
              <a:rPr lang="ru-RU" b="1" dirty="0" smtClean="0"/>
              <a:t>АЛУ</a:t>
            </a:r>
            <a:r>
              <a:rPr lang="ru-RU" dirty="0" smtClean="0"/>
              <a:t>- функционально законченный узел ЭВМ, предназначенный для реализации логических и арифметических операций по обработке информации.</a:t>
            </a:r>
          </a:p>
          <a:p>
            <a:r>
              <a:rPr lang="ru-RU" dirty="0" smtClean="0"/>
              <a:t>Эти операции могут выполняться </a:t>
            </a:r>
            <a:r>
              <a:rPr lang="ru-RU" i="1" dirty="0" smtClean="0"/>
              <a:t>аппаратным</a:t>
            </a:r>
            <a:r>
              <a:rPr lang="ru-RU" dirty="0" smtClean="0"/>
              <a:t>  либо </a:t>
            </a:r>
            <a:r>
              <a:rPr lang="ru-RU" i="1" dirty="0" smtClean="0"/>
              <a:t>программным</a:t>
            </a:r>
            <a:r>
              <a:rPr lang="ru-RU" dirty="0" smtClean="0"/>
              <a:t> способом .</a:t>
            </a:r>
          </a:p>
        </p:txBody>
      </p:sp>
      <p:sp>
        <p:nvSpPr>
          <p:cNvPr id="8" name="TextBox 7"/>
          <p:cNvSpPr txBox="1"/>
          <p:nvPr/>
        </p:nvSpPr>
        <p:spPr>
          <a:xfrm>
            <a:off x="1649115" y="1576551"/>
            <a:ext cx="2463944" cy="369332"/>
          </a:xfrm>
          <a:prstGeom prst="rect">
            <a:avLst/>
          </a:prstGeom>
          <a:noFill/>
        </p:spPr>
        <p:txBody>
          <a:bodyPr wrap="none" rtlCol="0">
            <a:spAutoFit/>
          </a:bodyPr>
          <a:lstStyle/>
          <a:p>
            <a:r>
              <a:rPr lang="ru-RU" dirty="0" smtClean="0"/>
              <a:t>Структурная схема АЛУ</a:t>
            </a:r>
            <a:endParaRPr lang="ru-RU" dirty="0"/>
          </a:p>
        </p:txBody>
      </p:sp>
      <p:grpSp>
        <p:nvGrpSpPr>
          <p:cNvPr id="76" name="Группа 75"/>
          <p:cNvGrpSpPr/>
          <p:nvPr/>
        </p:nvGrpSpPr>
        <p:grpSpPr>
          <a:xfrm>
            <a:off x="86308" y="2172754"/>
            <a:ext cx="6120680" cy="4032448"/>
            <a:chOff x="251520" y="2708920"/>
            <a:chExt cx="6120680" cy="4032448"/>
          </a:xfrm>
        </p:grpSpPr>
        <p:sp>
          <p:nvSpPr>
            <p:cNvPr id="9" name="Прямоугольник 8"/>
            <p:cNvSpPr/>
            <p:nvPr/>
          </p:nvSpPr>
          <p:spPr>
            <a:xfrm>
              <a:off x="539552" y="2844552"/>
              <a:ext cx="1872208" cy="6480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ru-RU" dirty="0" smtClean="0"/>
                <a:t>Регистр состояний</a:t>
              </a:r>
              <a:endParaRPr lang="ru-RU" dirty="0"/>
            </a:p>
          </p:txBody>
        </p:sp>
        <p:sp>
          <p:nvSpPr>
            <p:cNvPr id="10" name="Прямоугольник 9"/>
            <p:cNvSpPr/>
            <p:nvPr/>
          </p:nvSpPr>
          <p:spPr>
            <a:xfrm>
              <a:off x="3279859" y="3865650"/>
              <a:ext cx="1640512" cy="6480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ru-RU" dirty="0" smtClean="0"/>
                <a:t>Буферный регистр 1</a:t>
              </a:r>
              <a:endParaRPr lang="ru-RU" dirty="0"/>
            </a:p>
          </p:txBody>
        </p:sp>
        <p:sp>
          <p:nvSpPr>
            <p:cNvPr id="11" name="Прямоугольник 10"/>
            <p:cNvSpPr/>
            <p:nvPr/>
          </p:nvSpPr>
          <p:spPr>
            <a:xfrm>
              <a:off x="562075" y="4005064"/>
              <a:ext cx="1849685" cy="116003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ru-RU" dirty="0" smtClean="0"/>
                <a:t>АЛУ</a:t>
              </a:r>
              <a:endParaRPr lang="ru-RU" dirty="0"/>
            </a:p>
          </p:txBody>
        </p:sp>
        <p:sp>
          <p:nvSpPr>
            <p:cNvPr id="12" name="Прямоугольник 11"/>
            <p:cNvSpPr/>
            <p:nvPr/>
          </p:nvSpPr>
          <p:spPr>
            <a:xfrm>
              <a:off x="251520" y="5813171"/>
              <a:ext cx="2664296" cy="50405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ru-RU" dirty="0" smtClean="0"/>
                <a:t>Аккумулятор</a:t>
              </a:r>
              <a:endParaRPr lang="ru-RU" dirty="0"/>
            </a:p>
          </p:txBody>
        </p:sp>
        <p:sp>
          <p:nvSpPr>
            <p:cNvPr id="13" name="Прямоугольник 12"/>
            <p:cNvSpPr/>
            <p:nvPr/>
          </p:nvSpPr>
          <p:spPr>
            <a:xfrm>
              <a:off x="3279859" y="4725144"/>
              <a:ext cx="1640512" cy="6480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ru-RU" dirty="0" smtClean="0"/>
                <a:t>Буферный регистр 2</a:t>
              </a:r>
              <a:endParaRPr lang="ru-RU" dirty="0"/>
            </a:p>
          </p:txBody>
        </p:sp>
        <p:sp>
          <p:nvSpPr>
            <p:cNvPr id="14" name="Прямоугольник 13"/>
            <p:cNvSpPr/>
            <p:nvPr/>
          </p:nvSpPr>
          <p:spPr>
            <a:xfrm>
              <a:off x="3279859" y="2996952"/>
              <a:ext cx="1640512" cy="64807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ru-RU" dirty="0" smtClean="0"/>
                <a:t>Блок управления</a:t>
              </a:r>
              <a:endParaRPr lang="ru-RU" dirty="0"/>
            </a:p>
          </p:txBody>
        </p:sp>
        <p:sp>
          <p:nvSpPr>
            <p:cNvPr id="15" name="Прямоугольник 14"/>
            <p:cNvSpPr/>
            <p:nvPr/>
          </p:nvSpPr>
          <p:spPr>
            <a:xfrm>
              <a:off x="5580112" y="2708920"/>
              <a:ext cx="792088" cy="4032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p:cNvSpPr txBox="1"/>
            <p:nvPr/>
          </p:nvSpPr>
          <p:spPr>
            <a:xfrm>
              <a:off x="5745323" y="4186765"/>
              <a:ext cx="461665" cy="1443665"/>
            </a:xfrm>
            <a:prstGeom prst="rect">
              <a:avLst/>
            </a:prstGeom>
            <a:noFill/>
          </p:spPr>
          <p:txBody>
            <a:bodyPr vert="vert270" wrap="none" rtlCol="0">
              <a:spAutoFit/>
            </a:bodyPr>
            <a:lstStyle/>
            <a:p>
              <a:r>
                <a:rPr lang="ru-RU" dirty="0" smtClean="0"/>
                <a:t>Шина данных</a:t>
              </a:r>
              <a:endParaRPr lang="ru-RU" dirty="0"/>
            </a:p>
          </p:txBody>
        </p:sp>
        <p:sp>
          <p:nvSpPr>
            <p:cNvPr id="17" name="TextBox 16"/>
            <p:cNvSpPr txBox="1"/>
            <p:nvPr/>
          </p:nvSpPr>
          <p:spPr>
            <a:xfrm>
              <a:off x="1885654" y="4005020"/>
              <a:ext cx="526106" cy="369332"/>
            </a:xfrm>
            <a:prstGeom prst="rect">
              <a:avLst/>
            </a:prstGeom>
            <a:noFill/>
          </p:spPr>
          <p:txBody>
            <a:bodyPr wrap="none" rtlCol="0">
              <a:spAutoFit/>
            </a:bodyPr>
            <a:lstStyle/>
            <a:p>
              <a:r>
                <a:rPr lang="ru-RU" dirty="0" smtClean="0"/>
                <a:t>Вх</a:t>
              </a:r>
              <a:r>
                <a:rPr lang="ru-RU" dirty="0"/>
                <a:t>1</a:t>
              </a:r>
            </a:p>
          </p:txBody>
        </p:sp>
        <p:sp>
          <p:nvSpPr>
            <p:cNvPr id="18" name="TextBox 17"/>
            <p:cNvSpPr txBox="1"/>
            <p:nvPr/>
          </p:nvSpPr>
          <p:spPr>
            <a:xfrm>
              <a:off x="1885654" y="4679848"/>
              <a:ext cx="526106" cy="369332"/>
            </a:xfrm>
            <a:prstGeom prst="rect">
              <a:avLst/>
            </a:prstGeom>
            <a:noFill/>
          </p:spPr>
          <p:txBody>
            <a:bodyPr wrap="none" rtlCol="0">
              <a:spAutoFit/>
            </a:bodyPr>
            <a:lstStyle/>
            <a:p>
              <a:r>
                <a:rPr lang="ru-RU" dirty="0" smtClean="0"/>
                <a:t>Вх2</a:t>
              </a:r>
              <a:endParaRPr lang="ru-RU" dirty="0"/>
            </a:p>
          </p:txBody>
        </p:sp>
        <p:sp>
          <p:nvSpPr>
            <p:cNvPr id="19" name="TextBox 18"/>
            <p:cNvSpPr txBox="1"/>
            <p:nvPr/>
          </p:nvSpPr>
          <p:spPr>
            <a:xfrm>
              <a:off x="562075" y="4795768"/>
              <a:ext cx="679994" cy="369332"/>
            </a:xfrm>
            <a:prstGeom prst="rect">
              <a:avLst/>
            </a:prstGeom>
            <a:noFill/>
          </p:spPr>
          <p:txBody>
            <a:bodyPr wrap="none" rtlCol="0">
              <a:spAutoFit/>
            </a:bodyPr>
            <a:lstStyle/>
            <a:p>
              <a:r>
                <a:rPr lang="ru-RU" dirty="0" smtClean="0"/>
                <a:t>Вых1</a:t>
              </a:r>
              <a:endParaRPr lang="ru-RU" dirty="0"/>
            </a:p>
          </p:txBody>
        </p:sp>
        <p:sp>
          <p:nvSpPr>
            <p:cNvPr id="20" name="TextBox 19"/>
            <p:cNvSpPr txBox="1"/>
            <p:nvPr/>
          </p:nvSpPr>
          <p:spPr>
            <a:xfrm>
              <a:off x="566975" y="4002099"/>
              <a:ext cx="679994" cy="369332"/>
            </a:xfrm>
            <a:prstGeom prst="rect">
              <a:avLst/>
            </a:prstGeom>
            <a:noFill/>
          </p:spPr>
          <p:txBody>
            <a:bodyPr wrap="none" rtlCol="0">
              <a:spAutoFit/>
            </a:bodyPr>
            <a:lstStyle/>
            <a:p>
              <a:r>
                <a:rPr lang="ru-RU" dirty="0" smtClean="0"/>
                <a:t>Вых2</a:t>
              </a:r>
              <a:endParaRPr lang="ru-RU" dirty="0"/>
            </a:p>
          </p:txBody>
        </p:sp>
        <p:cxnSp>
          <p:nvCxnSpPr>
            <p:cNvPr id="22" name="Прямая со стрелкой 21"/>
            <p:cNvCxnSpPr>
              <a:stCxn id="20" idx="0"/>
            </p:cNvCxnSpPr>
            <p:nvPr/>
          </p:nvCxnSpPr>
          <p:spPr>
            <a:xfrm flipV="1">
              <a:off x="906972" y="3492624"/>
              <a:ext cx="0" cy="509475"/>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p:cNvCxnSpPr>
              <a:stCxn id="13" idx="1"/>
            </p:cNvCxnSpPr>
            <p:nvPr/>
          </p:nvCxnSpPr>
          <p:spPr>
            <a:xfrm flipH="1">
              <a:off x="2411760" y="5049180"/>
              <a:ext cx="868099" cy="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a:stCxn id="10" idx="1"/>
            </p:cNvCxnSpPr>
            <p:nvPr/>
          </p:nvCxnSpPr>
          <p:spPr>
            <a:xfrm flipH="1">
              <a:off x="2411760" y="4189686"/>
              <a:ext cx="868099" cy="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p:nvPr/>
          </p:nvCxnSpPr>
          <p:spPr>
            <a:xfrm flipV="1">
              <a:off x="906972" y="5165100"/>
              <a:ext cx="0" cy="648071"/>
            </a:xfrm>
            <a:prstGeom prst="straightConnector1">
              <a:avLst/>
            </a:prstGeom>
            <a:ln w="38100">
              <a:solidFill>
                <a:schemeClr val="tx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902072" y="5489135"/>
              <a:ext cx="4348169"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flipV="1">
              <a:off x="5250241" y="3151945"/>
              <a:ext cx="0" cy="2320547"/>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Прямая со стрелкой 38"/>
            <p:cNvCxnSpPr>
              <a:stCxn id="10" idx="3"/>
            </p:cNvCxnSpPr>
            <p:nvPr/>
          </p:nvCxnSpPr>
          <p:spPr>
            <a:xfrm>
              <a:off x="4920371" y="4189686"/>
              <a:ext cx="659741" cy="0"/>
            </a:xfrm>
            <a:prstGeom prst="straightConnector1">
              <a:avLst/>
            </a:prstGeom>
            <a:ln w="38100">
              <a:solidFill>
                <a:schemeClr val="tx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p:nvPr/>
          </p:nvCxnSpPr>
          <p:spPr>
            <a:xfrm>
              <a:off x="4920371" y="5059898"/>
              <a:ext cx="659741" cy="0"/>
            </a:xfrm>
            <a:prstGeom prst="straightConnector1">
              <a:avLst/>
            </a:prstGeom>
            <a:ln w="38100">
              <a:solidFill>
                <a:schemeClr val="tx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Соединительная линия уступом 41"/>
            <p:cNvCxnSpPr>
              <a:stCxn id="12" idx="2"/>
            </p:cNvCxnSpPr>
            <p:nvPr/>
          </p:nvCxnSpPr>
          <p:spPr>
            <a:xfrm rot="16200000" flipH="1">
              <a:off x="3477833" y="4423062"/>
              <a:ext cx="208116" cy="3996446"/>
            </a:xfrm>
            <a:prstGeom prst="bentConnector2">
              <a:avLst/>
            </a:prstGeom>
            <a:ln w="38100">
              <a:solidFill>
                <a:schemeClr val="tx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flipH="1">
              <a:off x="4920371" y="3151945"/>
              <a:ext cx="32987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8" name="Соединительная линия уступом 47"/>
            <p:cNvCxnSpPr>
              <a:stCxn id="9" idx="3"/>
            </p:cNvCxnSpPr>
            <p:nvPr/>
          </p:nvCxnSpPr>
          <p:spPr>
            <a:xfrm flipV="1">
              <a:off x="2411760" y="2902750"/>
              <a:ext cx="3168352" cy="265838"/>
            </a:xfrm>
            <a:prstGeom prst="bentConnector3">
              <a:avLst>
                <a:gd name="adj1" fmla="val 20000"/>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a:endCxn id="13" idx="2"/>
            </p:cNvCxnSpPr>
            <p:nvPr/>
          </p:nvCxnSpPr>
          <p:spPr>
            <a:xfrm flipV="1">
              <a:off x="4100115" y="5373216"/>
              <a:ext cx="0" cy="115919"/>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4" name="Прямая со стрелкой 53"/>
            <p:cNvCxnSpPr/>
            <p:nvPr/>
          </p:nvCxnSpPr>
          <p:spPr>
            <a:xfrm flipH="1">
              <a:off x="4920371" y="3993581"/>
              <a:ext cx="329870" cy="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8" name="Прямая со стрелкой 57"/>
            <p:cNvCxnSpPr>
              <a:stCxn id="14" idx="1"/>
            </p:cNvCxnSpPr>
            <p:nvPr/>
          </p:nvCxnSpPr>
          <p:spPr>
            <a:xfrm flipH="1">
              <a:off x="2411760" y="3320988"/>
              <a:ext cx="868099" cy="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a:stCxn id="19" idx="1"/>
            </p:cNvCxnSpPr>
            <p:nvPr/>
          </p:nvCxnSpPr>
          <p:spPr>
            <a:xfrm flipH="1">
              <a:off x="395536" y="4980434"/>
              <a:ext cx="166539"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Прямая со стрелкой 66"/>
            <p:cNvCxnSpPr/>
            <p:nvPr/>
          </p:nvCxnSpPr>
          <p:spPr>
            <a:xfrm>
              <a:off x="395536" y="4980434"/>
              <a:ext cx="0" cy="832737"/>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p:cNvCxnSpPr>
              <a:stCxn id="12" idx="3"/>
            </p:cNvCxnSpPr>
            <p:nvPr/>
          </p:nvCxnSpPr>
          <p:spPr>
            <a:xfrm>
              <a:off x="2915816" y="6065199"/>
              <a:ext cx="864096"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p:cNvCxnSpPr/>
            <p:nvPr/>
          </p:nvCxnSpPr>
          <p:spPr>
            <a:xfrm flipV="1">
              <a:off x="3779912" y="5396802"/>
              <a:ext cx="0" cy="668397"/>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grpSp>
      <p:sp>
        <p:nvSpPr>
          <p:cNvPr id="75" name="TextBox 74"/>
          <p:cNvSpPr txBox="1"/>
          <p:nvPr/>
        </p:nvSpPr>
        <p:spPr>
          <a:xfrm>
            <a:off x="6605376" y="1625211"/>
            <a:ext cx="2339752" cy="830997"/>
          </a:xfrm>
          <a:prstGeom prst="rect">
            <a:avLst/>
          </a:prstGeom>
          <a:noFill/>
        </p:spPr>
        <p:txBody>
          <a:bodyPr wrap="square" rtlCol="0">
            <a:spAutoFit/>
          </a:bodyPr>
          <a:lstStyle/>
          <a:p>
            <a:r>
              <a:rPr lang="ru-RU" sz="1600" b="1" dirty="0" smtClean="0"/>
              <a:t>Буферные регистры- </a:t>
            </a:r>
            <a:r>
              <a:rPr lang="ru-RU" sz="1600" dirty="0" smtClean="0"/>
              <a:t>временное хранение </a:t>
            </a:r>
            <a:r>
              <a:rPr lang="en-US" sz="1600" dirty="0" smtClean="0"/>
              <a:t>n- </a:t>
            </a:r>
            <a:r>
              <a:rPr lang="ru-RU" sz="1600" dirty="0" smtClean="0"/>
              <a:t>разрядных слов</a:t>
            </a:r>
            <a:endParaRPr lang="ru-RU" sz="1600" dirty="0"/>
          </a:p>
        </p:txBody>
      </p:sp>
      <p:sp>
        <p:nvSpPr>
          <p:cNvPr id="77" name="TextBox 76"/>
          <p:cNvSpPr txBox="1"/>
          <p:nvPr/>
        </p:nvSpPr>
        <p:spPr>
          <a:xfrm>
            <a:off x="6569372" y="2388715"/>
            <a:ext cx="2411760" cy="1077218"/>
          </a:xfrm>
          <a:prstGeom prst="rect">
            <a:avLst/>
          </a:prstGeom>
          <a:noFill/>
        </p:spPr>
        <p:txBody>
          <a:bodyPr wrap="square" rtlCol="0">
            <a:spAutoFit/>
          </a:bodyPr>
          <a:lstStyle/>
          <a:p>
            <a:r>
              <a:rPr lang="ru-RU" sz="1600" b="1" dirty="0" smtClean="0"/>
              <a:t>Аккумулятор-</a:t>
            </a:r>
          </a:p>
          <a:p>
            <a:r>
              <a:rPr lang="ru-RU" sz="1600" dirty="0" smtClean="0"/>
              <a:t>временное хранение результатов текущих или предыдущих операций</a:t>
            </a:r>
            <a:endParaRPr lang="ru-RU" sz="1600" dirty="0"/>
          </a:p>
        </p:txBody>
      </p:sp>
      <p:sp>
        <p:nvSpPr>
          <p:cNvPr id="78" name="TextBox 77"/>
          <p:cNvSpPr txBox="1"/>
          <p:nvPr/>
        </p:nvSpPr>
        <p:spPr>
          <a:xfrm>
            <a:off x="6605376" y="3485032"/>
            <a:ext cx="2411760" cy="830997"/>
          </a:xfrm>
          <a:prstGeom prst="rect">
            <a:avLst/>
          </a:prstGeom>
          <a:noFill/>
        </p:spPr>
        <p:txBody>
          <a:bodyPr wrap="square" rtlCol="0">
            <a:spAutoFit/>
          </a:bodyPr>
          <a:lstStyle/>
          <a:p>
            <a:r>
              <a:rPr lang="ru-RU" sz="1600" b="1" dirty="0" smtClean="0"/>
              <a:t>Регистр состояний-</a:t>
            </a:r>
          </a:p>
          <a:p>
            <a:r>
              <a:rPr lang="ru-RU" sz="1600" dirty="0" smtClean="0"/>
              <a:t>служебная информация о результатах операций</a:t>
            </a:r>
            <a:endParaRPr lang="ru-RU" sz="1600" dirty="0"/>
          </a:p>
        </p:txBody>
      </p:sp>
      <p:sp>
        <p:nvSpPr>
          <p:cNvPr id="79" name="TextBox 78"/>
          <p:cNvSpPr txBox="1"/>
          <p:nvPr/>
        </p:nvSpPr>
        <p:spPr>
          <a:xfrm>
            <a:off x="6300192" y="4361233"/>
            <a:ext cx="2843807" cy="1815882"/>
          </a:xfrm>
          <a:prstGeom prst="rect">
            <a:avLst/>
          </a:prstGeom>
          <a:noFill/>
        </p:spPr>
        <p:txBody>
          <a:bodyPr wrap="square" rtlCol="0">
            <a:spAutoFit/>
          </a:bodyPr>
          <a:lstStyle/>
          <a:p>
            <a:r>
              <a:rPr lang="ru-RU" sz="1600" b="1" dirty="0" smtClean="0"/>
              <a:t>Основные  выполняемые операции</a:t>
            </a:r>
          </a:p>
          <a:p>
            <a:pPr marL="285750" indent="-285750">
              <a:buFont typeface="Arial" panose="020B0604020202020204" pitchFamily="34" charset="0"/>
              <a:buChar char="•"/>
            </a:pPr>
            <a:r>
              <a:rPr lang="ru-RU" sz="1600" dirty="0" smtClean="0"/>
              <a:t>сложение (</a:t>
            </a:r>
            <a:r>
              <a:rPr lang="ru-RU" sz="1600" dirty="0" err="1" smtClean="0"/>
              <a:t>ариф</a:t>
            </a:r>
            <a:r>
              <a:rPr lang="ru-RU" sz="1600" dirty="0" smtClean="0"/>
              <a:t>. И лог.)</a:t>
            </a:r>
          </a:p>
          <a:p>
            <a:pPr marL="285750" indent="-285750">
              <a:buFont typeface="Arial" panose="020B0604020202020204" pitchFamily="34" charset="0"/>
              <a:buChar char="•"/>
            </a:pPr>
            <a:r>
              <a:rPr lang="ru-RU" sz="1600" dirty="0"/>
              <a:t>в</a:t>
            </a:r>
            <a:r>
              <a:rPr lang="ru-RU" sz="1600" dirty="0" smtClean="0"/>
              <a:t>ычитание </a:t>
            </a:r>
            <a:r>
              <a:rPr lang="ru-RU" sz="1600" dirty="0"/>
              <a:t>(</a:t>
            </a:r>
            <a:r>
              <a:rPr lang="ru-RU" sz="1600" dirty="0" err="1"/>
              <a:t>ариф</a:t>
            </a:r>
            <a:r>
              <a:rPr lang="ru-RU" sz="1600" dirty="0"/>
              <a:t>. И лог</a:t>
            </a:r>
            <a:r>
              <a:rPr lang="ru-RU" sz="1600" dirty="0" smtClean="0"/>
              <a:t>.)</a:t>
            </a:r>
          </a:p>
          <a:p>
            <a:pPr marL="285750" indent="-285750">
              <a:buFont typeface="Arial" panose="020B0604020202020204" pitchFamily="34" charset="0"/>
              <a:buChar char="•"/>
            </a:pPr>
            <a:r>
              <a:rPr lang="ru-RU" sz="1600" dirty="0" smtClean="0"/>
              <a:t>инверсия</a:t>
            </a:r>
          </a:p>
          <a:p>
            <a:pPr marL="285750" indent="-285750">
              <a:buFont typeface="Arial" panose="020B0604020202020204" pitchFamily="34" charset="0"/>
              <a:buChar char="•"/>
            </a:pPr>
            <a:r>
              <a:rPr lang="ru-RU" sz="1600" dirty="0" smtClean="0"/>
              <a:t>сдвиги разрядов</a:t>
            </a:r>
          </a:p>
          <a:p>
            <a:pPr marL="285750" indent="-285750">
              <a:buFont typeface="Arial" panose="020B0604020202020204" pitchFamily="34" charset="0"/>
              <a:buChar char="•"/>
            </a:pPr>
            <a:r>
              <a:rPr lang="ru-RU" sz="1600" dirty="0" smtClean="0"/>
              <a:t>Декременты/Инкременты</a:t>
            </a:r>
            <a:endParaRPr lang="ru-RU" sz="1600" dirty="0"/>
          </a:p>
        </p:txBody>
      </p:sp>
      <p:sp>
        <p:nvSpPr>
          <p:cNvPr id="80" name="TextBox 79"/>
          <p:cNvSpPr txBox="1"/>
          <p:nvPr/>
        </p:nvSpPr>
        <p:spPr>
          <a:xfrm>
            <a:off x="211948" y="6284059"/>
            <a:ext cx="8665129" cy="338554"/>
          </a:xfrm>
          <a:prstGeom prst="rect">
            <a:avLst/>
          </a:prstGeom>
          <a:noFill/>
        </p:spPr>
        <p:txBody>
          <a:bodyPr wrap="none" rtlCol="0">
            <a:spAutoFit/>
          </a:bodyPr>
          <a:lstStyle/>
          <a:p>
            <a:r>
              <a:rPr lang="ru-RU" sz="1600" dirty="0" smtClean="0"/>
              <a:t>Более сложные операции (умножение, деление) выполняются как правило программным путем</a:t>
            </a:r>
            <a:endParaRPr lang="ru-RU" sz="1600" dirty="0"/>
          </a:p>
        </p:txBody>
      </p:sp>
    </p:spTree>
    <p:extLst>
      <p:ext uri="{BB962C8B-B14F-4D97-AF65-F5344CB8AC3E}">
        <p14:creationId xmlns:p14="http://schemas.microsoft.com/office/powerpoint/2010/main" val="2456971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188640"/>
            <a:ext cx="6881756" cy="369332"/>
          </a:xfrm>
          <a:prstGeom prst="rect">
            <a:avLst/>
          </a:prstGeom>
          <a:noFill/>
        </p:spPr>
        <p:txBody>
          <a:bodyPr wrap="none" rtlCol="0">
            <a:spAutoFit/>
          </a:bodyPr>
          <a:lstStyle/>
          <a:p>
            <a:r>
              <a:rPr lang="ru-RU" dirty="0" smtClean="0"/>
              <a:t>Пример обозначения конкретного АЛУ в интегральном исполнении</a:t>
            </a:r>
            <a:endParaRPr lang="ru-RU" dirty="0"/>
          </a:p>
        </p:txBody>
      </p:sp>
      <p:grpSp>
        <p:nvGrpSpPr>
          <p:cNvPr id="31" name="Группа 30"/>
          <p:cNvGrpSpPr/>
          <p:nvPr/>
        </p:nvGrpSpPr>
        <p:grpSpPr>
          <a:xfrm>
            <a:off x="267601" y="1201128"/>
            <a:ext cx="2704142" cy="4695927"/>
            <a:chOff x="2123728" y="1325361"/>
            <a:chExt cx="2704142" cy="4695927"/>
          </a:xfrm>
        </p:grpSpPr>
        <p:sp>
          <p:nvSpPr>
            <p:cNvPr id="3" name="Прямоугольник 2"/>
            <p:cNvSpPr/>
            <p:nvPr/>
          </p:nvSpPr>
          <p:spPr>
            <a:xfrm>
              <a:off x="2123728" y="1340768"/>
              <a:ext cx="2664296" cy="46805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4" name="Группа 13"/>
            <p:cNvGrpSpPr/>
            <p:nvPr/>
          </p:nvGrpSpPr>
          <p:grpSpPr>
            <a:xfrm>
              <a:off x="2129100" y="1711841"/>
              <a:ext cx="440106" cy="2587336"/>
              <a:chOff x="2121042" y="1772816"/>
              <a:chExt cx="440106" cy="2587336"/>
            </a:xfrm>
          </p:grpSpPr>
          <p:sp>
            <p:nvSpPr>
              <p:cNvPr id="4" name="Прямоугольник 3"/>
              <p:cNvSpPr/>
              <p:nvPr/>
            </p:nvSpPr>
            <p:spPr>
              <a:xfrm>
                <a:off x="2123728" y="1772816"/>
                <a:ext cx="432048" cy="648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Box 4"/>
              <p:cNvSpPr txBox="1"/>
              <p:nvPr/>
            </p:nvSpPr>
            <p:spPr>
              <a:xfrm>
                <a:off x="2121042" y="1774557"/>
                <a:ext cx="434734" cy="646331"/>
              </a:xfrm>
              <a:prstGeom prst="rect">
                <a:avLst/>
              </a:prstGeom>
              <a:noFill/>
            </p:spPr>
            <p:txBody>
              <a:bodyPr wrap="none" rtlCol="0">
                <a:spAutoFit/>
              </a:bodyPr>
              <a:lstStyle/>
              <a:p>
                <a:r>
                  <a:rPr lang="en-US" dirty="0" smtClean="0"/>
                  <a:t>A0</a:t>
                </a:r>
              </a:p>
              <a:p>
                <a:r>
                  <a:rPr lang="en-US" dirty="0" smtClean="0"/>
                  <a:t>B0</a:t>
                </a:r>
              </a:p>
            </p:txBody>
          </p:sp>
          <p:sp>
            <p:nvSpPr>
              <p:cNvPr id="6" name="Прямоугольник 5"/>
              <p:cNvSpPr/>
              <p:nvPr/>
            </p:nvSpPr>
            <p:spPr>
              <a:xfrm>
                <a:off x="2126414" y="2419147"/>
                <a:ext cx="432048" cy="648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2123728" y="2420888"/>
                <a:ext cx="434734" cy="646331"/>
              </a:xfrm>
              <a:prstGeom prst="rect">
                <a:avLst/>
              </a:prstGeom>
              <a:noFill/>
            </p:spPr>
            <p:txBody>
              <a:bodyPr wrap="none" rtlCol="0">
                <a:spAutoFit/>
              </a:bodyPr>
              <a:lstStyle/>
              <a:p>
                <a:r>
                  <a:rPr lang="en-US" dirty="0" smtClean="0"/>
                  <a:t>A1</a:t>
                </a:r>
              </a:p>
              <a:p>
                <a:r>
                  <a:rPr lang="en-US" dirty="0" smtClean="0"/>
                  <a:t>B2</a:t>
                </a:r>
              </a:p>
            </p:txBody>
          </p:sp>
          <p:sp>
            <p:nvSpPr>
              <p:cNvPr id="8" name="Прямоугольник 7"/>
              <p:cNvSpPr/>
              <p:nvPr/>
            </p:nvSpPr>
            <p:spPr>
              <a:xfrm>
                <a:off x="2129100" y="3065749"/>
                <a:ext cx="432048" cy="648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p:cNvSpPr txBox="1"/>
              <p:nvPr/>
            </p:nvSpPr>
            <p:spPr>
              <a:xfrm>
                <a:off x="2126414" y="3067490"/>
                <a:ext cx="434734" cy="646331"/>
              </a:xfrm>
              <a:prstGeom prst="rect">
                <a:avLst/>
              </a:prstGeom>
              <a:noFill/>
            </p:spPr>
            <p:txBody>
              <a:bodyPr wrap="none" rtlCol="0">
                <a:spAutoFit/>
              </a:bodyPr>
              <a:lstStyle/>
              <a:p>
                <a:r>
                  <a:rPr lang="en-US" dirty="0" smtClean="0"/>
                  <a:t>A2</a:t>
                </a:r>
              </a:p>
              <a:p>
                <a:r>
                  <a:rPr lang="en-US" dirty="0" smtClean="0"/>
                  <a:t>B2</a:t>
                </a:r>
              </a:p>
            </p:txBody>
          </p:sp>
          <p:sp>
            <p:nvSpPr>
              <p:cNvPr id="10" name="Прямоугольник 9"/>
              <p:cNvSpPr/>
              <p:nvPr/>
            </p:nvSpPr>
            <p:spPr>
              <a:xfrm>
                <a:off x="2123728" y="3712080"/>
                <a:ext cx="432048" cy="648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2121042" y="3713821"/>
                <a:ext cx="434734" cy="646331"/>
              </a:xfrm>
              <a:prstGeom prst="rect">
                <a:avLst/>
              </a:prstGeom>
              <a:noFill/>
            </p:spPr>
            <p:txBody>
              <a:bodyPr wrap="none" rtlCol="0">
                <a:spAutoFit/>
              </a:bodyPr>
              <a:lstStyle/>
              <a:p>
                <a:r>
                  <a:rPr lang="en-US" dirty="0" smtClean="0"/>
                  <a:t>A3</a:t>
                </a:r>
              </a:p>
              <a:p>
                <a:r>
                  <a:rPr lang="en-US" dirty="0" smtClean="0"/>
                  <a:t>B3</a:t>
                </a:r>
              </a:p>
            </p:txBody>
          </p:sp>
        </p:grpSp>
        <p:sp>
          <p:nvSpPr>
            <p:cNvPr id="12" name="Прямоугольник 11"/>
            <p:cNvSpPr/>
            <p:nvPr/>
          </p:nvSpPr>
          <p:spPr>
            <a:xfrm>
              <a:off x="2129100" y="1340768"/>
              <a:ext cx="432048" cy="371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p:cNvSpPr txBox="1"/>
            <p:nvPr/>
          </p:nvSpPr>
          <p:spPr>
            <a:xfrm>
              <a:off x="2131603" y="1325361"/>
              <a:ext cx="420308" cy="369332"/>
            </a:xfrm>
            <a:prstGeom prst="rect">
              <a:avLst/>
            </a:prstGeom>
            <a:noFill/>
          </p:spPr>
          <p:txBody>
            <a:bodyPr wrap="none" rtlCol="0">
              <a:spAutoFit/>
            </a:bodyPr>
            <a:lstStyle/>
            <a:p>
              <a:r>
                <a:rPr lang="en-US" dirty="0" smtClean="0"/>
                <a:t>P0</a:t>
              </a:r>
            </a:p>
          </p:txBody>
        </p:sp>
        <p:sp>
          <p:nvSpPr>
            <p:cNvPr id="15" name="Прямоугольник 14"/>
            <p:cNvSpPr/>
            <p:nvPr/>
          </p:nvSpPr>
          <p:spPr>
            <a:xfrm>
              <a:off x="2123728" y="4266461"/>
              <a:ext cx="445478" cy="12003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p:cNvSpPr txBox="1"/>
            <p:nvPr/>
          </p:nvSpPr>
          <p:spPr>
            <a:xfrm>
              <a:off x="2141382" y="4282282"/>
              <a:ext cx="427824" cy="1200329"/>
            </a:xfrm>
            <a:prstGeom prst="rect">
              <a:avLst/>
            </a:prstGeom>
            <a:noFill/>
          </p:spPr>
          <p:txBody>
            <a:bodyPr wrap="square" rtlCol="0">
              <a:spAutoFit/>
            </a:bodyPr>
            <a:lstStyle/>
            <a:p>
              <a:r>
                <a:rPr lang="en-US" dirty="0"/>
                <a:t>S</a:t>
              </a:r>
              <a:r>
                <a:rPr lang="en-US" dirty="0" smtClean="0"/>
                <a:t>0</a:t>
              </a:r>
            </a:p>
            <a:p>
              <a:r>
                <a:rPr lang="en-US" dirty="0" smtClean="0"/>
                <a:t>S1</a:t>
              </a:r>
            </a:p>
            <a:p>
              <a:r>
                <a:rPr lang="en-US" dirty="0" smtClean="0"/>
                <a:t>S2</a:t>
              </a:r>
            </a:p>
            <a:p>
              <a:r>
                <a:rPr lang="en-US" dirty="0" smtClean="0"/>
                <a:t>S3</a:t>
              </a:r>
            </a:p>
          </p:txBody>
        </p:sp>
        <p:sp>
          <p:nvSpPr>
            <p:cNvPr id="17" name="Прямоугольник 16"/>
            <p:cNvSpPr/>
            <p:nvPr/>
          </p:nvSpPr>
          <p:spPr>
            <a:xfrm>
              <a:off x="2135815" y="5465049"/>
              <a:ext cx="432048" cy="5562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p:cNvSpPr txBox="1"/>
            <p:nvPr/>
          </p:nvSpPr>
          <p:spPr>
            <a:xfrm>
              <a:off x="2133129" y="5466790"/>
              <a:ext cx="381836" cy="369332"/>
            </a:xfrm>
            <a:prstGeom prst="rect">
              <a:avLst/>
            </a:prstGeom>
            <a:noFill/>
          </p:spPr>
          <p:txBody>
            <a:bodyPr wrap="none" rtlCol="0">
              <a:spAutoFit/>
            </a:bodyPr>
            <a:lstStyle/>
            <a:p>
              <a:r>
                <a:rPr lang="en-US" dirty="0" smtClean="0"/>
                <a:t>M</a:t>
              </a:r>
            </a:p>
          </p:txBody>
        </p:sp>
        <p:grpSp>
          <p:nvGrpSpPr>
            <p:cNvPr id="27" name="Группа 26"/>
            <p:cNvGrpSpPr/>
            <p:nvPr/>
          </p:nvGrpSpPr>
          <p:grpSpPr>
            <a:xfrm>
              <a:off x="4349044" y="2125969"/>
              <a:ext cx="432048" cy="556239"/>
              <a:chOff x="4355976" y="1342891"/>
              <a:chExt cx="432048" cy="556239"/>
            </a:xfrm>
          </p:grpSpPr>
          <p:sp>
            <p:nvSpPr>
              <p:cNvPr id="20" name="TextBox 19"/>
              <p:cNvSpPr txBox="1"/>
              <p:nvPr/>
            </p:nvSpPr>
            <p:spPr>
              <a:xfrm>
                <a:off x="4355976" y="1436344"/>
                <a:ext cx="425116" cy="369332"/>
              </a:xfrm>
              <a:prstGeom prst="rect">
                <a:avLst/>
              </a:prstGeom>
              <a:noFill/>
            </p:spPr>
            <p:txBody>
              <a:bodyPr wrap="none" rtlCol="0">
                <a:spAutoFit/>
              </a:bodyPr>
              <a:lstStyle/>
              <a:p>
                <a:r>
                  <a:rPr lang="en-US" dirty="0" err="1" smtClean="0"/>
                  <a:t>Pn</a:t>
                </a:r>
                <a:endParaRPr lang="en-US" dirty="0" smtClean="0"/>
              </a:p>
            </p:txBody>
          </p:sp>
          <p:sp>
            <p:nvSpPr>
              <p:cNvPr id="22" name="Прямоугольник 21"/>
              <p:cNvSpPr/>
              <p:nvPr/>
            </p:nvSpPr>
            <p:spPr>
              <a:xfrm>
                <a:off x="4355976" y="1342891"/>
                <a:ext cx="432048" cy="5562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23" name="TextBox 22"/>
            <p:cNvSpPr txBox="1"/>
            <p:nvPr/>
          </p:nvSpPr>
          <p:spPr>
            <a:xfrm>
              <a:off x="4400046" y="2835300"/>
              <a:ext cx="427824" cy="2031325"/>
            </a:xfrm>
            <a:prstGeom prst="rect">
              <a:avLst/>
            </a:prstGeom>
            <a:noFill/>
          </p:spPr>
          <p:txBody>
            <a:bodyPr wrap="square" rtlCol="0">
              <a:spAutoFit/>
            </a:bodyPr>
            <a:lstStyle/>
            <a:p>
              <a:r>
                <a:rPr lang="en-US" dirty="0" smtClean="0"/>
                <a:t>F0</a:t>
              </a:r>
            </a:p>
            <a:p>
              <a:endParaRPr lang="en-US" dirty="0" smtClean="0"/>
            </a:p>
            <a:p>
              <a:r>
                <a:rPr lang="en-US" dirty="0"/>
                <a:t>F</a:t>
              </a:r>
              <a:r>
                <a:rPr lang="en-US" dirty="0" smtClean="0"/>
                <a:t>1</a:t>
              </a:r>
            </a:p>
            <a:p>
              <a:endParaRPr lang="en-US" dirty="0" smtClean="0"/>
            </a:p>
            <a:p>
              <a:r>
                <a:rPr lang="en-US" dirty="0" smtClean="0"/>
                <a:t>F2</a:t>
              </a:r>
            </a:p>
            <a:p>
              <a:endParaRPr lang="en-US" dirty="0" smtClean="0"/>
            </a:p>
            <a:p>
              <a:r>
                <a:rPr lang="en-US" dirty="0" smtClean="0"/>
                <a:t>F3</a:t>
              </a:r>
            </a:p>
          </p:txBody>
        </p:sp>
        <p:sp>
          <p:nvSpPr>
            <p:cNvPr id="24" name="Прямоугольник 23"/>
            <p:cNvSpPr/>
            <p:nvPr/>
          </p:nvSpPr>
          <p:spPr>
            <a:xfrm>
              <a:off x="4355976" y="5465047"/>
              <a:ext cx="432048" cy="5562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TextBox 24"/>
            <p:cNvSpPr txBox="1"/>
            <p:nvPr/>
          </p:nvSpPr>
          <p:spPr>
            <a:xfrm>
              <a:off x="4400046" y="5558501"/>
              <a:ext cx="304892" cy="369332"/>
            </a:xfrm>
            <a:prstGeom prst="rect">
              <a:avLst/>
            </a:prstGeom>
            <a:noFill/>
          </p:spPr>
          <p:txBody>
            <a:bodyPr wrap="none" rtlCol="0">
              <a:spAutoFit/>
            </a:bodyPr>
            <a:lstStyle/>
            <a:p>
              <a:r>
                <a:rPr lang="en-US" dirty="0" smtClean="0"/>
                <a:t>K</a:t>
              </a:r>
              <a:endParaRPr lang="ru-RU" dirty="0"/>
            </a:p>
          </p:txBody>
        </p:sp>
        <p:sp>
          <p:nvSpPr>
            <p:cNvPr id="26" name="Прямоугольник 25"/>
            <p:cNvSpPr/>
            <p:nvPr/>
          </p:nvSpPr>
          <p:spPr>
            <a:xfrm>
              <a:off x="4355976" y="2683078"/>
              <a:ext cx="425116" cy="27819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TextBox 27"/>
            <p:cNvSpPr txBox="1"/>
            <p:nvPr/>
          </p:nvSpPr>
          <p:spPr>
            <a:xfrm>
              <a:off x="4441858" y="1390416"/>
              <a:ext cx="330540" cy="646331"/>
            </a:xfrm>
            <a:prstGeom prst="rect">
              <a:avLst/>
            </a:prstGeom>
            <a:noFill/>
          </p:spPr>
          <p:txBody>
            <a:bodyPr wrap="none" rtlCol="0">
              <a:spAutoFit/>
            </a:bodyPr>
            <a:lstStyle/>
            <a:p>
              <a:r>
                <a:rPr lang="en-US" dirty="0" smtClean="0"/>
                <a:t>G</a:t>
              </a:r>
            </a:p>
            <a:p>
              <a:r>
                <a:rPr lang="en-US" dirty="0"/>
                <a:t>H</a:t>
              </a:r>
              <a:endParaRPr lang="ru-RU" dirty="0"/>
            </a:p>
          </p:txBody>
        </p:sp>
        <p:sp>
          <p:nvSpPr>
            <p:cNvPr id="29" name="Прямоугольник 28"/>
            <p:cNvSpPr/>
            <p:nvPr/>
          </p:nvSpPr>
          <p:spPr>
            <a:xfrm>
              <a:off x="4349044" y="1325361"/>
              <a:ext cx="438980" cy="8006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Box 29"/>
            <p:cNvSpPr txBox="1"/>
            <p:nvPr/>
          </p:nvSpPr>
          <p:spPr>
            <a:xfrm>
              <a:off x="3554875" y="1390416"/>
              <a:ext cx="558038" cy="369332"/>
            </a:xfrm>
            <a:prstGeom prst="rect">
              <a:avLst/>
            </a:prstGeom>
            <a:noFill/>
          </p:spPr>
          <p:txBody>
            <a:bodyPr wrap="none" rtlCol="0">
              <a:spAutoFit/>
            </a:bodyPr>
            <a:lstStyle/>
            <a:p>
              <a:r>
                <a:rPr lang="en-US" dirty="0" smtClean="0"/>
                <a:t>ALU</a:t>
              </a:r>
              <a:endParaRPr lang="ru-RU" dirty="0"/>
            </a:p>
          </p:txBody>
        </p:sp>
      </p:grpSp>
      <p:sp>
        <p:nvSpPr>
          <p:cNvPr id="33" name="TextBox 32"/>
          <p:cNvSpPr txBox="1"/>
          <p:nvPr/>
        </p:nvSpPr>
        <p:spPr>
          <a:xfrm>
            <a:off x="3779912" y="619852"/>
            <a:ext cx="5364088" cy="646331"/>
          </a:xfrm>
          <a:prstGeom prst="rect">
            <a:avLst/>
          </a:prstGeom>
          <a:noFill/>
        </p:spPr>
        <p:txBody>
          <a:bodyPr wrap="square" rtlCol="0">
            <a:spAutoFit/>
          </a:bodyPr>
          <a:lstStyle/>
          <a:p>
            <a:r>
              <a:rPr lang="en-US" dirty="0" smtClean="0"/>
              <a:t>4-</a:t>
            </a:r>
            <a:r>
              <a:rPr lang="ru-RU" dirty="0" smtClean="0"/>
              <a:t>разрядное АЛУ, 16 арифметических и 16 логических операций </a:t>
            </a:r>
            <a:endParaRPr lang="ru-RU" dirty="0"/>
          </a:p>
        </p:txBody>
      </p:sp>
      <p:sp>
        <p:nvSpPr>
          <p:cNvPr id="35" name="TextBox 34"/>
          <p:cNvSpPr txBox="1"/>
          <p:nvPr/>
        </p:nvSpPr>
        <p:spPr>
          <a:xfrm>
            <a:off x="3995936" y="1601432"/>
            <a:ext cx="3340530" cy="646331"/>
          </a:xfrm>
          <a:prstGeom prst="rect">
            <a:avLst/>
          </a:prstGeom>
          <a:noFill/>
        </p:spPr>
        <p:txBody>
          <a:bodyPr wrap="none" rtlCol="0">
            <a:spAutoFit/>
          </a:bodyPr>
          <a:lstStyle/>
          <a:p>
            <a:r>
              <a:rPr lang="ru-RU" dirty="0" smtClean="0"/>
              <a:t>М=1 арифметические операции</a:t>
            </a:r>
          </a:p>
          <a:p>
            <a:r>
              <a:rPr lang="en-US" dirty="0" smtClean="0"/>
              <a:t>M=0 </a:t>
            </a:r>
            <a:r>
              <a:rPr lang="ru-RU" dirty="0" smtClean="0"/>
              <a:t>логические</a:t>
            </a:r>
          </a:p>
        </p:txBody>
      </p:sp>
      <p:sp>
        <p:nvSpPr>
          <p:cNvPr id="38" name="TextBox 37"/>
          <p:cNvSpPr txBox="1"/>
          <p:nvPr/>
        </p:nvSpPr>
        <p:spPr>
          <a:xfrm>
            <a:off x="3995936" y="2327734"/>
            <a:ext cx="2839239" cy="369332"/>
          </a:xfrm>
          <a:prstGeom prst="rect">
            <a:avLst/>
          </a:prstGeom>
          <a:noFill/>
        </p:spPr>
        <p:txBody>
          <a:bodyPr wrap="none" rtlCol="0">
            <a:spAutoFit/>
          </a:bodyPr>
          <a:lstStyle/>
          <a:p>
            <a:r>
              <a:rPr lang="en-US" dirty="0" smtClean="0"/>
              <a:t>P0, </a:t>
            </a:r>
            <a:r>
              <a:rPr lang="en-US" dirty="0" err="1" smtClean="0"/>
              <a:t>Pn</a:t>
            </a:r>
            <a:r>
              <a:rPr lang="en-US" dirty="0" smtClean="0"/>
              <a:t>- </a:t>
            </a:r>
            <a:r>
              <a:rPr lang="ru-RU" dirty="0" smtClean="0"/>
              <a:t>разряды переносов</a:t>
            </a:r>
            <a:endParaRPr lang="ru-RU" dirty="0"/>
          </a:p>
        </p:txBody>
      </p:sp>
      <p:sp>
        <p:nvSpPr>
          <p:cNvPr id="39" name="TextBox 38"/>
          <p:cNvSpPr txBox="1"/>
          <p:nvPr/>
        </p:nvSpPr>
        <p:spPr>
          <a:xfrm>
            <a:off x="3995936" y="2777037"/>
            <a:ext cx="3311184" cy="646331"/>
          </a:xfrm>
          <a:prstGeom prst="rect">
            <a:avLst/>
          </a:prstGeom>
          <a:noFill/>
        </p:spPr>
        <p:txBody>
          <a:bodyPr wrap="square" rtlCol="0">
            <a:spAutoFit/>
          </a:bodyPr>
          <a:lstStyle/>
          <a:p>
            <a:r>
              <a:rPr lang="ru-RU" dirty="0" smtClean="0"/>
              <a:t>А0,</a:t>
            </a:r>
            <a:r>
              <a:rPr lang="en-US" dirty="0" smtClean="0"/>
              <a:t>B0…A3,B3 – </a:t>
            </a:r>
            <a:r>
              <a:rPr lang="ru-RU" dirty="0" smtClean="0"/>
              <a:t>входные данные (4-разрядные слова)</a:t>
            </a:r>
            <a:endParaRPr lang="ru-RU" dirty="0"/>
          </a:p>
        </p:txBody>
      </p:sp>
      <p:sp>
        <p:nvSpPr>
          <p:cNvPr id="40" name="TextBox 39"/>
          <p:cNvSpPr txBox="1"/>
          <p:nvPr/>
        </p:nvSpPr>
        <p:spPr>
          <a:xfrm>
            <a:off x="3995936" y="3503339"/>
            <a:ext cx="2769925" cy="369332"/>
          </a:xfrm>
          <a:prstGeom prst="rect">
            <a:avLst/>
          </a:prstGeom>
          <a:noFill/>
        </p:spPr>
        <p:txBody>
          <a:bodyPr wrap="none" rtlCol="0">
            <a:spAutoFit/>
          </a:bodyPr>
          <a:lstStyle/>
          <a:p>
            <a:r>
              <a:rPr lang="en-US" dirty="0" smtClean="0"/>
              <a:t>F0…F3- </a:t>
            </a:r>
            <a:r>
              <a:rPr lang="ru-RU" dirty="0" smtClean="0"/>
              <a:t>выходные данные </a:t>
            </a:r>
            <a:endParaRPr lang="ru-RU" dirty="0"/>
          </a:p>
        </p:txBody>
      </p:sp>
      <p:sp>
        <p:nvSpPr>
          <p:cNvPr id="42" name="TextBox 41"/>
          <p:cNvSpPr txBox="1"/>
          <p:nvPr/>
        </p:nvSpPr>
        <p:spPr>
          <a:xfrm>
            <a:off x="3995936" y="3952642"/>
            <a:ext cx="4682757" cy="369332"/>
          </a:xfrm>
          <a:prstGeom prst="rect">
            <a:avLst/>
          </a:prstGeom>
          <a:noFill/>
        </p:spPr>
        <p:txBody>
          <a:bodyPr wrap="none" rtlCol="0">
            <a:spAutoFit/>
          </a:bodyPr>
          <a:lstStyle/>
          <a:p>
            <a:r>
              <a:rPr lang="en-US" dirty="0" smtClean="0"/>
              <a:t>S0…S3- </a:t>
            </a:r>
            <a:r>
              <a:rPr lang="ru-RU" dirty="0" smtClean="0"/>
              <a:t>коды возможных  операций (всего 16)</a:t>
            </a:r>
            <a:endParaRPr lang="ru-RU" dirty="0"/>
          </a:p>
        </p:txBody>
      </p:sp>
      <p:sp>
        <p:nvSpPr>
          <p:cNvPr id="43" name="TextBox 42"/>
          <p:cNvSpPr txBox="1"/>
          <p:nvPr/>
        </p:nvSpPr>
        <p:spPr>
          <a:xfrm>
            <a:off x="3995936" y="4401943"/>
            <a:ext cx="5057667" cy="369332"/>
          </a:xfrm>
          <a:prstGeom prst="rect">
            <a:avLst/>
          </a:prstGeom>
          <a:noFill/>
        </p:spPr>
        <p:txBody>
          <a:bodyPr wrap="none" rtlCol="0">
            <a:spAutoFit/>
          </a:bodyPr>
          <a:lstStyle/>
          <a:p>
            <a:r>
              <a:rPr lang="en-US" dirty="0" smtClean="0"/>
              <a:t>G,H,K- </a:t>
            </a:r>
            <a:r>
              <a:rPr lang="ru-RU" dirty="0" smtClean="0"/>
              <a:t>организация многоразрядных вычислений</a:t>
            </a:r>
            <a:endParaRPr lang="ru-RU" dirty="0"/>
          </a:p>
        </p:txBody>
      </p:sp>
    </p:spTree>
    <p:extLst>
      <p:ext uri="{BB962C8B-B14F-4D97-AF65-F5344CB8AC3E}">
        <p14:creationId xmlns:p14="http://schemas.microsoft.com/office/powerpoint/2010/main" val="14878566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9832" y="332656"/>
            <a:ext cx="1316451" cy="369332"/>
          </a:xfrm>
          <a:prstGeom prst="rect">
            <a:avLst/>
          </a:prstGeom>
          <a:noFill/>
        </p:spPr>
        <p:txBody>
          <a:bodyPr wrap="none" rtlCol="0">
            <a:spAutoFit/>
          </a:bodyPr>
          <a:lstStyle/>
          <a:p>
            <a:r>
              <a:rPr lang="ru-RU" dirty="0" smtClean="0"/>
              <a:t>Сумматоры</a:t>
            </a:r>
          </a:p>
        </p:txBody>
      </p:sp>
      <p:sp>
        <p:nvSpPr>
          <p:cNvPr id="3" name="TextBox 2"/>
          <p:cNvSpPr txBox="1"/>
          <p:nvPr/>
        </p:nvSpPr>
        <p:spPr>
          <a:xfrm>
            <a:off x="467544" y="764704"/>
            <a:ext cx="8568952" cy="923330"/>
          </a:xfrm>
          <a:prstGeom prst="rect">
            <a:avLst/>
          </a:prstGeom>
          <a:noFill/>
        </p:spPr>
        <p:txBody>
          <a:bodyPr wrap="square" rtlCol="0">
            <a:spAutoFit/>
          </a:bodyPr>
          <a:lstStyle/>
          <a:p>
            <a:r>
              <a:rPr lang="ru-RU" b="1" dirty="0" smtClean="0"/>
              <a:t>Сумматор</a:t>
            </a:r>
            <a:r>
              <a:rPr lang="ru-RU" dirty="0" smtClean="0"/>
              <a:t> –комбинационное логическое устройство предназначенное для выполнения операций арифметического сложения чисел, представленных в виде двоичных кодов.</a:t>
            </a:r>
            <a:endParaRPr lang="ru-RU" dirty="0"/>
          </a:p>
        </p:txBody>
      </p:sp>
      <p:graphicFrame>
        <p:nvGraphicFramePr>
          <p:cNvPr id="4" name="Таблица 3"/>
          <p:cNvGraphicFramePr>
            <a:graphicFrameLocks noGrp="1"/>
          </p:cNvGraphicFramePr>
          <p:nvPr>
            <p:extLst>
              <p:ext uri="{D42A27DB-BD31-4B8C-83A1-F6EECF244321}">
                <p14:modId xmlns:p14="http://schemas.microsoft.com/office/powerpoint/2010/main" val="562247819"/>
              </p:ext>
            </p:extLst>
          </p:nvPr>
        </p:nvGraphicFramePr>
        <p:xfrm>
          <a:off x="683568" y="2387391"/>
          <a:ext cx="3548700" cy="1854200"/>
        </p:xfrm>
        <a:graphic>
          <a:graphicData uri="http://schemas.openxmlformats.org/drawingml/2006/table">
            <a:tbl>
              <a:tblPr firstRow="1" bandRow="1">
                <a:tableStyleId>{5C22544A-7EE6-4342-B048-85BDC9FD1C3A}</a:tableStyleId>
              </a:tblPr>
              <a:tblGrid>
                <a:gridCol w="887175"/>
                <a:gridCol w="887175"/>
                <a:gridCol w="887175"/>
                <a:gridCol w="887175"/>
              </a:tblGrid>
              <a:tr h="370840">
                <a:tc>
                  <a:txBody>
                    <a:bodyPr/>
                    <a:lstStyle/>
                    <a:p>
                      <a:pPr algn="ctr"/>
                      <a:r>
                        <a:rPr lang="en-US" dirty="0" smtClean="0"/>
                        <a:t>x1</a:t>
                      </a:r>
                      <a:endParaRPr lang="ru-RU" dirty="0"/>
                    </a:p>
                  </a:txBody>
                  <a:tcPr/>
                </a:tc>
                <a:tc>
                  <a:txBody>
                    <a:bodyPr/>
                    <a:lstStyle/>
                    <a:p>
                      <a:pPr algn="ctr"/>
                      <a:r>
                        <a:rPr lang="en-US" dirty="0" smtClean="0"/>
                        <a:t>x0</a:t>
                      </a:r>
                      <a:endParaRPr lang="ru-RU" dirty="0"/>
                    </a:p>
                  </a:txBody>
                  <a:tcPr/>
                </a:tc>
                <a:tc>
                  <a:txBody>
                    <a:bodyPr/>
                    <a:lstStyle/>
                    <a:p>
                      <a:pPr algn="ctr"/>
                      <a:r>
                        <a:rPr lang="en-US" dirty="0" smtClean="0"/>
                        <a:t>s</a:t>
                      </a:r>
                      <a:endParaRPr lang="ru-RU" dirty="0"/>
                    </a:p>
                  </a:txBody>
                  <a:tcPr/>
                </a:tc>
                <a:tc>
                  <a:txBody>
                    <a:bodyPr/>
                    <a:lstStyle/>
                    <a:p>
                      <a:pPr algn="ctr"/>
                      <a:r>
                        <a:rPr lang="en-US" dirty="0" smtClean="0"/>
                        <a:t>p</a:t>
                      </a:r>
                      <a:endParaRPr lang="ru-RU" dirty="0"/>
                    </a:p>
                  </a:txBody>
                  <a:tcPr/>
                </a:tc>
              </a:tr>
              <a:tr h="370840">
                <a:tc>
                  <a:txBody>
                    <a:bodyPr/>
                    <a:lstStyle/>
                    <a:p>
                      <a:pPr algn="ctr"/>
                      <a:r>
                        <a:rPr lang="en-US" dirty="0" smtClean="0"/>
                        <a:t>0</a:t>
                      </a:r>
                      <a:endParaRPr lang="ru-RU" dirty="0"/>
                    </a:p>
                  </a:txBody>
                  <a:tcPr/>
                </a:tc>
                <a:tc>
                  <a:txBody>
                    <a:bodyPr/>
                    <a:lstStyle/>
                    <a:p>
                      <a:pPr algn="ctr"/>
                      <a:r>
                        <a:rPr lang="en-US" dirty="0" smtClean="0"/>
                        <a:t>0</a:t>
                      </a:r>
                      <a:endParaRPr lang="ru-RU" dirty="0"/>
                    </a:p>
                  </a:txBody>
                  <a:tcPr/>
                </a:tc>
                <a:tc>
                  <a:txBody>
                    <a:bodyPr/>
                    <a:lstStyle/>
                    <a:p>
                      <a:pPr algn="ctr"/>
                      <a:r>
                        <a:rPr lang="en-US" dirty="0" smtClean="0"/>
                        <a:t>0</a:t>
                      </a:r>
                      <a:endParaRPr lang="ru-RU" dirty="0"/>
                    </a:p>
                  </a:txBody>
                  <a:tcPr/>
                </a:tc>
                <a:tc>
                  <a:txBody>
                    <a:bodyPr/>
                    <a:lstStyle/>
                    <a:p>
                      <a:pPr algn="ctr"/>
                      <a:r>
                        <a:rPr lang="en-US" dirty="0" smtClean="0"/>
                        <a:t>0</a:t>
                      </a:r>
                      <a:endParaRPr lang="ru-RU" dirty="0"/>
                    </a:p>
                  </a:txBody>
                  <a:tcPr/>
                </a:tc>
              </a:tr>
              <a:tr h="370840">
                <a:tc>
                  <a:txBody>
                    <a:bodyPr/>
                    <a:lstStyle/>
                    <a:p>
                      <a:pPr algn="ctr"/>
                      <a:r>
                        <a:rPr lang="en-US" dirty="0" smtClean="0"/>
                        <a:t>0</a:t>
                      </a:r>
                      <a:endParaRPr lang="ru-RU" dirty="0"/>
                    </a:p>
                  </a:txBody>
                  <a:tcPr/>
                </a:tc>
                <a:tc>
                  <a:txBody>
                    <a:bodyPr/>
                    <a:lstStyle/>
                    <a:p>
                      <a:pPr algn="ctr"/>
                      <a:r>
                        <a:rPr lang="en-US" dirty="0" smtClean="0"/>
                        <a:t>1</a:t>
                      </a:r>
                      <a:endParaRPr lang="ru-RU" dirty="0"/>
                    </a:p>
                  </a:txBody>
                  <a:tcPr/>
                </a:tc>
                <a:tc>
                  <a:txBody>
                    <a:bodyPr/>
                    <a:lstStyle/>
                    <a:p>
                      <a:pPr algn="ctr"/>
                      <a:r>
                        <a:rPr lang="en-US" dirty="0" smtClean="0"/>
                        <a:t>1</a:t>
                      </a:r>
                      <a:endParaRPr lang="ru-RU" dirty="0"/>
                    </a:p>
                  </a:txBody>
                  <a:tcPr/>
                </a:tc>
                <a:tc>
                  <a:txBody>
                    <a:bodyPr/>
                    <a:lstStyle/>
                    <a:p>
                      <a:pPr algn="ctr"/>
                      <a:r>
                        <a:rPr lang="en-US" dirty="0" smtClean="0"/>
                        <a:t>0</a:t>
                      </a:r>
                      <a:endParaRPr lang="ru-RU" dirty="0"/>
                    </a:p>
                  </a:txBody>
                  <a:tcPr/>
                </a:tc>
              </a:tr>
              <a:tr h="370840">
                <a:tc>
                  <a:txBody>
                    <a:bodyPr/>
                    <a:lstStyle/>
                    <a:p>
                      <a:pPr algn="ctr"/>
                      <a:r>
                        <a:rPr lang="en-US" dirty="0" smtClean="0"/>
                        <a:t>1</a:t>
                      </a:r>
                      <a:endParaRPr lang="ru-RU" dirty="0"/>
                    </a:p>
                  </a:txBody>
                  <a:tcPr/>
                </a:tc>
                <a:tc>
                  <a:txBody>
                    <a:bodyPr/>
                    <a:lstStyle/>
                    <a:p>
                      <a:pPr algn="ctr"/>
                      <a:r>
                        <a:rPr lang="en-US" dirty="0" smtClean="0"/>
                        <a:t>0</a:t>
                      </a:r>
                      <a:endParaRPr lang="ru-RU" dirty="0"/>
                    </a:p>
                  </a:txBody>
                  <a:tcPr/>
                </a:tc>
                <a:tc>
                  <a:txBody>
                    <a:bodyPr/>
                    <a:lstStyle/>
                    <a:p>
                      <a:pPr algn="ctr"/>
                      <a:r>
                        <a:rPr lang="en-US" dirty="0" smtClean="0"/>
                        <a:t>1</a:t>
                      </a:r>
                      <a:endParaRPr lang="ru-RU" dirty="0"/>
                    </a:p>
                  </a:txBody>
                  <a:tcPr/>
                </a:tc>
                <a:tc>
                  <a:txBody>
                    <a:bodyPr/>
                    <a:lstStyle/>
                    <a:p>
                      <a:pPr algn="ctr"/>
                      <a:r>
                        <a:rPr lang="en-US" dirty="0" smtClean="0"/>
                        <a:t>0</a:t>
                      </a:r>
                      <a:endParaRPr lang="ru-RU" dirty="0"/>
                    </a:p>
                  </a:txBody>
                  <a:tcPr/>
                </a:tc>
              </a:tr>
              <a:tr h="370840">
                <a:tc>
                  <a:txBody>
                    <a:bodyPr/>
                    <a:lstStyle/>
                    <a:p>
                      <a:pPr algn="ctr"/>
                      <a:r>
                        <a:rPr lang="en-US" dirty="0" smtClean="0"/>
                        <a:t>1</a:t>
                      </a:r>
                      <a:endParaRPr lang="ru-RU" dirty="0"/>
                    </a:p>
                  </a:txBody>
                  <a:tcPr/>
                </a:tc>
                <a:tc>
                  <a:txBody>
                    <a:bodyPr/>
                    <a:lstStyle/>
                    <a:p>
                      <a:pPr algn="ctr"/>
                      <a:r>
                        <a:rPr lang="en-US" dirty="0" smtClean="0"/>
                        <a:t>1</a:t>
                      </a:r>
                      <a:endParaRPr lang="ru-RU" dirty="0"/>
                    </a:p>
                  </a:txBody>
                  <a:tcPr/>
                </a:tc>
                <a:tc>
                  <a:txBody>
                    <a:bodyPr/>
                    <a:lstStyle/>
                    <a:p>
                      <a:pPr algn="ctr"/>
                      <a:r>
                        <a:rPr lang="en-US" dirty="0" smtClean="0"/>
                        <a:t>0</a:t>
                      </a:r>
                      <a:endParaRPr lang="ru-RU" dirty="0"/>
                    </a:p>
                  </a:txBody>
                  <a:tcPr/>
                </a:tc>
                <a:tc>
                  <a:txBody>
                    <a:bodyPr/>
                    <a:lstStyle/>
                    <a:p>
                      <a:pPr algn="ctr"/>
                      <a:r>
                        <a:rPr lang="en-US" dirty="0" smtClean="0"/>
                        <a:t>1</a:t>
                      </a:r>
                      <a:endParaRPr lang="ru-RU" dirty="0"/>
                    </a:p>
                  </a:txBody>
                  <a:tcPr/>
                </a:tc>
              </a:tr>
            </a:tbl>
          </a:graphicData>
        </a:graphic>
      </p:graphicFrame>
      <p:sp>
        <p:nvSpPr>
          <p:cNvPr id="5" name="TextBox 4"/>
          <p:cNvSpPr txBox="1"/>
          <p:nvPr/>
        </p:nvSpPr>
        <p:spPr>
          <a:xfrm>
            <a:off x="683568" y="1715001"/>
            <a:ext cx="3456384" cy="646331"/>
          </a:xfrm>
          <a:prstGeom prst="rect">
            <a:avLst/>
          </a:prstGeom>
          <a:noFill/>
        </p:spPr>
        <p:txBody>
          <a:bodyPr wrap="square" rtlCol="0">
            <a:spAutoFit/>
          </a:bodyPr>
          <a:lstStyle/>
          <a:p>
            <a:r>
              <a:rPr lang="ru-RU" dirty="0" smtClean="0"/>
              <a:t>Таблица истинности  сложения одноразрядных двоичных кодов</a:t>
            </a:r>
            <a:endParaRPr lang="ru-RU" dirty="0"/>
          </a:p>
        </p:txBody>
      </p:sp>
      <p:graphicFrame>
        <p:nvGraphicFramePr>
          <p:cNvPr id="6" name="Объект 5"/>
          <p:cNvGraphicFramePr>
            <a:graphicFrameLocks noChangeAspect="1"/>
          </p:cNvGraphicFramePr>
          <p:nvPr>
            <p:extLst>
              <p:ext uri="{D42A27DB-BD31-4B8C-83A1-F6EECF244321}">
                <p14:modId xmlns:p14="http://schemas.microsoft.com/office/powerpoint/2010/main" val="72823249"/>
              </p:ext>
            </p:extLst>
          </p:nvPr>
        </p:nvGraphicFramePr>
        <p:xfrm>
          <a:off x="4346776" y="2361332"/>
          <a:ext cx="1865734" cy="872291"/>
        </p:xfrm>
        <a:graphic>
          <a:graphicData uri="http://schemas.openxmlformats.org/presentationml/2006/ole">
            <mc:AlternateContent xmlns:mc="http://schemas.openxmlformats.org/markup-compatibility/2006">
              <mc:Choice xmlns:v="urn:schemas-microsoft-com:vml" Requires="v">
                <p:oleObj spid="_x0000_s1496" name="Equation" r:id="rId3" imgW="977760" imgH="457200" progId="Equation.DSMT4">
                  <p:embed/>
                </p:oleObj>
              </mc:Choice>
              <mc:Fallback>
                <p:oleObj name="Equation" r:id="rId3" imgW="977760" imgH="457200" progId="Equation.DSMT4">
                  <p:embed/>
                  <p:pic>
                    <p:nvPicPr>
                      <p:cNvPr id="0" name=""/>
                      <p:cNvPicPr/>
                      <p:nvPr/>
                    </p:nvPicPr>
                    <p:blipFill>
                      <a:blip r:embed="rId4"/>
                      <a:stretch>
                        <a:fillRect/>
                      </a:stretch>
                    </p:blipFill>
                    <p:spPr>
                      <a:xfrm>
                        <a:off x="4346776" y="2361332"/>
                        <a:ext cx="1865734" cy="872291"/>
                      </a:xfrm>
                      <a:prstGeom prst="rect">
                        <a:avLst/>
                      </a:prstGeom>
                    </p:spPr>
                  </p:pic>
                </p:oleObj>
              </mc:Fallback>
            </mc:AlternateContent>
          </a:graphicData>
        </a:graphic>
      </p:graphicFrame>
      <p:sp>
        <p:nvSpPr>
          <p:cNvPr id="7" name="TextBox 6"/>
          <p:cNvSpPr txBox="1"/>
          <p:nvPr/>
        </p:nvSpPr>
        <p:spPr>
          <a:xfrm>
            <a:off x="251520" y="4725144"/>
            <a:ext cx="2098138" cy="646331"/>
          </a:xfrm>
          <a:prstGeom prst="rect">
            <a:avLst/>
          </a:prstGeom>
          <a:noFill/>
        </p:spPr>
        <p:txBody>
          <a:bodyPr wrap="none" rtlCol="0">
            <a:spAutoFit/>
          </a:bodyPr>
          <a:lstStyle/>
          <a:p>
            <a:r>
              <a:rPr lang="ru-RU" dirty="0" smtClean="0"/>
              <a:t>Исключающее ИЛИ</a:t>
            </a:r>
            <a:endParaRPr lang="ru-RU" dirty="0"/>
          </a:p>
          <a:p>
            <a:pPr algn="ctr"/>
            <a:r>
              <a:rPr lang="ru-RU" dirty="0" smtClean="0"/>
              <a:t>(</a:t>
            </a:r>
            <a:r>
              <a:rPr lang="en-US" dirty="0" smtClean="0"/>
              <a:t>XOR</a:t>
            </a:r>
            <a:r>
              <a:rPr lang="ru-RU" dirty="0" smtClean="0"/>
              <a:t>)</a:t>
            </a:r>
            <a:endParaRPr lang="ru-RU" dirty="0"/>
          </a:p>
        </p:txBody>
      </p:sp>
      <p:graphicFrame>
        <p:nvGraphicFramePr>
          <p:cNvPr id="8" name="Объект 7"/>
          <p:cNvGraphicFramePr>
            <a:graphicFrameLocks noChangeAspect="1"/>
          </p:cNvGraphicFramePr>
          <p:nvPr>
            <p:extLst>
              <p:ext uri="{D42A27DB-BD31-4B8C-83A1-F6EECF244321}">
                <p14:modId xmlns:p14="http://schemas.microsoft.com/office/powerpoint/2010/main" val="1575383065"/>
              </p:ext>
            </p:extLst>
          </p:nvPr>
        </p:nvGraphicFramePr>
        <p:xfrm>
          <a:off x="2202458" y="5079141"/>
          <a:ext cx="1282700" cy="436562"/>
        </p:xfrm>
        <a:graphic>
          <a:graphicData uri="http://schemas.openxmlformats.org/presentationml/2006/ole">
            <mc:AlternateContent xmlns:mc="http://schemas.openxmlformats.org/markup-compatibility/2006">
              <mc:Choice xmlns:v="urn:schemas-microsoft-com:vml" Requires="v">
                <p:oleObj spid="_x0000_s1497" name="Equation" r:id="rId5" imgW="672840" imgH="228600" progId="Equation.DSMT4">
                  <p:embed/>
                </p:oleObj>
              </mc:Choice>
              <mc:Fallback>
                <p:oleObj name="Equation" r:id="rId5" imgW="672840" imgH="228600" progId="Equation.DSMT4">
                  <p:embed/>
                  <p:pic>
                    <p:nvPicPr>
                      <p:cNvPr id="0" name=""/>
                      <p:cNvPicPr>
                        <a:picLocks noChangeAspect="1" noChangeArrowheads="1"/>
                      </p:cNvPicPr>
                      <p:nvPr/>
                    </p:nvPicPr>
                    <p:blipFill>
                      <a:blip r:embed="rId6"/>
                      <a:srcRect/>
                      <a:stretch>
                        <a:fillRect/>
                      </a:stretch>
                    </p:blipFill>
                    <p:spPr bwMode="auto">
                      <a:xfrm>
                        <a:off x="2202458" y="5079141"/>
                        <a:ext cx="128270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2" name="Прямая со стрелкой 11"/>
          <p:cNvCxnSpPr/>
          <p:nvPr/>
        </p:nvCxnSpPr>
        <p:spPr>
          <a:xfrm flipV="1">
            <a:off x="2843808" y="4365104"/>
            <a:ext cx="0" cy="68320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Прямоугольник 12"/>
          <p:cNvSpPr/>
          <p:nvPr/>
        </p:nvSpPr>
        <p:spPr>
          <a:xfrm>
            <a:off x="2461692" y="2761506"/>
            <a:ext cx="886172" cy="158417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3435999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9832" y="116632"/>
            <a:ext cx="2937279" cy="369332"/>
          </a:xfrm>
          <a:prstGeom prst="rect">
            <a:avLst/>
          </a:prstGeom>
          <a:noFill/>
        </p:spPr>
        <p:txBody>
          <a:bodyPr wrap="none" rtlCol="0">
            <a:spAutoFit/>
          </a:bodyPr>
          <a:lstStyle/>
          <a:p>
            <a:r>
              <a:rPr lang="ru-RU" dirty="0" smtClean="0"/>
              <a:t>Классификация сумматоров</a:t>
            </a:r>
            <a:endParaRPr lang="ru-RU" dirty="0"/>
          </a:p>
        </p:txBody>
      </p:sp>
      <p:sp>
        <p:nvSpPr>
          <p:cNvPr id="3" name="TextBox 2"/>
          <p:cNvSpPr txBox="1"/>
          <p:nvPr/>
        </p:nvSpPr>
        <p:spPr>
          <a:xfrm>
            <a:off x="467544" y="485964"/>
            <a:ext cx="7150291" cy="646331"/>
          </a:xfrm>
          <a:prstGeom prst="rect">
            <a:avLst/>
          </a:prstGeom>
          <a:noFill/>
        </p:spPr>
        <p:txBody>
          <a:bodyPr wrap="none" rtlCol="0">
            <a:spAutoFit/>
          </a:bodyPr>
          <a:lstStyle/>
          <a:p>
            <a:r>
              <a:rPr lang="ru-RU" b="1" dirty="0" smtClean="0"/>
              <a:t>Полусумматор</a:t>
            </a:r>
            <a:r>
              <a:rPr lang="ru-RU" dirty="0" smtClean="0"/>
              <a:t>- сложение двух одноразрядных кодов</a:t>
            </a:r>
          </a:p>
          <a:p>
            <a:r>
              <a:rPr lang="ru-RU" dirty="0" smtClean="0"/>
              <a:t>Содержит два входа, два выхода (сумма и перенос в старший разряд)</a:t>
            </a:r>
            <a:endParaRPr lang="ru-RU" dirty="0"/>
          </a:p>
        </p:txBody>
      </p:sp>
      <p:sp>
        <p:nvSpPr>
          <p:cNvPr id="4" name="TextBox 3"/>
          <p:cNvSpPr txBox="1"/>
          <p:nvPr/>
        </p:nvSpPr>
        <p:spPr>
          <a:xfrm>
            <a:off x="467544" y="1132295"/>
            <a:ext cx="8424936" cy="923330"/>
          </a:xfrm>
          <a:prstGeom prst="rect">
            <a:avLst/>
          </a:prstGeom>
          <a:noFill/>
        </p:spPr>
        <p:txBody>
          <a:bodyPr wrap="square" rtlCol="0">
            <a:spAutoFit/>
          </a:bodyPr>
          <a:lstStyle/>
          <a:p>
            <a:r>
              <a:rPr lang="ru-RU" b="1" dirty="0" smtClean="0"/>
              <a:t>Одноразрядный</a:t>
            </a:r>
            <a:r>
              <a:rPr lang="ru-RU" dirty="0" smtClean="0"/>
              <a:t> сумматор</a:t>
            </a:r>
            <a:r>
              <a:rPr lang="ru-RU" dirty="0"/>
              <a:t>- сложение двух одноразрядных кодов</a:t>
            </a:r>
          </a:p>
          <a:p>
            <a:r>
              <a:rPr lang="ru-RU" dirty="0" smtClean="0"/>
              <a:t> </a:t>
            </a:r>
            <a:r>
              <a:rPr lang="ru-RU" dirty="0"/>
              <a:t>Содержит </a:t>
            </a:r>
            <a:r>
              <a:rPr lang="ru-RU" dirty="0" smtClean="0"/>
              <a:t>три входа (данные и перенос) , </a:t>
            </a:r>
            <a:r>
              <a:rPr lang="ru-RU" dirty="0"/>
              <a:t>два выхода (сумма и </a:t>
            </a:r>
            <a:r>
              <a:rPr lang="ru-RU" dirty="0" smtClean="0"/>
              <a:t>перенос в старший разряд )</a:t>
            </a:r>
            <a:endParaRPr lang="ru-RU" dirty="0"/>
          </a:p>
        </p:txBody>
      </p:sp>
      <p:sp>
        <p:nvSpPr>
          <p:cNvPr id="5" name="TextBox 4"/>
          <p:cNvSpPr txBox="1"/>
          <p:nvPr/>
        </p:nvSpPr>
        <p:spPr>
          <a:xfrm>
            <a:off x="527702" y="2095491"/>
            <a:ext cx="7194598" cy="646331"/>
          </a:xfrm>
          <a:prstGeom prst="rect">
            <a:avLst/>
          </a:prstGeom>
          <a:noFill/>
        </p:spPr>
        <p:txBody>
          <a:bodyPr wrap="none" rtlCol="0">
            <a:spAutoFit/>
          </a:bodyPr>
          <a:lstStyle/>
          <a:p>
            <a:r>
              <a:rPr lang="ru-RU" b="1" dirty="0" smtClean="0"/>
              <a:t>Многоразрядный</a:t>
            </a:r>
            <a:r>
              <a:rPr lang="ru-RU" dirty="0" smtClean="0"/>
              <a:t> сумматор – сложение </a:t>
            </a:r>
            <a:r>
              <a:rPr lang="en-US" dirty="0" smtClean="0"/>
              <a:t>n-</a:t>
            </a:r>
            <a:r>
              <a:rPr lang="ru-RU" dirty="0" smtClean="0"/>
              <a:t>разрядных кодов</a:t>
            </a:r>
          </a:p>
          <a:p>
            <a:r>
              <a:rPr lang="ru-RU" dirty="0" smtClean="0"/>
              <a:t>Содержит 2</a:t>
            </a:r>
            <a:r>
              <a:rPr lang="en-US" dirty="0" smtClean="0"/>
              <a:t>n </a:t>
            </a:r>
            <a:r>
              <a:rPr lang="ru-RU" dirty="0" smtClean="0"/>
              <a:t>входов, </a:t>
            </a:r>
            <a:r>
              <a:rPr lang="en-US" dirty="0" smtClean="0"/>
              <a:t>n+1 </a:t>
            </a:r>
            <a:r>
              <a:rPr lang="ru-RU" dirty="0" smtClean="0"/>
              <a:t>выходов (сумма и перенос в старший разряд)</a:t>
            </a:r>
            <a:endParaRPr lang="ru-RU" dirty="0"/>
          </a:p>
        </p:txBody>
      </p:sp>
      <p:sp>
        <p:nvSpPr>
          <p:cNvPr id="7" name="TextBox 6"/>
          <p:cNvSpPr txBox="1"/>
          <p:nvPr/>
        </p:nvSpPr>
        <p:spPr>
          <a:xfrm>
            <a:off x="323528" y="2924944"/>
            <a:ext cx="2647365" cy="1200329"/>
          </a:xfrm>
          <a:prstGeom prst="rect">
            <a:avLst/>
          </a:prstGeom>
          <a:noFill/>
        </p:spPr>
        <p:txBody>
          <a:bodyPr wrap="square" rtlCol="0">
            <a:spAutoFit/>
          </a:bodyPr>
          <a:lstStyle/>
          <a:p>
            <a:r>
              <a:rPr lang="ru-RU" b="1" dirty="0" smtClean="0"/>
              <a:t>Последовательные</a:t>
            </a:r>
          </a:p>
          <a:p>
            <a:r>
              <a:rPr lang="ru-RU" dirty="0" smtClean="0"/>
              <a:t>(суммирование последовательное разряд за разрядом) </a:t>
            </a:r>
            <a:endParaRPr lang="ru-RU" dirty="0"/>
          </a:p>
        </p:txBody>
      </p:sp>
      <p:sp>
        <p:nvSpPr>
          <p:cNvPr id="8" name="TextBox 7"/>
          <p:cNvSpPr txBox="1"/>
          <p:nvPr/>
        </p:nvSpPr>
        <p:spPr>
          <a:xfrm>
            <a:off x="5283094" y="2924943"/>
            <a:ext cx="3126873" cy="1200329"/>
          </a:xfrm>
          <a:prstGeom prst="rect">
            <a:avLst/>
          </a:prstGeom>
          <a:noFill/>
        </p:spPr>
        <p:txBody>
          <a:bodyPr wrap="square" rtlCol="0">
            <a:spAutoFit/>
          </a:bodyPr>
          <a:lstStyle/>
          <a:p>
            <a:r>
              <a:rPr lang="ru-RU" b="1" dirty="0" smtClean="0"/>
              <a:t>Параллельные</a:t>
            </a:r>
          </a:p>
          <a:p>
            <a:r>
              <a:rPr lang="ru-RU" dirty="0" smtClean="0"/>
              <a:t>(суммирование одновременное по всем разрядам)</a:t>
            </a:r>
            <a:endParaRPr lang="ru-RU" dirty="0"/>
          </a:p>
        </p:txBody>
      </p:sp>
      <p:sp>
        <p:nvSpPr>
          <p:cNvPr id="9" name="TextBox 8"/>
          <p:cNvSpPr txBox="1"/>
          <p:nvPr/>
        </p:nvSpPr>
        <p:spPr>
          <a:xfrm>
            <a:off x="323528" y="4327466"/>
            <a:ext cx="2728632" cy="923330"/>
          </a:xfrm>
          <a:prstGeom prst="rect">
            <a:avLst/>
          </a:prstGeom>
          <a:noFill/>
        </p:spPr>
        <p:txBody>
          <a:bodyPr wrap="none" rtlCol="0">
            <a:spAutoFit/>
          </a:bodyPr>
          <a:lstStyle/>
          <a:p>
            <a:r>
              <a:rPr lang="ru-RU" b="1" dirty="0" smtClean="0"/>
              <a:t>Комбинационные</a:t>
            </a:r>
          </a:p>
          <a:p>
            <a:r>
              <a:rPr lang="ru-RU" dirty="0" smtClean="0"/>
              <a:t>сумматоры</a:t>
            </a:r>
          </a:p>
          <a:p>
            <a:r>
              <a:rPr lang="ru-RU" dirty="0" smtClean="0"/>
              <a:t>(без собственной памяти)</a:t>
            </a:r>
            <a:endParaRPr lang="ru-RU" dirty="0"/>
          </a:p>
        </p:txBody>
      </p:sp>
      <p:sp>
        <p:nvSpPr>
          <p:cNvPr id="10" name="TextBox 9"/>
          <p:cNvSpPr txBox="1"/>
          <p:nvPr/>
        </p:nvSpPr>
        <p:spPr>
          <a:xfrm>
            <a:off x="5283094" y="4327465"/>
            <a:ext cx="3845925" cy="923330"/>
          </a:xfrm>
          <a:prstGeom prst="rect">
            <a:avLst/>
          </a:prstGeom>
          <a:noFill/>
        </p:spPr>
        <p:txBody>
          <a:bodyPr wrap="none" rtlCol="0">
            <a:spAutoFit/>
          </a:bodyPr>
          <a:lstStyle/>
          <a:p>
            <a:r>
              <a:rPr lang="ru-RU" b="1" dirty="0" smtClean="0"/>
              <a:t>Накапливающие</a:t>
            </a:r>
            <a:r>
              <a:rPr lang="ru-RU" dirty="0" smtClean="0"/>
              <a:t> </a:t>
            </a:r>
          </a:p>
          <a:p>
            <a:r>
              <a:rPr lang="ru-RU" dirty="0" smtClean="0"/>
              <a:t>сумматоры</a:t>
            </a:r>
          </a:p>
          <a:p>
            <a:r>
              <a:rPr lang="ru-RU" dirty="0" smtClean="0"/>
              <a:t>(с собственной внутренней памятью)</a:t>
            </a:r>
            <a:endParaRPr lang="ru-RU" dirty="0"/>
          </a:p>
        </p:txBody>
      </p:sp>
      <p:sp>
        <p:nvSpPr>
          <p:cNvPr id="11" name="TextBox 10"/>
          <p:cNvSpPr txBox="1"/>
          <p:nvPr/>
        </p:nvSpPr>
        <p:spPr>
          <a:xfrm>
            <a:off x="323528" y="5264754"/>
            <a:ext cx="3288849" cy="923330"/>
          </a:xfrm>
          <a:prstGeom prst="rect">
            <a:avLst/>
          </a:prstGeom>
          <a:noFill/>
        </p:spPr>
        <p:txBody>
          <a:bodyPr wrap="none" rtlCol="0">
            <a:spAutoFit/>
          </a:bodyPr>
          <a:lstStyle/>
          <a:p>
            <a:r>
              <a:rPr lang="ru-RU" b="1" dirty="0" smtClean="0"/>
              <a:t>Синхронные</a:t>
            </a:r>
            <a:r>
              <a:rPr lang="ru-RU" dirty="0" smtClean="0"/>
              <a:t> сумматоры</a:t>
            </a:r>
          </a:p>
          <a:p>
            <a:r>
              <a:rPr lang="ru-RU" dirty="0" smtClean="0"/>
              <a:t>(время выполнения не зависит </a:t>
            </a:r>
            <a:endParaRPr lang="en-US" dirty="0" smtClean="0"/>
          </a:p>
          <a:p>
            <a:r>
              <a:rPr lang="ru-RU" dirty="0" smtClean="0"/>
              <a:t>от входных кодов)</a:t>
            </a:r>
            <a:endParaRPr lang="ru-RU" dirty="0"/>
          </a:p>
        </p:txBody>
      </p:sp>
      <p:sp>
        <p:nvSpPr>
          <p:cNvPr id="12" name="TextBox 11"/>
          <p:cNvSpPr txBox="1"/>
          <p:nvPr/>
        </p:nvSpPr>
        <p:spPr>
          <a:xfrm>
            <a:off x="5283094" y="5264753"/>
            <a:ext cx="3207032" cy="923330"/>
          </a:xfrm>
          <a:prstGeom prst="rect">
            <a:avLst/>
          </a:prstGeom>
          <a:noFill/>
        </p:spPr>
        <p:txBody>
          <a:bodyPr wrap="none" rtlCol="0">
            <a:spAutoFit/>
          </a:bodyPr>
          <a:lstStyle/>
          <a:p>
            <a:r>
              <a:rPr lang="ru-RU" b="1" dirty="0" smtClean="0"/>
              <a:t>Асинхронные</a:t>
            </a:r>
            <a:r>
              <a:rPr lang="ru-RU" dirty="0" smtClean="0"/>
              <a:t> сумматоры</a:t>
            </a:r>
            <a:endParaRPr lang="ru-RU" dirty="0"/>
          </a:p>
          <a:p>
            <a:r>
              <a:rPr lang="ru-RU" dirty="0" smtClean="0"/>
              <a:t>(время выполнения зависит от</a:t>
            </a:r>
          </a:p>
          <a:p>
            <a:r>
              <a:rPr lang="ru-RU" dirty="0" smtClean="0"/>
              <a:t> входных кодов)</a:t>
            </a:r>
            <a:endParaRPr lang="ru-RU" dirty="0"/>
          </a:p>
        </p:txBody>
      </p:sp>
      <p:sp>
        <p:nvSpPr>
          <p:cNvPr id="13" name="TextBox 12"/>
          <p:cNvSpPr txBox="1"/>
          <p:nvPr/>
        </p:nvSpPr>
        <p:spPr>
          <a:xfrm>
            <a:off x="1137504" y="6309320"/>
            <a:ext cx="7184659" cy="369332"/>
          </a:xfrm>
          <a:prstGeom prst="rect">
            <a:avLst/>
          </a:prstGeom>
          <a:noFill/>
        </p:spPr>
        <p:txBody>
          <a:bodyPr wrap="none" rtlCol="0">
            <a:spAutoFit/>
          </a:bodyPr>
          <a:lstStyle/>
          <a:p>
            <a:r>
              <a:rPr lang="ru-RU" b="1" dirty="0" smtClean="0"/>
              <a:t>Системы счисления </a:t>
            </a:r>
            <a:r>
              <a:rPr lang="ru-RU" dirty="0" smtClean="0"/>
              <a:t>сумматоров</a:t>
            </a:r>
            <a:r>
              <a:rPr lang="en-US" dirty="0" smtClean="0"/>
              <a:t>:</a:t>
            </a:r>
            <a:r>
              <a:rPr lang="ru-RU" dirty="0" smtClean="0"/>
              <a:t>двоичные, двоично-десятичные и т.д.</a:t>
            </a:r>
            <a:endParaRPr lang="ru-RU" dirty="0"/>
          </a:p>
        </p:txBody>
      </p:sp>
      <p:cxnSp>
        <p:nvCxnSpPr>
          <p:cNvPr id="17" name="Прямая со стрелкой 16"/>
          <p:cNvCxnSpPr>
            <a:stCxn id="5" idx="2"/>
            <a:endCxn id="7" idx="0"/>
          </p:cNvCxnSpPr>
          <p:nvPr/>
        </p:nvCxnSpPr>
        <p:spPr>
          <a:xfrm flipH="1">
            <a:off x="1647211" y="2741822"/>
            <a:ext cx="2477790" cy="1831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a:stCxn id="5" idx="2"/>
            <a:endCxn id="8" idx="0"/>
          </p:cNvCxnSpPr>
          <p:nvPr/>
        </p:nvCxnSpPr>
        <p:spPr>
          <a:xfrm>
            <a:off x="4125001" y="2741822"/>
            <a:ext cx="2721530" cy="1831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040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15816" y="332656"/>
            <a:ext cx="2665794" cy="369332"/>
          </a:xfrm>
          <a:prstGeom prst="rect">
            <a:avLst/>
          </a:prstGeom>
          <a:noFill/>
        </p:spPr>
        <p:txBody>
          <a:bodyPr wrap="none" rtlCol="0">
            <a:spAutoFit/>
          </a:bodyPr>
          <a:lstStyle/>
          <a:p>
            <a:r>
              <a:rPr lang="ru-RU" dirty="0" smtClean="0"/>
              <a:t>Двоичный полусумматор</a:t>
            </a:r>
            <a:endParaRPr lang="ru-RU" dirty="0"/>
          </a:p>
        </p:txBody>
      </p:sp>
      <p:graphicFrame>
        <p:nvGraphicFramePr>
          <p:cNvPr id="14" name="Объект 13"/>
          <p:cNvGraphicFramePr>
            <a:graphicFrameLocks noChangeAspect="1"/>
          </p:cNvGraphicFramePr>
          <p:nvPr>
            <p:extLst>
              <p:ext uri="{D42A27DB-BD31-4B8C-83A1-F6EECF244321}">
                <p14:modId xmlns:p14="http://schemas.microsoft.com/office/powerpoint/2010/main" val="519505004"/>
              </p:ext>
            </p:extLst>
          </p:nvPr>
        </p:nvGraphicFramePr>
        <p:xfrm>
          <a:off x="159042" y="1596241"/>
          <a:ext cx="292100" cy="381000"/>
        </p:xfrm>
        <a:graphic>
          <a:graphicData uri="http://schemas.openxmlformats.org/presentationml/2006/ole">
            <mc:AlternateContent xmlns:mc="http://schemas.openxmlformats.org/markup-compatibility/2006">
              <mc:Choice xmlns:v="urn:schemas-microsoft-com:vml" Requires="v">
                <p:oleObj spid="_x0000_s37466" name="Equation" r:id="rId3" imgW="291960" imgH="380880" progId="Equation.DSMT4">
                  <p:embed/>
                </p:oleObj>
              </mc:Choice>
              <mc:Fallback>
                <p:oleObj name="Equation" r:id="rId3" imgW="291960" imgH="380880" progId="Equation.DSMT4">
                  <p:embed/>
                  <p:pic>
                    <p:nvPicPr>
                      <p:cNvPr id="0" name=""/>
                      <p:cNvPicPr/>
                      <p:nvPr/>
                    </p:nvPicPr>
                    <p:blipFill>
                      <a:blip r:embed="rId4"/>
                      <a:stretch>
                        <a:fillRect/>
                      </a:stretch>
                    </p:blipFill>
                    <p:spPr>
                      <a:xfrm>
                        <a:off x="159042" y="1596241"/>
                        <a:ext cx="292100" cy="381000"/>
                      </a:xfrm>
                      <a:prstGeom prst="rect">
                        <a:avLst/>
                      </a:prstGeom>
                    </p:spPr>
                  </p:pic>
                </p:oleObj>
              </mc:Fallback>
            </mc:AlternateContent>
          </a:graphicData>
        </a:graphic>
      </p:graphicFrame>
      <p:graphicFrame>
        <p:nvGraphicFramePr>
          <p:cNvPr id="15" name="Объект 14"/>
          <p:cNvGraphicFramePr>
            <a:graphicFrameLocks noChangeAspect="1"/>
          </p:cNvGraphicFramePr>
          <p:nvPr>
            <p:extLst>
              <p:ext uri="{D42A27DB-BD31-4B8C-83A1-F6EECF244321}">
                <p14:modId xmlns:p14="http://schemas.microsoft.com/office/powerpoint/2010/main" val="2969558049"/>
              </p:ext>
            </p:extLst>
          </p:nvPr>
        </p:nvGraphicFramePr>
        <p:xfrm>
          <a:off x="141952" y="3026727"/>
          <a:ext cx="317500" cy="381000"/>
        </p:xfrm>
        <a:graphic>
          <a:graphicData uri="http://schemas.openxmlformats.org/presentationml/2006/ole">
            <mc:AlternateContent xmlns:mc="http://schemas.openxmlformats.org/markup-compatibility/2006">
              <mc:Choice xmlns:v="urn:schemas-microsoft-com:vml" Requires="v">
                <p:oleObj spid="_x0000_s37467" name="Equation" r:id="rId5" imgW="317160" imgH="380880" progId="Equation.DSMT4">
                  <p:embed/>
                </p:oleObj>
              </mc:Choice>
              <mc:Fallback>
                <p:oleObj name="Equation" r:id="rId5" imgW="317160" imgH="380880" progId="Equation.DSMT4">
                  <p:embed/>
                  <p:pic>
                    <p:nvPicPr>
                      <p:cNvPr id="0" name=""/>
                      <p:cNvPicPr>
                        <a:picLocks noChangeAspect="1" noChangeArrowheads="1"/>
                      </p:cNvPicPr>
                      <p:nvPr/>
                    </p:nvPicPr>
                    <p:blipFill>
                      <a:blip r:embed="rId6"/>
                      <a:srcRect/>
                      <a:stretch>
                        <a:fillRect/>
                      </a:stretch>
                    </p:blipFill>
                    <p:spPr bwMode="auto">
                      <a:xfrm>
                        <a:off x="141952" y="3026727"/>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 name="Группа 17"/>
          <p:cNvGrpSpPr/>
          <p:nvPr/>
        </p:nvGrpSpPr>
        <p:grpSpPr>
          <a:xfrm>
            <a:off x="550477" y="1573588"/>
            <a:ext cx="1107127" cy="581218"/>
            <a:chOff x="1152710" y="2903184"/>
            <a:chExt cx="1829840" cy="1080500"/>
          </a:xfrm>
        </p:grpSpPr>
        <p:sp>
          <p:nvSpPr>
            <p:cNvPr id="10" name="Прямоугольник 9"/>
            <p:cNvSpPr/>
            <p:nvPr/>
          </p:nvSpPr>
          <p:spPr>
            <a:xfrm>
              <a:off x="1656767" y="290318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1" name="Прямая соединительная линия 10"/>
            <p:cNvCxnSpPr/>
            <p:nvPr/>
          </p:nvCxnSpPr>
          <p:spPr>
            <a:xfrm>
              <a:off x="1152710" y="3119588"/>
              <a:ext cx="5040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1152710" y="369565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a:off x="2448855" y="342820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758315" y="2934922"/>
              <a:ext cx="341760" cy="369332"/>
            </a:xfrm>
            <a:prstGeom prst="rect">
              <a:avLst/>
            </a:prstGeom>
            <a:noFill/>
          </p:spPr>
          <p:txBody>
            <a:bodyPr wrap="none" rtlCol="0">
              <a:spAutoFit/>
            </a:bodyPr>
            <a:lstStyle/>
            <a:p>
              <a:r>
                <a:rPr lang="en-US" dirty="0"/>
                <a:t>&amp;</a:t>
              </a:r>
              <a:endParaRPr lang="ru-RU" dirty="0"/>
            </a:p>
          </p:txBody>
        </p:sp>
        <p:sp>
          <p:nvSpPr>
            <p:cNvPr id="9" name="Овал 8"/>
            <p:cNvSpPr/>
            <p:nvPr/>
          </p:nvSpPr>
          <p:spPr>
            <a:xfrm>
              <a:off x="2376847" y="337142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19" name="Группа 18"/>
          <p:cNvGrpSpPr/>
          <p:nvPr/>
        </p:nvGrpSpPr>
        <p:grpSpPr>
          <a:xfrm>
            <a:off x="550477" y="2620532"/>
            <a:ext cx="1107127" cy="581218"/>
            <a:chOff x="1152710" y="2903184"/>
            <a:chExt cx="1829840" cy="1080500"/>
          </a:xfrm>
        </p:grpSpPr>
        <p:sp>
          <p:nvSpPr>
            <p:cNvPr id="20" name="Прямоугольник 19"/>
            <p:cNvSpPr/>
            <p:nvPr/>
          </p:nvSpPr>
          <p:spPr>
            <a:xfrm>
              <a:off x="1656767" y="290318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1" name="Прямая соединительная линия 20"/>
            <p:cNvCxnSpPr/>
            <p:nvPr/>
          </p:nvCxnSpPr>
          <p:spPr>
            <a:xfrm>
              <a:off x="1152710" y="3119588"/>
              <a:ext cx="5040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a:off x="1152710" y="369565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2448855" y="342820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758315" y="2934922"/>
              <a:ext cx="341760" cy="369332"/>
            </a:xfrm>
            <a:prstGeom prst="rect">
              <a:avLst/>
            </a:prstGeom>
            <a:noFill/>
          </p:spPr>
          <p:txBody>
            <a:bodyPr wrap="none" rtlCol="0">
              <a:spAutoFit/>
            </a:bodyPr>
            <a:lstStyle/>
            <a:p>
              <a:r>
                <a:rPr lang="en-US" dirty="0"/>
                <a:t>&amp;</a:t>
              </a:r>
              <a:endParaRPr lang="ru-RU" dirty="0"/>
            </a:p>
          </p:txBody>
        </p:sp>
        <p:sp>
          <p:nvSpPr>
            <p:cNvPr id="25" name="Овал 24"/>
            <p:cNvSpPr/>
            <p:nvPr/>
          </p:nvSpPr>
          <p:spPr>
            <a:xfrm>
              <a:off x="2376847" y="337142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6" name="Группа 25"/>
          <p:cNvGrpSpPr/>
          <p:nvPr/>
        </p:nvGrpSpPr>
        <p:grpSpPr>
          <a:xfrm>
            <a:off x="2053479" y="1565393"/>
            <a:ext cx="1107127" cy="581218"/>
            <a:chOff x="1152710" y="2903184"/>
            <a:chExt cx="1829840" cy="1080500"/>
          </a:xfrm>
        </p:grpSpPr>
        <p:sp>
          <p:nvSpPr>
            <p:cNvPr id="27" name="Прямоугольник 26"/>
            <p:cNvSpPr/>
            <p:nvPr/>
          </p:nvSpPr>
          <p:spPr>
            <a:xfrm>
              <a:off x="1656767" y="290318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8" name="Прямая соединительная линия 27"/>
            <p:cNvCxnSpPr/>
            <p:nvPr/>
          </p:nvCxnSpPr>
          <p:spPr>
            <a:xfrm>
              <a:off x="1152710" y="3119588"/>
              <a:ext cx="5040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1152710" y="369565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2448855" y="342820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758315" y="2934922"/>
              <a:ext cx="341760" cy="369332"/>
            </a:xfrm>
            <a:prstGeom prst="rect">
              <a:avLst/>
            </a:prstGeom>
            <a:noFill/>
          </p:spPr>
          <p:txBody>
            <a:bodyPr wrap="none" rtlCol="0">
              <a:spAutoFit/>
            </a:bodyPr>
            <a:lstStyle/>
            <a:p>
              <a:r>
                <a:rPr lang="en-US" dirty="0"/>
                <a:t>&amp;</a:t>
              </a:r>
              <a:endParaRPr lang="ru-RU" dirty="0"/>
            </a:p>
          </p:txBody>
        </p:sp>
        <p:sp>
          <p:nvSpPr>
            <p:cNvPr id="32" name="Овал 31"/>
            <p:cNvSpPr/>
            <p:nvPr/>
          </p:nvSpPr>
          <p:spPr>
            <a:xfrm>
              <a:off x="2376847" y="337142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33" name="Группа 32"/>
          <p:cNvGrpSpPr/>
          <p:nvPr/>
        </p:nvGrpSpPr>
        <p:grpSpPr>
          <a:xfrm>
            <a:off x="2097559" y="2581798"/>
            <a:ext cx="1107127" cy="581218"/>
            <a:chOff x="1152710" y="2903184"/>
            <a:chExt cx="1829840" cy="1080500"/>
          </a:xfrm>
        </p:grpSpPr>
        <p:sp>
          <p:nvSpPr>
            <p:cNvPr id="34" name="Прямоугольник 33"/>
            <p:cNvSpPr/>
            <p:nvPr/>
          </p:nvSpPr>
          <p:spPr>
            <a:xfrm>
              <a:off x="1656767" y="290318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5" name="Прямая соединительная линия 34"/>
            <p:cNvCxnSpPr/>
            <p:nvPr/>
          </p:nvCxnSpPr>
          <p:spPr>
            <a:xfrm>
              <a:off x="1152710" y="3119588"/>
              <a:ext cx="5040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1152710" y="369565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p:nvPr/>
          </p:nvCxnSpPr>
          <p:spPr>
            <a:xfrm>
              <a:off x="2448855" y="342820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758315" y="2934922"/>
              <a:ext cx="341760" cy="369332"/>
            </a:xfrm>
            <a:prstGeom prst="rect">
              <a:avLst/>
            </a:prstGeom>
            <a:noFill/>
          </p:spPr>
          <p:txBody>
            <a:bodyPr wrap="none" rtlCol="0">
              <a:spAutoFit/>
            </a:bodyPr>
            <a:lstStyle/>
            <a:p>
              <a:r>
                <a:rPr lang="en-US" dirty="0"/>
                <a:t>&amp;</a:t>
              </a:r>
              <a:endParaRPr lang="ru-RU" dirty="0"/>
            </a:p>
          </p:txBody>
        </p:sp>
        <p:sp>
          <p:nvSpPr>
            <p:cNvPr id="39" name="Овал 38"/>
            <p:cNvSpPr/>
            <p:nvPr/>
          </p:nvSpPr>
          <p:spPr>
            <a:xfrm>
              <a:off x="2376847" y="337142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40" name="Группа 39"/>
          <p:cNvGrpSpPr/>
          <p:nvPr/>
        </p:nvGrpSpPr>
        <p:grpSpPr>
          <a:xfrm>
            <a:off x="3186289" y="2000580"/>
            <a:ext cx="1107127" cy="581218"/>
            <a:chOff x="1152710" y="2903184"/>
            <a:chExt cx="1829840" cy="1080500"/>
          </a:xfrm>
        </p:grpSpPr>
        <p:sp>
          <p:nvSpPr>
            <p:cNvPr id="41" name="Прямоугольник 40"/>
            <p:cNvSpPr/>
            <p:nvPr/>
          </p:nvSpPr>
          <p:spPr>
            <a:xfrm>
              <a:off x="1656767" y="290318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2" name="Прямая соединительная линия 41"/>
            <p:cNvCxnSpPr/>
            <p:nvPr/>
          </p:nvCxnSpPr>
          <p:spPr>
            <a:xfrm>
              <a:off x="1152710" y="3119588"/>
              <a:ext cx="5040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1152710" y="369565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2448855" y="342820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1758315" y="2934922"/>
              <a:ext cx="341760" cy="369332"/>
            </a:xfrm>
            <a:prstGeom prst="rect">
              <a:avLst/>
            </a:prstGeom>
            <a:noFill/>
          </p:spPr>
          <p:txBody>
            <a:bodyPr wrap="none" rtlCol="0">
              <a:spAutoFit/>
            </a:bodyPr>
            <a:lstStyle/>
            <a:p>
              <a:r>
                <a:rPr lang="en-US" dirty="0"/>
                <a:t>&amp;</a:t>
              </a:r>
              <a:endParaRPr lang="ru-RU" dirty="0"/>
            </a:p>
          </p:txBody>
        </p:sp>
        <p:sp>
          <p:nvSpPr>
            <p:cNvPr id="46" name="Овал 45"/>
            <p:cNvSpPr/>
            <p:nvPr/>
          </p:nvSpPr>
          <p:spPr>
            <a:xfrm>
              <a:off x="2376847" y="337142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48" name="Прямая соединительная линия 47"/>
          <p:cNvCxnSpPr/>
          <p:nvPr/>
        </p:nvCxnSpPr>
        <p:spPr>
          <a:xfrm>
            <a:off x="550477" y="1689995"/>
            <a:ext cx="0" cy="3016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Прямая соединительная линия 48"/>
          <p:cNvCxnSpPr/>
          <p:nvPr/>
        </p:nvCxnSpPr>
        <p:spPr>
          <a:xfrm>
            <a:off x="556176" y="2708973"/>
            <a:ext cx="0" cy="3016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p:cNvCxnSpPr/>
          <p:nvPr/>
        </p:nvCxnSpPr>
        <p:spPr>
          <a:xfrm flipV="1">
            <a:off x="550477" y="2000580"/>
            <a:ext cx="1503002" cy="7083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Прямая соединительная линия 52"/>
          <p:cNvCxnSpPr/>
          <p:nvPr/>
        </p:nvCxnSpPr>
        <p:spPr>
          <a:xfrm>
            <a:off x="556176" y="2017652"/>
            <a:ext cx="1541383" cy="6805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Соединительная линия уступом 55"/>
          <p:cNvCxnSpPr/>
          <p:nvPr/>
        </p:nvCxnSpPr>
        <p:spPr>
          <a:xfrm flipV="1">
            <a:off x="1593503" y="1681801"/>
            <a:ext cx="504056" cy="166006"/>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Соединительная линия уступом 57"/>
          <p:cNvCxnSpPr/>
          <p:nvPr/>
        </p:nvCxnSpPr>
        <p:spPr>
          <a:xfrm>
            <a:off x="1657604" y="2902946"/>
            <a:ext cx="439955" cy="98654"/>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Соединительная линия уступом 59"/>
          <p:cNvCxnSpPr/>
          <p:nvPr/>
        </p:nvCxnSpPr>
        <p:spPr>
          <a:xfrm rot="5400000" flipH="1" flipV="1">
            <a:off x="3076422" y="2555125"/>
            <a:ext cx="445547" cy="189021"/>
          </a:xfrm>
          <a:prstGeom prst="bentConnector3">
            <a:avLst>
              <a:gd name="adj1" fmla="val 99170"/>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Соединительная линия уступом 62"/>
          <p:cNvCxnSpPr/>
          <p:nvPr/>
        </p:nvCxnSpPr>
        <p:spPr>
          <a:xfrm rot="16200000" flipH="1">
            <a:off x="3131850" y="1884757"/>
            <a:ext cx="290609" cy="233097"/>
          </a:xfrm>
          <a:prstGeom prst="bentConnector3">
            <a:avLst>
              <a:gd name="adj1" fmla="val 93817"/>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a:off x="153343" y="2017652"/>
            <a:ext cx="3971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a:off x="159042" y="3046813"/>
            <a:ext cx="3971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Овал 70"/>
          <p:cNvSpPr/>
          <p:nvPr/>
        </p:nvSpPr>
        <p:spPr>
          <a:xfrm>
            <a:off x="513383" y="195538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Овал 71"/>
          <p:cNvSpPr/>
          <p:nvPr/>
        </p:nvSpPr>
        <p:spPr>
          <a:xfrm>
            <a:off x="513383" y="300160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Овал 72"/>
          <p:cNvSpPr/>
          <p:nvPr/>
        </p:nvSpPr>
        <p:spPr>
          <a:xfrm>
            <a:off x="518716" y="269451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80" name="Объект 79"/>
          <p:cNvGraphicFramePr>
            <a:graphicFrameLocks noChangeAspect="1"/>
          </p:cNvGraphicFramePr>
          <p:nvPr>
            <p:extLst>
              <p:ext uri="{D42A27DB-BD31-4B8C-83A1-F6EECF244321}">
                <p14:modId xmlns:p14="http://schemas.microsoft.com/office/powerpoint/2010/main" val="3710367756"/>
              </p:ext>
            </p:extLst>
          </p:nvPr>
        </p:nvGraphicFramePr>
        <p:xfrm>
          <a:off x="4014036" y="1783952"/>
          <a:ext cx="847725" cy="436562"/>
        </p:xfrm>
        <a:graphic>
          <a:graphicData uri="http://schemas.openxmlformats.org/presentationml/2006/ole">
            <mc:AlternateContent xmlns:mc="http://schemas.openxmlformats.org/markup-compatibility/2006">
              <mc:Choice xmlns:v="urn:schemas-microsoft-com:vml" Requires="v">
                <p:oleObj spid="_x0000_s37468" name="Equation" r:id="rId7" imgW="444240" imgH="228600" progId="Equation.DSMT4">
                  <p:embed/>
                </p:oleObj>
              </mc:Choice>
              <mc:Fallback>
                <p:oleObj name="Equation" r:id="rId7" imgW="444240" imgH="228600" progId="Equation.DSMT4">
                  <p:embed/>
                  <p:pic>
                    <p:nvPicPr>
                      <p:cNvPr id="0" name=""/>
                      <p:cNvPicPr>
                        <a:picLocks noChangeAspect="1" noChangeArrowheads="1"/>
                      </p:cNvPicPr>
                      <p:nvPr/>
                    </p:nvPicPr>
                    <p:blipFill>
                      <a:blip r:embed="rId8"/>
                      <a:srcRect/>
                      <a:stretch>
                        <a:fillRect/>
                      </a:stretch>
                    </p:blipFill>
                    <p:spPr bwMode="auto">
                      <a:xfrm>
                        <a:off x="4014036" y="1783952"/>
                        <a:ext cx="84772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 name="Овал 80"/>
          <p:cNvSpPr/>
          <p:nvPr/>
        </p:nvSpPr>
        <p:spPr>
          <a:xfrm>
            <a:off x="78967" y="1919666"/>
            <a:ext cx="141020"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2" name="Овал 81"/>
          <p:cNvSpPr/>
          <p:nvPr/>
        </p:nvSpPr>
        <p:spPr>
          <a:xfrm>
            <a:off x="88532" y="2938644"/>
            <a:ext cx="141020"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Овал 82"/>
          <p:cNvSpPr/>
          <p:nvPr/>
        </p:nvSpPr>
        <p:spPr>
          <a:xfrm>
            <a:off x="4184806" y="2202431"/>
            <a:ext cx="141020"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6" name="TextBox 85"/>
          <p:cNvSpPr txBox="1"/>
          <p:nvPr/>
        </p:nvSpPr>
        <p:spPr>
          <a:xfrm>
            <a:off x="229552" y="980728"/>
            <a:ext cx="2970621" cy="369332"/>
          </a:xfrm>
          <a:prstGeom prst="rect">
            <a:avLst/>
          </a:prstGeom>
          <a:noFill/>
        </p:spPr>
        <p:txBody>
          <a:bodyPr wrap="none" rtlCol="0">
            <a:spAutoFit/>
          </a:bodyPr>
          <a:lstStyle/>
          <a:p>
            <a:r>
              <a:rPr lang="ru-RU" dirty="0" smtClean="0"/>
              <a:t>Реализация на базе ЛЭ И-НЕ</a:t>
            </a:r>
            <a:endParaRPr lang="ru-RU" dirty="0"/>
          </a:p>
        </p:txBody>
      </p:sp>
      <p:grpSp>
        <p:nvGrpSpPr>
          <p:cNvPr id="87" name="Группа 86"/>
          <p:cNvGrpSpPr/>
          <p:nvPr/>
        </p:nvGrpSpPr>
        <p:grpSpPr>
          <a:xfrm>
            <a:off x="5412063" y="1199889"/>
            <a:ext cx="1989259" cy="1913547"/>
            <a:chOff x="1578808" y="3707378"/>
            <a:chExt cx="1989259" cy="1913547"/>
          </a:xfrm>
        </p:grpSpPr>
        <p:sp>
          <p:nvSpPr>
            <p:cNvPr id="88" name="TextBox 87"/>
            <p:cNvSpPr txBox="1"/>
            <p:nvPr/>
          </p:nvSpPr>
          <p:spPr>
            <a:xfrm>
              <a:off x="1895240" y="3707378"/>
              <a:ext cx="1372492" cy="830997"/>
            </a:xfrm>
            <a:prstGeom prst="rect">
              <a:avLst/>
            </a:prstGeom>
            <a:noFill/>
          </p:spPr>
          <p:txBody>
            <a:bodyPr wrap="none" rtlCol="0">
              <a:spAutoFit/>
            </a:bodyPr>
            <a:lstStyle/>
            <a:p>
              <a:r>
                <a:rPr lang="ru-RU" sz="1600" dirty="0" smtClean="0"/>
                <a:t>Графическое </a:t>
              </a:r>
            </a:p>
            <a:p>
              <a:r>
                <a:rPr lang="ru-RU" sz="1600" dirty="0" smtClean="0"/>
                <a:t>обозначение </a:t>
              </a:r>
            </a:p>
            <a:p>
              <a:pPr algn="ctr"/>
              <a:r>
                <a:rPr lang="en-US" sz="1600" dirty="0" smtClean="0"/>
                <a:t>XOR</a:t>
              </a:r>
              <a:endParaRPr lang="ru-RU" sz="1600" dirty="0"/>
            </a:p>
          </p:txBody>
        </p:sp>
        <p:grpSp>
          <p:nvGrpSpPr>
            <p:cNvPr id="89" name="Группа 88"/>
            <p:cNvGrpSpPr/>
            <p:nvPr/>
          </p:nvGrpSpPr>
          <p:grpSpPr>
            <a:xfrm>
              <a:off x="1578808" y="4321130"/>
              <a:ext cx="1989259" cy="1299795"/>
              <a:chOff x="1578808" y="4321130"/>
              <a:chExt cx="1989259" cy="1299795"/>
            </a:xfrm>
          </p:grpSpPr>
          <p:grpSp>
            <p:nvGrpSpPr>
              <p:cNvPr id="90" name="Группа 89"/>
              <p:cNvGrpSpPr/>
              <p:nvPr/>
            </p:nvGrpSpPr>
            <p:grpSpPr>
              <a:xfrm>
                <a:off x="1578808" y="4321130"/>
                <a:ext cx="1989259" cy="1299795"/>
                <a:chOff x="5204669" y="2345229"/>
                <a:chExt cx="1989259" cy="1299795"/>
              </a:xfrm>
            </p:grpSpPr>
            <p:sp>
              <p:nvSpPr>
                <p:cNvPr id="92" name="Прямоугольник 91"/>
                <p:cNvSpPr/>
                <p:nvPr/>
              </p:nvSpPr>
              <p:spPr>
                <a:xfrm>
                  <a:off x="5868145" y="256452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3" name="Прямая соединительная линия 92"/>
                <p:cNvCxnSpPr/>
                <p:nvPr/>
              </p:nvCxnSpPr>
              <p:spPr>
                <a:xfrm>
                  <a:off x="5364088" y="2780928"/>
                  <a:ext cx="5040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Прямая соединительная линия 93"/>
                <p:cNvCxnSpPr/>
                <p:nvPr/>
              </p:nvCxnSpPr>
              <p:spPr>
                <a:xfrm>
                  <a:off x="5364088" y="335699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Прямая соединительная линия 94"/>
                <p:cNvCxnSpPr/>
                <p:nvPr/>
              </p:nvCxnSpPr>
              <p:spPr>
                <a:xfrm>
                  <a:off x="6660233" y="308954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96" name="Объект 95"/>
                <p:cNvGraphicFramePr>
                  <a:graphicFrameLocks noChangeAspect="1"/>
                </p:cNvGraphicFramePr>
                <p:nvPr>
                  <p:extLst>
                    <p:ext uri="{D42A27DB-BD31-4B8C-83A1-F6EECF244321}">
                      <p14:modId xmlns:p14="http://schemas.microsoft.com/office/powerpoint/2010/main" val="1299580345"/>
                    </p:ext>
                  </p:extLst>
                </p:nvPr>
              </p:nvGraphicFramePr>
              <p:xfrm>
                <a:off x="5311032" y="2345229"/>
                <a:ext cx="292100" cy="381000"/>
              </p:xfrm>
              <a:graphic>
                <a:graphicData uri="http://schemas.openxmlformats.org/presentationml/2006/ole">
                  <mc:AlternateContent xmlns:mc="http://schemas.openxmlformats.org/markup-compatibility/2006">
                    <mc:Choice xmlns:v="urn:schemas-microsoft-com:vml" Requires="v">
                      <p:oleObj spid="_x0000_s37469" name="Equation" r:id="rId9" imgW="291960" imgH="380880" progId="Equation.DSMT4">
                        <p:embed/>
                      </p:oleObj>
                    </mc:Choice>
                    <mc:Fallback>
                      <p:oleObj name="Equation" r:id="rId9" imgW="291960" imgH="380880" progId="Equation.DSMT4">
                        <p:embed/>
                        <p:pic>
                          <p:nvPicPr>
                            <p:cNvPr id="0" name=""/>
                            <p:cNvPicPr/>
                            <p:nvPr/>
                          </p:nvPicPr>
                          <p:blipFill>
                            <a:blip r:embed="rId10"/>
                            <a:stretch>
                              <a:fillRect/>
                            </a:stretch>
                          </p:blipFill>
                          <p:spPr>
                            <a:xfrm>
                              <a:off x="5311032" y="2345229"/>
                              <a:ext cx="292100" cy="381000"/>
                            </a:xfrm>
                            <a:prstGeom prst="rect">
                              <a:avLst/>
                            </a:prstGeom>
                          </p:spPr>
                        </p:pic>
                      </p:oleObj>
                    </mc:Fallback>
                  </mc:AlternateContent>
                </a:graphicData>
              </a:graphic>
            </p:graphicFrame>
            <p:graphicFrame>
              <p:nvGraphicFramePr>
                <p:cNvPr id="97" name="Объект 96"/>
                <p:cNvGraphicFramePr>
                  <a:graphicFrameLocks noChangeAspect="1"/>
                </p:cNvGraphicFramePr>
                <p:nvPr>
                  <p:extLst>
                    <p:ext uri="{D42A27DB-BD31-4B8C-83A1-F6EECF244321}">
                      <p14:modId xmlns:p14="http://schemas.microsoft.com/office/powerpoint/2010/main" val="1431678337"/>
                    </p:ext>
                  </p:extLst>
                </p:nvPr>
              </p:nvGraphicFramePr>
              <p:xfrm>
                <a:off x="5204669" y="2977054"/>
                <a:ext cx="317500" cy="381000"/>
              </p:xfrm>
              <a:graphic>
                <a:graphicData uri="http://schemas.openxmlformats.org/presentationml/2006/ole">
                  <mc:AlternateContent xmlns:mc="http://schemas.openxmlformats.org/markup-compatibility/2006">
                    <mc:Choice xmlns:v="urn:schemas-microsoft-com:vml" Requires="v">
                      <p:oleObj spid="_x0000_s37470" name="Equation" r:id="rId11" imgW="317160" imgH="380880" progId="Equation.DSMT4">
                        <p:embed/>
                      </p:oleObj>
                    </mc:Choice>
                    <mc:Fallback>
                      <p:oleObj name="Equation" r:id="rId11" imgW="317160" imgH="380880" progId="Equation.DSMT4">
                        <p:embed/>
                        <p:pic>
                          <p:nvPicPr>
                            <p:cNvPr id="0" name=""/>
                            <p:cNvPicPr>
                              <a:picLocks noChangeAspect="1" noChangeArrowheads="1"/>
                            </p:cNvPicPr>
                            <p:nvPr/>
                          </p:nvPicPr>
                          <p:blipFill>
                            <a:blip r:embed="rId12"/>
                            <a:srcRect/>
                            <a:stretch>
                              <a:fillRect/>
                            </a:stretch>
                          </p:blipFill>
                          <p:spPr bwMode="auto">
                            <a:xfrm>
                              <a:off x="5204669" y="2977054"/>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 name="TextBox 98"/>
                <p:cNvSpPr txBox="1"/>
                <p:nvPr/>
              </p:nvSpPr>
              <p:spPr>
                <a:xfrm>
                  <a:off x="5969693" y="2596262"/>
                  <a:ext cx="417102" cy="369332"/>
                </a:xfrm>
                <a:prstGeom prst="rect">
                  <a:avLst/>
                </a:prstGeom>
                <a:noFill/>
              </p:spPr>
              <p:txBody>
                <a:bodyPr wrap="none" rtlCol="0">
                  <a:spAutoFit/>
                </a:bodyPr>
                <a:lstStyle/>
                <a:p>
                  <a:r>
                    <a:rPr lang="ru-RU" dirty="0" smtClean="0"/>
                    <a:t>=</a:t>
                  </a:r>
                  <a:r>
                    <a:rPr lang="en-US" dirty="0" smtClean="0"/>
                    <a:t>1</a:t>
                  </a:r>
                  <a:endParaRPr lang="ru-RU" dirty="0"/>
                </a:p>
              </p:txBody>
            </p:sp>
          </p:grpSp>
          <p:sp>
            <p:nvSpPr>
              <p:cNvPr id="91" name="Овал 90"/>
              <p:cNvSpPr/>
              <p:nvPr/>
            </p:nvSpPr>
            <p:spPr>
              <a:xfrm>
                <a:off x="2962364" y="4993433"/>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cxnSp>
        <p:nvCxnSpPr>
          <p:cNvPr id="101" name="Прямая со стрелкой 100"/>
          <p:cNvCxnSpPr/>
          <p:nvPr/>
        </p:nvCxnSpPr>
        <p:spPr>
          <a:xfrm flipH="1">
            <a:off x="2610929" y="1280892"/>
            <a:ext cx="196054" cy="215333"/>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3" name="Таблица 102"/>
          <p:cNvGraphicFramePr>
            <a:graphicFrameLocks noGrp="1"/>
          </p:cNvGraphicFramePr>
          <p:nvPr>
            <p:extLst>
              <p:ext uri="{D42A27DB-BD31-4B8C-83A1-F6EECF244321}">
                <p14:modId xmlns:p14="http://schemas.microsoft.com/office/powerpoint/2010/main" val="2651488405"/>
              </p:ext>
            </p:extLst>
          </p:nvPr>
        </p:nvGraphicFramePr>
        <p:xfrm>
          <a:off x="630067" y="4149080"/>
          <a:ext cx="1558768" cy="1854200"/>
        </p:xfrm>
        <a:graphic>
          <a:graphicData uri="http://schemas.openxmlformats.org/drawingml/2006/table">
            <a:tbl>
              <a:tblPr firstRow="1" bandRow="1">
                <a:tableStyleId>{2D5ABB26-0587-4C30-8999-92F81FD0307C}</a:tableStyleId>
              </a:tblPr>
              <a:tblGrid>
                <a:gridCol w="564912"/>
                <a:gridCol w="451753"/>
                <a:gridCol w="542103"/>
              </a:tblGrid>
              <a:tr h="370840">
                <a:tc>
                  <a:txBody>
                    <a:bodyPr/>
                    <a:lstStyle/>
                    <a:p>
                      <a:r>
                        <a:rPr lang="en-US" dirty="0" smtClean="0"/>
                        <a:t>x</a:t>
                      </a:r>
                      <a:r>
                        <a:rPr lang="ru-RU" baseline="-25000" dirty="0" smtClean="0"/>
                        <a:t>0</a:t>
                      </a:r>
                      <a:endParaRPr lang="ru-RU"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x</a:t>
                      </a:r>
                      <a:r>
                        <a:rPr lang="ru-RU" baseline="-25000" dirty="0" smtClean="0"/>
                        <a:t>1</a:t>
                      </a:r>
                      <a:endParaRPr lang="ru-RU"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y</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4" name="TextBox 103"/>
          <p:cNvSpPr txBox="1"/>
          <p:nvPr/>
        </p:nvSpPr>
        <p:spPr>
          <a:xfrm>
            <a:off x="229552" y="3446745"/>
            <a:ext cx="2190342" cy="646331"/>
          </a:xfrm>
          <a:prstGeom prst="rect">
            <a:avLst/>
          </a:prstGeom>
          <a:noFill/>
        </p:spPr>
        <p:txBody>
          <a:bodyPr wrap="square" rtlCol="0">
            <a:spAutoFit/>
          </a:bodyPr>
          <a:lstStyle/>
          <a:p>
            <a:pPr algn="ctr"/>
            <a:r>
              <a:rPr lang="ru-RU" dirty="0" smtClean="0"/>
              <a:t>Таблица</a:t>
            </a:r>
            <a:endParaRPr lang="en-US" dirty="0" smtClean="0"/>
          </a:p>
          <a:p>
            <a:r>
              <a:rPr lang="ru-RU" dirty="0" smtClean="0"/>
              <a:t>истинности</a:t>
            </a:r>
            <a:r>
              <a:rPr lang="en-US" dirty="0" smtClean="0"/>
              <a:t>  </a:t>
            </a:r>
            <a:r>
              <a:rPr lang="ru-RU" dirty="0" smtClean="0"/>
              <a:t>И-НЕ</a:t>
            </a:r>
            <a:endParaRPr lang="ru-RU" dirty="0"/>
          </a:p>
        </p:txBody>
      </p:sp>
      <p:cxnSp>
        <p:nvCxnSpPr>
          <p:cNvPr id="106" name="Прямая соединительная линия 105"/>
          <p:cNvCxnSpPr/>
          <p:nvPr/>
        </p:nvCxnSpPr>
        <p:spPr>
          <a:xfrm>
            <a:off x="2999152" y="4093076"/>
            <a:ext cx="5749312" cy="0"/>
          </a:xfrm>
          <a:prstGeom prst="line">
            <a:avLst/>
          </a:prstGeom>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4074127" y="4093076"/>
            <a:ext cx="2909386" cy="369332"/>
          </a:xfrm>
          <a:prstGeom prst="rect">
            <a:avLst/>
          </a:prstGeom>
          <a:noFill/>
        </p:spPr>
        <p:txBody>
          <a:bodyPr wrap="none" rtlCol="0">
            <a:spAutoFit/>
          </a:bodyPr>
          <a:lstStyle/>
          <a:p>
            <a:r>
              <a:rPr lang="ru-RU" dirty="0" smtClean="0"/>
              <a:t>Реализация</a:t>
            </a:r>
            <a:r>
              <a:rPr lang="en-US" dirty="0" smtClean="0"/>
              <a:t> </a:t>
            </a:r>
            <a:r>
              <a:rPr lang="ru-RU" dirty="0" smtClean="0"/>
              <a:t>полусумматора</a:t>
            </a:r>
            <a:endParaRPr lang="ru-RU" dirty="0"/>
          </a:p>
        </p:txBody>
      </p:sp>
      <p:grpSp>
        <p:nvGrpSpPr>
          <p:cNvPr id="141" name="Группа 140"/>
          <p:cNvGrpSpPr/>
          <p:nvPr/>
        </p:nvGrpSpPr>
        <p:grpSpPr>
          <a:xfrm>
            <a:off x="3043232" y="4866537"/>
            <a:ext cx="1656397" cy="1618660"/>
            <a:chOff x="3730886" y="4839830"/>
            <a:chExt cx="1656397" cy="1618660"/>
          </a:xfrm>
        </p:grpSpPr>
        <p:grpSp>
          <p:nvGrpSpPr>
            <p:cNvPr id="110" name="Группа 109"/>
            <p:cNvGrpSpPr/>
            <p:nvPr/>
          </p:nvGrpSpPr>
          <p:grpSpPr>
            <a:xfrm>
              <a:off x="3730886" y="4839830"/>
              <a:ext cx="1527572" cy="816319"/>
              <a:chOff x="1578808" y="4321130"/>
              <a:chExt cx="1989259" cy="1299795"/>
            </a:xfrm>
          </p:grpSpPr>
          <p:grpSp>
            <p:nvGrpSpPr>
              <p:cNvPr id="111" name="Группа 110"/>
              <p:cNvGrpSpPr/>
              <p:nvPr/>
            </p:nvGrpSpPr>
            <p:grpSpPr>
              <a:xfrm>
                <a:off x="1578808" y="4321130"/>
                <a:ext cx="1989259" cy="1299795"/>
                <a:chOff x="5204669" y="2345229"/>
                <a:chExt cx="1989259" cy="1299795"/>
              </a:xfrm>
            </p:grpSpPr>
            <p:sp>
              <p:nvSpPr>
                <p:cNvPr id="113" name="Прямоугольник 112"/>
                <p:cNvSpPr/>
                <p:nvPr/>
              </p:nvSpPr>
              <p:spPr>
                <a:xfrm>
                  <a:off x="5868145" y="256452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14" name="Прямая соединительная линия 113"/>
                <p:cNvCxnSpPr/>
                <p:nvPr/>
              </p:nvCxnSpPr>
              <p:spPr>
                <a:xfrm>
                  <a:off x="5364088" y="2780928"/>
                  <a:ext cx="5040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Прямая соединительная линия 114"/>
                <p:cNvCxnSpPr/>
                <p:nvPr/>
              </p:nvCxnSpPr>
              <p:spPr>
                <a:xfrm>
                  <a:off x="5364088" y="335699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Прямая соединительная линия 115"/>
                <p:cNvCxnSpPr/>
                <p:nvPr/>
              </p:nvCxnSpPr>
              <p:spPr>
                <a:xfrm>
                  <a:off x="6660233" y="308954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7" name="Объект 116"/>
                <p:cNvGraphicFramePr>
                  <a:graphicFrameLocks noChangeAspect="1"/>
                </p:cNvGraphicFramePr>
                <p:nvPr>
                  <p:extLst>
                    <p:ext uri="{D42A27DB-BD31-4B8C-83A1-F6EECF244321}">
                      <p14:modId xmlns:p14="http://schemas.microsoft.com/office/powerpoint/2010/main" val="2024496184"/>
                    </p:ext>
                  </p:extLst>
                </p:nvPr>
              </p:nvGraphicFramePr>
              <p:xfrm>
                <a:off x="5311032" y="2345229"/>
                <a:ext cx="292100" cy="381000"/>
              </p:xfrm>
              <a:graphic>
                <a:graphicData uri="http://schemas.openxmlformats.org/presentationml/2006/ole">
                  <mc:AlternateContent xmlns:mc="http://schemas.openxmlformats.org/markup-compatibility/2006">
                    <mc:Choice xmlns:v="urn:schemas-microsoft-com:vml" Requires="v">
                      <p:oleObj spid="_x0000_s37471" name="Equation" r:id="rId13" imgW="291960" imgH="380880" progId="Equation.DSMT4">
                        <p:embed/>
                      </p:oleObj>
                    </mc:Choice>
                    <mc:Fallback>
                      <p:oleObj name="Equation" r:id="rId13" imgW="291960" imgH="380880" progId="Equation.DSMT4">
                        <p:embed/>
                        <p:pic>
                          <p:nvPicPr>
                            <p:cNvPr id="0" name=""/>
                            <p:cNvPicPr/>
                            <p:nvPr/>
                          </p:nvPicPr>
                          <p:blipFill>
                            <a:blip r:embed="rId10"/>
                            <a:stretch>
                              <a:fillRect/>
                            </a:stretch>
                          </p:blipFill>
                          <p:spPr>
                            <a:xfrm>
                              <a:off x="5311032" y="2345229"/>
                              <a:ext cx="292100" cy="381000"/>
                            </a:xfrm>
                            <a:prstGeom prst="rect">
                              <a:avLst/>
                            </a:prstGeom>
                          </p:spPr>
                        </p:pic>
                      </p:oleObj>
                    </mc:Fallback>
                  </mc:AlternateContent>
                </a:graphicData>
              </a:graphic>
            </p:graphicFrame>
            <p:graphicFrame>
              <p:nvGraphicFramePr>
                <p:cNvPr id="118" name="Объект 117"/>
                <p:cNvGraphicFramePr>
                  <a:graphicFrameLocks noChangeAspect="1"/>
                </p:cNvGraphicFramePr>
                <p:nvPr>
                  <p:extLst>
                    <p:ext uri="{D42A27DB-BD31-4B8C-83A1-F6EECF244321}">
                      <p14:modId xmlns:p14="http://schemas.microsoft.com/office/powerpoint/2010/main" val="1974014826"/>
                    </p:ext>
                  </p:extLst>
                </p:nvPr>
              </p:nvGraphicFramePr>
              <p:xfrm>
                <a:off x="5204669" y="2977054"/>
                <a:ext cx="317500" cy="381000"/>
              </p:xfrm>
              <a:graphic>
                <a:graphicData uri="http://schemas.openxmlformats.org/presentationml/2006/ole">
                  <mc:AlternateContent xmlns:mc="http://schemas.openxmlformats.org/markup-compatibility/2006">
                    <mc:Choice xmlns:v="urn:schemas-microsoft-com:vml" Requires="v">
                      <p:oleObj spid="_x0000_s37472" name="Equation" r:id="rId14" imgW="317160" imgH="380880" progId="Equation.DSMT4">
                        <p:embed/>
                      </p:oleObj>
                    </mc:Choice>
                    <mc:Fallback>
                      <p:oleObj name="Equation" r:id="rId14" imgW="317160" imgH="380880" progId="Equation.DSMT4">
                        <p:embed/>
                        <p:pic>
                          <p:nvPicPr>
                            <p:cNvPr id="0" name=""/>
                            <p:cNvPicPr>
                              <a:picLocks noChangeAspect="1" noChangeArrowheads="1"/>
                            </p:cNvPicPr>
                            <p:nvPr/>
                          </p:nvPicPr>
                          <p:blipFill>
                            <a:blip r:embed="rId12"/>
                            <a:srcRect/>
                            <a:stretch>
                              <a:fillRect/>
                            </a:stretch>
                          </p:blipFill>
                          <p:spPr bwMode="auto">
                            <a:xfrm>
                              <a:off x="5204669" y="2977054"/>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 name="TextBox 118"/>
                <p:cNvSpPr txBox="1"/>
                <p:nvPr/>
              </p:nvSpPr>
              <p:spPr>
                <a:xfrm>
                  <a:off x="5969693" y="2596262"/>
                  <a:ext cx="417102" cy="369332"/>
                </a:xfrm>
                <a:prstGeom prst="rect">
                  <a:avLst/>
                </a:prstGeom>
                <a:noFill/>
              </p:spPr>
              <p:txBody>
                <a:bodyPr wrap="none" rtlCol="0">
                  <a:spAutoFit/>
                </a:bodyPr>
                <a:lstStyle/>
                <a:p>
                  <a:r>
                    <a:rPr lang="ru-RU" dirty="0" smtClean="0"/>
                    <a:t>=</a:t>
                  </a:r>
                  <a:r>
                    <a:rPr lang="en-US" dirty="0" smtClean="0"/>
                    <a:t>1</a:t>
                  </a:r>
                  <a:endParaRPr lang="ru-RU" dirty="0"/>
                </a:p>
              </p:txBody>
            </p:sp>
          </p:grpSp>
          <p:sp>
            <p:nvSpPr>
              <p:cNvPr id="112" name="Овал 111"/>
              <p:cNvSpPr/>
              <p:nvPr/>
            </p:nvSpPr>
            <p:spPr>
              <a:xfrm>
                <a:off x="2962364" y="4993433"/>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120" name="Группа 119"/>
            <p:cNvGrpSpPr/>
            <p:nvPr/>
          </p:nvGrpSpPr>
          <p:grpSpPr>
            <a:xfrm>
              <a:off x="4005722" y="5877272"/>
              <a:ext cx="1107127" cy="581218"/>
              <a:chOff x="1152710" y="2903184"/>
              <a:chExt cx="1829840" cy="1080500"/>
            </a:xfrm>
          </p:grpSpPr>
          <p:sp>
            <p:nvSpPr>
              <p:cNvPr id="121" name="Прямоугольник 120"/>
              <p:cNvSpPr/>
              <p:nvPr/>
            </p:nvSpPr>
            <p:spPr>
              <a:xfrm>
                <a:off x="1656767" y="2903184"/>
                <a:ext cx="792088" cy="10805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2" name="Прямая соединительная линия 121"/>
              <p:cNvCxnSpPr/>
              <p:nvPr/>
            </p:nvCxnSpPr>
            <p:spPr>
              <a:xfrm>
                <a:off x="1354245" y="3119588"/>
                <a:ext cx="3025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Прямая соединительная линия 122"/>
              <p:cNvCxnSpPr/>
              <p:nvPr/>
            </p:nvCxnSpPr>
            <p:spPr>
              <a:xfrm>
                <a:off x="1152710" y="3695652"/>
                <a:ext cx="4893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Прямая соединительная линия 123"/>
              <p:cNvCxnSpPr/>
              <p:nvPr/>
            </p:nvCxnSpPr>
            <p:spPr>
              <a:xfrm>
                <a:off x="2448855" y="3428200"/>
                <a:ext cx="5336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1758315" y="2934922"/>
                <a:ext cx="341760" cy="369332"/>
              </a:xfrm>
              <a:prstGeom prst="rect">
                <a:avLst/>
              </a:prstGeom>
              <a:noFill/>
            </p:spPr>
            <p:txBody>
              <a:bodyPr wrap="none" rtlCol="0">
                <a:spAutoFit/>
              </a:bodyPr>
              <a:lstStyle/>
              <a:p>
                <a:r>
                  <a:rPr lang="en-US" dirty="0"/>
                  <a:t>&amp;</a:t>
                </a:r>
                <a:endParaRPr lang="ru-RU" dirty="0"/>
              </a:p>
            </p:txBody>
          </p:sp>
          <p:sp>
            <p:nvSpPr>
              <p:cNvPr id="126" name="Овал 125"/>
              <p:cNvSpPr/>
              <p:nvPr/>
            </p:nvSpPr>
            <p:spPr>
              <a:xfrm>
                <a:off x="2376847" y="337142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128" name="Прямая соединительная линия 127"/>
            <p:cNvCxnSpPr/>
            <p:nvPr/>
          </p:nvCxnSpPr>
          <p:spPr>
            <a:xfrm flipV="1">
              <a:off x="4127659" y="5113465"/>
              <a:ext cx="0" cy="8802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Прямая соединительная линия 130"/>
            <p:cNvCxnSpPr/>
            <p:nvPr/>
          </p:nvCxnSpPr>
          <p:spPr>
            <a:xfrm flipV="1">
              <a:off x="4026935" y="5475254"/>
              <a:ext cx="0" cy="8282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Овал 132"/>
            <p:cNvSpPr/>
            <p:nvPr/>
          </p:nvSpPr>
          <p:spPr>
            <a:xfrm>
              <a:off x="3995936" y="544522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4" name="Овал 133"/>
            <p:cNvSpPr/>
            <p:nvPr/>
          </p:nvSpPr>
          <p:spPr>
            <a:xfrm>
              <a:off x="4086994" y="507985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6" name="TextBox 135"/>
            <p:cNvSpPr txBox="1"/>
            <p:nvPr/>
          </p:nvSpPr>
          <p:spPr>
            <a:xfrm>
              <a:off x="5112849" y="4923147"/>
              <a:ext cx="274434" cy="369332"/>
            </a:xfrm>
            <a:prstGeom prst="rect">
              <a:avLst/>
            </a:prstGeom>
            <a:noFill/>
          </p:spPr>
          <p:txBody>
            <a:bodyPr wrap="none" rtlCol="0">
              <a:spAutoFit/>
            </a:bodyPr>
            <a:lstStyle/>
            <a:p>
              <a:r>
                <a:rPr lang="en-US" dirty="0" smtClean="0"/>
                <a:t>s</a:t>
              </a:r>
              <a:endParaRPr lang="ru-RU" dirty="0"/>
            </a:p>
          </p:txBody>
        </p:sp>
        <p:sp>
          <p:nvSpPr>
            <p:cNvPr id="137" name="TextBox 136"/>
            <p:cNvSpPr txBox="1"/>
            <p:nvPr/>
          </p:nvSpPr>
          <p:spPr>
            <a:xfrm>
              <a:off x="5009888" y="5754535"/>
              <a:ext cx="306494" cy="369332"/>
            </a:xfrm>
            <a:prstGeom prst="rect">
              <a:avLst/>
            </a:prstGeom>
            <a:noFill/>
          </p:spPr>
          <p:txBody>
            <a:bodyPr wrap="none" rtlCol="0">
              <a:spAutoFit/>
            </a:bodyPr>
            <a:lstStyle/>
            <a:p>
              <a:r>
                <a:rPr lang="en-US" dirty="0"/>
                <a:t>p</a:t>
              </a:r>
              <a:endParaRPr lang="ru-RU" dirty="0"/>
            </a:p>
          </p:txBody>
        </p:sp>
      </p:grpSp>
      <p:sp>
        <p:nvSpPr>
          <p:cNvPr id="138" name="Стрелка вправо 137"/>
          <p:cNvSpPr/>
          <p:nvPr/>
        </p:nvSpPr>
        <p:spPr>
          <a:xfrm>
            <a:off x="4478504" y="2426861"/>
            <a:ext cx="684631" cy="3985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40" name="Прямая соединительная линия 139"/>
          <p:cNvCxnSpPr/>
          <p:nvPr/>
        </p:nvCxnSpPr>
        <p:spPr>
          <a:xfrm>
            <a:off x="2999152" y="4293096"/>
            <a:ext cx="0" cy="2376264"/>
          </a:xfrm>
          <a:prstGeom prst="line">
            <a:avLst/>
          </a:prstGeom>
        </p:spPr>
        <p:style>
          <a:lnRef idx="1">
            <a:schemeClr val="accent1"/>
          </a:lnRef>
          <a:fillRef idx="0">
            <a:schemeClr val="accent1"/>
          </a:fillRef>
          <a:effectRef idx="0">
            <a:schemeClr val="accent1"/>
          </a:effectRef>
          <a:fontRef idx="minor">
            <a:schemeClr val="tx1"/>
          </a:fontRef>
        </p:style>
      </p:cxnSp>
      <p:sp>
        <p:nvSpPr>
          <p:cNvPr id="142" name="Прямоугольник 141"/>
          <p:cNvSpPr/>
          <p:nvPr/>
        </p:nvSpPr>
        <p:spPr>
          <a:xfrm>
            <a:off x="6300192" y="494985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3" name="Прямоугольник 142"/>
          <p:cNvSpPr/>
          <p:nvPr/>
        </p:nvSpPr>
        <p:spPr>
          <a:xfrm>
            <a:off x="6300192" y="494985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4" name="Прямоугольник 143"/>
          <p:cNvSpPr/>
          <p:nvPr/>
        </p:nvSpPr>
        <p:spPr>
          <a:xfrm>
            <a:off x="7231929" y="494985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5" name="TextBox 144"/>
          <p:cNvSpPr txBox="1"/>
          <p:nvPr/>
        </p:nvSpPr>
        <p:spPr>
          <a:xfrm>
            <a:off x="6795619" y="4964659"/>
            <a:ext cx="487634" cy="369332"/>
          </a:xfrm>
          <a:prstGeom prst="rect">
            <a:avLst/>
          </a:prstGeom>
          <a:noFill/>
        </p:spPr>
        <p:txBody>
          <a:bodyPr wrap="none" rtlCol="0">
            <a:spAutoFit/>
          </a:bodyPr>
          <a:lstStyle/>
          <a:p>
            <a:r>
              <a:rPr lang="en-US" dirty="0" smtClean="0"/>
              <a:t>SM</a:t>
            </a:r>
            <a:endParaRPr lang="ru-RU" dirty="0"/>
          </a:p>
        </p:txBody>
      </p:sp>
      <p:sp>
        <p:nvSpPr>
          <p:cNvPr id="146" name="TextBox 145"/>
          <p:cNvSpPr txBox="1"/>
          <p:nvPr/>
        </p:nvSpPr>
        <p:spPr>
          <a:xfrm>
            <a:off x="6300192" y="4951111"/>
            <a:ext cx="295274" cy="369332"/>
          </a:xfrm>
          <a:prstGeom prst="rect">
            <a:avLst/>
          </a:prstGeom>
          <a:noFill/>
        </p:spPr>
        <p:txBody>
          <a:bodyPr wrap="none" rtlCol="0">
            <a:spAutoFit/>
          </a:bodyPr>
          <a:lstStyle/>
          <a:p>
            <a:r>
              <a:rPr lang="en-US" dirty="0" smtClean="0"/>
              <a:t>a</a:t>
            </a:r>
            <a:endParaRPr lang="ru-RU" dirty="0"/>
          </a:p>
        </p:txBody>
      </p:sp>
      <p:sp>
        <p:nvSpPr>
          <p:cNvPr id="147" name="TextBox 146"/>
          <p:cNvSpPr txBox="1"/>
          <p:nvPr/>
        </p:nvSpPr>
        <p:spPr>
          <a:xfrm>
            <a:off x="6318336" y="5935055"/>
            <a:ext cx="306494" cy="369332"/>
          </a:xfrm>
          <a:prstGeom prst="rect">
            <a:avLst/>
          </a:prstGeom>
          <a:noFill/>
        </p:spPr>
        <p:txBody>
          <a:bodyPr wrap="none" rtlCol="0">
            <a:spAutoFit/>
          </a:bodyPr>
          <a:lstStyle/>
          <a:p>
            <a:r>
              <a:rPr lang="en-US" dirty="0"/>
              <a:t>b</a:t>
            </a:r>
            <a:endParaRPr lang="ru-RU" dirty="0"/>
          </a:p>
        </p:txBody>
      </p:sp>
      <p:sp>
        <p:nvSpPr>
          <p:cNvPr id="148" name="TextBox 147"/>
          <p:cNvSpPr txBox="1"/>
          <p:nvPr/>
        </p:nvSpPr>
        <p:spPr>
          <a:xfrm>
            <a:off x="7388493" y="4951111"/>
            <a:ext cx="274434" cy="369332"/>
          </a:xfrm>
          <a:prstGeom prst="rect">
            <a:avLst/>
          </a:prstGeom>
          <a:noFill/>
        </p:spPr>
        <p:txBody>
          <a:bodyPr wrap="none" rtlCol="0">
            <a:spAutoFit/>
          </a:bodyPr>
          <a:lstStyle/>
          <a:p>
            <a:r>
              <a:rPr lang="en-US" dirty="0"/>
              <a:t>s</a:t>
            </a:r>
            <a:endParaRPr lang="ru-RU" dirty="0"/>
          </a:p>
        </p:txBody>
      </p:sp>
      <p:sp>
        <p:nvSpPr>
          <p:cNvPr id="149" name="TextBox 148"/>
          <p:cNvSpPr txBox="1"/>
          <p:nvPr/>
        </p:nvSpPr>
        <p:spPr>
          <a:xfrm>
            <a:off x="7378372" y="5950032"/>
            <a:ext cx="306494" cy="369332"/>
          </a:xfrm>
          <a:prstGeom prst="rect">
            <a:avLst/>
          </a:prstGeom>
          <a:noFill/>
        </p:spPr>
        <p:txBody>
          <a:bodyPr wrap="none" rtlCol="0">
            <a:spAutoFit/>
          </a:bodyPr>
          <a:lstStyle/>
          <a:p>
            <a:r>
              <a:rPr lang="en-US" dirty="0"/>
              <a:t>p</a:t>
            </a:r>
            <a:endParaRPr lang="ru-RU" dirty="0"/>
          </a:p>
        </p:txBody>
      </p:sp>
      <p:cxnSp>
        <p:nvCxnSpPr>
          <p:cNvPr id="153" name="Прямая соединительная линия 152"/>
          <p:cNvCxnSpPr/>
          <p:nvPr/>
        </p:nvCxnSpPr>
        <p:spPr>
          <a:xfrm flipH="1">
            <a:off x="6060783" y="513452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p:cNvCxnSpPr/>
          <p:nvPr/>
        </p:nvCxnSpPr>
        <p:spPr>
          <a:xfrm flipH="1">
            <a:off x="6078927" y="6155854"/>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Прямая соединительная линия 154"/>
          <p:cNvCxnSpPr/>
          <p:nvPr/>
        </p:nvCxnSpPr>
        <p:spPr>
          <a:xfrm flipH="1">
            <a:off x="7684866" y="5116628"/>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Прямая соединительная линия 155"/>
          <p:cNvCxnSpPr/>
          <p:nvPr/>
        </p:nvCxnSpPr>
        <p:spPr>
          <a:xfrm flipH="1">
            <a:off x="7668344" y="6186393"/>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Стрелка вправо 156"/>
          <p:cNvSpPr/>
          <p:nvPr/>
        </p:nvSpPr>
        <p:spPr>
          <a:xfrm>
            <a:off x="4873349" y="5468410"/>
            <a:ext cx="684631" cy="3985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9" name="TextBox 158"/>
          <p:cNvSpPr txBox="1"/>
          <p:nvPr/>
        </p:nvSpPr>
        <p:spPr>
          <a:xfrm>
            <a:off x="6233101" y="4574634"/>
            <a:ext cx="1502334" cy="369332"/>
          </a:xfrm>
          <a:prstGeom prst="rect">
            <a:avLst/>
          </a:prstGeom>
          <a:noFill/>
        </p:spPr>
        <p:txBody>
          <a:bodyPr wrap="none" rtlCol="0">
            <a:spAutoFit/>
          </a:bodyPr>
          <a:lstStyle/>
          <a:p>
            <a:r>
              <a:rPr lang="ru-RU" dirty="0" smtClean="0"/>
              <a:t>Обозначение</a:t>
            </a:r>
            <a:endParaRPr lang="ru-RU" dirty="0"/>
          </a:p>
        </p:txBody>
      </p:sp>
    </p:spTree>
    <p:extLst>
      <p:ext uri="{BB962C8B-B14F-4D97-AF65-F5344CB8AC3E}">
        <p14:creationId xmlns:p14="http://schemas.microsoft.com/office/powerpoint/2010/main" val="28597325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15816" y="332656"/>
            <a:ext cx="2801921" cy="369332"/>
          </a:xfrm>
          <a:prstGeom prst="rect">
            <a:avLst/>
          </a:prstGeom>
          <a:noFill/>
        </p:spPr>
        <p:txBody>
          <a:bodyPr wrap="none" rtlCol="0">
            <a:spAutoFit/>
          </a:bodyPr>
          <a:lstStyle/>
          <a:p>
            <a:r>
              <a:rPr lang="ru-RU" dirty="0" smtClean="0"/>
              <a:t>Одноразрядный сумматор</a:t>
            </a:r>
            <a:endParaRPr lang="ru-RU" dirty="0"/>
          </a:p>
        </p:txBody>
      </p:sp>
      <p:sp>
        <p:nvSpPr>
          <p:cNvPr id="5" name="Прямоугольник 4"/>
          <p:cNvSpPr/>
          <p:nvPr/>
        </p:nvSpPr>
        <p:spPr>
          <a:xfrm>
            <a:off x="491423" y="1124520"/>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491423" y="1124520"/>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p:nvPr/>
        </p:nvSpPr>
        <p:spPr>
          <a:xfrm>
            <a:off x="1423160" y="1124520"/>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986850" y="1139325"/>
            <a:ext cx="487634" cy="369332"/>
          </a:xfrm>
          <a:prstGeom prst="rect">
            <a:avLst/>
          </a:prstGeom>
          <a:noFill/>
        </p:spPr>
        <p:txBody>
          <a:bodyPr wrap="none" rtlCol="0">
            <a:spAutoFit/>
          </a:bodyPr>
          <a:lstStyle/>
          <a:p>
            <a:r>
              <a:rPr lang="en-US" dirty="0" smtClean="0"/>
              <a:t>SM</a:t>
            </a:r>
            <a:endParaRPr lang="ru-RU" dirty="0"/>
          </a:p>
        </p:txBody>
      </p:sp>
      <p:sp>
        <p:nvSpPr>
          <p:cNvPr id="9" name="TextBox 8"/>
          <p:cNvSpPr txBox="1"/>
          <p:nvPr/>
        </p:nvSpPr>
        <p:spPr>
          <a:xfrm>
            <a:off x="491423" y="1125777"/>
            <a:ext cx="295274" cy="369332"/>
          </a:xfrm>
          <a:prstGeom prst="rect">
            <a:avLst/>
          </a:prstGeom>
          <a:noFill/>
        </p:spPr>
        <p:txBody>
          <a:bodyPr wrap="none" rtlCol="0">
            <a:spAutoFit/>
          </a:bodyPr>
          <a:lstStyle/>
          <a:p>
            <a:r>
              <a:rPr lang="en-US" dirty="0" smtClean="0"/>
              <a:t>a</a:t>
            </a:r>
            <a:endParaRPr lang="ru-RU" dirty="0"/>
          </a:p>
        </p:txBody>
      </p:sp>
      <p:sp>
        <p:nvSpPr>
          <p:cNvPr id="10" name="TextBox 9"/>
          <p:cNvSpPr txBox="1"/>
          <p:nvPr/>
        </p:nvSpPr>
        <p:spPr>
          <a:xfrm>
            <a:off x="509567" y="2109721"/>
            <a:ext cx="306494" cy="369332"/>
          </a:xfrm>
          <a:prstGeom prst="rect">
            <a:avLst/>
          </a:prstGeom>
          <a:noFill/>
        </p:spPr>
        <p:txBody>
          <a:bodyPr wrap="none" rtlCol="0">
            <a:spAutoFit/>
          </a:bodyPr>
          <a:lstStyle/>
          <a:p>
            <a:r>
              <a:rPr lang="en-US" dirty="0"/>
              <a:t>b</a:t>
            </a:r>
            <a:endParaRPr lang="ru-RU" dirty="0"/>
          </a:p>
        </p:txBody>
      </p:sp>
      <p:sp>
        <p:nvSpPr>
          <p:cNvPr id="11" name="TextBox 10"/>
          <p:cNvSpPr txBox="1"/>
          <p:nvPr/>
        </p:nvSpPr>
        <p:spPr>
          <a:xfrm>
            <a:off x="1579724" y="1125777"/>
            <a:ext cx="274434" cy="369332"/>
          </a:xfrm>
          <a:prstGeom prst="rect">
            <a:avLst/>
          </a:prstGeom>
          <a:noFill/>
        </p:spPr>
        <p:txBody>
          <a:bodyPr wrap="none" rtlCol="0">
            <a:spAutoFit/>
          </a:bodyPr>
          <a:lstStyle/>
          <a:p>
            <a:r>
              <a:rPr lang="en-US" dirty="0"/>
              <a:t>s</a:t>
            </a:r>
            <a:endParaRPr lang="ru-RU" dirty="0"/>
          </a:p>
        </p:txBody>
      </p:sp>
      <p:sp>
        <p:nvSpPr>
          <p:cNvPr id="12" name="TextBox 11"/>
          <p:cNvSpPr txBox="1"/>
          <p:nvPr/>
        </p:nvSpPr>
        <p:spPr>
          <a:xfrm>
            <a:off x="1569603" y="2124698"/>
            <a:ext cx="306494" cy="369332"/>
          </a:xfrm>
          <a:prstGeom prst="rect">
            <a:avLst/>
          </a:prstGeom>
          <a:noFill/>
        </p:spPr>
        <p:txBody>
          <a:bodyPr wrap="none" rtlCol="0">
            <a:spAutoFit/>
          </a:bodyPr>
          <a:lstStyle/>
          <a:p>
            <a:r>
              <a:rPr lang="en-US" dirty="0"/>
              <a:t>p</a:t>
            </a:r>
            <a:endParaRPr lang="ru-RU" dirty="0"/>
          </a:p>
        </p:txBody>
      </p:sp>
      <p:cxnSp>
        <p:nvCxnSpPr>
          <p:cNvPr id="13" name="Прямая соединительная линия 12"/>
          <p:cNvCxnSpPr/>
          <p:nvPr/>
        </p:nvCxnSpPr>
        <p:spPr>
          <a:xfrm flipH="1">
            <a:off x="252014" y="1309186"/>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flipH="1">
            <a:off x="270158" y="233052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flipH="1">
            <a:off x="1876098" y="1291294"/>
            <a:ext cx="91468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flipH="1">
            <a:off x="1859575" y="236105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Группа 18"/>
          <p:cNvGrpSpPr/>
          <p:nvPr/>
        </p:nvGrpSpPr>
        <p:grpSpPr>
          <a:xfrm>
            <a:off x="2772635" y="1124520"/>
            <a:ext cx="1863492" cy="1380406"/>
            <a:chOff x="6060783" y="4949854"/>
            <a:chExt cx="1863492" cy="1380406"/>
          </a:xfrm>
        </p:grpSpPr>
        <p:sp>
          <p:nvSpPr>
            <p:cNvPr id="20" name="Прямоугольник 19"/>
            <p:cNvSpPr/>
            <p:nvPr/>
          </p:nvSpPr>
          <p:spPr>
            <a:xfrm>
              <a:off x="6300192" y="494985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6300192" y="494985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p:cNvSpPr/>
            <p:nvPr/>
          </p:nvSpPr>
          <p:spPr>
            <a:xfrm>
              <a:off x="7231929" y="494985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TextBox 22"/>
            <p:cNvSpPr txBox="1"/>
            <p:nvPr/>
          </p:nvSpPr>
          <p:spPr>
            <a:xfrm>
              <a:off x="6795619" y="4964659"/>
              <a:ext cx="487634" cy="369332"/>
            </a:xfrm>
            <a:prstGeom prst="rect">
              <a:avLst/>
            </a:prstGeom>
            <a:noFill/>
          </p:spPr>
          <p:txBody>
            <a:bodyPr wrap="none" rtlCol="0">
              <a:spAutoFit/>
            </a:bodyPr>
            <a:lstStyle/>
            <a:p>
              <a:r>
                <a:rPr lang="en-US" dirty="0" smtClean="0"/>
                <a:t>SM</a:t>
              </a:r>
              <a:endParaRPr lang="ru-RU" dirty="0"/>
            </a:p>
          </p:txBody>
        </p:sp>
        <p:sp>
          <p:nvSpPr>
            <p:cNvPr id="24" name="TextBox 23"/>
            <p:cNvSpPr txBox="1"/>
            <p:nvPr/>
          </p:nvSpPr>
          <p:spPr>
            <a:xfrm>
              <a:off x="6300192" y="4951111"/>
              <a:ext cx="295274" cy="369332"/>
            </a:xfrm>
            <a:prstGeom prst="rect">
              <a:avLst/>
            </a:prstGeom>
            <a:noFill/>
          </p:spPr>
          <p:txBody>
            <a:bodyPr wrap="none" rtlCol="0">
              <a:spAutoFit/>
            </a:bodyPr>
            <a:lstStyle/>
            <a:p>
              <a:r>
                <a:rPr lang="en-US" dirty="0" smtClean="0"/>
                <a:t>a</a:t>
              </a:r>
              <a:endParaRPr lang="ru-RU" dirty="0"/>
            </a:p>
          </p:txBody>
        </p:sp>
        <p:sp>
          <p:nvSpPr>
            <p:cNvPr id="25" name="TextBox 24"/>
            <p:cNvSpPr txBox="1"/>
            <p:nvPr/>
          </p:nvSpPr>
          <p:spPr>
            <a:xfrm>
              <a:off x="6318336" y="5935055"/>
              <a:ext cx="306494" cy="369332"/>
            </a:xfrm>
            <a:prstGeom prst="rect">
              <a:avLst/>
            </a:prstGeom>
            <a:noFill/>
          </p:spPr>
          <p:txBody>
            <a:bodyPr wrap="none" rtlCol="0">
              <a:spAutoFit/>
            </a:bodyPr>
            <a:lstStyle/>
            <a:p>
              <a:r>
                <a:rPr lang="en-US" dirty="0"/>
                <a:t>b</a:t>
              </a:r>
              <a:endParaRPr lang="ru-RU" dirty="0"/>
            </a:p>
          </p:txBody>
        </p:sp>
        <p:sp>
          <p:nvSpPr>
            <p:cNvPr id="26" name="TextBox 25"/>
            <p:cNvSpPr txBox="1"/>
            <p:nvPr/>
          </p:nvSpPr>
          <p:spPr>
            <a:xfrm>
              <a:off x="7388493" y="4951111"/>
              <a:ext cx="274434" cy="369332"/>
            </a:xfrm>
            <a:prstGeom prst="rect">
              <a:avLst/>
            </a:prstGeom>
            <a:noFill/>
          </p:spPr>
          <p:txBody>
            <a:bodyPr wrap="none" rtlCol="0">
              <a:spAutoFit/>
            </a:bodyPr>
            <a:lstStyle/>
            <a:p>
              <a:r>
                <a:rPr lang="en-US" dirty="0"/>
                <a:t>s</a:t>
              </a:r>
              <a:endParaRPr lang="ru-RU" dirty="0"/>
            </a:p>
          </p:txBody>
        </p:sp>
        <p:sp>
          <p:nvSpPr>
            <p:cNvPr id="27" name="TextBox 26"/>
            <p:cNvSpPr txBox="1"/>
            <p:nvPr/>
          </p:nvSpPr>
          <p:spPr>
            <a:xfrm>
              <a:off x="7378372" y="5950032"/>
              <a:ext cx="306494" cy="369332"/>
            </a:xfrm>
            <a:prstGeom prst="rect">
              <a:avLst/>
            </a:prstGeom>
            <a:noFill/>
          </p:spPr>
          <p:txBody>
            <a:bodyPr wrap="none" rtlCol="0">
              <a:spAutoFit/>
            </a:bodyPr>
            <a:lstStyle/>
            <a:p>
              <a:r>
                <a:rPr lang="en-US" dirty="0"/>
                <a:t>p</a:t>
              </a:r>
              <a:endParaRPr lang="ru-RU" dirty="0"/>
            </a:p>
          </p:txBody>
        </p:sp>
        <p:cxnSp>
          <p:nvCxnSpPr>
            <p:cNvPr id="28" name="Прямая соединительная линия 27"/>
            <p:cNvCxnSpPr/>
            <p:nvPr/>
          </p:nvCxnSpPr>
          <p:spPr>
            <a:xfrm flipH="1">
              <a:off x="6060783" y="513452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flipH="1">
              <a:off x="6078927" y="6155854"/>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flipH="1">
              <a:off x="7684866" y="5116628"/>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flipH="1">
              <a:off x="7668344" y="6186393"/>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Прямая соединительная линия 33"/>
          <p:cNvCxnSpPr/>
          <p:nvPr/>
        </p:nvCxnSpPr>
        <p:spPr>
          <a:xfrm>
            <a:off x="252014" y="2924944"/>
            <a:ext cx="253876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2790779" y="2330520"/>
            <a:ext cx="0" cy="5944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a:off x="2098984" y="2361059"/>
            <a:ext cx="0" cy="7079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2098984" y="3068960"/>
            <a:ext cx="290506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Прямоугольник 40"/>
          <p:cNvSpPr/>
          <p:nvPr/>
        </p:nvSpPr>
        <p:spPr>
          <a:xfrm>
            <a:off x="5004048" y="2627732"/>
            <a:ext cx="504056" cy="6572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TextBox 41"/>
          <p:cNvSpPr txBox="1"/>
          <p:nvPr/>
        </p:nvSpPr>
        <p:spPr>
          <a:xfrm>
            <a:off x="5204880" y="2627732"/>
            <a:ext cx="301686" cy="369332"/>
          </a:xfrm>
          <a:prstGeom prst="rect">
            <a:avLst/>
          </a:prstGeom>
          <a:noFill/>
        </p:spPr>
        <p:txBody>
          <a:bodyPr wrap="none" rtlCol="0">
            <a:spAutoFit/>
          </a:bodyPr>
          <a:lstStyle/>
          <a:p>
            <a:r>
              <a:rPr lang="ru-RU" dirty="0" smtClean="0"/>
              <a:t>1</a:t>
            </a:r>
            <a:endParaRPr lang="ru-RU" dirty="0"/>
          </a:p>
        </p:txBody>
      </p:sp>
      <p:cxnSp>
        <p:nvCxnSpPr>
          <p:cNvPr id="46" name="Прямая соединительная линия 45"/>
          <p:cNvCxnSpPr/>
          <p:nvPr/>
        </p:nvCxnSpPr>
        <p:spPr>
          <a:xfrm>
            <a:off x="4619605" y="2361059"/>
            <a:ext cx="0" cy="3539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p:cNvCxnSpPr/>
          <p:nvPr/>
        </p:nvCxnSpPr>
        <p:spPr>
          <a:xfrm>
            <a:off x="4619605" y="2715009"/>
            <a:ext cx="3844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Прямая соединительная линия 49"/>
          <p:cNvCxnSpPr/>
          <p:nvPr/>
        </p:nvCxnSpPr>
        <p:spPr>
          <a:xfrm>
            <a:off x="5506566" y="2956358"/>
            <a:ext cx="433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p:nvPr/>
        </p:nvCxnSpPr>
        <p:spPr>
          <a:xfrm>
            <a:off x="4619605" y="1291294"/>
            <a:ext cx="124853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0065" y="2740278"/>
            <a:ext cx="425116" cy="369332"/>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r>
              <a:rPr lang="en-US" baseline="-25000" dirty="0" smtClean="0"/>
              <a:t>-1</a:t>
            </a:r>
            <a:endParaRPr lang="ru-RU" baseline="-25000" dirty="0"/>
          </a:p>
        </p:txBody>
      </p:sp>
      <p:graphicFrame>
        <p:nvGraphicFramePr>
          <p:cNvPr id="54" name="Объект 53"/>
          <p:cNvGraphicFramePr>
            <a:graphicFrameLocks noChangeAspect="1"/>
          </p:cNvGraphicFramePr>
          <p:nvPr>
            <p:extLst>
              <p:ext uri="{D42A27DB-BD31-4B8C-83A1-F6EECF244321}">
                <p14:modId xmlns:p14="http://schemas.microsoft.com/office/powerpoint/2010/main" val="1582717244"/>
              </p:ext>
            </p:extLst>
          </p:nvPr>
        </p:nvGraphicFramePr>
        <p:xfrm>
          <a:off x="144096" y="910294"/>
          <a:ext cx="292100" cy="381000"/>
        </p:xfrm>
        <a:graphic>
          <a:graphicData uri="http://schemas.openxmlformats.org/presentationml/2006/ole">
            <mc:AlternateContent xmlns:mc="http://schemas.openxmlformats.org/markup-compatibility/2006">
              <mc:Choice xmlns:v="urn:schemas-microsoft-com:vml" Requires="v">
                <p:oleObj spid="_x0000_s4002" name="Equation" r:id="rId3" imgW="291960" imgH="380880" progId="Equation.DSMT4">
                  <p:embed/>
                </p:oleObj>
              </mc:Choice>
              <mc:Fallback>
                <p:oleObj name="Equation" r:id="rId3" imgW="29196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096" y="910294"/>
                        <a:ext cx="292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Объект 54"/>
          <p:cNvGraphicFramePr>
            <a:graphicFrameLocks noChangeAspect="1"/>
          </p:cNvGraphicFramePr>
          <p:nvPr>
            <p:extLst>
              <p:ext uri="{D42A27DB-BD31-4B8C-83A1-F6EECF244321}">
                <p14:modId xmlns:p14="http://schemas.microsoft.com/office/powerpoint/2010/main" val="3474818838"/>
              </p:ext>
            </p:extLst>
          </p:nvPr>
        </p:nvGraphicFramePr>
        <p:xfrm>
          <a:off x="85725" y="1912938"/>
          <a:ext cx="317500" cy="381000"/>
        </p:xfrm>
        <a:graphic>
          <a:graphicData uri="http://schemas.openxmlformats.org/presentationml/2006/ole">
            <mc:AlternateContent xmlns:mc="http://schemas.openxmlformats.org/markup-compatibility/2006">
              <mc:Choice xmlns:v="urn:schemas-microsoft-com:vml" Requires="v">
                <p:oleObj spid="_x0000_s4003" name="Equation" r:id="rId5" imgW="317160" imgH="380880" progId="Equation.DSMT4">
                  <p:embed/>
                </p:oleObj>
              </mc:Choice>
              <mc:Fallback>
                <p:oleObj name="Equation" r:id="rId5" imgW="317160" imgH="380880" progId="Equation.DSMT4">
                  <p:embed/>
                  <p:pic>
                    <p:nvPicPr>
                      <p:cNvPr id="0" name=""/>
                      <p:cNvPicPr>
                        <a:picLocks noChangeAspect="1" noChangeArrowheads="1"/>
                      </p:cNvPicPr>
                      <p:nvPr/>
                    </p:nvPicPr>
                    <p:blipFill>
                      <a:blip r:embed="rId6"/>
                      <a:srcRect/>
                      <a:stretch>
                        <a:fillRect/>
                      </a:stretch>
                    </p:blipFill>
                    <p:spPr bwMode="auto">
                      <a:xfrm>
                        <a:off x="85725" y="1912938"/>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Объект 55"/>
          <p:cNvGraphicFramePr>
            <a:graphicFrameLocks noChangeAspect="1"/>
          </p:cNvGraphicFramePr>
          <p:nvPr>
            <p:extLst>
              <p:ext uri="{D42A27DB-BD31-4B8C-83A1-F6EECF244321}">
                <p14:modId xmlns:p14="http://schemas.microsoft.com/office/powerpoint/2010/main" val="568465034"/>
              </p:ext>
            </p:extLst>
          </p:nvPr>
        </p:nvGraphicFramePr>
        <p:xfrm>
          <a:off x="6003925" y="1189038"/>
          <a:ext cx="165100" cy="203200"/>
        </p:xfrm>
        <a:graphic>
          <a:graphicData uri="http://schemas.openxmlformats.org/presentationml/2006/ole">
            <mc:AlternateContent xmlns:mc="http://schemas.openxmlformats.org/markup-compatibility/2006">
              <mc:Choice xmlns:v="urn:schemas-microsoft-com:vml" Requires="v">
                <p:oleObj spid="_x0000_s4004" name="Equation" r:id="rId7" imgW="164880" imgH="203040" progId="Equation.DSMT4">
                  <p:embed/>
                </p:oleObj>
              </mc:Choice>
              <mc:Fallback>
                <p:oleObj name="Equation" r:id="rId7" imgW="164880" imgH="203040" progId="Equation.DSMT4">
                  <p:embed/>
                  <p:pic>
                    <p:nvPicPr>
                      <p:cNvPr id="0" name=""/>
                      <p:cNvPicPr>
                        <a:picLocks noChangeAspect="1" noChangeArrowheads="1"/>
                      </p:cNvPicPr>
                      <p:nvPr/>
                    </p:nvPicPr>
                    <p:blipFill>
                      <a:blip r:embed="rId8"/>
                      <a:srcRect/>
                      <a:stretch>
                        <a:fillRect/>
                      </a:stretch>
                    </p:blipFill>
                    <p:spPr bwMode="auto">
                      <a:xfrm>
                        <a:off x="6003925" y="1189038"/>
                        <a:ext cx="165100" cy="203200"/>
                      </a:xfrm>
                      <a:prstGeom prst="rect">
                        <a:avLst/>
                      </a:prstGeom>
                      <a:noFill/>
                      <a:ln>
                        <a:noFill/>
                      </a:ln>
                    </p:spPr>
                  </p:pic>
                </p:oleObj>
              </mc:Fallback>
            </mc:AlternateContent>
          </a:graphicData>
        </a:graphic>
      </p:graphicFrame>
      <p:graphicFrame>
        <p:nvGraphicFramePr>
          <p:cNvPr id="57" name="Объект 56"/>
          <p:cNvGraphicFramePr>
            <a:graphicFrameLocks noChangeAspect="1"/>
          </p:cNvGraphicFramePr>
          <p:nvPr>
            <p:extLst>
              <p:ext uri="{D42A27DB-BD31-4B8C-83A1-F6EECF244321}">
                <p14:modId xmlns:p14="http://schemas.microsoft.com/office/powerpoint/2010/main" val="3700485238"/>
              </p:ext>
            </p:extLst>
          </p:nvPr>
        </p:nvGraphicFramePr>
        <p:xfrm>
          <a:off x="6037263" y="2797175"/>
          <a:ext cx="241300" cy="266700"/>
        </p:xfrm>
        <a:graphic>
          <a:graphicData uri="http://schemas.openxmlformats.org/presentationml/2006/ole">
            <mc:AlternateContent xmlns:mc="http://schemas.openxmlformats.org/markup-compatibility/2006">
              <mc:Choice xmlns:v="urn:schemas-microsoft-com:vml" Requires="v">
                <p:oleObj spid="_x0000_s4005" name="Equation" r:id="rId9" imgW="241200" imgH="266400" progId="Equation.DSMT4">
                  <p:embed/>
                </p:oleObj>
              </mc:Choice>
              <mc:Fallback>
                <p:oleObj name="Equation" r:id="rId9" imgW="241200" imgH="266400" progId="Equation.DSMT4">
                  <p:embed/>
                  <p:pic>
                    <p:nvPicPr>
                      <p:cNvPr id="0" name=""/>
                      <p:cNvPicPr>
                        <a:picLocks noChangeAspect="1" noChangeArrowheads="1"/>
                      </p:cNvPicPr>
                      <p:nvPr/>
                    </p:nvPicPr>
                    <p:blipFill>
                      <a:blip r:embed="rId10"/>
                      <a:srcRect/>
                      <a:stretch>
                        <a:fillRect/>
                      </a:stretch>
                    </p:blipFill>
                    <p:spPr bwMode="auto">
                      <a:xfrm>
                        <a:off x="6037263" y="2797175"/>
                        <a:ext cx="2413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 name="Прямоугольник 57"/>
          <p:cNvSpPr/>
          <p:nvPr/>
        </p:nvSpPr>
        <p:spPr>
          <a:xfrm>
            <a:off x="3477912" y="4426425"/>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Прямоугольник 58"/>
          <p:cNvSpPr/>
          <p:nvPr/>
        </p:nvSpPr>
        <p:spPr>
          <a:xfrm>
            <a:off x="3477912" y="4426425"/>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Прямоугольник 59"/>
          <p:cNvSpPr/>
          <p:nvPr/>
        </p:nvSpPr>
        <p:spPr>
          <a:xfrm>
            <a:off x="4409649" y="4426425"/>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extBox 60"/>
          <p:cNvSpPr txBox="1"/>
          <p:nvPr/>
        </p:nvSpPr>
        <p:spPr>
          <a:xfrm>
            <a:off x="3878636" y="4441230"/>
            <a:ext cx="487634" cy="369332"/>
          </a:xfrm>
          <a:prstGeom prst="rect">
            <a:avLst/>
          </a:prstGeom>
          <a:noFill/>
        </p:spPr>
        <p:txBody>
          <a:bodyPr wrap="none" rtlCol="0">
            <a:spAutoFit/>
          </a:bodyPr>
          <a:lstStyle/>
          <a:p>
            <a:r>
              <a:rPr lang="en-US" dirty="0" smtClean="0"/>
              <a:t>SM</a:t>
            </a:r>
            <a:endParaRPr lang="ru-RU" dirty="0"/>
          </a:p>
        </p:txBody>
      </p:sp>
      <p:sp>
        <p:nvSpPr>
          <p:cNvPr id="62" name="TextBox 61"/>
          <p:cNvSpPr txBox="1"/>
          <p:nvPr/>
        </p:nvSpPr>
        <p:spPr>
          <a:xfrm>
            <a:off x="3477912" y="4427682"/>
            <a:ext cx="295274" cy="369332"/>
          </a:xfrm>
          <a:prstGeom prst="rect">
            <a:avLst/>
          </a:prstGeom>
          <a:noFill/>
        </p:spPr>
        <p:txBody>
          <a:bodyPr wrap="none" rtlCol="0">
            <a:spAutoFit/>
          </a:bodyPr>
          <a:lstStyle/>
          <a:p>
            <a:r>
              <a:rPr lang="en-US" dirty="0" smtClean="0"/>
              <a:t>a</a:t>
            </a:r>
            <a:endParaRPr lang="ru-RU" dirty="0"/>
          </a:p>
        </p:txBody>
      </p:sp>
      <p:sp>
        <p:nvSpPr>
          <p:cNvPr id="63" name="TextBox 62"/>
          <p:cNvSpPr txBox="1"/>
          <p:nvPr/>
        </p:nvSpPr>
        <p:spPr>
          <a:xfrm>
            <a:off x="3507471" y="5038875"/>
            <a:ext cx="306494" cy="369332"/>
          </a:xfrm>
          <a:prstGeom prst="rect">
            <a:avLst/>
          </a:prstGeom>
          <a:noFill/>
        </p:spPr>
        <p:txBody>
          <a:bodyPr wrap="none" rtlCol="0">
            <a:spAutoFit/>
          </a:bodyPr>
          <a:lstStyle/>
          <a:p>
            <a:r>
              <a:rPr lang="en-US" dirty="0"/>
              <a:t>b</a:t>
            </a:r>
            <a:endParaRPr lang="ru-RU" dirty="0"/>
          </a:p>
        </p:txBody>
      </p:sp>
      <p:sp>
        <p:nvSpPr>
          <p:cNvPr id="64" name="TextBox 63"/>
          <p:cNvSpPr txBox="1"/>
          <p:nvPr/>
        </p:nvSpPr>
        <p:spPr>
          <a:xfrm>
            <a:off x="4566213" y="4427682"/>
            <a:ext cx="274434" cy="369332"/>
          </a:xfrm>
          <a:prstGeom prst="rect">
            <a:avLst/>
          </a:prstGeom>
          <a:noFill/>
        </p:spPr>
        <p:txBody>
          <a:bodyPr wrap="none" rtlCol="0">
            <a:spAutoFit/>
          </a:bodyPr>
          <a:lstStyle/>
          <a:p>
            <a:r>
              <a:rPr lang="en-US" dirty="0"/>
              <a:t>s</a:t>
            </a:r>
            <a:endParaRPr lang="ru-RU" dirty="0"/>
          </a:p>
        </p:txBody>
      </p:sp>
      <p:sp>
        <p:nvSpPr>
          <p:cNvPr id="65" name="TextBox 64"/>
          <p:cNvSpPr txBox="1"/>
          <p:nvPr/>
        </p:nvSpPr>
        <p:spPr>
          <a:xfrm>
            <a:off x="4556092" y="5426603"/>
            <a:ext cx="306494" cy="369332"/>
          </a:xfrm>
          <a:prstGeom prst="rect">
            <a:avLst/>
          </a:prstGeom>
          <a:noFill/>
        </p:spPr>
        <p:txBody>
          <a:bodyPr wrap="none" rtlCol="0">
            <a:spAutoFit/>
          </a:bodyPr>
          <a:lstStyle/>
          <a:p>
            <a:r>
              <a:rPr lang="en-US" dirty="0"/>
              <a:t>p</a:t>
            </a:r>
            <a:endParaRPr lang="ru-RU" dirty="0"/>
          </a:p>
        </p:txBody>
      </p:sp>
      <p:cxnSp>
        <p:nvCxnSpPr>
          <p:cNvPr id="66" name="Прямая соединительная линия 65"/>
          <p:cNvCxnSpPr/>
          <p:nvPr/>
        </p:nvCxnSpPr>
        <p:spPr>
          <a:xfrm flipH="1">
            <a:off x="3238503" y="4611091"/>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flipH="1">
            <a:off x="3252529" y="522920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flipH="1">
            <a:off x="4862586" y="459319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p:cNvCxnSpPr/>
          <p:nvPr/>
        </p:nvCxnSpPr>
        <p:spPr>
          <a:xfrm flipH="1">
            <a:off x="4846064" y="5662964"/>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3410821" y="4051205"/>
            <a:ext cx="1502334" cy="369332"/>
          </a:xfrm>
          <a:prstGeom prst="rect">
            <a:avLst/>
          </a:prstGeom>
          <a:noFill/>
        </p:spPr>
        <p:txBody>
          <a:bodyPr wrap="none" rtlCol="0">
            <a:spAutoFit/>
          </a:bodyPr>
          <a:lstStyle/>
          <a:p>
            <a:r>
              <a:rPr lang="ru-RU" dirty="0" smtClean="0"/>
              <a:t>Обозначение</a:t>
            </a:r>
            <a:endParaRPr lang="ru-RU" dirty="0"/>
          </a:p>
        </p:txBody>
      </p:sp>
      <p:cxnSp>
        <p:nvCxnSpPr>
          <p:cNvPr id="71" name="Прямая соединительная линия 70"/>
          <p:cNvCxnSpPr/>
          <p:nvPr/>
        </p:nvCxnSpPr>
        <p:spPr>
          <a:xfrm flipH="1">
            <a:off x="3238886" y="570103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3477249" y="5437499"/>
            <a:ext cx="425116" cy="369332"/>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r>
              <a:rPr lang="en-US" baseline="-25000" dirty="0" smtClean="0"/>
              <a:t>-1</a:t>
            </a:r>
            <a:endParaRPr lang="ru-RU" baseline="-25000" dirty="0"/>
          </a:p>
        </p:txBody>
      </p:sp>
      <p:sp>
        <p:nvSpPr>
          <p:cNvPr id="73" name="Стрелка вниз 72"/>
          <p:cNvSpPr/>
          <p:nvPr/>
        </p:nvSpPr>
        <p:spPr>
          <a:xfrm>
            <a:off x="3878636" y="3284984"/>
            <a:ext cx="531013" cy="7662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74" name="Таблица 73"/>
          <p:cNvGraphicFramePr>
            <a:graphicFrameLocks noGrp="1"/>
          </p:cNvGraphicFramePr>
          <p:nvPr>
            <p:extLst>
              <p:ext uri="{D42A27DB-BD31-4B8C-83A1-F6EECF244321}">
                <p14:modId xmlns:p14="http://schemas.microsoft.com/office/powerpoint/2010/main" val="1319606430"/>
              </p:ext>
            </p:extLst>
          </p:nvPr>
        </p:nvGraphicFramePr>
        <p:xfrm>
          <a:off x="6904353" y="3591189"/>
          <a:ext cx="1152128" cy="1828800"/>
        </p:xfrm>
        <a:graphic>
          <a:graphicData uri="http://schemas.openxmlformats.org/drawingml/2006/table">
            <a:tbl>
              <a:tblPr firstRow="1" bandRow="1">
                <a:tableStyleId>{2D5ABB26-0587-4C30-8999-92F81FD0307C}</a:tableStyleId>
              </a:tblPr>
              <a:tblGrid>
                <a:gridCol w="432048"/>
                <a:gridCol w="360040"/>
                <a:gridCol w="360040"/>
              </a:tblGrid>
              <a:tr h="231462">
                <a:tc>
                  <a:txBody>
                    <a:bodyPr/>
                    <a:lstStyle/>
                    <a:p>
                      <a:r>
                        <a:rPr lang="en-US" dirty="0" smtClean="0"/>
                        <a:t>x</a:t>
                      </a:r>
                      <a:r>
                        <a:rPr lang="en-US" baseline="-25000" dirty="0" smtClean="0"/>
                        <a:t>1</a:t>
                      </a:r>
                      <a:endParaRPr lang="ru-RU"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x</a:t>
                      </a:r>
                      <a:r>
                        <a:rPr lang="en-US" baseline="-25000" dirty="0" smtClean="0"/>
                        <a:t>2</a:t>
                      </a:r>
                      <a:endParaRPr lang="ru-RU"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y</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1462">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1462">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1462">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1462">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5" name="TextBox 74"/>
          <p:cNvSpPr txBox="1"/>
          <p:nvPr/>
        </p:nvSpPr>
        <p:spPr>
          <a:xfrm>
            <a:off x="6156176" y="3283541"/>
            <a:ext cx="2648482" cy="369332"/>
          </a:xfrm>
          <a:prstGeom prst="rect">
            <a:avLst/>
          </a:prstGeom>
          <a:noFill/>
        </p:spPr>
        <p:txBody>
          <a:bodyPr wrap="none" rtlCol="0">
            <a:spAutoFit/>
          </a:bodyPr>
          <a:lstStyle/>
          <a:p>
            <a:r>
              <a:rPr lang="ru-RU" dirty="0" smtClean="0"/>
              <a:t>Таблица истинности</a:t>
            </a:r>
            <a:r>
              <a:rPr lang="en-US" dirty="0" smtClean="0"/>
              <a:t> </a:t>
            </a:r>
            <a:r>
              <a:rPr lang="ru-RU" dirty="0" smtClean="0"/>
              <a:t>ИЛИ</a:t>
            </a:r>
            <a:endParaRPr lang="ru-RU" dirty="0"/>
          </a:p>
        </p:txBody>
      </p:sp>
      <p:sp>
        <p:nvSpPr>
          <p:cNvPr id="76" name="TextBox 75"/>
          <p:cNvSpPr txBox="1"/>
          <p:nvPr/>
        </p:nvSpPr>
        <p:spPr>
          <a:xfrm>
            <a:off x="6732240" y="1577767"/>
            <a:ext cx="2241832" cy="923330"/>
          </a:xfrm>
          <a:prstGeom prst="rect">
            <a:avLst/>
          </a:prstGeom>
          <a:noFill/>
        </p:spPr>
        <p:txBody>
          <a:bodyPr wrap="none" rtlCol="0">
            <a:spAutoFit/>
          </a:bodyPr>
          <a:lstStyle/>
          <a:p>
            <a:r>
              <a:rPr lang="ru-RU" dirty="0" smtClean="0"/>
              <a:t>Выполнить проверку</a:t>
            </a:r>
          </a:p>
          <a:p>
            <a:endParaRPr lang="ru-RU" dirty="0"/>
          </a:p>
          <a:p>
            <a:r>
              <a:rPr lang="ru-RU" dirty="0" smtClean="0"/>
              <a:t>1+1=?</a:t>
            </a:r>
            <a:endParaRPr lang="ru-RU" dirty="0"/>
          </a:p>
        </p:txBody>
      </p:sp>
      <p:cxnSp>
        <p:nvCxnSpPr>
          <p:cNvPr id="78" name="Прямая со стрелкой 77"/>
          <p:cNvCxnSpPr>
            <a:endCxn id="75" idx="1"/>
          </p:cNvCxnSpPr>
          <p:nvPr/>
        </p:nvCxnSpPr>
        <p:spPr>
          <a:xfrm>
            <a:off x="5681439" y="3235362"/>
            <a:ext cx="474737" cy="2328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45363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38757" y="118373"/>
            <a:ext cx="5008295" cy="646331"/>
          </a:xfrm>
          <a:prstGeom prst="rect">
            <a:avLst/>
          </a:prstGeom>
          <a:noFill/>
        </p:spPr>
        <p:txBody>
          <a:bodyPr wrap="none" rtlCol="0">
            <a:spAutoFit/>
          </a:bodyPr>
          <a:lstStyle/>
          <a:p>
            <a:pPr algn="ctr"/>
            <a:r>
              <a:rPr lang="ru-RU" dirty="0" smtClean="0"/>
              <a:t>Многоразрядный сумматор</a:t>
            </a:r>
          </a:p>
          <a:p>
            <a:pPr algn="ctr"/>
            <a:r>
              <a:rPr lang="ru-RU" dirty="0" smtClean="0"/>
              <a:t>(параллельный с последовательным переносом)</a:t>
            </a:r>
            <a:endParaRPr lang="ru-RU" dirty="0"/>
          </a:p>
        </p:txBody>
      </p:sp>
      <p:grpSp>
        <p:nvGrpSpPr>
          <p:cNvPr id="19" name="Группа 18"/>
          <p:cNvGrpSpPr/>
          <p:nvPr/>
        </p:nvGrpSpPr>
        <p:grpSpPr>
          <a:xfrm>
            <a:off x="398976" y="2451778"/>
            <a:ext cx="2742004" cy="1000178"/>
            <a:chOff x="384168" y="1220884"/>
            <a:chExt cx="3677757" cy="1380406"/>
          </a:xfrm>
        </p:grpSpPr>
        <p:sp>
          <p:nvSpPr>
            <p:cNvPr id="5" name="Прямоугольник 4"/>
            <p:cNvSpPr/>
            <p:nvPr/>
          </p:nvSpPr>
          <p:spPr>
            <a:xfrm>
              <a:off x="623577" y="122088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623577"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p:nvPr/>
          </p:nvSpPr>
          <p:spPr>
            <a:xfrm>
              <a:off x="1555314"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1024301" y="1235689"/>
              <a:ext cx="487634" cy="369332"/>
            </a:xfrm>
            <a:prstGeom prst="rect">
              <a:avLst/>
            </a:prstGeom>
            <a:noFill/>
          </p:spPr>
          <p:txBody>
            <a:bodyPr wrap="none" rtlCol="0">
              <a:spAutoFit/>
            </a:bodyPr>
            <a:lstStyle/>
            <a:p>
              <a:r>
                <a:rPr lang="en-US" dirty="0" smtClean="0"/>
                <a:t>SM</a:t>
              </a:r>
              <a:endParaRPr lang="ru-RU" dirty="0"/>
            </a:p>
          </p:txBody>
        </p:sp>
        <p:sp>
          <p:nvSpPr>
            <p:cNvPr id="9" name="TextBox 8"/>
            <p:cNvSpPr txBox="1"/>
            <p:nvPr/>
          </p:nvSpPr>
          <p:spPr>
            <a:xfrm>
              <a:off x="623577" y="1222141"/>
              <a:ext cx="295274" cy="369332"/>
            </a:xfrm>
            <a:prstGeom prst="rect">
              <a:avLst/>
            </a:prstGeom>
            <a:noFill/>
          </p:spPr>
          <p:txBody>
            <a:bodyPr wrap="none" rtlCol="0">
              <a:spAutoFit/>
            </a:bodyPr>
            <a:lstStyle/>
            <a:p>
              <a:r>
                <a:rPr lang="en-US" dirty="0" smtClean="0"/>
                <a:t>a</a:t>
              </a:r>
              <a:endParaRPr lang="ru-RU" dirty="0"/>
            </a:p>
          </p:txBody>
        </p:sp>
        <p:sp>
          <p:nvSpPr>
            <p:cNvPr id="10" name="TextBox 9"/>
            <p:cNvSpPr txBox="1"/>
            <p:nvPr/>
          </p:nvSpPr>
          <p:spPr>
            <a:xfrm>
              <a:off x="653136" y="1726420"/>
              <a:ext cx="306494" cy="369332"/>
            </a:xfrm>
            <a:prstGeom prst="rect">
              <a:avLst/>
            </a:prstGeom>
            <a:noFill/>
          </p:spPr>
          <p:txBody>
            <a:bodyPr wrap="none" rtlCol="0">
              <a:spAutoFit/>
            </a:bodyPr>
            <a:lstStyle/>
            <a:p>
              <a:r>
                <a:rPr lang="en-US" dirty="0"/>
                <a:t>b</a:t>
              </a:r>
              <a:endParaRPr lang="ru-RU" dirty="0"/>
            </a:p>
          </p:txBody>
        </p:sp>
        <p:sp>
          <p:nvSpPr>
            <p:cNvPr id="11" name="TextBox 10"/>
            <p:cNvSpPr txBox="1"/>
            <p:nvPr/>
          </p:nvSpPr>
          <p:spPr>
            <a:xfrm>
              <a:off x="1711878" y="1222141"/>
              <a:ext cx="274434" cy="369332"/>
            </a:xfrm>
            <a:prstGeom prst="rect">
              <a:avLst/>
            </a:prstGeom>
            <a:noFill/>
          </p:spPr>
          <p:txBody>
            <a:bodyPr wrap="none" rtlCol="0">
              <a:spAutoFit/>
            </a:bodyPr>
            <a:lstStyle/>
            <a:p>
              <a:r>
                <a:rPr lang="en-US" dirty="0"/>
                <a:t>s</a:t>
              </a:r>
              <a:endParaRPr lang="ru-RU" dirty="0"/>
            </a:p>
          </p:txBody>
        </p:sp>
        <p:sp>
          <p:nvSpPr>
            <p:cNvPr id="12" name="TextBox 11"/>
            <p:cNvSpPr txBox="1"/>
            <p:nvPr/>
          </p:nvSpPr>
          <p:spPr>
            <a:xfrm>
              <a:off x="1685235" y="2126166"/>
              <a:ext cx="306494" cy="369332"/>
            </a:xfrm>
            <a:prstGeom prst="rect">
              <a:avLst/>
            </a:prstGeom>
            <a:noFill/>
          </p:spPr>
          <p:txBody>
            <a:bodyPr wrap="none" rtlCol="0">
              <a:spAutoFit/>
            </a:bodyPr>
            <a:lstStyle/>
            <a:p>
              <a:r>
                <a:rPr lang="en-US" dirty="0"/>
                <a:t>p</a:t>
              </a:r>
              <a:endParaRPr lang="ru-RU" dirty="0"/>
            </a:p>
          </p:txBody>
        </p:sp>
        <p:cxnSp>
          <p:nvCxnSpPr>
            <p:cNvPr id="13" name="Прямая соединительная линия 12"/>
            <p:cNvCxnSpPr/>
            <p:nvPr/>
          </p:nvCxnSpPr>
          <p:spPr>
            <a:xfrm flipH="1">
              <a:off x="384168" y="140555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flipH="1">
              <a:off x="398194" y="202365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flipH="1">
              <a:off x="2008252" y="1387658"/>
              <a:ext cx="205367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flipH="1">
              <a:off x="1991729" y="2457423"/>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flipH="1">
              <a:off x="384551" y="2495498"/>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93824" y="2126694"/>
              <a:ext cx="425116" cy="369332"/>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r>
                <a:rPr lang="en-US" baseline="-25000" dirty="0" smtClean="0"/>
                <a:t>-1</a:t>
              </a:r>
              <a:endParaRPr lang="ru-RU" baseline="-25000" dirty="0"/>
            </a:p>
          </p:txBody>
        </p:sp>
      </p:grpSp>
      <p:grpSp>
        <p:nvGrpSpPr>
          <p:cNvPr id="20" name="Группа 19"/>
          <p:cNvGrpSpPr/>
          <p:nvPr/>
        </p:nvGrpSpPr>
        <p:grpSpPr>
          <a:xfrm>
            <a:off x="398976" y="3750591"/>
            <a:ext cx="2751145" cy="1000178"/>
            <a:chOff x="384168" y="1220884"/>
            <a:chExt cx="3690017" cy="1380406"/>
          </a:xfrm>
        </p:grpSpPr>
        <p:sp>
          <p:nvSpPr>
            <p:cNvPr id="21" name="Прямоугольник 20"/>
            <p:cNvSpPr/>
            <p:nvPr/>
          </p:nvSpPr>
          <p:spPr>
            <a:xfrm>
              <a:off x="623577" y="122088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p:cNvSpPr/>
            <p:nvPr/>
          </p:nvSpPr>
          <p:spPr>
            <a:xfrm>
              <a:off x="623577"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1555314"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Box 23"/>
            <p:cNvSpPr txBox="1"/>
            <p:nvPr/>
          </p:nvSpPr>
          <p:spPr>
            <a:xfrm>
              <a:off x="1024301" y="1235689"/>
              <a:ext cx="487634" cy="369332"/>
            </a:xfrm>
            <a:prstGeom prst="rect">
              <a:avLst/>
            </a:prstGeom>
            <a:noFill/>
          </p:spPr>
          <p:txBody>
            <a:bodyPr wrap="none" rtlCol="0">
              <a:spAutoFit/>
            </a:bodyPr>
            <a:lstStyle/>
            <a:p>
              <a:r>
                <a:rPr lang="en-US" dirty="0" smtClean="0"/>
                <a:t>SM</a:t>
              </a:r>
              <a:endParaRPr lang="ru-RU" dirty="0"/>
            </a:p>
          </p:txBody>
        </p:sp>
        <p:sp>
          <p:nvSpPr>
            <p:cNvPr id="25" name="TextBox 24"/>
            <p:cNvSpPr txBox="1"/>
            <p:nvPr/>
          </p:nvSpPr>
          <p:spPr>
            <a:xfrm>
              <a:off x="623577" y="1222141"/>
              <a:ext cx="295274" cy="369332"/>
            </a:xfrm>
            <a:prstGeom prst="rect">
              <a:avLst/>
            </a:prstGeom>
            <a:noFill/>
          </p:spPr>
          <p:txBody>
            <a:bodyPr wrap="none" rtlCol="0">
              <a:spAutoFit/>
            </a:bodyPr>
            <a:lstStyle/>
            <a:p>
              <a:r>
                <a:rPr lang="en-US" dirty="0" smtClean="0"/>
                <a:t>a</a:t>
              </a:r>
              <a:endParaRPr lang="ru-RU" dirty="0"/>
            </a:p>
          </p:txBody>
        </p:sp>
        <p:sp>
          <p:nvSpPr>
            <p:cNvPr id="26" name="TextBox 25"/>
            <p:cNvSpPr txBox="1"/>
            <p:nvPr/>
          </p:nvSpPr>
          <p:spPr>
            <a:xfrm>
              <a:off x="653136" y="1726420"/>
              <a:ext cx="306494" cy="369332"/>
            </a:xfrm>
            <a:prstGeom prst="rect">
              <a:avLst/>
            </a:prstGeom>
            <a:noFill/>
          </p:spPr>
          <p:txBody>
            <a:bodyPr wrap="none" rtlCol="0">
              <a:spAutoFit/>
            </a:bodyPr>
            <a:lstStyle/>
            <a:p>
              <a:r>
                <a:rPr lang="en-US" dirty="0"/>
                <a:t>b</a:t>
              </a:r>
              <a:endParaRPr lang="ru-RU" dirty="0"/>
            </a:p>
          </p:txBody>
        </p:sp>
        <p:sp>
          <p:nvSpPr>
            <p:cNvPr id="27" name="TextBox 26"/>
            <p:cNvSpPr txBox="1"/>
            <p:nvPr/>
          </p:nvSpPr>
          <p:spPr>
            <a:xfrm>
              <a:off x="1711878" y="1222141"/>
              <a:ext cx="274434" cy="369332"/>
            </a:xfrm>
            <a:prstGeom prst="rect">
              <a:avLst/>
            </a:prstGeom>
            <a:noFill/>
          </p:spPr>
          <p:txBody>
            <a:bodyPr wrap="none" rtlCol="0">
              <a:spAutoFit/>
            </a:bodyPr>
            <a:lstStyle/>
            <a:p>
              <a:r>
                <a:rPr lang="en-US" dirty="0"/>
                <a:t>s</a:t>
              </a:r>
              <a:endParaRPr lang="ru-RU" dirty="0"/>
            </a:p>
          </p:txBody>
        </p:sp>
        <p:sp>
          <p:nvSpPr>
            <p:cNvPr id="28" name="TextBox 27"/>
            <p:cNvSpPr txBox="1"/>
            <p:nvPr/>
          </p:nvSpPr>
          <p:spPr>
            <a:xfrm>
              <a:off x="1685235" y="2126166"/>
              <a:ext cx="306494" cy="369332"/>
            </a:xfrm>
            <a:prstGeom prst="rect">
              <a:avLst/>
            </a:prstGeom>
            <a:noFill/>
          </p:spPr>
          <p:txBody>
            <a:bodyPr wrap="none" rtlCol="0">
              <a:spAutoFit/>
            </a:bodyPr>
            <a:lstStyle/>
            <a:p>
              <a:r>
                <a:rPr lang="en-US" dirty="0"/>
                <a:t>p</a:t>
              </a:r>
              <a:endParaRPr lang="ru-RU" dirty="0"/>
            </a:p>
          </p:txBody>
        </p:sp>
        <p:cxnSp>
          <p:nvCxnSpPr>
            <p:cNvPr id="29" name="Прямая соединительная линия 28"/>
            <p:cNvCxnSpPr/>
            <p:nvPr/>
          </p:nvCxnSpPr>
          <p:spPr>
            <a:xfrm flipH="1">
              <a:off x="384168" y="140555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flipH="1">
              <a:off x="398194" y="202365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a:stCxn id="113" idx="1"/>
            </p:cNvCxnSpPr>
            <p:nvPr/>
          </p:nvCxnSpPr>
          <p:spPr>
            <a:xfrm flipH="1">
              <a:off x="2008252" y="1383191"/>
              <a:ext cx="2065933" cy="4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flipH="1">
              <a:off x="1991729" y="2457423"/>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flipH="1">
              <a:off x="384551" y="2495498"/>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593824" y="2126694"/>
              <a:ext cx="425116" cy="369332"/>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r>
                <a:rPr lang="en-US" baseline="-25000" dirty="0" smtClean="0"/>
                <a:t>-1</a:t>
              </a:r>
              <a:endParaRPr lang="ru-RU" baseline="-25000" dirty="0"/>
            </a:p>
          </p:txBody>
        </p:sp>
      </p:grpSp>
      <p:grpSp>
        <p:nvGrpSpPr>
          <p:cNvPr id="35" name="Группа 34"/>
          <p:cNvGrpSpPr/>
          <p:nvPr/>
        </p:nvGrpSpPr>
        <p:grpSpPr>
          <a:xfrm>
            <a:off x="398976" y="5049404"/>
            <a:ext cx="2760286" cy="1000178"/>
            <a:chOff x="384168" y="1220884"/>
            <a:chExt cx="3702278" cy="1380406"/>
          </a:xfrm>
        </p:grpSpPr>
        <p:sp>
          <p:nvSpPr>
            <p:cNvPr id="36" name="Прямоугольник 35"/>
            <p:cNvSpPr/>
            <p:nvPr/>
          </p:nvSpPr>
          <p:spPr>
            <a:xfrm>
              <a:off x="623577" y="122088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Прямоугольник 36"/>
            <p:cNvSpPr/>
            <p:nvPr/>
          </p:nvSpPr>
          <p:spPr>
            <a:xfrm>
              <a:off x="623577"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Прямоугольник 37"/>
            <p:cNvSpPr/>
            <p:nvPr/>
          </p:nvSpPr>
          <p:spPr>
            <a:xfrm>
              <a:off x="1555314"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TextBox 38"/>
            <p:cNvSpPr txBox="1"/>
            <p:nvPr/>
          </p:nvSpPr>
          <p:spPr>
            <a:xfrm>
              <a:off x="1024301" y="1235689"/>
              <a:ext cx="487634" cy="369332"/>
            </a:xfrm>
            <a:prstGeom prst="rect">
              <a:avLst/>
            </a:prstGeom>
            <a:noFill/>
          </p:spPr>
          <p:txBody>
            <a:bodyPr wrap="none" rtlCol="0">
              <a:spAutoFit/>
            </a:bodyPr>
            <a:lstStyle/>
            <a:p>
              <a:r>
                <a:rPr lang="en-US" dirty="0" smtClean="0"/>
                <a:t>SM</a:t>
              </a:r>
              <a:endParaRPr lang="ru-RU" dirty="0"/>
            </a:p>
          </p:txBody>
        </p:sp>
        <p:sp>
          <p:nvSpPr>
            <p:cNvPr id="40" name="TextBox 39"/>
            <p:cNvSpPr txBox="1"/>
            <p:nvPr/>
          </p:nvSpPr>
          <p:spPr>
            <a:xfrm>
              <a:off x="623577" y="1222141"/>
              <a:ext cx="295274" cy="369332"/>
            </a:xfrm>
            <a:prstGeom prst="rect">
              <a:avLst/>
            </a:prstGeom>
            <a:noFill/>
          </p:spPr>
          <p:txBody>
            <a:bodyPr wrap="none" rtlCol="0">
              <a:spAutoFit/>
            </a:bodyPr>
            <a:lstStyle/>
            <a:p>
              <a:r>
                <a:rPr lang="en-US" dirty="0" smtClean="0"/>
                <a:t>a</a:t>
              </a:r>
              <a:endParaRPr lang="ru-RU" dirty="0"/>
            </a:p>
          </p:txBody>
        </p:sp>
        <p:sp>
          <p:nvSpPr>
            <p:cNvPr id="41" name="TextBox 40"/>
            <p:cNvSpPr txBox="1"/>
            <p:nvPr/>
          </p:nvSpPr>
          <p:spPr>
            <a:xfrm>
              <a:off x="653136" y="1726420"/>
              <a:ext cx="306494" cy="369332"/>
            </a:xfrm>
            <a:prstGeom prst="rect">
              <a:avLst/>
            </a:prstGeom>
            <a:noFill/>
          </p:spPr>
          <p:txBody>
            <a:bodyPr wrap="none" rtlCol="0">
              <a:spAutoFit/>
            </a:bodyPr>
            <a:lstStyle/>
            <a:p>
              <a:r>
                <a:rPr lang="en-US" dirty="0"/>
                <a:t>b</a:t>
              </a:r>
              <a:endParaRPr lang="ru-RU" dirty="0"/>
            </a:p>
          </p:txBody>
        </p:sp>
        <p:sp>
          <p:nvSpPr>
            <p:cNvPr id="42" name="TextBox 41"/>
            <p:cNvSpPr txBox="1"/>
            <p:nvPr/>
          </p:nvSpPr>
          <p:spPr>
            <a:xfrm>
              <a:off x="1711878" y="1222141"/>
              <a:ext cx="274434" cy="369332"/>
            </a:xfrm>
            <a:prstGeom prst="rect">
              <a:avLst/>
            </a:prstGeom>
            <a:noFill/>
          </p:spPr>
          <p:txBody>
            <a:bodyPr wrap="none" rtlCol="0">
              <a:spAutoFit/>
            </a:bodyPr>
            <a:lstStyle/>
            <a:p>
              <a:r>
                <a:rPr lang="en-US" dirty="0"/>
                <a:t>s</a:t>
              </a:r>
              <a:endParaRPr lang="ru-RU" dirty="0"/>
            </a:p>
          </p:txBody>
        </p:sp>
        <p:sp>
          <p:nvSpPr>
            <p:cNvPr id="43" name="TextBox 42"/>
            <p:cNvSpPr txBox="1"/>
            <p:nvPr/>
          </p:nvSpPr>
          <p:spPr>
            <a:xfrm>
              <a:off x="1685235" y="2126166"/>
              <a:ext cx="306494" cy="369332"/>
            </a:xfrm>
            <a:prstGeom prst="rect">
              <a:avLst/>
            </a:prstGeom>
            <a:noFill/>
          </p:spPr>
          <p:txBody>
            <a:bodyPr wrap="none" rtlCol="0">
              <a:spAutoFit/>
            </a:bodyPr>
            <a:lstStyle/>
            <a:p>
              <a:r>
                <a:rPr lang="en-US" dirty="0"/>
                <a:t>p</a:t>
              </a:r>
              <a:endParaRPr lang="ru-RU" dirty="0"/>
            </a:p>
          </p:txBody>
        </p:sp>
        <p:cxnSp>
          <p:nvCxnSpPr>
            <p:cNvPr id="44" name="Прямая соединительная линия 43"/>
            <p:cNvCxnSpPr/>
            <p:nvPr/>
          </p:nvCxnSpPr>
          <p:spPr>
            <a:xfrm flipH="1">
              <a:off x="384168" y="140555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flipH="1">
              <a:off x="398194" y="202365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flipH="1">
              <a:off x="2008252" y="1387658"/>
              <a:ext cx="20781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flipH="1">
              <a:off x="1991730" y="2457423"/>
              <a:ext cx="204668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p:cNvCxnSpPr/>
            <p:nvPr/>
          </p:nvCxnSpPr>
          <p:spPr>
            <a:xfrm flipH="1">
              <a:off x="384551" y="2495498"/>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93824" y="2126694"/>
              <a:ext cx="425116" cy="369332"/>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r>
                <a:rPr lang="en-US" baseline="-25000" dirty="0" smtClean="0"/>
                <a:t>-1</a:t>
              </a:r>
              <a:endParaRPr lang="ru-RU" baseline="-25000" dirty="0"/>
            </a:p>
          </p:txBody>
        </p:sp>
      </p:grpSp>
      <p:grpSp>
        <p:nvGrpSpPr>
          <p:cNvPr id="50" name="Группа 49"/>
          <p:cNvGrpSpPr/>
          <p:nvPr/>
        </p:nvGrpSpPr>
        <p:grpSpPr>
          <a:xfrm>
            <a:off x="398976" y="1152965"/>
            <a:ext cx="2742004" cy="1000178"/>
            <a:chOff x="384168" y="1220884"/>
            <a:chExt cx="3677757" cy="1380406"/>
          </a:xfrm>
        </p:grpSpPr>
        <p:sp>
          <p:nvSpPr>
            <p:cNvPr id="51" name="Прямоугольник 50"/>
            <p:cNvSpPr/>
            <p:nvPr/>
          </p:nvSpPr>
          <p:spPr>
            <a:xfrm>
              <a:off x="623577" y="122088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Прямоугольник 51"/>
            <p:cNvSpPr/>
            <p:nvPr/>
          </p:nvSpPr>
          <p:spPr>
            <a:xfrm>
              <a:off x="623577"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1555314"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TextBox 53"/>
            <p:cNvSpPr txBox="1"/>
            <p:nvPr/>
          </p:nvSpPr>
          <p:spPr>
            <a:xfrm>
              <a:off x="1024301" y="1235689"/>
              <a:ext cx="487634" cy="369332"/>
            </a:xfrm>
            <a:prstGeom prst="rect">
              <a:avLst/>
            </a:prstGeom>
            <a:noFill/>
          </p:spPr>
          <p:txBody>
            <a:bodyPr wrap="none" rtlCol="0">
              <a:spAutoFit/>
            </a:bodyPr>
            <a:lstStyle/>
            <a:p>
              <a:r>
                <a:rPr lang="en-US" dirty="0" smtClean="0"/>
                <a:t>SM</a:t>
              </a:r>
              <a:endParaRPr lang="ru-RU" dirty="0"/>
            </a:p>
          </p:txBody>
        </p:sp>
        <p:sp>
          <p:nvSpPr>
            <p:cNvPr id="55" name="TextBox 54"/>
            <p:cNvSpPr txBox="1"/>
            <p:nvPr/>
          </p:nvSpPr>
          <p:spPr>
            <a:xfrm>
              <a:off x="623577" y="1222141"/>
              <a:ext cx="295274" cy="369332"/>
            </a:xfrm>
            <a:prstGeom prst="rect">
              <a:avLst/>
            </a:prstGeom>
            <a:noFill/>
          </p:spPr>
          <p:txBody>
            <a:bodyPr wrap="none" rtlCol="0">
              <a:spAutoFit/>
            </a:bodyPr>
            <a:lstStyle/>
            <a:p>
              <a:r>
                <a:rPr lang="en-US" dirty="0" smtClean="0"/>
                <a:t>a</a:t>
              </a:r>
              <a:endParaRPr lang="ru-RU" dirty="0"/>
            </a:p>
          </p:txBody>
        </p:sp>
        <p:sp>
          <p:nvSpPr>
            <p:cNvPr id="56" name="TextBox 55"/>
            <p:cNvSpPr txBox="1"/>
            <p:nvPr/>
          </p:nvSpPr>
          <p:spPr>
            <a:xfrm>
              <a:off x="653136" y="1726420"/>
              <a:ext cx="306494" cy="369332"/>
            </a:xfrm>
            <a:prstGeom prst="rect">
              <a:avLst/>
            </a:prstGeom>
            <a:noFill/>
          </p:spPr>
          <p:txBody>
            <a:bodyPr wrap="none" rtlCol="0">
              <a:spAutoFit/>
            </a:bodyPr>
            <a:lstStyle/>
            <a:p>
              <a:r>
                <a:rPr lang="en-US" dirty="0"/>
                <a:t>b</a:t>
              </a:r>
              <a:endParaRPr lang="ru-RU" dirty="0"/>
            </a:p>
          </p:txBody>
        </p:sp>
        <p:sp>
          <p:nvSpPr>
            <p:cNvPr id="57" name="TextBox 56"/>
            <p:cNvSpPr txBox="1"/>
            <p:nvPr/>
          </p:nvSpPr>
          <p:spPr>
            <a:xfrm>
              <a:off x="1711878" y="1222141"/>
              <a:ext cx="274434" cy="369332"/>
            </a:xfrm>
            <a:prstGeom prst="rect">
              <a:avLst/>
            </a:prstGeom>
            <a:noFill/>
          </p:spPr>
          <p:txBody>
            <a:bodyPr wrap="none" rtlCol="0">
              <a:spAutoFit/>
            </a:bodyPr>
            <a:lstStyle/>
            <a:p>
              <a:r>
                <a:rPr lang="en-US" dirty="0"/>
                <a:t>s</a:t>
              </a:r>
              <a:endParaRPr lang="ru-RU" dirty="0"/>
            </a:p>
          </p:txBody>
        </p:sp>
        <p:sp>
          <p:nvSpPr>
            <p:cNvPr id="58" name="TextBox 57"/>
            <p:cNvSpPr txBox="1"/>
            <p:nvPr/>
          </p:nvSpPr>
          <p:spPr>
            <a:xfrm>
              <a:off x="1685235" y="2126166"/>
              <a:ext cx="306494" cy="369332"/>
            </a:xfrm>
            <a:prstGeom prst="rect">
              <a:avLst/>
            </a:prstGeom>
            <a:noFill/>
          </p:spPr>
          <p:txBody>
            <a:bodyPr wrap="none" rtlCol="0">
              <a:spAutoFit/>
            </a:bodyPr>
            <a:lstStyle/>
            <a:p>
              <a:r>
                <a:rPr lang="en-US" dirty="0"/>
                <a:t>p</a:t>
              </a:r>
              <a:endParaRPr lang="ru-RU" dirty="0"/>
            </a:p>
          </p:txBody>
        </p:sp>
        <p:cxnSp>
          <p:nvCxnSpPr>
            <p:cNvPr id="59" name="Прямая соединительная линия 58"/>
            <p:cNvCxnSpPr/>
            <p:nvPr/>
          </p:nvCxnSpPr>
          <p:spPr>
            <a:xfrm flipH="1">
              <a:off x="384168" y="140555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Прямая соединительная линия 59"/>
            <p:cNvCxnSpPr/>
            <p:nvPr/>
          </p:nvCxnSpPr>
          <p:spPr>
            <a:xfrm flipH="1">
              <a:off x="398194" y="202365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p:cNvCxnSpPr/>
            <p:nvPr/>
          </p:nvCxnSpPr>
          <p:spPr>
            <a:xfrm flipH="1">
              <a:off x="2008252" y="1387658"/>
              <a:ext cx="205367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flipH="1">
              <a:off x="1991729" y="2457423"/>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593824" y="2126694"/>
              <a:ext cx="247773" cy="382303"/>
            </a:xfrm>
            <a:prstGeom prst="rect">
              <a:avLst/>
            </a:prstGeom>
            <a:noFill/>
          </p:spPr>
          <p:txBody>
            <a:bodyPr wrap="none" rtlCol="0">
              <a:spAutoFit/>
            </a:bodyPr>
            <a:lstStyle/>
            <a:p>
              <a:endParaRPr lang="ru-RU" baseline="-25000" dirty="0"/>
            </a:p>
          </p:txBody>
        </p:sp>
      </p:grpSp>
      <p:graphicFrame>
        <p:nvGraphicFramePr>
          <p:cNvPr id="65" name="Объект 64"/>
          <p:cNvGraphicFramePr>
            <a:graphicFrameLocks noChangeAspect="1"/>
          </p:cNvGraphicFramePr>
          <p:nvPr>
            <p:extLst>
              <p:ext uri="{D42A27DB-BD31-4B8C-83A1-F6EECF244321}">
                <p14:modId xmlns:p14="http://schemas.microsoft.com/office/powerpoint/2010/main" val="2667535558"/>
              </p:ext>
            </p:extLst>
          </p:nvPr>
        </p:nvGraphicFramePr>
        <p:xfrm>
          <a:off x="117333" y="892802"/>
          <a:ext cx="317500" cy="381000"/>
        </p:xfrm>
        <a:graphic>
          <a:graphicData uri="http://schemas.openxmlformats.org/presentationml/2006/ole">
            <mc:AlternateContent xmlns:mc="http://schemas.openxmlformats.org/markup-compatibility/2006">
              <mc:Choice xmlns:v="urn:schemas-microsoft-com:vml" Requires="v">
                <p:oleObj spid="_x0000_s39895" name="Equation" r:id="rId3" imgW="317160" imgH="380880" progId="Equation.DSMT4">
                  <p:embed/>
                </p:oleObj>
              </mc:Choice>
              <mc:Fallback>
                <p:oleObj name="Equation" r:id="rId3" imgW="31716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333" y="892802"/>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 name="Объект 65"/>
          <p:cNvGraphicFramePr>
            <a:graphicFrameLocks noChangeAspect="1"/>
          </p:cNvGraphicFramePr>
          <p:nvPr>
            <p:extLst>
              <p:ext uri="{D42A27DB-BD31-4B8C-83A1-F6EECF244321}">
                <p14:modId xmlns:p14="http://schemas.microsoft.com/office/powerpoint/2010/main" val="1498454678"/>
              </p:ext>
            </p:extLst>
          </p:nvPr>
        </p:nvGraphicFramePr>
        <p:xfrm>
          <a:off x="117333" y="1354138"/>
          <a:ext cx="292100" cy="381000"/>
        </p:xfrm>
        <a:graphic>
          <a:graphicData uri="http://schemas.openxmlformats.org/presentationml/2006/ole">
            <mc:AlternateContent xmlns:mc="http://schemas.openxmlformats.org/markup-compatibility/2006">
              <mc:Choice xmlns:v="urn:schemas-microsoft-com:vml" Requires="v">
                <p:oleObj spid="_x0000_s39896" name="Equation" r:id="rId5" imgW="291960" imgH="380880" progId="Equation.DSMT4">
                  <p:embed/>
                </p:oleObj>
              </mc:Choice>
              <mc:Fallback>
                <p:oleObj name="Equation" r:id="rId5" imgW="291960" imgH="380880" progId="Equation.DSMT4">
                  <p:embed/>
                  <p:pic>
                    <p:nvPicPr>
                      <p:cNvPr id="0" name=""/>
                      <p:cNvPicPr>
                        <a:picLocks noChangeAspect="1" noChangeArrowheads="1"/>
                      </p:cNvPicPr>
                      <p:nvPr/>
                    </p:nvPicPr>
                    <p:blipFill>
                      <a:blip r:embed="rId6"/>
                      <a:srcRect/>
                      <a:stretch>
                        <a:fillRect/>
                      </a:stretch>
                    </p:blipFill>
                    <p:spPr bwMode="auto">
                      <a:xfrm>
                        <a:off x="117333" y="1354138"/>
                        <a:ext cx="292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 name="Объект 66"/>
          <p:cNvGraphicFramePr>
            <a:graphicFrameLocks noChangeAspect="1"/>
          </p:cNvGraphicFramePr>
          <p:nvPr>
            <p:extLst>
              <p:ext uri="{D42A27DB-BD31-4B8C-83A1-F6EECF244321}">
                <p14:modId xmlns:p14="http://schemas.microsoft.com/office/powerpoint/2010/main" val="853784283"/>
              </p:ext>
            </p:extLst>
          </p:nvPr>
        </p:nvGraphicFramePr>
        <p:xfrm>
          <a:off x="98425" y="2152650"/>
          <a:ext cx="330200" cy="381000"/>
        </p:xfrm>
        <a:graphic>
          <a:graphicData uri="http://schemas.openxmlformats.org/presentationml/2006/ole">
            <mc:AlternateContent xmlns:mc="http://schemas.openxmlformats.org/markup-compatibility/2006">
              <mc:Choice xmlns:v="urn:schemas-microsoft-com:vml" Requires="v">
                <p:oleObj spid="_x0000_s39897" name="Equation" r:id="rId7" imgW="330120" imgH="380880" progId="Equation.DSMT4">
                  <p:embed/>
                </p:oleObj>
              </mc:Choice>
              <mc:Fallback>
                <p:oleObj name="Equation" r:id="rId7" imgW="330120" imgH="380880" progId="Equation.DSMT4">
                  <p:embed/>
                  <p:pic>
                    <p:nvPicPr>
                      <p:cNvPr id="0" name=""/>
                      <p:cNvPicPr>
                        <a:picLocks noChangeAspect="1" noChangeArrowheads="1"/>
                      </p:cNvPicPr>
                      <p:nvPr/>
                    </p:nvPicPr>
                    <p:blipFill>
                      <a:blip r:embed="rId8"/>
                      <a:srcRect/>
                      <a:stretch>
                        <a:fillRect/>
                      </a:stretch>
                    </p:blipFill>
                    <p:spPr bwMode="auto">
                      <a:xfrm>
                        <a:off x="98425" y="2152650"/>
                        <a:ext cx="33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 name="Объект 67"/>
          <p:cNvGraphicFramePr>
            <a:graphicFrameLocks noChangeAspect="1"/>
          </p:cNvGraphicFramePr>
          <p:nvPr>
            <p:extLst>
              <p:ext uri="{D42A27DB-BD31-4B8C-83A1-F6EECF244321}">
                <p14:modId xmlns:p14="http://schemas.microsoft.com/office/powerpoint/2010/main" val="2105361784"/>
              </p:ext>
            </p:extLst>
          </p:nvPr>
        </p:nvGraphicFramePr>
        <p:xfrm>
          <a:off x="104775" y="2632075"/>
          <a:ext cx="317500" cy="381000"/>
        </p:xfrm>
        <a:graphic>
          <a:graphicData uri="http://schemas.openxmlformats.org/presentationml/2006/ole">
            <mc:AlternateContent xmlns:mc="http://schemas.openxmlformats.org/markup-compatibility/2006">
              <mc:Choice xmlns:v="urn:schemas-microsoft-com:vml" Requires="v">
                <p:oleObj spid="_x0000_s39898" name="Equation" r:id="rId9" imgW="317160" imgH="380880" progId="Equation.DSMT4">
                  <p:embed/>
                </p:oleObj>
              </mc:Choice>
              <mc:Fallback>
                <p:oleObj name="Equation" r:id="rId9" imgW="317160" imgH="380880" progId="Equation.DSMT4">
                  <p:embed/>
                  <p:pic>
                    <p:nvPicPr>
                      <p:cNvPr id="0" name=""/>
                      <p:cNvPicPr>
                        <a:picLocks noChangeAspect="1" noChangeArrowheads="1"/>
                      </p:cNvPicPr>
                      <p:nvPr/>
                    </p:nvPicPr>
                    <p:blipFill>
                      <a:blip r:embed="rId10"/>
                      <a:srcRect/>
                      <a:stretch>
                        <a:fillRect/>
                      </a:stretch>
                    </p:blipFill>
                    <p:spPr bwMode="auto">
                      <a:xfrm>
                        <a:off x="104775" y="2632075"/>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 name="Объект 68"/>
          <p:cNvGraphicFramePr>
            <a:graphicFrameLocks noChangeAspect="1"/>
          </p:cNvGraphicFramePr>
          <p:nvPr>
            <p:extLst>
              <p:ext uri="{D42A27DB-BD31-4B8C-83A1-F6EECF244321}">
                <p14:modId xmlns:p14="http://schemas.microsoft.com/office/powerpoint/2010/main" val="1729319393"/>
              </p:ext>
            </p:extLst>
          </p:nvPr>
        </p:nvGraphicFramePr>
        <p:xfrm>
          <a:off x="98425" y="3490913"/>
          <a:ext cx="330200" cy="381000"/>
        </p:xfrm>
        <a:graphic>
          <a:graphicData uri="http://schemas.openxmlformats.org/presentationml/2006/ole">
            <mc:AlternateContent xmlns:mc="http://schemas.openxmlformats.org/markup-compatibility/2006">
              <mc:Choice xmlns:v="urn:schemas-microsoft-com:vml" Requires="v">
                <p:oleObj spid="_x0000_s39899" name="Equation" r:id="rId11" imgW="330120" imgH="380880" progId="Equation.DSMT4">
                  <p:embed/>
                </p:oleObj>
              </mc:Choice>
              <mc:Fallback>
                <p:oleObj name="Equation" r:id="rId11" imgW="330120" imgH="380880" progId="Equation.DSMT4">
                  <p:embed/>
                  <p:pic>
                    <p:nvPicPr>
                      <p:cNvPr id="0" name=""/>
                      <p:cNvPicPr>
                        <a:picLocks noChangeAspect="1" noChangeArrowheads="1"/>
                      </p:cNvPicPr>
                      <p:nvPr/>
                    </p:nvPicPr>
                    <p:blipFill>
                      <a:blip r:embed="rId12"/>
                      <a:srcRect/>
                      <a:stretch>
                        <a:fillRect/>
                      </a:stretch>
                    </p:blipFill>
                    <p:spPr bwMode="auto">
                      <a:xfrm>
                        <a:off x="98425" y="3490913"/>
                        <a:ext cx="33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 name="Объект 69"/>
          <p:cNvGraphicFramePr>
            <a:graphicFrameLocks noChangeAspect="1"/>
          </p:cNvGraphicFramePr>
          <p:nvPr>
            <p:extLst>
              <p:ext uri="{D42A27DB-BD31-4B8C-83A1-F6EECF244321}">
                <p14:modId xmlns:p14="http://schemas.microsoft.com/office/powerpoint/2010/main" val="935476463"/>
              </p:ext>
            </p:extLst>
          </p:nvPr>
        </p:nvGraphicFramePr>
        <p:xfrm>
          <a:off x="104775" y="3922713"/>
          <a:ext cx="317500" cy="381000"/>
        </p:xfrm>
        <a:graphic>
          <a:graphicData uri="http://schemas.openxmlformats.org/presentationml/2006/ole">
            <mc:AlternateContent xmlns:mc="http://schemas.openxmlformats.org/markup-compatibility/2006">
              <mc:Choice xmlns:v="urn:schemas-microsoft-com:vml" Requires="v">
                <p:oleObj spid="_x0000_s39900" name="Equation" r:id="rId13" imgW="317160" imgH="380880" progId="Equation.DSMT4">
                  <p:embed/>
                </p:oleObj>
              </mc:Choice>
              <mc:Fallback>
                <p:oleObj name="Equation" r:id="rId13" imgW="317160" imgH="380880" progId="Equation.DSMT4">
                  <p:embed/>
                  <p:pic>
                    <p:nvPicPr>
                      <p:cNvPr id="0" name=""/>
                      <p:cNvPicPr>
                        <a:picLocks noChangeAspect="1" noChangeArrowheads="1"/>
                      </p:cNvPicPr>
                      <p:nvPr/>
                    </p:nvPicPr>
                    <p:blipFill>
                      <a:blip r:embed="rId14"/>
                      <a:srcRect/>
                      <a:stretch>
                        <a:fillRect/>
                      </a:stretch>
                    </p:blipFill>
                    <p:spPr bwMode="auto">
                      <a:xfrm>
                        <a:off x="104775" y="3922713"/>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 name="Объект 70"/>
          <p:cNvGraphicFramePr>
            <a:graphicFrameLocks noChangeAspect="1"/>
          </p:cNvGraphicFramePr>
          <p:nvPr>
            <p:extLst>
              <p:ext uri="{D42A27DB-BD31-4B8C-83A1-F6EECF244321}">
                <p14:modId xmlns:p14="http://schemas.microsoft.com/office/powerpoint/2010/main" val="3998669334"/>
              </p:ext>
            </p:extLst>
          </p:nvPr>
        </p:nvGraphicFramePr>
        <p:xfrm>
          <a:off x="81762" y="4858246"/>
          <a:ext cx="317500" cy="381000"/>
        </p:xfrm>
        <a:graphic>
          <a:graphicData uri="http://schemas.openxmlformats.org/presentationml/2006/ole">
            <mc:AlternateContent xmlns:mc="http://schemas.openxmlformats.org/markup-compatibility/2006">
              <mc:Choice xmlns:v="urn:schemas-microsoft-com:vml" Requires="v">
                <p:oleObj spid="_x0000_s39901" name="Equation" r:id="rId15" imgW="317160" imgH="380880" progId="Equation.DSMT4">
                  <p:embed/>
                </p:oleObj>
              </mc:Choice>
              <mc:Fallback>
                <p:oleObj name="Equation" r:id="rId15" imgW="317160" imgH="380880" progId="Equation.DSMT4">
                  <p:embed/>
                  <p:pic>
                    <p:nvPicPr>
                      <p:cNvPr id="0" name=""/>
                      <p:cNvPicPr>
                        <a:picLocks noChangeAspect="1" noChangeArrowheads="1"/>
                      </p:cNvPicPr>
                      <p:nvPr/>
                    </p:nvPicPr>
                    <p:blipFill>
                      <a:blip r:embed="rId16"/>
                      <a:srcRect/>
                      <a:stretch>
                        <a:fillRect/>
                      </a:stretch>
                    </p:blipFill>
                    <p:spPr bwMode="auto">
                      <a:xfrm>
                        <a:off x="81762" y="4858246"/>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 name="Объект 71"/>
          <p:cNvGraphicFramePr>
            <a:graphicFrameLocks noChangeAspect="1"/>
          </p:cNvGraphicFramePr>
          <p:nvPr>
            <p:extLst>
              <p:ext uri="{D42A27DB-BD31-4B8C-83A1-F6EECF244321}">
                <p14:modId xmlns:p14="http://schemas.microsoft.com/office/powerpoint/2010/main" val="1464650350"/>
              </p:ext>
            </p:extLst>
          </p:nvPr>
        </p:nvGraphicFramePr>
        <p:xfrm>
          <a:off x="79233" y="5250057"/>
          <a:ext cx="330200" cy="381000"/>
        </p:xfrm>
        <a:graphic>
          <a:graphicData uri="http://schemas.openxmlformats.org/presentationml/2006/ole">
            <mc:AlternateContent xmlns:mc="http://schemas.openxmlformats.org/markup-compatibility/2006">
              <mc:Choice xmlns:v="urn:schemas-microsoft-com:vml" Requires="v">
                <p:oleObj spid="_x0000_s39902" name="Equation" r:id="rId17" imgW="330120" imgH="380880" progId="Equation.DSMT4">
                  <p:embed/>
                </p:oleObj>
              </mc:Choice>
              <mc:Fallback>
                <p:oleObj name="Equation" r:id="rId17" imgW="330120" imgH="380880" progId="Equation.DSMT4">
                  <p:embed/>
                  <p:pic>
                    <p:nvPicPr>
                      <p:cNvPr id="0" name=""/>
                      <p:cNvPicPr>
                        <a:picLocks noChangeAspect="1" noChangeArrowheads="1"/>
                      </p:cNvPicPr>
                      <p:nvPr/>
                    </p:nvPicPr>
                    <p:blipFill>
                      <a:blip r:embed="rId18"/>
                      <a:srcRect/>
                      <a:stretch>
                        <a:fillRect/>
                      </a:stretch>
                    </p:blipFill>
                    <p:spPr bwMode="auto">
                      <a:xfrm>
                        <a:off x="79233" y="5250057"/>
                        <a:ext cx="33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4" name="Прямая соединительная линия 73"/>
          <p:cNvCxnSpPr/>
          <p:nvPr/>
        </p:nvCxnSpPr>
        <p:spPr>
          <a:xfrm>
            <a:off x="1776011" y="2048904"/>
            <a:ext cx="34771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Прямая соединительная линия 75"/>
          <p:cNvCxnSpPr/>
          <p:nvPr/>
        </p:nvCxnSpPr>
        <p:spPr>
          <a:xfrm>
            <a:off x="2123728" y="2048904"/>
            <a:ext cx="0" cy="2279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Прямая соединительная линия 77"/>
          <p:cNvCxnSpPr/>
          <p:nvPr/>
        </p:nvCxnSpPr>
        <p:spPr>
          <a:xfrm flipH="1">
            <a:off x="488223" y="2276872"/>
            <a:ext cx="16355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Прямая соединительная линия 79"/>
          <p:cNvCxnSpPr/>
          <p:nvPr/>
        </p:nvCxnSpPr>
        <p:spPr>
          <a:xfrm flipH="1">
            <a:off x="488223" y="2276872"/>
            <a:ext cx="10457" cy="107084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Прямая соединительная линия 83"/>
          <p:cNvCxnSpPr/>
          <p:nvPr/>
        </p:nvCxnSpPr>
        <p:spPr>
          <a:xfrm>
            <a:off x="1754552" y="3347717"/>
            <a:ext cx="34771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Прямая соединительная линия 84"/>
          <p:cNvCxnSpPr/>
          <p:nvPr/>
        </p:nvCxnSpPr>
        <p:spPr>
          <a:xfrm>
            <a:off x="2102269" y="3337972"/>
            <a:ext cx="0" cy="2279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85"/>
          <p:cNvCxnSpPr/>
          <p:nvPr/>
        </p:nvCxnSpPr>
        <p:spPr>
          <a:xfrm flipH="1">
            <a:off x="488222" y="3565940"/>
            <a:ext cx="16355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p:cNvCxnSpPr/>
          <p:nvPr/>
        </p:nvCxnSpPr>
        <p:spPr>
          <a:xfrm flipH="1">
            <a:off x="482239" y="3555026"/>
            <a:ext cx="10458" cy="109591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Прямая соединительная линия 91"/>
          <p:cNvCxnSpPr/>
          <p:nvPr/>
        </p:nvCxnSpPr>
        <p:spPr>
          <a:xfrm>
            <a:off x="1769204" y="4650937"/>
            <a:ext cx="34771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Прямая соединительная линия 92"/>
          <p:cNvCxnSpPr/>
          <p:nvPr/>
        </p:nvCxnSpPr>
        <p:spPr>
          <a:xfrm>
            <a:off x="2116921" y="4641192"/>
            <a:ext cx="0" cy="2279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Прямая соединительная линия 93"/>
          <p:cNvCxnSpPr/>
          <p:nvPr/>
        </p:nvCxnSpPr>
        <p:spPr>
          <a:xfrm flipH="1">
            <a:off x="502874" y="4869160"/>
            <a:ext cx="16355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Прямая соединительная линия 94"/>
          <p:cNvCxnSpPr/>
          <p:nvPr/>
        </p:nvCxnSpPr>
        <p:spPr>
          <a:xfrm flipH="1">
            <a:off x="496891" y="4858246"/>
            <a:ext cx="10458" cy="11146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Овал 97"/>
          <p:cNvSpPr/>
          <p:nvPr/>
        </p:nvSpPr>
        <p:spPr>
          <a:xfrm>
            <a:off x="446235" y="333765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9" name="Овал 98"/>
          <p:cNvSpPr/>
          <p:nvPr/>
        </p:nvSpPr>
        <p:spPr>
          <a:xfrm>
            <a:off x="442186" y="461493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0" name="Овал 99"/>
          <p:cNvSpPr/>
          <p:nvPr/>
        </p:nvSpPr>
        <p:spPr>
          <a:xfrm>
            <a:off x="451464" y="593692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4" name="Прямая соединительная линия 103"/>
          <p:cNvCxnSpPr/>
          <p:nvPr/>
        </p:nvCxnSpPr>
        <p:spPr>
          <a:xfrm>
            <a:off x="2843808" y="906979"/>
            <a:ext cx="5524" cy="53303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5" name="Группа 104"/>
          <p:cNvGrpSpPr/>
          <p:nvPr/>
        </p:nvGrpSpPr>
        <p:grpSpPr>
          <a:xfrm>
            <a:off x="3140980" y="1142859"/>
            <a:ext cx="464501" cy="557235"/>
            <a:chOff x="2915815" y="2666125"/>
            <a:chExt cx="464501" cy="557235"/>
          </a:xfrm>
        </p:grpSpPr>
        <p:sp>
          <p:nvSpPr>
            <p:cNvPr id="106" name="Прямоугольник 105"/>
            <p:cNvSpPr/>
            <p:nvPr/>
          </p:nvSpPr>
          <p:spPr>
            <a:xfrm>
              <a:off x="2915815" y="2686539"/>
              <a:ext cx="464501" cy="5368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7" name="TextBox 106"/>
            <p:cNvSpPr txBox="1"/>
            <p:nvPr/>
          </p:nvSpPr>
          <p:spPr>
            <a:xfrm>
              <a:off x="2924956" y="2666125"/>
              <a:ext cx="341760" cy="369332"/>
            </a:xfrm>
            <a:prstGeom prst="rect">
              <a:avLst/>
            </a:prstGeom>
            <a:noFill/>
          </p:spPr>
          <p:txBody>
            <a:bodyPr wrap="none" rtlCol="0">
              <a:spAutoFit/>
            </a:bodyPr>
            <a:lstStyle/>
            <a:p>
              <a:r>
                <a:rPr lang="en-US" dirty="0"/>
                <a:t>&amp;</a:t>
              </a:r>
              <a:endParaRPr lang="ru-RU" dirty="0"/>
            </a:p>
          </p:txBody>
        </p:sp>
      </p:grpSp>
      <p:grpSp>
        <p:nvGrpSpPr>
          <p:cNvPr id="108" name="Группа 107"/>
          <p:cNvGrpSpPr/>
          <p:nvPr/>
        </p:nvGrpSpPr>
        <p:grpSpPr>
          <a:xfrm>
            <a:off x="3156236" y="2394632"/>
            <a:ext cx="464501" cy="557235"/>
            <a:chOff x="2915815" y="2666125"/>
            <a:chExt cx="464501" cy="557235"/>
          </a:xfrm>
        </p:grpSpPr>
        <p:sp>
          <p:nvSpPr>
            <p:cNvPr id="109" name="Прямоугольник 108"/>
            <p:cNvSpPr/>
            <p:nvPr/>
          </p:nvSpPr>
          <p:spPr>
            <a:xfrm>
              <a:off x="2915815" y="2686539"/>
              <a:ext cx="464501" cy="5368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0" name="TextBox 109"/>
            <p:cNvSpPr txBox="1"/>
            <p:nvPr/>
          </p:nvSpPr>
          <p:spPr>
            <a:xfrm>
              <a:off x="2924956" y="2666125"/>
              <a:ext cx="341760" cy="369332"/>
            </a:xfrm>
            <a:prstGeom prst="rect">
              <a:avLst/>
            </a:prstGeom>
            <a:noFill/>
          </p:spPr>
          <p:txBody>
            <a:bodyPr wrap="none" rtlCol="0">
              <a:spAutoFit/>
            </a:bodyPr>
            <a:lstStyle/>
            <a:p>
              <a:r>
                <a:rPr lang="en-US" dirty="0"/>
                <a:t>&amp;</a:t>
              </a:r>
              <a:endParaRPr lang="ru-RU" dirty="0"/>
            </a:p>
          </p:txBody>
        </p:sp>
      </p:grpSp>
      <p:grpSp>
        <p:nvGrpSpPr>
          <p:cNvPr id="111" name="Группа 110"/>
          <p:cNvGrpSpPr/>
          <p:nvPr/>
        </p:nvGrpSpPr>
        <p:grpSpPr>
          <a:xfrm>
            <a:off x="3140980" y="3683525"/>
            <a:ext cx="464501" cy="557235"/>
            <a:chOff x="2915815" y="2666125"/>
            <a:chExt cx="464501" cy="557235"/>
          </a:xfrm>
        </p:grpSpPr>
        <p:sp>
          <p:nvSpPr>
            <p:cNvPr id="112" name="Прямоугольник 111"/>
            <p:cNvSpPr/>
            <p:nvPr/>
          </p:nvSpPr>
          <p:spPr>
            <a:xfrm>
              <a:off x="2915815" y="2686539"/>
              <a:ext cx="464501" cy="5368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TextBox 112"/>
            <p:cNvSpPr txBox="1"/>
            <p:nvPr/>
          </p:nvSpPr>
          <p:spPr>
            <a:xfrm>
              <a:off x="2924956" y="2666125"/>
              <a:ext cx="341760" cy="369332"/>
            </a:xfrm>
            <a:prstGeom prst="rect">
              <a:avLst/>
            </a:prstGeom>
            <a:noFill/>
          </p:spPr>
          <p:txBody>
            <a:bodyPr wrap="none" rtlCol="0">
              <a:spAutoFit/>
            </a:bodyPr>
            <a:lstStyle/>
            <a:p>
              <a:r>
                <a:rPr lang="en-US" dirty="0"/>
                <a:t>&amp;</a:t>
              </a:r>
              <a:endParaRPr lang="ru-RU" dirty="0"/>
            </a:p>
          </p:txBody>
        </p:sp>
      </p:grpSp>
      <p:grpSp>
        <p:nvGrpSpPr>
          <p:cNvPr id="114" name="Группа 113"/>
          <p:cNvGrpSpPr/>
          <p:nvPr/>
        </p:nvGrpSpPr>
        <p:grpSpPr>
          <a:xfrm>
            <a:off x="3150121" y="4992258"/>
            <a:ext cx="464501" cy="557235"/>
            <a:chOff x="2915815" y="2666125"/>
            <a:chExt cx="464501" cy="557235"/>
          </a:xfrm>
        </p:grpSpPr>
        <p:sp>
          <p:nvSpPr>
            <p:cNvPr id="115" name="Прямоугольник 114"/>
            <p:cNvSpPr/>
            <p:nvPr/>
          </p:nvSpPr>
          <p:spPr>
            <a:xfrm>
              <a:off x="2915815" y="2686539"/>
              <a:ext cx="464501" cy="5368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6" name="TextBox 115"/>
            <p:cNvSpPr txBox="1"/>
            <p:nvPr/>
          </p:nvSpPr>
          <p:spPr>
            <a:xfrm>
              <a:off x="2924956" y="2666125"/>
              <a:ext cx="341760" cy="369332"/>
            </a:xfrm>
            <a:prstGeom prst="rect">
              <a:avLst/>
            </a:prstGeom>
            <a:noFill/>
          </p:spPr>
          <p:txBody>
            <a:bodyPr wrap="none" rtlCol="0">
              <a:spAutoFit/>
            </a:bodyPr>
            <a:lstStyle/>
            <a:p>
              <a:r>
                <a:rPr lang="en-US" dirty="0"/>
                <a:t>&amp;</a:t>
              </a:r>
              <a:endParaRPr lang="ru-RU" dirty="0"/>
            </a:p>
          </p:txBody>
        </p:sp>
      </p:grpSp>
      <p:cxnSp>
        <p:nvCxnSpPr>
          <p:cNvPr id="122" name="Прямая соединительная линия 121"/>
          <p:cNvCxnSpPr/>
          <p:nvPr/>
        </p:nvCxnSpPr>
        <p:spPr>
          <a:xfrm>
            <a:off x="2843808" y="1519253"/>
            <a:ext cx="2971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Овал 122"/>
          <p:cNvSpPr/>
          <p:nvPr/>
        </p:nvSpPr>
        <p:spPr>
          <a:xfrm>
            <a:off x="2813328" y="148478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4" name="Прямая соединительная линия 123"/>
          <p:cNvCxnSpPr/>
          <p:nvPr/>
        </p:nvCxnSpPr>
        <p:spPr>
          <a:xfrm>
            <a:off x="2852949" y="2812294"/>
            <a:ext cx="2971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Овал 124"/>
          <p:cNvSpPr/>
          <p:nvPr/>
        </p:nvSpPr>
        <p:spPr>
          <a:xfrm>
            <a:off x="2822469" y="277782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6" name="Прямая соединительная линия 125"/>
          <p:cNvCxnSpPr/>
          <p:nvPr/>
        </p:nvCxnSpPr>
        <p:spPr>
          <a:xfrm>
            <a:off x="2826283" y="4102981"/>
            <a:ext cx="2971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Овал 126"/>
          <p:cNvSpPr/>
          <p:nvPr/>
        </p:nvSpPr>
        <p:spPr>
          <a:xfrm>
            <a:off x="2795803" y="406851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8" name="Прямая соединительная линия 127"/>
          <p:cNvCxnSpPr/>
          <p:nvPr/>
        </p:nvCxnSpPr>
        <p:spPr>
          <a:xfrm>
            <a:off x="2843808" y="5415588"/>
            <a:ext cx="2971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Овал 128"/>
          <p:cNvSpPr/>
          <p:nvPr/>
        </p:nvSpPr>
        <p:spPr>
          <a:xfrm>
            <a:off x="2813328" y="538111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31" name="Прямая соединительная линия 130"/>
          <p:cNvCxnSpPr>
            <a:stCxn id="106" idx="3"/>
          </p:cNvCxnSpPr>
          <p:nvPr/>
        </p:nvCxnSpPr>
        <p:spPr>
          <a:xfrm flipV="1">
            <a:off x="3605481" y="1431683"/>
            <a:ext cx="24643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Прямая соединительная линия 131"/>
          <p:cNvCxnSpPr/>
          <p:nvPr/>
        </p:nvCxnSpPr>
        <p:spPr>
          <a:xfrm flipV="1">
            <a:off x="3624557" y="2682579"/>
            <a:ext cx="24643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Прямая соединительная линия 132"/>
          <p:cNvCxnSpPr/>
          <p:nvPr/>
        </p:nvCxnSpPr>
        <p:spPr>
          <a:xfrm flipV="1">
            <a:off x="3605480" y="4019102"/>
            <a:ext cx="24643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Прямая соединительная линия 133"/>
          <p:cNvCxnSpPr/>
          <p:nvPr/>
        </p:nvCxnSpPr>
        <p:spPr>
          <a:xfrm flipV="1">
            <a:off x="3605480" y="5281082"/>
            <a:ext cx="24643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5" name="Группа 134"/>
          <p:cNvGrpSpPr/>
          <p:nvPr/>
        </p:nvGrpSpPr>
        <p:grpSpPr>
          <a:xfrm>
            <a:off x="3132596" y="5791592"/>
            <a:ext cx="464501" cy="557235"/>
            <a:chOff x="2915815" y="2666125"/>
            <a:chExt cx="464501" cy="557235"/>
          </a:xfrm>
        </p:grpSpPr>
        <p:sp>
          <p:nvSpPr>
            <p:cNvPr id="136" name="Прямоугольник 135"/>
            <p:cNvSpPr/>
            <p:nvPr/>
          </p:nvSpPr>
          <p:spPr>
            <a:xfrm>
              <a:off x="2915815" y="2686539"/>
              <a:ext cx="464501" cy="53682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7" name="TextBox 136"/>
            <p:cNvSpPr txBox="1"/>
            <p:nvPr/>
          </p:nvSpPr>
          <p:spPr>
            <a:xfrm>
              <a:off x="2924956" y="2666125"/>
              <a:ext cx="341760" cy="369332"/>
            </a:xfrm>
            <a:prstGeom prst="rect">
              <a:avLst/>
            </a:prstGeom>
            <a:noFill/>
          </p:spPr>
          <p:txBody>
            <a:bodyPr wrap="none" rtlCol="0">
              <a:spAutoFit/>
            </a:bodyPr>
            <a:lstStyle/>
            <a:p>
              <a:r>
                <a:rPr lang="en-US" dirty="0"/>
                <a:t>&amp;</a:t>
              </a:r>
              <a:endParaRPr lang="ru-RU" dirty="0"/>
            </a:p>
          </p:txBody>
        </p:sp>
      </p:grpSp>
      <p:cxnSp>
        <p:nvCxnSpPr>
          <p:cNvPr id="139" name="Прямая соединительная линия 138"/>
          <p:cNvCxnSpPr/>
          <p:nvPr/>
        </p:nvCxnSpPr>
        <p:spPr>
          <a:xfrm flipH="1" flipV="1">
            <a:off x="2841349" y="6237312"/>
            <a:ext cx="279647"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2555776" y="764704"/>
            <a:ext cx="292068" cy="369332"/>
          </a:xfrm>
          <a:prstGeom prst="rect">
            <a:avLst/>
          </a:prstGeom>
          <a:noFill/>
        </p:spPr>
        <p:txBody>
          <a:bodyPr wrap="none" rtlCol="0">
            <a:spAutoFit/>
          </a:bodyPr>
          <a:lstStyle/>
          <a:p>
            <a:r>
              <a:rPr lang="en-US" dirty="0"/>
              <a:t>Z</a:t>
            </a:r>
            <a:endParaRPr lang="ru-RU" dirty="0"/>
          </a:p>
        </p:txBody>
      </p:sp>
      <p:graphicFrame>
        <p:nvGraphicFramePr>
          <p:cNvPr id="144" name="Объект 143"/>
          <p:cNvGraphicFramePr>
            <a:graphicFrameLocks noChangeAspect="1"/>
          </p:cNvGraphicFramePr>
          <p:nvPr>
            <p:extLst>
              <p:ext uri="{D42A27DB-BD31-4B8C-83A1-F6EECF244321}">
                <p14:modId xmlns:p14="http://schemas.microsoft.com/office/powerpoint/2010/main" val="2729287507"/>
              </p:ext>
            </p:extLst>
          </p:nvPr>
        </p:nvGraphicFramePr>
        <p:xfrm>
          <a:off x="3820562" y="1230977"/>
          <a:ext cx="304800" cy="381000"/>
        </p:xfrm>
        <a:graphic>
          <a:graphicData uri="http://schemas.openxmlformats.org/presentationml/2006/ole">
            <mc:AlternateContent xmlns:mc="http://schemas.openxmlformats.org/markup-compatibility/2006">
              <mc:Choice xmlns:v="urn:schemas-microsoft-com:vml" Requires="v">
                <p:oleObj spid="_x0000_s39903" name="Equation" r:id="rId19" imgW="304560" imgH="380880" progId="Equation.DSMT4">
                  <p:embed/>
                </p:oleObj>
              </mc:Choice>
              <mc:Fallback>
                <p:oleObj name="Equation" r:id="rId19" imgW="304560" imgH="380880" progId="Equation.DSMT4">
                  <p:embed/>
                  <p:pic>
                    <p:nvPicPr>
                      <p:cNvPr id="0" name=""/>
                      <p:cNvPicPr>
                        <a:picLocks noChangeAspect="1" noChangeArrowheads="1"/>
                      </p:cNvPicPr>
                      <p:nvPr/>
                    </p:nvPicPr>
                    <p:blipFill>
                      <a:blip r:embed="rId20"/>
                      <a:srcRect/>
                      <a:stretch>
                        <a:fillRect/>
                      </a:stretch>
                    </p:blipFill>
                    <p:spPr bwMode="auto">
                      <a:xfrm>
                        <a:off x="3820562" y="1230977"/>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5" name="Объект 144"/>
          <p:cNvGraphicFramePr>
            <a:graphicFrameLocks noChangeAspect="1"/>
          </p:cNvGraphicFramePr>
          <p:nvPr>
            <p:extLst>
              <p:ext uri="{D42A27DB-BD31-4B8C-83A1-F6EECF244321}">
                <p14:modId xmlns:p14="http://schemas.microsoft.com/office/powerpoint/2010/main" val="2358613087"/>
              </p:ext>
            </p:extLst>
          </p:nvPr>
        </p:nvGraphicFramePr>
        <p:xfrm>
          <a:off x="3879850" y="2492375"/>
          <a:ext cx="266700" cy="381000"/>
        </p:xfrm>
        <a:graphic>
          <a:graphicData uri="http://schemas.openxmlformats.org/presentationml/2006/ole">
            <mc:AlternateContent xmlns:mc="http://schemas.openxmlformats.org/markup-compatibility/2006">
              <mc:Choice xmlns:v="urn:schemas-microsoft-com:vml" Requires="v">
                <p:oleObj spid="_x0000_s39904" name="Equation" r:id="rId21" imgW="266400" imgH="380880" progId="Equation.DSMT4">
                  <p:embed/>
                </p:oleObj>
              </mc:Choice>
              <mc:Fallback>
                <p:oleObj name="Equation" r:id="rId21" imgW="266400" imgH="380880" progId="Equation.DSMT4">
                  <p:embed/>
                  <p:pic>
                    <p:nvPicPr>
                      <p:cNvPr id="0" name=""/>
                      <p:cNvPicPr>
                        <a:picLocks noChangeAspect="1" noChangeArrowheads="1"/>
                      </p:cNvPicPr>
                      <p:nvPr/>
                    </p:nvPicPr>
                    <p:blipFill>
                      <a:blip r:embed="rId22"/>
                      <a:srcRect/>
                      <a:stretch>
                        <a:fillRect/>
                      </a:stretch>
                    </p:blipFill>
                    <p:spPr bwMode="auto">
                      <a:xfrm>
                        <a:off x="3879850" y="2492375"/>
                        <a:ext cx="266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6" name="Объект 145"/>
          <p:cNvGraphicFramePr>
            <a:graphicFrameLocks noChangeAspect="1"/>
          </p:cNvGraphicFramePr>
          <p:nvPr>
            <p:extLst>
              <p:ext uri="{D42A27DB-BD31-4B8C-83A1-F6EECF244321}">
                <p14:modId xmlns:p14="http://schemas.microsoft.com/office/powerpoint/2010/main" val="17470811"/>
              </p:ext>
            </p:extLst>
          </p:nvPr>
        </p:nvGraphicFramePr>
        <p:xfrm>
          <a:off x="3879850" y="3781425"/>
          <a:ext cx="304800" cy="381000"/>
        </p:xfrm>
        <a:graphic>
          <a:graphicData uri="http://schemas.openxmlformats.org/presentationml/2006/ole">
            <mc:AlternateContent xmlns:mc="http://schemas.openxmlformats.org/markup-compatibility/2006">
              <mc:Choice xmlns:v="urn:schemas-microsoft-com:vml" Requires="v">
                <p:oleObj spid="_x0000_s39905" name="Equation" r:id="rId23" imgW="304560" imgH="380880" progId="Equation.DSMT4">
                  <p:embed/>
                </p:oleObj>
              </mc:Choice>
              <mc:Fallback>
                <p:oleObj name="Equation" r:id="rId23" imgW="304560" imgH="380880" progId="Equation.DSMT4">
                  <p:embed/>
                  <p:pic>
                    <p:nvPicPr>
                      <p:cNvPr id="0" name=""/>
                      <p:cNvPicPr>
                        <a:picLocks noChangeAspect="1" noChangeArrowheads="1"/>
                      </p:cNvPicPr>
                      <p:nvPr/>
                    </p:nvPicPr>
                    <p:blipFill>
                      <a:blip r:embed="rId24"/>
                      <a:srcRect/>
                      <a:stretch>
                        <a:fillRect/>
                      </a:stretch>
                    </p:blipFill>
                    <p:spPr bwMode="auto">
                      <a:xfrm>
                        <a:off x="3879850" y="3781425"/>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 name="Объект 146"/>
          <p:cNvGraphicFramePr>
            <a:graphicFrameLocks noChangeAspect="1"/>
          </p:cNvGraphicFramePr>
          <p:nvPr>
            <p:extLst>
              <p:ext uri="{D42A27DB-BD31-4B8C-83A1-F6EECF244321}">
                <p14:modId xmlns:p14="http://schemas.microsoft.com/office/powerpoint/2010/main" val="2419704652"/>
              </p:ext>
            </p:extLst>
          </p:nvPr>
        </p:nvGraphicFramePr>
        <p:xfrm>
          <a:off x="3879850" y="5029200"/>
          <a:ext cx="292100" cy="381000"/>
        </p:xfrm>
        <a:graphic>
          <a:graphicData uri="http://schemas.openxmlformats.org/presentationml/2006/ole">
            <mc:AlternateContent xmlns:mc="http://schemas.openxmlformats.org/markup-compatibility/2006">
              <mc:Choice xmlns:v="urn:schemas-microsoft-com:vml" Requires="v">
                <p:oleObj spid="_x0000_s39906" name="Equation" r:id="rId25" imgW="291960" imgH="380880" progId="Equation.DSMT4">
                  <p:embed/>
                </p:oleObj>
              </mc:Choice>
              <mc:Fallback>
                <p:oleObj name="Equation" r:id="rId25" imgW="291960" imgH="380880" progId="Equation.DSMT4">
                  <p:embed/>
                  <p:pic>
                    <p:nvPicPr>
                      <p:cNvPr id="0" name=""/>
                      <p:cNvPicPr>
                        <a:picLocks noChangeAspect="1" noChangeArrowheads="1"/>
                      </p:cNvPicPr>
                      <p:nvPr/>
                    </p:nvPicPr>
                    <p:blipFill>
                      <a:blip r:embed="rId26"/>
                      <a:srcRect/>
                      <a:stretch>
                        <a:fillRect/>
                      </a:stretch>
                    </p:blipFill>
                    <p:spPr bwMode="auto">
                      <a:xfrm>
                        <a:off x="3879850" y="5029200"/>
                        <a:ext cx="292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48" name="Прямая соединительная линия 147"/>
          <p:cNvCxnSpPr/>
          <p:nvPr/>
        </p:nvCxnSpPr>
        <p:spPr>
          <a:xfrm flipV="1">
            <a:off x="3597097" y="6080416"/>
            <a:ext cx="24643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49" name="Объект 148"/>
          <p:cNvGraphicFramePr>
            <a:graphicFrameLocks noChangeAspect="1"/>
          </p:cNvGraphicFramePr>
          <p:nvPr>
            <p:extLst>
              <p:ext uri="{D42A27DB-BD31-4B8C-83A1-F6EECF244321}">
                <p14:modId xmlns:p14="http://schemas.microsoft.com/office/powerpoint/2010/main" val="1682614072"/>
              </p:ext>
            </p:extLst>
          </p:nvPr>
        </p:nvGraphicFramePr>
        <p:xfrm>
          <a:off x="3916363" y="5934075"/>
          <a:ext cx="241300" cy="266700"/>
        </p:xfrm>
        <a:graphic>
          <a:graphicData uri="http://schemas.openxmlformats.org/presentationml/2006/ole">
            <mc:AlternateContent xmlns:mc="http://schemas.openxmlformats.org/markup-compatibility/2006">
              <mc:Choice xmlns:v="urn:schemas-microsoft-com:vml" Requires="v">
                <p:oleObj spid="_x0000_s39907" name="Equation" r:id="rId27" imgW="241200" imgH="266400" progId="Equation.DSMT4">
                  <p:embed/>
                </p:oleObj>
              </mc:Choice>
              <mc:Fallback>
                <p:oleObj name="Equation" r:id="rId27" imgW="241200" imgH="266400" progId="Equation.DSMT4">
                  <p:embed/>
                  <p:pic>
                    <p:nvPicPr>
                      <p:cNvPr id="0" name=""/>
                      <p:cNvPicPr>
                        <a:picLocks noChangeAspect="1" noChangeArrowheads="1"/>
                      </p:cNvPicPr>
                      <p:nvPr/>
                    </p:nvPicPr>
                    <p:blipFill>
                      <a:blip r:embed="rId28"/>
                      <a:srcRect/>
                      <a:stretch>
                        <a:fillRect/>
                      </a:stretch>
                    </p:blipFill>
                    <p:spPr bwMode="auto">
                      <a:xfrm>
                        <a:off x="3916363" y="5934075"/>
                        <a:ext cx="2413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1" name="TextBox 150"/>
          <p:cNvSpPr txBox="1"/>
          <p:nvPr/>
        </p:nvSpPr>
        <p:spPr>
          <a:xfrm>
            <a:off x="5148064" y="1163692"/>
            <a:ext cx="2444900" cy="369332"/>
          </a:xfrm>
          <a:prstGeom prst="rect">
            <a:avLst/>
          </a:prstGeom>
          <a:noFill/>
        </p:spPr>
        <p:txBody>
          <a:bodyPr wrap="none" rtlCol="0">
            <a:spAutoFit/>
          </a:bodyPr>
          <a:lstStyle/>
          <a:p>
            <a:r>
              <a:rPr lang="en-US" dirty="0" smtClean="0"/>
              <a:t>Z-</a:t>
            </a:r>
            <a:r>
              <a:rPr lang="ru-RU" dirty="0" smtClean="0"/>
              <a:t>шина стробирования</a:t>
            </a:r>
            <a:endParaRPr lang="ru-RU" dirty="0"/>
          </a:p>
        </p:txBody>
      </p:sp>
      <p:graphicFrame>
        <p:nvGraphicFramePr>
          <p:cNvPr id="152" name="Таблица 151"/>
          <p:cNvGraphicFramePr>
            <a:graphicFrameLocks noGrp="1"/>
          </p:cNvGraphicFramePr>
          <p:nvPr>
            <p:extLst>
              <p:ext uri="{D42A27DB-BD31-4B8C-83A1-F6EECF244321}">
                <p14:modId xmlns:p14="http://schemas.microsoft.com/office/powerpoint/2010/main" val="665177516"/>
              </p:ext>
            </p:extLst>
          </p:nvPr>
        </p:nvGraphicFramePr>
        <p:xfrm>
          <a:off x="5733493" y="3758078"/>
          <a:ext cx="1227508" cy="1854200"/>
        </p:xfrm>
        <a:graphic>
          <a:graphicData uri="http://schemas.openxmlformats.org/drawingml/2006/table">
            <a:tbl>
              <a:tblPr firstRow="1" bandRow="1">
                <a:tableStyleId>{2D5ABB26-0587-4C30-8999-92F81FD0307C}</a:tableStyleId>
              </a:tblPr>
              <a:tblGrid>
                <a:gridCol w="435420"/>
                <a:gridCol w="360040"/>
                <a:gridCol w="432048"/>
              </a:tblGrid>
              <a:tr h="370840">
                <a:tc>
                  <a:txBody>
                    <a:bodyPr/>
                    <a:lstStyle/>
                    <a:p>
                      <a:r>
                        <a:rPr lang="en-US" dirty="0" smtClean="0"/>
                        <a:t>x</a:t>
                      </a:r>
                      <a:r>
                        <a:rPr lang="en-US" baseline="-25000" dirty="0" smtClean="0"/>
                        <a:t>1</a:t>
                      </a:r>
                      <a:endParaRPr lang="ru-RU"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x</a:t>
                      </a:r>
                      <a:r>
                        <a:rPr lang="en-US" baseline="-25000" dirty="0" smtClean="0"/>
                        <a:t>2</a:t>
                      </a:r>
                      <a:endParaRPr lang="ru-RU"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y</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53" name="TextBox 152"/>
          <p:cNvSpPr txBox="1"/>
          <p:nvPr/>
        </p:nvSpPr>
        <p:spPr>
          <a:xfrm>
            <a:off x="5007446" y="3337972"/>
            <a:ext cx="2359941" cy="369332"/>
          </a:xfrm>
          <a:prstGeom prst="rect">
            <a:avLst/>
          </a:prstGeom>
          <a:noFill/>
        </p:spPr>
        <p:txBody>
          <a:bodyPr wrap="none" rtlCol="0">
            <a:spAutoFit/>
          </a:bodyPr>
          <a:lstStyle/>
          <a:p>
            <a:r>
              <a:rPr lang="ru-RU" dirty="0" smtClean="0"/>
              <a:t>Таблица истинности И</a:t>
            </a:r>
            <a:endParaRPr lang="ru-RU" dirty="0"/>
          </a:p>
        </p:txBody>
      </p:sp>
      <p:cxnSp>
        <p:nvCxnSpPr>
          <p:cNvPr id="155" name="Прямая со стрелкой 154"/>
          <p:cNvCxnSpPr/>
          <p:nvPr/>
        </p:nvCxnSpPr>
        <p:spPr>
          <a:xfrm>
            <a:off x="3720316" y="4240760"/>
            <a:ext cx="1787788" cy="91484"/>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4606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96821" y="118372"/>
            <a:ext cx="3043782" cy="646331"/>
          </a:xfrm>
          <a:prstGeom prst="rect">
            <a:avLst/>
          </a:prstGeom>
          <a:noFill/>
        </p:spPr>
        <p:txBody>
          <a:bodyPr wrap="none" rtlCol="0">
            <a:spAutoFit/>
          </a:bodyPr>
          <a:lstStyle/>
          <a:p>
            <a:pPr algn="ctr"/>
            <a:r>
              <a:rPr lang="ru-RU" dirty="0" smtClean="0"/>
              <a:t>Многоразрядный сумматор</a:t>
            </a:r>
          </a:p>
          <a:p>
            <a:pPr algn="ctr"/>
            <a:r>
              <a:rPr lang="ru-RU" dirty="0"/>
              <a:t>п</a:t>
            </a:r>
            <a:r>
              <a:rPr lang="ru-RU" dirty="0" smtClean="0"/>
              <a:t>оследовательного действия</a:t>
            </a:r>
            <a:endParaRPr lang="ru-RU" dirty="0"/>
          </a:p>
        </p:txBody>
      </p:sp>
      <p:grpSp>
        <p:nvGrpSpPr>
          <p:cNvPr id="34" name="Группа 33"/>
          <p:cNvGrpSpPr/>
          <p:nvPr/>
        </p:nvGrpSpPr>
        <p:grpSpPr>
          <a:xfrm>
            <a:off x="1035963" y="1263213"/>
            <a:ext cx="1591821" cy="869643"/>
            <a:chOff x="1035963" y="1263213"/>
            <a:chExt cx="1591821" cy="869643"/>
          </a:xfrm>
        </p:grpSpPr>
        <p:sp>
          <p:nvSpPr>
            <p:cNvPr id="6" name="Прямоугольник 5"/>
            <p:cNvSpPr/>
            <p:nvPr/>
          </p:nvSpPr>
          <p:spPr>
            <a:xfrm>
              <a:off x="1547664" y="1340768"/>
              <a:ext cx="720080"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p:nvPr/>
          </p:nvSpPr>
          <p:spPr>
            <a:xfrm>
              <a:off x="1547664" y="1340768"/>
              <a:ext cx="260590"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p:cNvSpPr/>
            <p:nvPr/>
          </p:nvSpPr>
          <p:spPr>
            <a:xfrm>
              <a:off x="2043758" y="1340768"/>
              <a:ext cx="216024"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p:cNvSpPr txBox="1"/>
            <p:nvPr/>
          </p:nvSpPr>
          <p:spPr>
            <a:xfrm>
              <a:off x="1738981" y="1340768"/>
              <a:ext cx="394595" cy="307777"/>
            </a:xfrm>
            <a:prstGeom prst="rect">
              <a:avLst/>
            </a:prstGeom>
            <a:noFill/>
          </p:spPr>
          <p:txBody>
            <a:bodyPr wrap="none" rtlCol="0">
              <a:spAutoFit/>
            </a:bodyPr>
            <a:lstStyle/>
            <a:p>
              <a:r>
                <a:rPr lang="en-US" sz="1400" dirty="0" smtClean="0"/>
                <a:t>RG</a:t>
              </a:r>
              <a:endParaRPr lang="ru-RU" sz="1400" dirty="0"/>
            </a:p>
          </p:txBody>
        </p:sp>
        <p:cxnSp>
          <p:nvCxnSpPr>
            <p:cNvPr id="11" name="Прямая со стрелкой 10"/>
            <p:cNvCxnSpPr/>
            <p:nvPr/>
          </p:nvCxnSpPr>
          <p:spPr>
            <a:xfrm flipH="1">
              <a:off x="1808254" y="1670857"/>
              <a:ext cx="198897"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a:off x="2267744" y="1494656"/>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a:off x="2267744" y="1916832"/>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1035963" y="1401713"/>
              <a:ext cx="5169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1035963" y="1593238"/>
              <a:ext cx="5169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a:off x="1372891" y="1784763"/>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1160994" y="1976288"/>
              <a:ext cx="391917"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470940" y="1263213"/>
              <a:ext cx="330540" cy="276999"/>
            </a:xfrm>
            <a:prstGeom prst="rect">
              <a:avLst/>
            </a:prstGeom>
            <a:noFill/>
          </p:spPr>
          <p:txBody>
            <a:bodyPr wrap="none" rtlCol="0">
              <a:spAutoFit/>
            </a:bodyPr>
            <a:lstStyle/>
            <a:p>
              <a:r>
                <a:rPr lang="en-US" sz="1200" dirty="0" smtClean="0"/>
                <a:t>D</a:t>
              </a:r>
              <a:r>
                <a:rPr lang="en-US" sz="1200" baseline="-25000" dirty="0" smtClean="0"/>
                <a:t>0</a:t>
              </a:r>
              <a:endParaRPr lang="ru-RU" sz="1200" baseline="-25000" dirty="0"/>
            </a:p>
          </p:txBody>
        </p:sp>
        <p:sp>
          <p:nvSpPr>
            <p:cNvPr id="21" name="TextBox 20"/>
            <p:cNvSpPr txBox="1"/>
            <p:nvPr/>
          </p:nvSpPr>
          <p:spPr>
            <a:xfrm>
              <a:off x="1470940" y="1435643"/>
              <a:ext cx="417102" cy="276999"/>
            </a:xfrm>
            <a:prstGeom prst="rect">
              <a:avLst/>
            </a:prstGeom>
            <a:noFill/>
          </p:spPr>
          <p:txBody>
            <a:bodyPr wrap="none" rtlCol="0">
              <a:spAutoFit/>
            </a:bodyPr>
            <a:lstStyle/>
            <a:p>
              <a:r>
                <a:rPr lang="en-US" sz="1200" dirty="0" smtClean="0"/>
                <a:t>D</a:t>
              </a:r>
              <a:r>
                <a:rPr lang="en-US" sz="1200" baseline="-25000" dirty="0" smtClean="0"/>
                <a:t>n-1</a:t>
              </a:r>
              <a:endParaRPr lang="ru-RU" sz="1200" baseline="-25000" dirty="0"/>
            </a:p>
          </p:txBody>
        </p:sp>
        <p:sp>
          <p:nvSpPr>
            <p:cNvPr id="22" name="TextBox 21"/>
            <p:cNvSpPr txBox="1"/>
            <p:nvPr/>
          </p:nvSpPr>
          <p:spPr>
            <a:xfrm>
              <a:off x="1470940" y="1639833"/>
              <a:ext cx="333746" cy="276999"/>
            </a:xfrm>
            <a:prstGeom prst="rect">
              <a:avLst/>
            </a:prstGeom>
            <a:noFill/>
          </p:spPr>
          <p:txBody>
            <a:bodyPr wrap="none" rtlCol="0">
              <a:spAutoFit/>
            </a:bodyPr>
            <a:lstStyle/>
            <a:p>
              <a:r>
                <a:rPr lang="en-US" sz="1200" dirty="0" err="1" smtClean="0"/>
                <a:t>D</a:t>
              </a:r>
              <a:r>
                <a:rPr lang="en-US" sz="1200" baseline="-25000" dirty="0" err="1" smtClean="0"/>
                <a:t>n</a:t>
              </a:r>
              <a:endParaRPr lang="ru-RU" sz="1200" baseline="-25000" dirty="0"/>
            </a:p>
          </p:txBody>
        </p:sp>
        <p:cxnSp>
          <p:nvCxnSpPr>
            <p:cNvPr id="26" name="Прямая соединительная линия 25"/>
            <p:cNvCxnSpPr/>
            <p:nvPr/>
          </p:nvCxnSpPr>
          <p:spPr>
            <a:xfrm>
              <a:off x="1372891" y="1735823"/>
              <a:ext cx="0" cy="983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527506" y="1837789"/>
              <a:ext cx="266420" cy="276999"/>
            </a:xfrm>
            <a:prstGeom prst="rect">
              <a:avLst/>
            </a:prstGeom>
            <a:noFill/>
          </p:spPr>
          <p:txBody>
            <a:bodyPr wrap="none" rtlCol="0">
              <a:spAutoFit/>
            </a:bodyPr>
            <a:lstStyle/>
            <a:p>
              <a:r>
                <a:rPr lang="en-US" sz="1200" dirty="0" smtClean="0"/>
                <a:t>C</a:t>
              </a:r>
              <a:endParaRPr lang="ru-RU" sz="1200" baseline="-25000" dirty="0"/>
            </a:p>
          </p:txBody>
        </p:sp>
        <p:sp>
          <p:nvSpPr>
            <p:cNvPr id="30" name="TextBox 29"/>
            <p:cNvSpPr txBox="1"/>
            <p:nvPr/>
          </p:nvSpPr>
          <p:spPr>
            <a:xfrm>
              <a:off x="1981691" y="1322926"/>
              <a:ext cx="340158" cy="276999"/>
            </a:xfrm>
            <a:prstGeom prst="rect">
              <a:avLst/>
            </a:prstGeom>
            <a:noFill/>
          </p:spPr>
          <p:txBody>
            <a:bodyPr wrap="none" rtlCol="0">
              <a:spAutoFit/>
            </a:bodyPr>
            <a:lstStyle/>
            <a:p>
              <a:r>
                <a:rPr lang="en-US" sz="1200" dirty="0"/>
                <a:t>Q</a:t>
              </a:r>
              <a:r>
                <a:rPr lang="en-US" sz="1200" baseline="-25000" dirty="0" smtClean="0"/>
                <a:t>0</a:t>
              </a:r>
              <a:endParaRPr lang="ru-RU" sz="1200" baseline="-25000" dirty="0"/>
            </a:p>
          </p:txBody>
        </p:sp>
        <p:sp>
          <p:nvSpPr>
            <p:cNvPr id="31" name="TextBox 30"/>
            <p:cNvSpPr txBox="1"/>
            <p:nvPr/>
          </p:nvSpPr>
          <p:spPr>
            <a:xfrm>
              <a:off x="1981691" y="1736812"/>
              <a:ext cx="343364" cy="276999"/>
            </a:xfrm>
            <a:prstGeom prst="rect">
              <a:avLst/>
            </a:prstGeom>
            <a:noFill/>
          </p:spPr>
          <p:txBody>
            <a:bodyPr wrap="none" rtlCol="0">
              <a:spAutoFit/>
            </a:bodyPr>
            <a:lstStyle/>
            <a:p>
              <a:r>
                <a:rPr lang="en-US" sz="1200" dirty="0" err="1" smtClean="0"/>
                <a:t>Q</a:t>
              </a:r>
              <a:r>
                <a:rPr lang="en-US" sz="1200" baseline="-25000" dirty="0" err="1"/>
                <a:t>n</a:t>
              </a:r>
              <a:endParaRPr lang="ru-RU" sz="1200" baseline="-25000" dirty="0"/>
            </a:p>
          </p:txBody>
        </p:sp>
        <p:cxnSp>
          <p:nvCxnSpPr>
            <p:cNvPr id="33" name="Прямая соединительная линия 32"/>
            <p:cNvCxnSpPr/>
            <p:nvPr/>
          </p:nvCxnSpPr>
          <p:spPr>
            <a:xfrm flipH="1">
              <a:off x="1511660" y="1940285"/>
              <a:ext cx="72008" cy="720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Группа 34"/>
          <p:cNvGrpSpPr/>
          <p:nvPr/>
        </p:nvGrpSpPr>
        <p:grpSpPr>
          <a:xfrm>
            <a:off x="1035963" y="3068960"/>
            <a:ext cx="1591821" cy="869643"/>
            <a:chOff x="1035963" y="1263213"/>
            <a:chExt cx="1591821" cy="869643"/>
          </a:xfrm>
        </p:grpSpPr>
        <p:sp>
          <p:nvSpPr>
            <p:cNvPr id="36" name="Прямоугольник 35"/>
            <p:cNvSpPr/>
            <p:nvPr/>
          </p:nvSpPr>
          <p:spPr>
            <a:xfrm>
              <a:off x="1547664" y="1340768"/>
              <a:ext cx="720080"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Прямоугольник 36"/>
            <p:cNvSpPr/>
            <p:nvPr/>
          </p:nvSpPr>
          <p:spPr>
            <a:xfrm>
              <a:off x="1547664" y="1340768"/>
              <a:ext cx="260590"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Прямоугольник 37"/>
            <p:cNvSpPr/>
            <p:nvPr/>
          </p:nvSpPr>
          <p:spPr>
            <a:xfrm>
              <a:off x="2043758" y="1340768"/>
              <a:ext cx="216024"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TextBox 38"/>
            <p:cNvSpPr txBox="1"/>
            <p:nvPr/>
          </p:nvSpPr>
          <p:spPr>
            <a:xfrm>
              <a:off x="1738981" y="1340768"/>
              <a:ext cx="394595" cy="307777"/>
            </a:xfrm>
            <a:prstGeom prst="rect">
              <a:avLst/>
            </a:prstGeom>
            <a:noFill/>
          </p:spPr>
          <p:txBody>
            <a:bodyPr wrap="none" rtlCol="0">
              <a:spAutoFit/>
            </a:bodyPr>
            <a:lstStyle/>
            <a:p>
              <a:r>
                <a:rPr lang="en-US" sz="1400" dirty="0" smtClean="0"/>
                <a:t>RG</a:t>
              </a:r>
              <a:endParaRPr lang="ru-RU" sz="1400" dirty="0"/>
            </a:p>
          </p:txBody>
        </p:sp>
        <p:cxnSp>
          <p:nvCxnSpPr>
            <p:cNvPr id="40" name="Прямая со стрелкой 39"/>
            <p:cNvCxnSpPr/>
            <p:nvPr/>
          </p:nvCxnSpPr>
          <p:spPr>
            <a:xfrm flipH="1">
              <a:off x="1808254" y="1670857"/>
              <a:ext cx="198897"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p:nvPr/>
          </p:nvCxnSpPr>
          <p:spPr>
            <a:xfrm>
              <a:off x="2267744" y="1494656"/>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2267744" y="1916832"/>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1035963" y="1401713"/>
              <a:ext cx="5169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1035963" y="1593238"/>
              <a:ext cx="5169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a:off x="1372891" y="1784763"/>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1192871" y="1976289"/>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470940" y="1263213"/>
              <a:ext cx="330540" cy="276999"/>
            </a:xfrm>
            <a:prstGeom prst="rect">
              <a:avLst/>
            </a:prstGeom>
            <a:noFill/>
          </p:spPr>
          <p:txBody>
            <a:bodyPr wrap="none" rtlCol="0">
              <a:spAutoFit/>
            </a:bodyPr>
            <a:lstStyle/>
            <a:p>
              <a:r>
                <a:rPr lang="en-US" sz="1200" dirty="0" smtClean="0"/>
                <a:t>D</a:t>
              </a:r>
              <a:r>
                <a:rPr lang="en-US" sz="1200" baseline="-25000" dirty="0" smtClean="0"/>
                <a:t>0</a:t>
              </a:r>
              <a:endParaRPr lang="ru-RU" sz="1200" baseline="-25000" dirty="0"/>
            </a:p>
          </p:txBody>
        </p:sp>
        <p:sp>
          <p:nvSpPr>
            <p:cNvPr id="48" name="TextBox 47"/>
            <p:cNvSpPr txBox="1"/>
            <p:nvPr/>
          </p:nvSpPr>
          <p:spPr>
            <a:xfrm>
              <a:off x="1470940" y="1435643"/>
              <a:ext cx="417102" cy="276999"/>
            </a:xfrm>
            <a:prstGeom prst="rect">
              <a:avLst/>
            </a:prstGeom>
            <a:noFill/>
          </p:spPr>
          <p:txBody>
            <a:bodyPr wrap="none" rtlCol="0">
              <a:spAutoFit/>
            </a:bodyPr>
            <a:lstStyle/>
            <a:p>
              <a:r>
                <a:rPr lang="en-US" sz="1200" dirty="0" smtClean="0"/>
                <a:t>D</a:t>
              </a:r>
              <a:r>
                <a:rPr lang="en-US" sz="1200" baseline="-25000" dirty="0" smtClean="0"/>
                <a:t>n-1</a:t>
              </a:r>
              <a:endParaRPr lang="ru-RU" sz="1200" baseline="-25000" dirty="0"/>
            </a:p>
          </p:txBody>
        </p:sp>
        <p:sp>
          <p:nvSpPr>
            <p:cNvPr id="49" name="TextBox 48"/>
            <p:cNvSpPr txBox="1"/>
            <p:nvPr/>
          </p:nvSpPr>
          <p:spPr>
            <a:xfrm>
              <a:off x="1470940" y="1639833"/>
              <a:ext cx="333746" cy="276999"/>
            </a:xfrm>
            <a:prstGeom prst="rect">
              <a:avLst/>
            </a:prstGeom>
            <a:noFill/>
          </p:spPr>
          <p:txBody>
            <a:bodyPr wrap="none" rtlCol="0">
              <a:spAutoFit/>
            </a:bodyPr>
            <a:lstStyle/>
            <a:p>
              <a:r>
                <a:rPr lang="en-US" sz="1200" dirty="0" err="1" smtClean="0"/>
                <a:t>D</a:t>
              </a:r>
              <a:r>
                <a:rPr lang="en-US" sz="1200" baseline="-25000" dirty="0" err="1" smtClean="0"/>
                <a:t>n</a:t>
              </a:r>
              <a:endParaRPr lang="ru-RU" sz="1200" baseline="-25000" dirty="0"/>
            </a:p>
          </p:txBody>
        </p:sp>
        <p:cxnSp>
          <p:nvCxnSpPr>
            <p:cNvPr id="50" name="Прямая соединительная линия 49"/>
            <p:cNvCxnSpPr/>
            <p:nvPr/>
          </p:nvCxnSpPr>
          <p:spPr>
            <a:xfrm>
              <a:off x="1372891" y="1735823"/>
              <a:ext cx="0" cy="983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527506" y="1837789"/>
              <a:ext cx="266420" cy="276999"/>
            </a:xfrm>
            <a:prstGeom prst="rect">
              <a:avLst/>
            </a:prstGeom>
            <a:noFill/>
          </p:spPr>
          <p:txBody>
            <a:bodyPr wrap="none" rtlCol="0">
              <a:spAutoFit/>
            </a:bodyPr>
            <a:lstStyle/>
            <a:p>
              <a:r>
                <a:rPr lang="en-US" sz="1200" dirty="0" smtClean="0"/>
                <a:t>C</a:t>
              </a:r>
              <a:endParaRPr lang="ru-RU" sz="1200" baseline="-25000" dirty="0"/>
            </a:p>
          </p:txBody>
        </p:sp>
        <p:sp>
          <p:nvSpPr>
            <p:cNvPr id="52" name="TextBox 51"/>
            <p:cNvSpPr txBox="1"/>
            <p:nvPr/>
          </p:nvSpPr>
          <p:spPr>
            <a:xfrm>
              <a:off x="1981691" y="1322926"/>
              <a:ext cx="340158" cy="276999"/>
            </a:xfrm>
            <a:prstGeom prst="rect">
              <a:avLst/>
            </a:prstGeom>
            <a:noFill/>
          </p:spPr>
          <p:txBody>
            <a:bodyPr wrap="none" rtlCol="0">
              <a:spAutoFit/>
            </a:bodyPr>
            <a:lstStyle/>
            <a:p>
              <a:r>
                <a:rPr lang="en-US" sz="1200" dirty="0"/>
                <a:t>Q</a:t>
              </a:r>
              <a:r>
                <a:rPr lang="en-US" sz="1200" baseline="-25000" dirty="0" smtClean="0"/>
                <a:t>0</a:t>
              </a:r>
              <a:endParaRPr lang="ru-RU" sz="1200" baseline="-25000" dirty="0"/>
            </a:p>
          </p:txBody>
        </p:sp>
        <p:sp>
          <p:nvSpPr>
            <p:cNvPr id="53" name="TextBox 52"/>
            <p:cNvSpPr txBox="1"/>
            <p:nvPr/>
          </p:nvSpPr>
          <p:spPr>
            <a:xfrm>
              <a:off x="1981691" y="1736812"/>
              <a:ext cx="343364" cy="276999"/>
            </a:xfrm>
            <a:prstGeom prst="rect">
              <a:avLst/>
            </a:prstGeom>
            <a:noFill/>
          </p:spPr>
          <p:txBody>
            <a:bodyPr wrap="none" rtlCol="0">
              <a:spAutoFit/>
            </a:bodyPr>
            <a:lstStyle/>
            <a:p>
              <a:r>
                <a:rPr lang="en-US" sz="1200" dirty="0" err="1" smtClean="0"/>
                <a:t>Q</a:t>
              </a:r>
              <a:r>
                <a:rPr lang="en-US" sz="1200" baseline="-25000" dirty="0" err="1"/>
                <a:t>n</a:t>
              </a:r>
              <a:endParaRPr lang="ru-RU" sz="1200" baseline="-25000" dirty="0"/>
            </a:p>
          </p:txBody>
        </p:sp>
        <p:cxnSp>
          <p:nvCxnSpPr>
            <p:cNvPr id="54" name="Прямая соединительная линия 53"/>
            <p:cNvCxnSpPr/>
            <p:nvPr/>
          </p:nvCxnSpPr>
          <p:spPr>
            <a:xfrm flipH="1">
              <a:off x="1511660" y="1940285"/>
              <a:ext cx="72008" cy="720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55" name="Объект 54"/>
          <p:cNvGraphicFramePr>
            <a:graphicFrameLocks noChangeAspect="1"/>
          </p:cNvGraphicFramePr>
          <p:nvPr>
            <p:extLst>
              <p:ext uri="{D42A27DB-BD31-4B8C-83A1-F6EECF244321}">
                <p14:modId xmlns:p14="http://schemas.microsoft.com/office/powerpoint/2010/main" val="956941848"/>
              </p:ext>
            </p:extLst>
          </p:nvPr>
        </p:nvGraphicFramePr>
        <p:xfrm>
          <a:off x="666750" y="1020713"/>
          <a:ext cx="317500" cy="381000"/>
        </p:xfrm>
        <a:graphic>
          <a:graphicData uri="http://schemas.openxmlformats.org/presentationml/2006/ole">
            <mc:AlternateContent xmlns:mc="http://schemas.openxmlformats.org/markup-compatibility/2006">
              <mc:Choice xmlns:v="urn:schemas-microsoft-com:vml" Requires="v">
                <p:oleObj spid="_x0000_s33377" name="Equation" r:id="rId3" imgW="317160" imgH="380880" progId="Equation.DSMT4">
                  <p:embed/>
                </p:oleObj>
              </mc:Choice>
              <mc:Fallback>
                <p:oleObj name="Equation" r:id="rId3" imgW="31716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0" y="1020713"/>
                        <a:ext cx="317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Объект 55"/>
          <p:cNvGraphicFramePr>
            <a:graphicFrameLocks noChangeAspect="1"/>
          </p:cNvGraphicFramePr>
          <p:nvPr>
            <p:extLst>
              <p:ext uri="{D42A27DB-BD31-4B8C-83A1-F6EECF244321}">
                <p14:modId xmlns:p14="http://schemas.microsoft.com/office/powerpoint/2010/main" val="945459623"/>
              </p:ext>
            </p:extLst>
          </p:nvPr>
        </p:nvGraphicFramePr>
        <p:xfrm>
          <a:off x="667122" y="1480357"/>
          <a:ext cx="495300" cy="381000"/>
        </p:xfrm>
        <a:graphic>
          <a:graphicData uri="http://schemas.openxmlformats.org/presentationml/2006/ole">
            <mc:AlternateContent xmlns:mc="http://schemas.openxmlformats.org/markup-compatibility/2006">
              <mc:Choice xmlns:v="urn:schemas-microsoft-com:vml" Requires="v">
                <p:oleObj spid="_x0000_s33378" name="Equation" r:id="rId5" imgW="495000" imgH="380880" progId="Equation.DSMT4">
                  <p:embed/>
                </p:oleObj>
              </mc:Choice>
              <mc:Fallback>
                <p:oleObj name="Equation" r:id="rId5" imgW="495000" imgH="380880" progId="Equation.DSMT4">
                  <p:embed/>
                  <p:pic>
                    <p:nvPicPr>
                      <p:cNvPr id="0" name=""/>
                      <p:cNvPicPr>
                        <a:picLocks noChangeAspect="1" noChangeArrowheads="1"/>
                      </p:cNvPicPr>
                      <p:nvPr/>
                    </p:nvPicPr>
                    <p:blipFill>
                      <a:blip r:embed="rId6"/>
                      <a:srcRect/>
                      <a:stretch>
                        <a:fillRect/>
                      </a:stretch>
                    </p:blipFill>
                    <p:spPr bwMode="auto">
                      <a:xfrm>
                        <a:off x="667122" y="1480357"/>
                        <a:ext cx="495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Объект 56"/>
          <p:cNvGraphicFramePr>
            <a:graphicFrameLocks noChangeAspect="1"/>
          </p:cNvGraphicFramePr>
          <p:nvPr>
            <p:extLst>
              <p:ext uri="{D42A27DB-BD31-4B8C-83A1-F6EECF244321}">
                <p14:modId xmlns:p14="http://schemas.microsoft.com/office/powerpoint/2010/main" val="3086950085"/>
              </p:ext>
            </p:extLst>
          </p:nvPr>
        </p:nvGraphicFramePr>
        <p:xfrm>
          <a:off x="684213" y="2819400"/>
          <a:ext cx="342900" cy="381000"/>
        </p:xfrm>
        <a:graphic>
          <a:graphicData uri="http://schemas.openxmlformats.org/presentationml/2006/ole">
            <mc:AlternateContent xmlns:mc="http://schemas.openxmlformats.org/markup-compatibility/2006">
              <mc:Choice xmlns:v="urn:schemas-microsoft-com:vml" Requires="v">
                <p:oleObj spid="_x0000_s33379" name="Equation" r:id="rId7" imgW="342720" imgH="380880" progId="Equation.DSMT4">
                  <p:embed/>
                </p:oleObj>
              </mc:Choice>
              <mc:Fallback>
                <p:oleObj name="Equation" r:id="rId7" imgW="342720" imgH="380880" progId="Equation.DSMT4">
                  <p:embed/>
                  <p:pic>
                    <p:nvPicPr>
                      <p:cNvPr id="0" name=""/>
                      <p:cNvPicPr>
                        <a:picLocks noChangeAspect="1" noChangeArrowheads="1"/>
                      </p:cNvPicPr>
                      <p:nvPr/>
                    </p:nvPicPr>
                    <p:blipFill>
                      <a:blip r:embed="rId8"/>
                      <a:srcRect/>
                      <a:stretch>
                        <a:fillRect/>
                      </a:stretch>
                    </p:blipFill>
                    <p:spPr bwMode="auto">
                      <a:xfrm>
                        <a:off x="684213" y="2819400"/>
                        <a:ext cx="342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 name="Объект 57"/>
          <p:cNvGraphicFramePr>
            <a:graphicFrameLocks noChangeAspect="1"/>
          </p:cNvGraphicFramePr>
          <p:nvPr>
            <p:extLst>
              <p:ext uri="{D42A27DB-BD31-4B8C-83A1-F6EECF244321}">
                <p14:modId xmlns:p14="http://schemas.microsoft.com/office/powerpoint/2010/main" val="3336401834"/>
              </p:ext>
            </p:extLst>
          </p:nvPr>
        </p:nvGraphicFramePr>
        <p:xfrm>
          <a:off x="645781" y="3241369"/>
          <a:ext cx="508000" cy="381000"/>
        </p:xfrm>
        <a:graphic>
          <a:graphicData uri="http://schemas.openxmlformats.org/presentationml/2006/ole">
            <mc:AlternateContent xmlns:mc="http://schemas.openxmlformats.org/markup-compatibility/2006">
              <mc:Choice xmlns:v="urn:schemas-microsoft-com:vml" Requires="v">
                <p:oleObj spid="_x0000_s33380" name="Equation" r:id="rId9" imgW="507960" imgH="380880" progId="Equation.DSMT4">
                  <p:embed/>
                </p:oleObj>
              </mc:Choice>
              <mc:Fallback>
                <p:oleObj name="Equation" r:id="rId9" imgW="507960" imgH="380880" progId="Equation.DSMT4">
                  <p:embed/>
                  <p:pic>
                    <p:nvPicPr>
                      <p:cNvPr id="0" name=""/>
                      <p:cNvPicPr>
                        <a:picLocks noChangeAspect="1" noChangeArrowheads="1"/>
                      </p:cNvPicPr>
                      <p:nvPr/>
                    </p:nvPicPr>
                    <p:blipFill>
                      <a:blip r:embed="rId10"/>
                      <a:srcRect/>
                      <a:stretch>
                        <a:fillRect/>
                      </a:stretch>
                    </p:blipFill>
                    <p:spPr bwMode="auto">
                      <a:xfrm>
                        <a:off x="645781" y="3241369"/>
                        <a:ext cx="508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9" name="Группа 58"/>
          <p:cNvGrpSpPr/>
          <p:nvPr/>
        </p:nvGrpSpPr>
        <p:grpSpPr>
          <a:xfrm>
            <a:off x="752540" y="4563661"/>
            <a:ext cx="5043596" cy="1177245"/>
            <a:chOff x="260624" y="5564123"/>
            <a:chExt cx="5043596" cy="1177245"/>
          </a:xfrm>
        </p:grpSpPr>
        <p:sp>
          <p:nvSpPr>
            <p:cNvPr id="60" name="Прямоугольник 59"/>
            <p:cNvSpPr/>
            <p:nvPr/>
          </p:nvSpPr>
          <p:spPr>
            <a:xfrm>
              <a:off x="1025258" y="5733256"/>
              <a:ext cx="864096"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1" name="Прямая соединительная линия 60"/>
            <p:cNvCxnSpPr>
              <a:stCxn id="60" idx="0"/>
              <a:endCxn id="60" idx="2"/>
            </p:cNvCxnSpPr>
            <p:nvPr/>
          </p:nvCxnSpPr>
          <p:spPr>
            <a:xfrm>
              <a:off x="1457306" y="5733256"/>
              <a:ext cx="0" cy="1008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1166842" y="6315560"/>
              <a:ext cx="308098" cy="369332"/>
            </a:xfrm>
            <a:prstGeom prst="rect">
              <a:avLst/>
            </a:prstGeom>
            <a:noFill/>
          </p:spPr>
          <p:txBody>
            <a:bodyPr wrap="none" rtlCol="0">
              <a:spAutoFit/>
            </a:bodyPr>
            <a:lstStyle/>
            <a:p>
              <a:r>
                <a:rPr lang="en-US" dirty="0"/>
                <a:t>C</a:t>
              </a:r>
              <a:endParaRPr lang="ru-RU" dirty="0"/>
            </a:p>
          </p:txBody>
        </p:sp>
        <p:sp>
          <p:nvSpPr>
            <p:cNvPr id="63" name="TextBox 62"/>
            <p:cNvSpPr txBox="1"/>
            <p:nvPr/>
          </p:nvSpPr>
          <p:spPr>
            <a:xfrm>
              <a:off x="1166842" y="5733256"/>
              <a:ext cx="327334" cy="369332"/>
            </a:xfrm>
            <a:prstGeom prst="rect">
              <a:avLst/>
            </a:prstGeom>
            <a:noFill/>
          </p:spPr>
          <p:txBody>
            <a:bodyPr wrap="none" rtlCol="0">
              <a:spAutoFit/>
            </a:bodyPr>
            <a:lstStyle/>
            <a:p>
              <a:r>
                <a:rPr lang="en-US" dirty="0"/>
                <a:t>D</a:t>
              </a:r>
              <a:endParaRPr lang="ru-RU" dirty="0"/>
            </a:p>
          </p:txBody>
        </p:sp>
        <p:sp>
          <p:nvSpPr>
            <p:cNvPr id="64" name="TextBox 63"/>
            <p:cNvSpPr txBox="1"/>
            <p:nvPr/>
          </p:nvSpPr>
          <p:spPr>
            <a:xfrm>
              <a:off x="1485610" y="5704656"/>
              <a:ext cx="296876" cy="369332"/>
            </a:xfrm>
            <a:prstGeom prst="rect">
              <a:avLst/>
            </a:prstGeom>
            <a:noFill/>
          </p:spPr>
          <p:txBody>
            <a:bodyPr wrap="none" rtlCol="0">
              <a:spAutoFit/>
            </a:bodyPr>
            <a:lstStyle/>
            <a:p>
              <a:r>
                <a:rPr lang="en-US" dirty="0" smtClean="0"/>
                <a:t>T</a:t>
              </a:r>
              <a:endParaRPr lang="ru-RU" dirty="0"/>
            </a:p>
          </p:txBody>
        </p:sp>
        <p:grpSp>
          <p:nvGrpSpPr>
            <p:cNvPr id="65" name="Группа 64"/>
            <p:cNvGrpSpPr/>
            <p:nvPr/>
          </p:nvGrpSpPr>
          <p:grpSpPr>
            <a:xfrm>
              <a:off x="1880828" y="5952976"/>
              <a:ext cx="3423392" cy="603726"/>
              <a:chOff x="1827170" y="1920528"/>
              <a:chExt cx="3423392" cy="603726"/>
            </a:xfrm>
          </p:grpSpPr>
          <p:cxnSp>
            <p:nvCxnSpPr>
              <p:cNvPr id="75" name="Прямая соединительная линия 74"/>
              <p:cNvCxnSpPr/>
              <p:nvPr/>
            </p:nvCxnSpPr>
            <p:spPr>
              <a:xfrm>
                <a:off x="1827170" y="2524254"/>
                <a:ext cx="3685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Прямая соединительная линия 75"/>
              <p:cNvCxnSpPr/>
              <p:nvPr/>
            </p:nvCxnSpPr>
            <p:spPr>
              <a:xfrm>
                <a:off x="1835696" y="1920528"/>
                <a:ext cx="34148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Группа 65"/>
            <p:cNvGrpSpPr/>
            <p:nvPr/>
          </p:nvGrpSpPr>
          <p:grpSpPr>
            <a:xfrm>
              <a:off x="544047" y="5927204"/>
              <a:ext cx="504981" cy="603726"/>
              <a:chOff x="1699281" y="1920528"/>
              <a:chExt cx="504981" cy="603726"/>
            </a:xfrm>
          </p:grpSpPr>
          <p:cxnSp>
            <p:nvCxnSpPr>
              <p:cNvPr id="73" name="Прямая соединительная линия 72"/>
              <p:cNvCxnSpPr/>
              <p:nvPr/>
            </p:nvCxnSpPr>
            <p:spPr>
              <a:xfrm>
                <a:off x="1699281" y="2524254"/>
                <a:ext cx="4964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Прямая соединительная линия 73"/>
              <p:cNvCxnSpPr/>
              <p:nvPr/>
            </p:nvCxnSpPr>
            <p:spPr>
              <a:xfrm>
                <a:off x="2019979" y="1920528"/>
                <a:ext cx="18428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TextBox 67"/>
            <p:cNvSpPr txBox="1"/>
            <p:nvPr/>
          </p:nvSpPr>
          <p:spPr>
            <a:xfrm>
              <a:off x="260624" y="5970438"/>
              <a:ext cx="308098" cy="369332"/>
            </a:xfrm>
            <a:prstGeom prst="rect">
              <a:avLst/>
            </a:prstGeom>
            <a:noFill/>
          </p:spPr>
          <p:txBody>
            <a:bodyPr wrap="none" rtlCol="0">
              <a:spAutoFit/>
            </a:bodyPr>
            <a:lstStyle/>
            <a:p>
              <a:r>
                <a:rPr lang="en-US" dirty="0"/>
                <a:t>C</a:t>
              </a:r>
              <a:endParaRPr lang="ru-RU" dirty="0"/>
            </a:p>
          </p:txBody>
        </p:sp>
        <p:sp>
          <p:nvSpPr>
            <p:cNvPr id="69" name="TextBox 68"/>
            <p:cNvSpPr txBox="1"/>
            <p:nvPr/>
          </p:nvSpPr>
          <p:spPr>
            <a:xfrm>
              <a:off x="1945020" y="5564123"/>
              <a:ext cx="340158" cy="369332"/>
            </a:xfrm>
            <a:prstGeom prst="rect">
              <a:avLst/>
            </a:prstGeom>
            <a:noFill/>
          </p:spPr>
          <p:txBody>
            <a:bodyPr wrap="none" rtlCol="0">
              <a:spAutoFit/>
            </a:bodyPr>
            <a:lstStyle/>
            <a:p>
              <a:r>
                <a:rPr lang="en-US" dirty="0" smtClean="0"/>
                <a:t>Q</a:t>
              </a:r>
              <a:endParaRPr lang="ru-RU" dirty="0"/>
            </a:p>
          </p:txBody>
        </p:sp>
        <p:graphicFrame>
          <p:nvGraphicFramePr>
            <p:cNvPr id="70" name="Объект 69"/>
            <p:cNvGraphicFramePr>
              <a:graphicFrameLocks noChangeAspect="1"/>
            </p:cNvGraphicFramePr>
            <p:nvPr>
              <p:extLst>
                <p:ext uri="{D42A27DB-BD31-4B8C-83A1-F6EECF244321}">
                  <p14:modId xmlns:p14="http://schemas.microsoft.com/office/powerpoint/2010/main" val="1166850926"/>
                </p:ext>
              </p:extLst>
            </p:nvPr>
          </p:nvGraphicFramePr>
          <p:xfrm>
            <a:off x="2351951" y="6372036"/>
            <a:ext cx="210666" cy="337066"/>
          </p:xfrm>
          <a:graphic>
            <a:graphicData uri="http://schemas.openxmlformats.org/presentationml/2006/ole">
              <mc:AlternateContent xmlns:mc="http://schemas.openxmlformats.org/markup-compatibility/2006">
                <mc:Choice xmlns:v="urn:schemas-microsoft-com:vml" Requires="v">
                  <p:oleObj spid="_x0000_s33381" name="Equation" r:id="rId11" imgW="253800" imgH="406080" progId="Equation.DSMT4">
                    <p:embed/>
                  </p:oleObj>
                </mc:Choice>
                <mc:Fallback>
                  <p:oleObj name="Equation" r:id="rId11" imgW="253800" imgH="406080" progId="Equation.DSMT4">
                    <p:embed/>
                    <p:pic>
                      <p:nvPicPr>
                        <p:cNvPr id="0" name=""/>
                        <p:cNvPicPr/>
                        <p:nvPr/>
                      </p:nvPicPr>
                      <p:blipFill>
                        <a:blip r:embed="rId12"/>
                        <a:stretch>
                          <a:fillRect/>
                        </a:stretch>
                      </p:blipFill>
                      <p:spPr>
                        <a:xfrm>
                          <a:off x="2351951" y="6372036"/>
                          <a:ext cx="210666" cy="337066"/>
                        </a:xfrm>
                        <a:prstGeom prst="rect">
                          <a:avLst/>
                        </a:prstGeom>
                      </p:spPr>
                    </p:pic>
                  </p:oleObj>
                </mc:Fallback>
              </mc:AlternateContent>
            </a:graphicData>
          </a:graphic>
        </p:graphicFrame>
        <p:sp>
          <p:nvSpPr>
            <p:cNvPr id="72" name="Овал 71"/>
            <p:cNvSpPr/>
            <p:nvPr/>
          </p:nvSpPr>
          <p:spPr>
            <a:xfrm>
              <a:off x="1830046" y="649143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78" name="Прямая соединительная линия 77"/>
          <p:cNvCxnSpPr/>
          <p:nvPr/>
        </p:nvCxnSpPr>
        <p:spPr>
          <a:xfrm>
            <a:off x="1408895" y="5458460"/>
            <a:ext cx="144016" cy="1440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Прямая соединительная линия 79"/>
          <p:cNvCxnSpPr/>
          <p:nvPr/>
        </p:nvCxnSpPr>
        <p:spPr>
          <a:xfrm flipH="1">
            <a:off x="1160994" y="1940285"/>
            <a:ext cx="1428" cy="3603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Овал 89"/>
          <p:cNvSpPr/>
          <p:nvPr/>
        </p:nvSpPr>
        <p:spPr>
          <a:xfrm>
            <a:off x="1127848" y="548423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Овал 90"/>
          <p:cNvSpPr/>
          <p:nvPr/>
        </p:nvSpPr>
        <p:spPr>
          <a:xfrm>
            <a:off x="1127848" y="374603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06" name="Группа 105"/>
          <p:cNvGrpSpPr/>
          <p:nvPr/>
        </p:nvGrpSpPr>
        <p:grpSpPr>
          <a:xfrm>
            <a:off x="2565553" y="1734162"/>
            <a:ext cx="2622110" cy="1380406"/>
            <a:chOff x="2551527" y="2953333"/>
            <a:chExt cx="2622110" cy="1380406"/>
          </a:xfrm>
        </p:grpSpPr>
        <p:sp>
          <p:nvSpPr>
            <p:cNvPr id="92" name="Прямоугольник 91"/>
            <p:cNvSpPr/>
            <p:nvPr/>
          </p:nvSpPr>
          <p:spPr>
            <a:xfrm>
              <a:off x="3549554" y="2953333"/>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Прямоугольник 92"/>
            <p:cNvSpPr/>
            <p:nvPr/>
          </p:nvSpPr>
          <p:spPr>
            <a:xfrm>
              <a:off x="3549554" y="2953333"/>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4" name="Прямоугольник 93"/>
            <p:cNvSpPr/>
            <p:nvPr/>
          </p:nvSpPr>
          <p:spPr>
            <a:xfrm>
              <a:off x="4481291" y="2953333"/>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5" name="TextBox 94"/>
            <p:cNvSpPr txBox="1"/>
            <p:nvPr/>
          </p:nvSpPr>
          <p:spPr>
            <a:xfrm>
              <a:off x="3950278" y="2968138"/>
              <a:ext cx="487634" cy="369332"/>
            </a:xfrm>
            <a:prstGeom prst="rect">
              <a:avLst/>
            </a:prstGeom>
            <a:noFill/>
          </p:spPr>
          <p:txBody>
            <a:bodyPr wrap="none" rtlCol="0">
              <a:spAutoFit/>
            </a:bodyPr>
            <a:lstStyle/>
            <a:p>
              <a:r>
                <a:rPr lang="en-US" dirty="0" smtClean="0"/>
                <a:t>SM</a:t>
              </a:r>
              <a:endParaRPr lang="ru-RU" dirty="0"/>
            </a:p>
          </p:txBody>
        </p:sp>
        <p:sp>
          <p:nvSpPr>
            <p:cNvPr id="96" name="TextBox 95"/>
            <p:cNvSpPr txBox="1"/>
            <p:nvPr/>
          </p:nvSpPr>
          <p:spPr>
            <a:xfrm>
              <a:off x="3549554" y="2954590"/>
              <a:ext cx="295274" cy="369332"/>
            </a:xfrm>
            <a:prstGeom prst="rect">
              <a:avLst/>
            </a:prstGeom>
            <a:noFill/>
          </p:spPr>
          <p:txBody>
            <a:bodyPr wrap="none" rtlCol="0">
              <a:spAutoFit/>
            </a:bodyPr>
            <a:lstStyle/>
            <a:p>
              <a:r>
                <a:rPr lang="en-US" dirty="0" smtClean="0"/>
                <a:t>a</a:t>
              </a:r>
              <a:endParaRPr lang="ru-RU" dirty="0"/>
            </a:p>
          </p:txBody>
        </p:sp>
        <p:sp>
          <p:nvSpPr>
            <p:cNvPr id="97" name="TextBox 96"/>
            <p:cNvSpPr txBox="1"/>
            <p:nvPr/>
          </p:nvSpPr>
          <p:spPr>
            <a:xfrm>
              <a:off x="3579113" y="3565783"/>
              <a:ext cx="306494" cy="369332"/>
            </a:xfrm>
            <a:prstGeom prst="rect">
              <a:avLst/>
            </a:prstGeom>
            <a:noFill/>
          </p:spPr>
          <p:txBody>
            <a:bodyPr wrap="none" rtlCol="0">
              <a:spAutoFit/>
            </a:bodyPr>
            <a:lstStyle/>
            <a:p>
              <a:r>
                <a:rPr lang="en-US" dirty="0"/>
                <a:t>b</a:t>
              </a:r>
              <a:endParaRPr lang="ru-RU" dirty="0"/>
            </a:p>
          </p:txBody>
        </p:sp>
        <p:sp>
          <p:nvSpPr>
            <p:cNvPr id="98" name="TextBox 97"/>
            <p:cNvSpPr txBox="1"/>
            <p:nvPr/>
          </p:nvSpPr>
          <p:spPr>
            <a:xfrm>
              <a:off x="4637855" y="2954590"/>
              <a:ext cx="274434" cy="369332"/>
            </a:xfrm>
            <a:prstGeom prst="rect">
              <a:avLst/>
            </a:prstGeom>
            <a:noFill/>
          </p:spPr>
          <p:txBody>
            <a:bodyPr wrap="none" rtlCol="0">
              <a:spAutoFit/>
            </a:bodyPr>
            <a:lstStyle/>
            <a:p>
              <a:r>
                <a:rPr lang="en-US" dirty="0"/>
                <a:t>s</a:t>
              </a:r>
              <a:endParaRPr lang="ru-RU" dirty="0"/>
            </a:p>
          </p:txBody>
        </p:sp>
        <p:sp>
          <p:nvSpPr>
            <p:cNvPr id="99" name="TextBox 98"/>
            <p:cNvSpPr txBox="1"/>
            <p:nvPr/>
          </p:nvSpPr>
          <p:spPr>
            <a:xfrm>
              <a:off x="4627734" y="3953511"/>
              <a:ext cx="306494" cy="369332"/>
            </a:xfrm>
            <a:prstGeom prst="rect">
              <a:avLst/>
            </a:prstGeom>
            <a:noFill/>
          </p:spPr>
          <p:txBody>
            <a:bodyPr wrap="none" rtlCol="0">
              <a:spAutoFit/>
            </a:bodyPr>
            <a:lstStyle/>
            <a:p>
              <a:r>
                <a:rPr lang="en-US" dirty="0"/>
                <a:t>p</a:t>
              </a:r>
              <a:endParaRPr lang="ru-RU" dirty="0"/>
            </a:p>
          </p:txBody>
        </p:sp>
        <p:cxnSp>
          <p:nvCxnSpPr>
            <p:cNvPr id="100" name="Прямая соединительная линия 99"/>
            <p:cNvCxnSpPr/>
            <p:nvPr/>
          </p:nvCxnSpPr>
          <p:spPr>
            <a:xfrm flipH="1">
              <a:off x="2551527" y="3137999"/>
              <a:ext cx="99802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Прямая соединительная линия 100"/>
            <p:cNvCxnSpPr/>
            <p:nvPr/>
          </p:nvCxnSpPr>
          <p:spPr>
            <a:xfrm flipH="1">
              <a:off x="2755560" y="3756108"/>
              <a:ext cx="80802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Прямая соединительная линия 101"/>
            <p:cNvCxnSpPr/>
            <p:nvPr/>
          </p:nvCxnSpPr>
          <p:spPr>
            <a:xfrm flipH="1">
              <a:off x="4934228" y="3120107"/>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Прямая соединительная линия 102"/>
            <p:cNvCxnSpPr/>
            <p:nvPr/>
          </p:nvCxnSpPr>
          <p:spPr>
            <a:xfrm flipH="1">
              <a:off x="4917706" y="4189872"/>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Прямая соединительная линия 103"/>
            <p:cNvCxnSpPr/>
            <p:nvPr/>
          </p:nvCxnSpPr>
          <p:spPr>
            <a:xfrm flipH="1">
              <a:off x="3310528" y="4227947"/>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3548891" y="3964407"/>
              <a:ext cx="425116" cy="369332"/>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r>
                <a:rPr lang="en-US" baseline="-25000" dirty="0" smtClean="0"/>
                <a:t>-1</a:t>
              </a:r>
              <a:endParaRPr lang="ru-RU" baseline="-25000" dirty="0"/>
            </a:p>
          </p:txBody>
        </p:sp>
      </p:grpSp>
      <p:cxnSp>
        <p:nvCxnSpPr>
          <p:cNvPr id="109" name="Прямая соединительная линия 108"/>
          <p:cNvCxnSpPr/>
          <p:nvPr/>
        </p:nvCxnSpPr>
        <p:spPr>
          <a:xfrm>
            <a:off x="2627784" y="3722579"/>
            <a:ext cx="1418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Прямая соединительная линия 113"/>
          <p:cNvCxnSpPr/>
          <p:nvPr/>
        </p:nvCxnSpPr>
        <p:spPr>
          <a:xfrm>
            <a:off x="2769586" y="2531278"/>
            <a:ext cx="0" cy="11913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p:cNvCxnSpPr/>
          <p:nvPr/>
        </p:nvCxnSpPr>
        <p:spPr>
          <a:xfrm>
            <a:off x="3321014" y="3008776"/>
            <a:ext cx="0" cy="19437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5436096" y="4557410"/>
            <a:ext cx="542136" cy="369332"/>
          </a:xfrm>
          <a:prstGeom prst="rect">
            <a:avLst/>
          </a:prstGeom>
          <a:noFill/>
        </p:spPr>
        <p:txBody>
          <a:bodyPr wrap="none" rtlCol="0">
            <a:spAutoFit/>
          </a:bodyPr>
          <a:lstStyle/>
          <a:p>
            <a:r>
              <a:rPr lang="en-US" dirty="0" smtClean="0"/>
              <a:t>p</a:t>
            </a:r>
            <a:r>
              <a:rPr lang="en-US" baseline="-25000" dirty="0" smtClean="0"/>
              <a:t>n+1</a:t>
            </a:r>
            <a:endParaRPr lang="ru-RU" baseline="-25000" dirty="0"/>
          </a:p>
        </p:txBody>
      </p:sp>
      <p:cxnSp>
        <p:nvCxnSpPr>
          <p:cNvPr id="121" name="Прямая соединительная линия 120"/>
          <p:cNvCxnSpPr/>
          <p:nvPr/>
        </p:nvCxnSpPr>
        <p:spPr>
          <a:xfrm flipV="1">
            <a:off x="1372891" y="4149080"/>
            <a:ext cx="0" cy="7683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Прямая соединительная линия 122"/>
          <p:cNvCxnSpPr/>
          <p:nvPr/>
        </p:nvCxnSpPr>
        <p:spPr>
          <a:xfrm>
            <a:off x="5187663" y="2970701"/>
            <a:ext cx="0" cy="11783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Прямая соединительная линия 124"/>
          <p:cNvCxnSpPr/>
          <p:nvPr/>
        </p:nvCxnSpPr>
        <p:spPr>
          <a:xfrm>
            <a:off x="1356661" y="4149080"/>
            <a:ext cx="38310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Прямая соединительная линия 127"/>
          <p:cNvCxnSpPr/>
          <p:nvPr/>
        </p:nvCxnSpPr>
        <p:spPr>
          <a:xfrm>
            <a:off x="1192871" y="4533270"/>
            <a:ext cx="408082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Овал 128"/>
          <p:cNvSpPr/>
          <p:nvPr/>
        </p:nvSpPr>
        <p:spPr>
          <a:xfrm>
            <a:off x="1125141" y="449007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43" name="Группа 142"/>
          <p:cNvGrpSpPr/>
          <p:nvPr/>
        </p:nvGrpSpPr>
        <p:grpSpPr>
          <a:xfrm>
            <a:off x="107504" y="5419020"/>
            <a:ext cx="1015109" cy="195004"/>
            <a:chOff x="107504" y="5740906"/>
            <a:chExt cx="1015109" cy="195004"/>
          </a:xfrm>
        </p:grpSpPr>
        <p:cxnSp>
          <p:nvCxnSpPr>
            <p:cNvPr id="132" name="Прямая соединительная линия 131"/>
            <p:cNvCxnSpPr/>
            <p:nvPr/>
          </p:nvCxnSpPr>
          <p:spPr>
            <a:xfrm>
              <a:off x="107504" y="5935910"/>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Прямая соединительная линия 132"/>
            <p:cNvCxnSpPr/>
            <p:nvPr/>
          </p:nvCxnSpPr>
          <p:spPr>
            <a:xfrm>
              <a:off x="507047" y="5935910"/>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Прямая соединительная линия 133"/>
            <p:cNvCxnSpPr/>
            <p:nvPr/>
          </p:nvCxnSpPr>
          <p:spPr>
            <a:xfrm>
              <a:off x="906589" y="5935910"/>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Прямая соединительная линия 134"/>
            <p:cNvCxnSpPr/>
            <p:nvPr/>
          </p:nvCxnSpPr>
          <p:spPr>
            <a:xfrm>
              <a:off x="303723" y="5740906"/>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Прямая соединительная линия 135"/>
            <p:cNvCxnSpPr/>
            <p:nvPr/>
          </p:nvCxnSpPr>
          <p:spPr>
            <a:xfrm>
              <a:off x="700663" y="5757287"/>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Прямая соединительная линия 137"/>
            <p:cNvCxnSpPr/>
            <p:nvPr/>
          </p:nvCxnSpPr>
          <p:spPr>
            <a:xfrm flipV="1">
              <a:off x="323528" y="5740906"/>
              <a:ext cx="0" cy="1950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Прямая соединительная линия 138"/>
            <p:cNvCxnSpPr/>
            <p:nvPr/>
          </p:nvCxnSpPr>
          <p:spPr>
            <a:xfrm flipV="1">
              <a:off x="507047" y="5740906"/>
              <a:ext cx="0" cy="1950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Прямая соединительная линия 139"/>
            <p:cNvCxnSpPr/>
            <p:nvPr/>
          </p:nvCxnSpPr>
          <p:spPr>
            <a:xfrm flipV="1">
              <a:off x="704338" y="5740906"/>
              <a:ext cx="0" cy="1950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Прямая соединительная линия 140"/>
            <p:cNvCxnSpPr/>
            <p:nvPr/>
          </p:nvCxnSpPr>
          <p:spPr>
            <a:xfrm flipV="1">
              <a:off x="906589" y="5740906"/>
              <a:ext cx="0" cy="1950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4" name="Группа 143"/>
          <p:cNvGrpSpPr/>
          <p:nvPr/>
        </p:nvGrpSpPr>
        <p:grpSpPr>
          <a:xfrm>
            <a:off x="5116784" y="1794288"/>
            <a:ext cx="1591821" cy="841068"/>
            <a:chOff x="1035963" y="1291788"/>
            <a:chExt cx="1591821" cy="841068"/>
          </a:xfrm>
        </p:grpSpPr>
        <p:sp>
          <p:nvSpPr>
            <p:cNvPr id="145" name="Прямоугольник 144"/>
            <p:cNvSpPr/>
            <p:nvPr/>
          </p:nvSpPr>
          <p:spPr>
            <a:xfrm>
              <a:off x="1547664" y="1340768"/>
              <a:ext cx="720080"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6" name="Прямоугольник 145"/>
            <p:cNvSpPr/>
            <p:nvPr/>
          </p:nvSpPr>
          <p:spPr>
            <a:xfrm>
              <a:off x="1547664" y="1340768"/>
              <a:ext cx="260590"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7" name="Прямоугольник 146"/>
            <p:cNvSpPr/>
            <p:nvPr/>
          </p:nvSpPr>
          <p:spPr>
            <a:xfrm>
              <a:off x="2043758" y="1340768"/>
              <a:ext cx="216024"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8" name="TextBox 147"/>
            <p:cNvSpPr txBox="1"/>
            <p:nvPr/>
          </p:nvSpPr>
          <p:spPr>
            <a:xfrm>
              <a:off x="1738981" y="1340768"/>
              <a:ext cx="394595" cy="307777"/>
            </a:xfrm>
            <a:prstGeom prst="rect">
              <a:avLst/>
            </a:prstGeom>
            <a:noFill/>
          </p:spPr>
          <p:txBody>
            <a:bodyPr wrap="none" rtlCol="0">
              <a:spAutoFit/>
            </a:bodyPr>
            <a:lstStyle/>
            <a:p>
              <a:r>
                <a:rPr lang="en-US" sz="1400" dirty="0" smtClean="0"/>
                <a:t>RG</a:t>
              </a:r>
              <a:endParaRPr lang="ru-RU" sz="1400" dirty="0"/>
            </a:p>
          </p:txBody>
        </p:sp>
        <p:cxnSp>
          <p:nvCxnSpPr>
            <p:cNvPr id="149" name="Прямая со стрелкой 148"/>
            <p:cNvCxnSpPr/>
            <p:nvPr/>
          </p:nvCxnSpPr>
          <p:spPr>
            <a:xfrm flipH="1">
              <a:off x="1808254" y="1670857"/>
              <a:ext cx="198897"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0" name="Прямая соединительная линия 149"/>
            <p:cNvCxnSpPr/>
            <p:nvPr/>
          </p:nvCxnSpPr>
          <p:spPr>
            <a:xfrm>
              <a:off x="2267744" y="1494656"/>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Прямая соединительная линия 150"/>
            <p:cNvCxnSpPr/>
            <p:nvPr/>
          </p:nvCxnSpPr>
          <p:spPr>
            <a:xfrm>
              <a:off x="2267744" y="1916832"/>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Прямая соединительная линия 151"/>
            <p:cNvCxnSpPr/>
            <p:nvPr/>
          </p:nvCxnSpPr>
          <p:spPr>
            <a:xfrm>
              <a:off x="1035963" y="1401713"/>
              <a:ext cx="5169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Прямая соединительная линия 154"/>
            <p:cNvCxnSpPr/>
            <p:nvPr/>
          </p:nvCxnSpPr>
          <p:spPr>
            <a:xfrm>
              <a:off x="1192871" y="1976289"/>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TextBox 155"/>
            <p:cNvSpPr txBox="1"/>
            <p:nvPr/>
          </p:nvSpPr>
          <p:spPr>
            <a:xfrm>
              <a:off x="1499515" y="1291788"/>
              <a:ext cx="271228" cy="276999"/>
            </a:xfrm>
            <a:prstGeom prst="rect">
              <a:avLst/>
            </a:prstGeom>
            <a:noFill/>
          </p:spPr>
          <p:txBody>
            <a:bodyPr wrap="none" rtlCol="0">
              <a:spAutoFit/>
            </a:bodyPr>
            <a:lstStyle/>
            <a:p>
              <a:r>
                <a:rPr lang="en-US" sz="1200" dirty="0" smtClean="0"/>
                <a:t>V</a:t>
              </a:r>
              <a:endParaRPr lang="ru-RU" sz="1200" baseline="-25000" dirty="0"/>
            </a:p>
          </p:txBody>
        </p:sp>
        <p:sp>
          <p:nvSpPr>
            <p:cNvPr id="160" name="TextBox 159"/>
            <p:cNvSpPr txBox="1"/>
            <p:nvPr/>
          </p:nvSpPr>
          <p:spPr>
            <a:xfrm>
              <a:off x="1527506" y="1837789"/>
              <a:ext cx="266420" cy="276999"/>
            </a:xfrm>
            <a:prstGeom prst="rect">
              <a:avLst/>
            </a:prstGeom>
            <a:noFill/>
          </p:spPr>
          <p:txBody>
            <a:bodyPr wrap="none" rtlCol="0">
              <a:spAutoFit/>
            </a:bodyPr>
            <a:lstStyle/>
            <a:p>
              <a:r>
                <a:rPr lang="en-US" sz="1200" dirty="0" smtClean="0"/>
                <a:t>C</a:t>
              </a:r>
              <a:endParaRPr lang="ru-RU" sz="1200" baseline="-25000" dirty="0"/>
            </a:p>
          </p:txBody>
        </p:sp>
        <p:sp>
          <p:nvSpPr>
            <p:cNvPr id="161" name="TextBox 160"/>
            <p:cNvSpPr txBox="1"/>
            <p:nvPr/>
          </p:nvSpPr>
          <p:spPr>
            <a:xfrm>
              <a:off x="1981691" y="1322926"/>
              <a:ext cx="340158" cy="276999"/>
            </a:xfrm>
            <a:prstGeom prst="rect">
              <a:avLst/>
            </a:prstGeom>
            <a:noFill/>
          </p:spPr>
          <p:txBody>
            <a:bodyPr wrap="none" rtlCol="0">
              <a:spAutoFit/>
            </a:bodyPr>
            <a:lstStyle/>
            <a:p>
              <a:r>
                <a:rPr lang="en-US" sz="1200" dirty="0"/>
                <a:t>Q</a:t>
              </a:r>
              <a:r>
                <a:rPr lang="en-US" sz="1200" baseline="-25000" dirty="0" smtClean="0"/>
                <a:t>0</a:t>
              </a:r>
              <a:endParaRPr lang="ru-RU" sz="1200" baseline="-25000" dirty="0"/>
            </a:p>
          </p:txBody>
        </p:sp>
        <p:sp>
          <p:nvSpPr>
            <p:cNvPr id="162" name="TextBox 161"/>
            <p:cNvSpPr txBox="1"/>
            <p:nvPr/>
          </p:nvSpPr>
          <p:spPr>
            <a:xfrm>
              <a:off x="1981691" y="1736812"/>
              <a:ext cx="343364" cy="276999"/>
            </a:xfrm>
            <a:prstGeom prst="rect">
              <a:avLst/>
            </a:prstGeom>
            <a:noFill/>
          </p:spPr>
          <p:txBody>
            <a:bodyPr wrap="none" rtlCol="0">
              <a:spAutoFit/>
            </a:bodyPr>
            <a:lstStyle/>
            <a:p>
              <a:r>
                <a:rPr lang="en-US" sz="1200" dirty="0" err="1" smtClean="0"/>
                <a:t>Q</a:t>
              </a:r>
              <a:r>
                <a:rPr lang="en-US" sz="1200" baseline="-25000" dirty="0" err="1"/>
                <a:t>n</a:t>
              </a:r>
              <a:endParaRPr lang="ru-RU" sz="1200" baseline="-25000" dirty="0"/>
            </a:p>
          </p:txBody>
        </p:sp>
        <p:cxnSp>
          <p:nvCxnSpPr>
            <p:cNvPr id="163" name="Прямая соединительная линия 162"/>
            <p:cNvCxnSpPr/>
            <p:nvPr/>
          </p:nvCxnSpPr>
          <p:spPr>
            <a:xfrm flipH="1" flipV="1">
              <a:off x="1511660" y="1940285"/>
              <a:ext cx="72008" cy="720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5" name="Прямая соединительная линия 164"/>
          <p:cNvCxnSpPr/>
          <p:nvPr/>
        </p:nvCxnSpPr>
        <p:spPr>
          <a:xfrm>
            <a:off x="5273692" y="2478788"/>
            <a:ext cx="0" cy="20786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Овал 167"/>
          <p:cNvSpPr/>
          <p:nvPr/>
        </p:nvSpPr>
        <p:spPr>
          <a:xfrm>
            <a:off x="3285381" y="492631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69" name="Объект 168"/>
          <p:cNvGraphicFramePr>
            <a:graphicFrameLocks noChangeAspect="1"/>
          </p:cNvGraphicFramePr>
          <p:nvPr>
            <p:extLst>
              <p:ext uri="{D42A27DB-BD31-4B8C-83A1-F6EECF244321}">
                <p14:modId xmlns:p14="http://schemas.microsoft.com/office/powerpoint/2010/main" val="3997764745"/>
              </p:ext>
            </p:extLst>
          </p:nvPr>
        </p:nvGraphicFramePr>
        <p:xfrm>
          <a:off x="1068388" y="722313"/>
          <a:ext cx="901700" cy="328612"/>
        </p:xfrm>
        <a:graphic>
          <a:graphicData uri="http://schemas.openxmlformats.org/presentationml/2006/ole">
            <mc:AlternateContent xmlns:mc="http://schemas.openxmlformats.org/markup-compatibility/2006">
              <mc:Choice xmlns:v="urn:schemas-microsoft-com:vml" Requires="v">
                <p:oleObj spid="_x0000_s33382" name="Equation" r:id="rId13" imgW="901440" imgH="380880" progId="Equation.DSMT4">
                  <p:embed/>
                </p:oleObj>
              </mc:Choice>
              <mc:Fallback>
                <p:oleObj name="Equation" r:id="rId13" imgW="901440" imgH="380880" progId="Equation.DSMT4">
                  <p:embed/>
                  <p:pic>
                    <p:nvPicPr>
                      <p:cNvPr id="0" name=""/>
                      <p:cNvPicPr>
                        <a:picLocks noChangeAspect="1" noChangeArrowheads="1"/>
                      </p:cNvPicPr>
                      <p:nvPr/>
                    </p:nvPicPr>
                    <p:blipFill>
                      <a:blip r:embed="rId14"/>
                      <a:srcRect/>
                      <a:stretch>
                        <a:fillRect/>
                      </a:stretch>
                    </p:blipFill>
                    <p:spPr bwMode="auto">
                      <a:xfrm>
                        <a:off x="1068388" y="722313"/>
                        <a:ext cx="9017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71" name="Прямая со стрелкой 170"/>
          <p:cNvCxnSpPr/>
          <p:nvPr/>
        </p:nvCxnSpPr>
        <p:spPr>
          <a:xfrm>
            <a:off x="1995352" y="875520"/>
            <a:ext cx="504056"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72" name="Объект 171"/>
          <p:cNvGraphicFramePr>
            <a:graphicFrameLocks noChangeAspect="1"/>
          </p:cNvGraphicFramePr>
          <p:nvPr>
            <p:extLst>
              <p:ext uri="{D42A27DB-BD31-4B8C-83A1-F6EECF244321}">
                <p14:modId xmlns:p14="http://schemas.microsoft.com/office/powerpoint/2010/main" val="1022581903"/>
              </p:ext>
            </p:extLst>
          </p:nvPr>
        </p:nvGraphicFramePr>
        <p:xfrm>
          <a:off x="2591194" y="764704"/>
          <a:ext cx="406400" cy="284918"/>
        </p:xfrm>
        <a:graphic>
          <a:graphicData uri="http://schemas.openxmlformats.org/presentationml/2006/ole">
            <mc:AlternateContent xmlns:mc="http://schemas.openxmlformats.org/markup-compatibility/2006">
              <mc:Choice xmlns:v="urn:schemas-microsoft-com:vml" Requires="v">
                <p:oleObj spid="_x0000_s33383" name="Equation" r:id="rId15" imgW="406080" imgH="330120" progId="Equation.DSMT4">
                  <p:embed/>
                </p:oleObj>
              </mc:Choice>
              <mc:Fallback>
                <p:oleObj name="Equation" r:id="rId15" imgW="406080" imgH="330120" progId="Equation.DSMT4">
                  <p:embed/>
                  <p:pic>
                    <p:nvPicPr>
                      <p:cNvPr id="0" name=""/>
                      <p:cNvPicPr>
                        <a:picLocks noChangeAspect="1" noChangeArrowheads="1"/>
                      </p:cNvPicPr>
                      <p:nvPr/>
                    </p:nvPicPr>
                    <p:blipFill>
                      <a:blip r:embed="rId16"/>
                      <a:srcRect/>
                      <a:stretch>
                        <a:fillRect/>
                      </a:stretch>
                    </p:blipFill>
                    <p:spPr bwMode="auto">
                      <a:xfrm>
                        <a:off x="2591194" y="764704"/>
                        <a:ext cx="406400" cy="284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3" name="Прямоугольник 172"/>
          <p:cNvSpPr/>
          <p:nvPr/>
        </p:nvSpPr>
        <p:spPr>
          <a:xfrm>
            <a:off x="1014602" y="641929"/>
            <a:ext cx="2049966" cy="467182"/>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7" name="TextBox 176"/>
          <p:cNvSpPr txBox="1"/>
          <p:nvPr/>
        </p:nvSpPr>
        <p:spPr>
          <a:xfrm>
            <a:off x="5849182" y="5582124"/>
            <a:ext cx="2433936" cy="369332"/>
          </a:xfrm>
          <a:prstGeom prst="rect">
            <a:avLst/>
          </a:prstGeom>
          <a:noFill/>
        </p:spPr>
        <p:txBody>
          <a:bodyPr wrap="none" rtlCol="0">
            <a:spAutoFit/>
          </a:bodyPr>
          <a:lstStyle/>
          <a:p>
            <a:r>
              <a:rPr lang="ru-RU" dirty="0" smtClean="0"/>
              <a:t>Временная диаграмма</a:t>
            </a:r>
            <a:endParaRPr lang="ru-RU" dirty="0"/>
          </a:p>
        </p:txBody>
      </p:sp>
    </p:spTree>
    <p:extLst>
      <p:ext uri="{BB962C8B-B14F-4D97-AF65-F5344CB8AC3E}">
        <p14:creationId xmlns:p14="http://schemas.microsoft.com/office/powerpoint/2010/main" val="2475864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96044" y="104056"/>
            <a:ext cx="2899512" cy="369332"/>
          </a:xfrm>
          <a:prstGeom prst="rect">
            <a:avLst/>
          </a:prstGeom>
          <a:noFill/>
        </p:spPr>
        <p:txBody>
          <a:bodyPr wrap="none" rtlCol="0">
            <a:spAutoFit/>
          </a:bodyPr>
          <a:lstStyle/>
          <a:p>
            <a:r>
              <a:rPr lang="ru-RU" dirty="0" smtClean="0"/>
              <a:t>Вычитание двоичных чисел</a:t>
            </a:r>
            <a:endParaRPr lang="ru-RU" dirty="0"/>
          </a:p>
        </p:txBody>
      </p:sp>
      <p:sp>
        <p:nvSpPr>
          <p:cNvPr id="5" name="TextBox 4"/>
          <p:cNvSpPr txBox="1"/>
          <p:nvPr/>
        </p:nvSpPr>
        <p:spPr>
          <a:xfrm>
            <a:off x="102132" y="520989"/>
            <a:ext cx="3291607" cy="646331"/>
          </a:xfrm>
          <a:prstGeom prst="rect">
            <a:avLst/>
          </a:prstGeom>
          <a:noFill/>
        </p:spPr>
        <p:txBody>
          <a:bodyPr wrap="none" rtlCol="0">
            <a:spAutoFit/>
          </a:bodyPr>
          <a:lstStyle/>
          <a:p>
            <a:r>
              <a:rPr lang="ru-RU" dirty="0" smtClean="0"/>
              <a:t>Представление отрицательных </a:t>
            </a:r>
          </a:p>
          <a:p>
            <a:r>
              <a:rPr lang="ru-RU" dirty="0" smtClean="0"/>
              <a:t>двоичных чисел</a:t>
            </a:r>
            <a:endParaRPr lang="ru-RU" dirty="0"/>
          </a:p>
        </p:txBody>
      </p:sp>
      <p:grpSp>
        <p:nvGrpSpPr>
          <p:cNvPr id="24" name="Группа 23"/>
          <p:cNvGrpSpPr/>
          <p:nvPr/>
        </p:nvGrpSpPr>
        <p:grpSpPr>
          <a:xfrm>
            <a:off x="4851286" y="550606"/>
            <a:ext cx="1688539" cy="801380"/>
            <a:chOff x="848396" y="1124744"/>
            <a:chExt cx="1688539" cy="801380"/>
          </a:xfrm>
        </p:grpSpPr>
        <p:sp>
          <p:nvSpPr>
            <p:cNvPr id="6" name="TextBox 5"/>
            <p:cNvSpPr txBox="1"/>
            <p:nvPr/>
          </p:nvSpPr>
          <p:spPr>
            <a:xfrm>
              <a:off x="1187624" y="1556792"/>
              <a:ext cx="811441" cy="369332"/>
            </a:xfrm>
            <a:prstGeom prst="rect">
              <a:avLst/>
            </a:prstGeom>
            <a:noFill/>
          </p:spPr>
          <p:txBody>
            <a:bodyPr wrap="none" rtlCol="0">
              <a:spAutoFit/>
            </a:bodyPr>
            <a:lstStyle/>
            <a:p>
              <a:r>
                <a:rPr lang="ru-RU" dirty="0" smtClean="0"/>
                <a:t>1 0 0 1</a:t>
              </a:r>
              <a:endParaRPr lang="ru-RU" dirty="0"/>
            </a:p>
          </p:txBody>
        </p:sp>
        <p:sp>
          <p:nvSpPr>
            <p:cNvPr id="7" name="TextBox 6"/>
            <p:cNvSpPr txBox="1"/>
            <p:nvPr/>
          </p:nvSpPr>
          <p:spPr>
            <a:xfrm>
              <a:off x="848396" y="1124744"/>
              <a:ext cx="678455" cy="369332"/>
            </a:xfrm>
            <a:prstGeom prst="rect">
              <a:avLst/>
            </a:prstGeom>
            <a:noFill/>
          </p:spPr>
          <p:txBody>
            <a:bodyPr wrap="none" rtlCol="0">
              <a:spAutoFit/>
            </a:bodyPr>
            <a:lstStyle/>
            <a:p>
              <a:r>
                <a:rPr lang="ru-RU" dirty="0" smtClean="0"/>
                <a:t>Ст. р.</a:t>
              </a:r>
              <a:endParaRPr lang="ru-RU" dirty="0"/>
            </a:p>
          </p:txBody>
        </p:sp>
        <p:sp>
          <p:nvSpPr>
            <p:cNvPr id="8" name="TextBox 7"/>
            <p:cNvSpPr txBox="1"/>
            <p:nvPr/>
          </p:nvSpPr>
          <p:spPr>
            <a:xfrm>
              <a:off x="1747936" y="1136763"/>
              <a:ext cx="788999" cy="369332"/>
            </a:xfrm>
            <a:prstGeom prst="rect">
              <a:avLst/>
            </a:prstGeom>
            <a:noFill/>
          </p:spPr>
          <p:txBody>
            <a:bodyPr wrap="none" rtlCol="0">
              <a:spAutoFit/>
            </a:bodyPr>
            <a:lstStyle/>
            <a:p>
              <a:r>
                <a:rPr lang="ru-RU" dirty="0" smtClean="0"/>
                <a:t>Мл. р.</a:t>
              </a:r>
              <a:endParaRPr lang="ru-RU" dirty="0"/>
            </a:p>
          </p:txBody>
        </p:sp>
        <p:cxnSp>
          <p:nvCxnSpPr>
            <p:cNvPr id="10" name="Прямая со стрелкой 9"/>
            <p:cNvCxnSpPr>
              <a:endCxn id="6" idx="1"/>
            </p:cNvCxnSpPr>
            <p:nvPr/>
          </p:nvCxnSpPr>
          <p:spPr>
            <a:xfrm>
              <a:off x="971600" y="1494076"/>
              <a:ext cx="216024" cy="2473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8" idx="2"/>
              <a:endCxn id="6" idx="3"/>
            </p:cNvCxnSpPr>
            <p:nvPr/>
          </p:nvCxnSpPr>
          <p:spPr>
            <a:xfrm flipH="1">
              <a:off x="1999065" y="1506095"/>
              <a:ext cx="143371" cy="2353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6" name="TextBox 15"/>
          <p:cNvSpPr txBox="1"/>
          <p:nvPr/>
        </p:nvSpPr>
        <p:spPr>
          <a:xfrm>
            <a:off x="266184" y="1333217"/>
            <a:ext cx="6255110" cy="646331"/>
          </a:xfrm>
          <a:prstGeom prst="rect">
            <a:avLst/>
          </a:prstGeom>
          <a:noFill/>
        </p:spPr>
        <p:txBody>
          <a:bodyPr wrap="none" rtlCol="0">
            <a:spAutoFit/>
          </a:bodyPr>
          <a:lstStyle/>
          <a:p>
            <a:r>
              <a:rPr lang="ru-RU" dirty="0" smtClean="0"/>
              <a:t>1 – в старшем разряде интерпретируется как знак «-» (минус)</a:t>
            </a:r>
          </a:p>
          <a:p>
            <a:r>
              <a:rPr lang="ru-RU" dirty="0" smtClean="0"/>
              <a:t>0- </a:t>
            </a:r>
            <a:r>
              <a:rPr lang="ru-RU" dirty="0"/>
              <a:t>в старшем разряде интерпретируется как знак </a:t>
            </a:r>
            <a:r>
              <a:rPr lang="ru-RU" dirty="0" smtClean="0"/>
              <a:t>«+»(плюс) </a:t>
            </a:r>
            <a:endParaRPr lang="ru-RU" dirty="0"/>
          </a:p>
        </p:txBody>
      </p:sp>
      <p:sp>
        <p:nvSpPr>
          <p:cNvPr id="17" name="TextBox 16"/>
          <p:cNvSpPr txBox="1"/>
          <p:nvPr/>
        </p:nvSpPr>
        <p:spPr>
          <a:xfrm>
            <a:off x="2483768" y="1979548"/>
            <a:ext cx="1112805" cy="369332"/>
          </a:xfrm>
          <a:prstGeom prst="rect">
            <a:avLst/>
          </a:prstGeom>
          <a:noFill/>
        </p:spPr>
        <p:txBody>
          <a:bodyPr wrap="none" rtlCol="0">
            <a:spAutoFit/>
          </a:bodyPr>
          <a:lstStyle/>
          <a:p>
            <a:r>
              <a:rPr lang="ru-RU" dirty="0" smtClean="0"/>
              <a:t>1001=-1</a:t>
            </a:r>
            <a:r>
              <a:rPr lang="ru-RU" baseline="-25000" dirty="0" smtClean="0"/>
              <a:t>10</a:t>
            </a:r>
            <a:endParaRPr lang="ru-RU" dirty="0"/>
          </a:p>
        </p:txBody>
      </p:sp>
      <p:sp>
        <p:nvSpPr>
          <p:cNvPr id="18" name="TextBox 17"/>
          <p:cNvSpPr txBox="1"/>
          <p:nvPr/>
        </p:nvSpPr>
        <p:spPr>
          <a:xfrm>
            <a:off x="1228263" y="1980455"/>
            <a:ext cx="968535" cy="369332"/>
          </a:xfrm>
          <a:prstGeom prst="rect">
            <a:avLst/>
          </a:prstGeom>
          <a:noFill/>
        </p:spPr>
        <p:txBody>
          <a:bodyPr wrap="none" rtlCol="0">
            <a:spAutoFit/>
          </a:bodyPr>
          <a:lstStyle/>
          <a:p>
            <a:r>
              <a:rPr lang="ru-RU" dirty="0" smtClean="0"/>
              <a:t>Пример</a:t>
            </a:r>
            <a:endParaRPr lang="ru-RU" dirty="0"/>
          </a:p>
        </p:txBody>
      </p:sp>
      <p:sp>
        <p:nvSpPr>
          <p:cNvPr id="19" name="TextBox 18"/>
          <p:cNvSpPr txBox="1"/>
          <p:nvPr/>
        </p:nvSpPr>
        <p:spPr>
          <a:xfrm>
            <a:off x="545672" y="2355976"/>
            <a:ext cx="6775701" cy="369332"/>
          </a:xfrm>
          <a:prstGeom prst="rect">
            <a:avLst/>
          </a:prstGeom>
          <a:noFill/>
        </p:spPr>
        <p:txBody>
          <a:bodyPr wrap="none" rtlCol="0">
            <a:spAutoFit/>
          </a:bodyPr>
          <a:lstStyle/>
          <a:p>
            <a:r>
              <a:rPr lang="ru-RU" b="1" dirty="0" smtClean="0"/>
              <a:t>Основная идея- </a:t>
            </a:r>
            <a:r>
              <a:rPr lang="ru-RU" dirty="0" smtClean="0"/>
              <a:t>замена операции вычитания операцией сложения</a:t>
            </a:r>
            <a:endParaRPr lang="ru-RU" dirty="0"/>
          </a:p>
        </p:txBody>
      </p:sp>
      <p:sp>
        <p:nvSpPr>
          <p:cNvPr id="20" name="TextBox 19"/>
          <p:cNvSpPr txBox="1"/>
          <p:nvPr/>
        </p:nvSpPr>
        <p:spPr>
          <a:xfrm>
            <a:off x="3256194" y="2725308"/>
            <a:ext cx="1154611" cy="369332"/>
          </a:xfrm>
          <a:prstGeom prst="rect">
            <a:avLst/>
          </a:prstGeom>
          <a:noFill/>
        </p:spPr>
        <p:txBody>
          <a:bodyPr wrap="none" rtlCol="0">
            <a:spAutoFit/>
          </a:bodyPr>
          <a:lstStyle/>
          <a:p>
            <a:r>
              <a:rPr lang="ru-RU" b="1" dirty="0" smtClean="0"/>
              <a:t>Алгоритм</a:t>
            </a:r>
            <a:endParaRPr lang="ru-RU" b="1" dirty="0"/>
          </a:p>
        </p:txBody>
      </p:sp>
      <p:sp>
        <p:nvSpPr>
          <p:cNvPr id="21" name="TextBox 20"/>
          <p:cNvSpPr txBox="1"/>
          <p:nvPr/>
        </p:nvSpPr>
        <p:spPr>
          <a:xfrm>
            <a:off x="134572" y="3079940"/>
            <a:ext cx="7914859" cy="646331"/>
          </a:xfrm>
          <a:prstGeom prst="rect">
            <a:avLst/>
          </a:prstGeom>
          <a:noFill/>
        </p:spPr>
        <p:txBody>
          <a:bodyPr wrap="none" rtlCol="0">
            <a:spAutoFit/>
          </a:bodyPr>
          <a:lstStyle/>
          <a:p>
            <a:r>
              <a:rPr lang="ru-RU" dirty="0" smtClean="0"/>
              <a:t>1. Вычитаемое представляется в дополнительном коде</a:t>
            </a:r>
          </a:p>
          <a:p>
            <a:r>
              <a:rPr lang="ru-RU" dirty="0" smtClean="0"/>
              <a:t>т.е. а) Поразрядная операция инверсии, б)Прибавление к результату единицы</a:t>
            </a:r>
            <a:endParaRPr lang="ru-RU" dirty="0"/>
          </a:p>
        </p:txBody>
      </p:sp>
      <p:sp>
        <p:nvSpPr>
          <p:cNvPr id="22" name="TextBox 21"/>
          <p:cNvSpPr txBox="1"/>
          <p:nvPr/>
        </p:nvSpPr>
        <p:spPr>
          <a:xfrm>
            <a:off x="134572" y="3717724"/>
            <a:ext cx="8023479" cy="646331"/>
          </a:xfrm>
          <a:prstGeom prst="rect">
            <a:avLst/>
          </a:prstGeom>
          <a:noFill/>
        </p:spPr>
        <p:txBody>
          <a:bodyPr wrap="none" rtlCol="0">
            <a:spAutoFit/>
          </a:bodyPr>
          <a:lstStyle/>
          <a:p>
            <a:r>
              <a:rPr lang="ru-RU" dirty="0" smtClean="0"/>
              <a:t>2. Операция </a:t>
            </a:r>
            <a:r>
              <a:rPr lang="ru-RU" i="1" dirty="0" smtClean="0"/>
              <a:t>сложения</a:t>
            </a:r>
            <a:r>
              <a:rPr lang="ru-RU" dirty="0" smtClean="0"/>
              <a:t>  кода уменьшаемого (прямой код) с кодом вычитаемого</a:t>
            </a:r>
          </a:p>
          <a:p>
            <a:r>
              <a:rPr lang="ru-RU" dirty="0" smtClean="0"/>
              <a:t> (дополнительный код)</a:t>
            </a:r>
          </a:p>
        </p:txBody>
      </p:sp>
      <p:sp>
        <p:nvSpPr>
          <p:cNvPr id="23" name="TextBox 22"/>
          <p:cNvSpPr txBox="1"/>
          <p:nvPr/>
        </p:nvSpPr>
        <p:spPr>
          <a:xfrm>
            <a:off x="164079" y="4364055"/>
            <a:ext cx="8635762" cy="1200329"/>
          </a:xfrm>
          <a:prstGeom prst="rect">
            <a:avLst/>
          </a:prstGeom>
          <a:noFill/>
        </p:spPr>
        <p:txBody>
          <a:bodyPr wrap="none" rtlCol="0">
            <a:spAutoFit/>
          </a:bodyPr>
          <a:lstStyle/>
          <a:p>
            <a:r>
              <a:rPr lang="ru-RU" dirty="0" smtClean="0"/>
              <a:t>3.Результат</a:t>
            </a:r>
          </a:p>
          <a:p>
            <a:r>
              <a:rPr lang="ru-RU" dirty="0" smtClean="0"/>
              <a:t>Старший разряд 0 –получено положительное число в прямом коде</a:t>
            </a:r>
          </a:p>
          <a:p>
            <a:r>
              <a:rPr lang="ru-RU" dirty="0"/>
              <a:t>Старший разряд </a:t>
            </a:r>
            <a:r>
              <a:rPr lang="ru-RU" dirty="0" smtClean="0"/>
              <a:t>1-получено отрицательное число в дополнительном коде</a:t>
            </a:r>
          </a:p>
          <a:p>
            <a:r>
              <a:rPr lang="ru-RU" dirty="0" smtClean="0"/>
              <a:t>4. Если необходимо, преобразование результата из дополнительного кода в  прямой</a:t>
            </a:r>
            <a:endParaRPr lang="ru-RU" dirty="0"/>
          </a:p>
        </p:txBody>
      </p:sp>
      <p:sp>
        <p:nvSpPr>
          <p:cNvPr id="26" name="TextBox 25"/>
          <p:cNvSpPr txBox="1"/>
          <p:nvPr/>
        </p:nvSpPr>
        <p:spPr>
          <a:xfrm>
            <a:off x="3926537" y="5554930"/>
            <a:ext cx="968535" cy="369332"/>
          </a:xfrm>
          <a:prstGeom prst="rect">
            <a:avLst/>
          </a:prstGeom>
          <a:noFill/>
        </p:spPr>
        <p:txBody>
          <a:bodyPr wrap="none" rtlCol="0">
            <a:spAutoFit/>
          </a:bodyPr>
          <a:lstStyle/>
          <a:p>
            <a:r>
              <a:rPr lang="ru-RU" dirty="0" smtClean="0"/>
              <a:t>Пример</a:t>
            </a:r>
            <a:endParaRPr lang="ru-RU" dirty="0"/>
          </a:p>
        </p:txBody>
      </p:sp>
      <p:sp>
        <p:nvSpPr>
          <p:cNvPr id="27" name="TextBox 26"/>
          <p:cNvSpPr txBox="1"/>
          <p:nvPr/>
        </p:nvSpPr>
        <p:spPr>
          <a:xfrm>
            <a:off x="266184" y="6093296"/>
            <a:ext cx="1239442" cy="369332"/>
          </a:xfrm>
          <a:prstGeom prst="rect">
            <a:avLst/>
          </a:prstGeom>
          <a:noFill/>
        </p:spPr>
        <p:txBody>
          <a:bodyPr wrap="none" rtlCol="0">
            <a:spAutoFit/>
          </a:bodyPr>
          <a:lstStyle/>
          <a:p>
            <a:r>
              <a:rPr lang="ru-RU" dirty="0" smtClean="0"/>
              <a:t>1)  31-12=?</a:t>
            </a:r>
            <a:endParaRPr lang="ru-RU" dirty="0"/>
          </a:p>
        </p:txBody>
      </p:sp>
      <p:sp>
        <p:nvSpPr>
          <p:cNvPr id="28" name="TextBox 27"/>
          <p:cNvSpPr txBox="1"/>
          <p:nvPr/>
        </p:nvSpPr>
        <p:spPr>
          <a:xfrm>
            <a:off x="3862239" y="6115019"/>
            <a:ext cx="1239442" cy="369332"/>
          </a:xfrm>
          <a:prstGeom prst="rect">
            <a:avLst/>
          </a:prstGeom>
          <a:noFill/>
        </p:spPr>
        <p:txBody>
          <a:bodyPr wrap="none" rtlCol="0">
            <a:spAutoFit/>
          </a:bodyPr>
          <a:lstStyle/>
          <a:p>
            <a:r>
              <a:rPr lang="ru-RU" dirty="0"/>
              <a:t>2</a:t>
            </a:r>
            <a:r>
              <a:rPr lang="ru-RU" dirty="0" smtClean="0"/>
              <a:t>)  12-31=?</a:t>
            </a:r>
            <a:endParaRPr lang="ru-RU" dirty="0"/>
          </a:p>
        </p:txBody>
      </p:sp>
    </p:spTree>
    <p:extLst>
      <p:ext uri="{BB962C8B-B14F-4D97-AF65-F5344CB8AC3E}">
        <p14:creationId xmlns:p14="http://schemas.microsoft.com/office/powerpoint/2010/main" val="27798247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404664"/>
            <a:ext cx="1539139" cy="923330"/>
          </a:xfrm>
          <a:prstGeom prst="rect">
            <a:avLst/>
          </a:prstGeom>
          <a:noFill/>
        </p:spPr>
        <p:txBody>
          <a:bodyPr wrap="none" rtlCol="0">
            <a:spAutoFit/>
          </a:bodyPr>
          <a:lstStyle/>
          <a:p>
            <a:r>
              <a:rPr lang="ru-RU" dirty="0" smtClean="0"/>
              <a:t>Прямые коды</a:t>
            </a:r>
          </a:p>
          <a:p>
            <a:r>
              <a:rPr lang="ru-RU" dirty="0" smtClean="0"/>
              <a:t>12=00001100</a:t>
            </a:r>
          </a:p>
          <a:p>
            <a:r>
              <a:rPr lang="ru-RU" dirty="0" smtClean="0"/>
              <a:t>31=00011111</a:t>
            </a:r>
            <a:endParaRPr lang="ru-RU" dirty="0"/>
          </a:p>
        </p:txBody>
      </p:sp>
      <p:sp>
        <p:nvSpPr>
          <p:cNvPr id="5" name="TextBox 4"/>
          <p:cNvSpPr txBox="1"/>
          <p:nvPr/>
        </p:nvSpPr>
        <p:spPr>
          <a:xfrm>
            <a:off x="467544" y="1327994"/>
            <a:ext cx="3384376" cy="3970318"/>
          </a:xfrm>
          <a:prstGeom prst="rect">
            <a:avLst/>
          </a:prstGeom>
          <a:noFill/>
        </p:spPr>
        <p:txBody>
          <a:bodyPr wrap="square" rtlCol="0">
            <a:spAutoFit/>
          </a:bodyPr>
          <a:lstStyle/>
          <a:p>
            <a:r>
              <a:rPr lang="ru-RU" dirty="0" smtClean="0"/>
              <a:t>Обратный код вычитаемого (12)</a:t>
            </a:r>
          </a:p>
          <a:p>
            <a:r>
              <a:rPr lang="ru-RU" dirty="0" smtClean="0"/>
              <a:t>00001100      11110011</a:t>
            </a:r>
          </a:p>
          <a:p>
            <a:r>
              <a:rPr lang="ru-RU" dirty="0" smtClean="0"/>
              <a:t>Дополнительный </a:t>
            </a:r>
            <a:endParaRPr lang="ru-RU" dirty="0"/>
          </a:p>
          <a:p>
            <a:r>
              <a:rPr lang="ru-RU" dirty="0" smtClean="0"/>
              <a:t>11110011+00000001=11110100</a:t>
            </a:r>
          </a:p>
          <a:p>
            <a:endParaRPr lang="ru-RU" dirty="0"/>
          </a:p>
          <a:p>
            <a:r>
              <a:rPr lang="ru-RU" dirty="0" smtClean="0"/>
              <a:t>Сложение</a:t>
            </a:r>
          </a:p>
          <a:p>
            <a:r>
              <a:rPr lang="ru-RU" dirty="0" smtClean="0"/>
              <a:t>00011111+11110100=100010011</a:t>
            </a:r>
          </a:p>
          <a:p>
            <a:endParaRPr lang="ru-RU" dirty="0"/>
          </a:p>
          <a:p>
            <a:r>
              <a:rPr lang="ru-RU" dirty="0" smtClean="0"/>
              <a:t>9 разряд отбрасывается</a:t>
            </a:r>
          </a:p>
          <a:p>
            <a:r>
              <a:rPr lang="ru-RU" dirty="0" smtClean="0"/>
              <a:t>Старший разряд (8)=0</a:t>
            </a:r>
          </a:p>
          <a:p>
            <a:r>
              <a:rPr lang="ru-RU" dirty="0" smtClean="0"/>
              <a:t>Результат положительное число в прямом коде</a:t>
            </a:r>
          </a:p>
          <a:p>
            <a:r>
              <a:rPr lang="ru-RU" dirty="0" smtClean="0"/>
              <a:t>00010011=</a:t>
            </a:r>
            <a:r>
              <a:rPr lang="ru-RU" b="1" dirty="0" smtClean="0">
                <a:solidFill>
                  <a:srgbClr val="FF0000"/>
                </a:solidFill>
              </a:rPr>
              <a:t>19</a:t>
            </a:r>
            <a:r>
              <a:rPr lang="ru-RU" b="1" baseline="-25000" dirty="0" smtClean="0">
                <a:solidFill>
                  <a:srgbClr val="FF0000"/>
                </a:solidFill>
              </a:rPr>
              <a:t>10</a:t>
            </a:r>
            <a:endParaRPr lang="ru-RU" b="1" baseline="-25000" dirty="0">
              <a:solidFill>
                <a:srgbClr val="FF0000"/>
              </a:solidFill>
            </a:endParaRPr>
          </a:p>
          <a:p>
            <a:endParaRPr lang="ru-RU" dirty="0"/>
          </a:p>
        </p:txBody>
      </p:sp>
      <p:graphicFrame>
        <p:nvGraphicFramePr>
          <p:cNvPr id="6" name="Объект 5"/>
          <p:cNvGraphicFramePr>
            <a:graphicFrameLocks noChangeAspect="1"/>
          </p:cNvGraphicFramePr>
          <p:nvPr>
            <p:extLst>
              <p:ext uri="{D42A27DB-BD31-4B8C-83A1-F6EECF244321}">
                <p14:modId xmlns:p14="http://schemas.microsoft.com/office/powerpoint/2010/main" val="3601880507"/>
              </p:ext>
            </p:extLst>
          </p:nvPr>
        </p:nvGraphicFramePr>
        <p:xfrm>
          <a:off x="1619672" y="1700808"/>
          <a:ext cx="190500" cy="152400"/>
        </p:xfrm>
        <a:graphic>
          <a:graphicData uri="http://schemas.openxmlformats.org/presentationml/2006/ole">
            <mc:AlternateContent xmlns:mc="http://schemas.openxmlformats.org/markup-compatibility/2006">
              <mc:Choice xmlns:v="urn:schemas-microsoft-com:vml" Requires="v">
                <p:oleObj spid="_x0000_s6842" name="Equation" r:id="rId3" imgW="190440" imgH="152280" progId="Equation.DSMT4">
                  <p:embed/>
                </p:oleObj>
              </mc:Choice>
              <mc:Fallback>
                <p:oleObj name="Equation" r:id="rId3" imgW="190440" imgH="152280" progId="Equation.DSMT4">
                  <p:embed/>
                  <p:pic>
                    <p:nvPicPr>
                      <p:cNvPr id="0" name=""/>
                      <p:cNvPicPr/>
                      <p:nvPr/>
                    </p:nvPicPr>
                    <p:blipFill>
                      <a:blip r:embed="rId4"/>
                      <a:stretch>
                        <a:fillRect/>
                      </a:stretch>
                    </p:blipFill>
                    <p:spPr>
                      <a:xfrm>
                        <a:off x="1619672" y="1700808"/>
                        <a:ext cx="190500" cy="152400"/>
                      </a:xfrm>
                      <a:prstGeom prst="rect">
                        <a:avLst/>
                      </a:prstGeom>
                    </p:spPr>
                  </p:pic>
                </p:oleObj>
              </mc:Fallback>
            </mc:AlternateContent>
          </a:graphicData>
        </a:graphic>
      </p:graphicFrame>
      <p:sp>
        <p:nvSpPr>
          <p:cNvPr id="7" name="TextBox 6"/>
          <p:cNvSpPr txBox="1"/>
          <p:nvPr/>
        </p:nvSpPr>
        <p:spPr>
          <a:xfrm>
            <a:off x="1421577" y="181128"/>
            <a:ext cx="1138453" cy="369332"/>
          </a:xfrm>
          <a:prstGeom prst="rect">
            <a:avLst/>
          </a:prstGeom>
          <a:noFill/>
        </p:spPr>
        <p:txBody>
          <a:bodyPr wrap="none" rtlCol="0">
            <a:spAutoFit/>
          </a:bodyPr>
          <a:lstStyle/>
          <a:p>
            <a:r>
              <a:rPr lang="ru-RU" dirty="0" smtClean="0"/>
              <a:t>Пример 1</a:t>
            </a:r>
            <a:endParaRPr lang="ru-RU" dirty="0"/>
          </a:p>
        </p:txBody>
      </p:sp>
      <p:sp>
        <p:nvSpPr>
          <p:cNvPr id="8" name="TextBox 7"/>
          <p:cNvSpPr txBox="1"/>
          <p:nvPr/>
        </p:nvSpPr>
        <p:spPr>
          <a:xfrm>
            <a:off x="6516216" y="144816"/>
            <a:ext cx="1138453" cy="369332"/>
          </a:xfrm>
          <a:prstGeom prst="rect">
            <a:avLst/>
          </a:prstGeom>
          <a:noFill/>
        </p:spPr>
        <p:txBody>
          <a:bodyPr wrap="none" rtlCol="0">
            <a:spAutoFit/>
          </a:bodyPr>
          <a:lstStyle/>
          <a:p>
            <a:r>
              <a:rPr lang="ru-RU" dirty="0" smtClean="0"/>
              <a:t>Пример 2</a:t>
            </a:r>
            <a:endParaRPr lang="ru-RU" dirty="0"/>
          </a:p>
        </p:txBody>
      </p:sp>
      <p:sp>
        <p:nvSpPr>
          <p:cNvPr id="9" name="TextBox 8"/>
          <p:cNvSpPr txBox="1"/>
          <p:nvPr/>
        </p:nvSpPr>
        <p:spPr>
          <a:xfrm>
            <a:off x="5393254" y="519592"/>
            <a:ext cx="3384376" cy="4801314"/>
          </a:xfrm>
          <a:prstGeom prst="rect">
            <a:avLst/>
          </a:prstGeom>
          <a:noFill/>
        </p:spPr>
        <p:txBody>
          <a:bodyPr wrap="square" rtlCol="0">
            <a:spAutoFit/>
          </a:bodyPr>
          <a:lstStyle/>
          <a:p>
            <a:r>
              <a:rPr lang="ru-RU" dirty="0" smtClean="0"/>
              <a:t>Обратный код вычитаемого (31)</a:t>
            </a:r>
          </a:p>
          <a:p>
            <a:r>
              <a:rPr lang="ru-RU" dirty="0" smtClean="0"/>
              <a:t>00011111        11100000</a:t>
            </a:r>
          </a:p>
          <a:p>
            <a:r>
              <a:rPr lang="ru-RU" dirty="0" smtClean="0"/>
              <a:t>Дополнительный </a:t>
            </a:r>
            <a:endParaRPr lang="ru-RU" dirty="0"/>
          </a:p>
          <a:p>
            <a:r>
              <a:rPr lang="ru-RU" dirty="0" smtClean="0"/>
              <a:t>11100000+00000001=11100001</a:t>
            </a:r>
          </a:p>
          <a:p>
            <a:endParaRPr lang="ru-RU" dirty="0"/>
          </a:p>
          <a:p>
            <a:r>
              <a:rPr lang="ru-RU" dirty="0" smtClean="0"/>
              <a:t>Сложение</a:t>
            </a:r>
          </a:p>
          <a:p>
            <a:r>
              <a:rPr lang="ru-RU" dirty="0" smtClean="0"/>
              <a:t>00001100+11100001=11101101</a:t>
            </a:r>
          </a:p>
          <a:p>
            <a:endParaRPr lang="ru-RU" dirty="0"/>
          </a:p>
          <a:p>
            <a:r>
              <a:rPr lang="ru-RU" dirty="0" smtClean="0"/>
              <a:t>Старший разряд (8)=1</a:t>
            </a:r>
          </a:p>
          <a:p>
            <a:r>
              <a:rPr lang="ru-RU" dirty="0" smtClean="0"/>
              <a:t>Результат </a:t>
            </a:r>
            <a:r>
              <a:rPr lang="ru-RU" i="1" dirty="0" smtClean="0">
                <a:solidFill>
                  <a:srgbClr val="FF0000"/>
                </a:solidFill>
              </a:rPr>
              <a:t>отрицательное</a:t>
            </a:r>
            <a:r>
              <a:rPr lang="ru-RU" dirty="0" smtClean="0"/>
              <a:t> число в дополнительном коде</a:t>
            </a:r>
          </a:p>
          <a:p>
            <a:r>
              <a:rPr lang="ru-RU" dirty="0" smtClean="0"/>
              <a:t>11101101</a:t>
            </a:r>
          </a:p>
          <a:p>
            <a:endParaRPr lang="ru-RU" dirty="0" smtClean="0"/>
          </a:p>
          <a:p>
            <a:r>
              <a:rPr lang="ru-RU" dirty="0" smtClean="0"/>
              <a:t>Преобразование в прямой код</a:t>
            </a:r>
          </a:p>
          <a:p>
            <a:r>
              <a:rPr lang="ru-RU" dirty="0" smtClean="0"/>
              <a:t>11101101      00010011</a:t>
            </a:r>
          </a:p>
          <a:p>
            <a:r>
              <a:rPr lang="ru-RU" dirty="0" smtClean="0"/>
              <a:t>С учетом знака ответ </a:t>
            </a:r>
            <a:r>
              <a:rPr lang="ru-RU" b="1" dirty="0" smtClean="0">
                <a:solidFill>
                  <a:srgbClr val="FF0000"/>
                </a:solidFill>
              </a:rPr>
              <a:t>-19</a:t>
            </a:r>
            <a:r>
              <a:rPr lang="ru-RU" b="1" baseline="-25000" dirty="0" smtClean="0">
                <a:solidFill>
                  <a:srgbClr val="FF0000"/>
                </a:solidFill>
              </a:rPr>
              <a:t>10</a:t>
            </a:r>
          </a:p>
          <a:p>
            <a:endParaRPr lang="ru-RU" dirty="0"/>
          </a:p>
        </p:txBody>
      </p:sp>
      <p:graphicFrame>
        <p:nvGraphicFramePr>
          <p:cNvPr id="10" name="Объект 9"/>
          <p:cNvGraphicFramePr>
            <a:graphicFrameLocks noChangeAspect="1"/>
          </p:cNvGraphicFramePr>
          <p:nvPr>
            <p:extLst>
              <p:ext uri="{D42A27DB-BD31-4B8C-83A1-F6EECF244321}">
                <p14:modId xmlns:p14="http://schemas.microsoft.com/office/powerpoint/2010/main" val="228377088"/>
              </p:ext>
            </p:extLst>
          </p:nvPr>
        </p:nvGraphicFramePr>
        <p:xfrm>
          <a:off x="6511316" y="882353"/>
          <a:ext cx="190500" cy="152400"/>
        </p:xfrm>
        <a:graphic>
          <a:graphicData uri="http://schemas.openxmlformats.org/presentationml/2006/ole">
            <mc:AlternateContent xmlns:mc="http://schemas.openxmlformats.org/markup-compatibility/2006">
              <mc:Choice xmlns:v="urn:schemas-microsoft-com:vml" Requires="v">
                <p:oleObj spid="_x0000_s6843" name="Equation" r:id="rId5" imgW="190440" imgH="152280" progId="Equation.DSMT4">
                  <p:embed/>
                </p:oleObj>
              </mc:Choice>
              <mc:Fallback>
                <p:oleObj name="Equation" r:id="rId5" imgW="190440" imgH="1522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1316" y="882353"/>
                        <a:ext cx="190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Объект 10"/>
          <p:cNvGraphicFramePr>
            <a:graphicFrameLocks noChangeAspect="1"/>
          </p:cNvGraphicFramePr>
          <p:nvPr>
            <p:extLst>
              <p:ext uri="{D42A27DB-BD31-4B8C-83A1-F6EECF244321}">
                <p14:modId xmlns:p14="http://schemas.microsoft.com/office/powerpoint/2010/main" val="3990737081"/>
              </p:ext>
            </p:extLst>
          </p:nvPr>
        </p:nvGraphicFramePr>
        <p:xfrm>
          <a:off x="6516216" y="4437112"/>
          <a:ext cx="190500" cy="152400"/>
        </p:xfrm>
        <a:graphic>
          <a:graphicData uri="http://schemas.openxmlformats.org/presentationml/2006/ole">
            <mc:AlternateContent xmlns:mc="http://schemas.openxmlformats.org/markup-compatibility/2006">
              <mc:Choice xmlns:v="urn:schemas-microsoft-com:vml" Requires="v">
                <p:oleObj spid="_x0000_s6844" name="Equation" r:id="rId7" imgW="190417" imgH="152334" progId="Equation.DSMT4">
                  <p:embed/>
                </p:oleObj>
              </mc:Choice>
              <mc:Fallback>
                <p:oleObj name="Equation" r:id="rId7" imgW="190417" imgH="15233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6216" y="4437112"/>
                        <a:ext cx="190500" cy="1524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051923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504" y="0"/>
            <a:ext cx="3095912" cy="369332"/>
          </a:xfrm>
          <a:prstGeom prst="rect">
            <a:avLst/>
          </a:prstGeom>
          <a:noFill/>
        </p:spPr>
        <p:txBody>
          <a:bodyPr wrap="none" rtlCol="0">
            <a:spAutoFit/>
          </a:bodyPr>
          <a:lstStyle/>
          <a:p>
            <a:r>
              <a:rPr lang="ru-RU" dirty="0" smtClean="0"/>
              <a:t>Двоично-десятичный счетчик</a:t>
            </a:r>
            <a:endParaRPr lang="ru-RU" dirty="0"/>
          </a:p>
        </p:txBody>
      </p:sp>
      <p:sp>
        <p:nvSpPr>
          <p:cNvPr id="5" name="TextBox 4"/>
          <p:cNvSpPr txBox="1"/>
          <p:nvPr/>
        </p:nvSpPr>
        <p:spPr>
          <a:xfrm>
            <a:off x="740273" y="1268760"/>
            <a:ext cx="1830373" cy="646331"/>
          </a:xfrm>
          <a:prstGeom prst="rect">
            <a:avLst/>
          </a:prstGeom>
          <a:noFill/>
        </p:spPr>
        <p:txBody>
          <a:bodyPr wrap="none" rtlCol="0">
            <a:spAutoFit/>
          </a:bodyPr>
          <a:lstStyle/>
          <a:p>
            <a:r>
              <a:rPr lang="ru-RU" dirty="0" smtClean="0"/>
              <a:t>Двоично</a:t>
            </a:r>
          </a:p>
          <a:p>
            <a:r>
              <a:rPr lang="ru-RU" dirty="0" smtClean="0"/>
              <a:t>-десятичный код</a:t>
            </a:r>
            <a:endParaRPr lang="ru-RU" dirty="0"/>
          </a:p>
        </p:txBody>
      </p:sp>
      <p:graphicFrame>
        <p:nvGraphicFramePr>
          <p:cNvPr id="6" name="Таблица 5"/>
          <p:cNvGraphicFramePr>
            <a:graphicFrameLocks noGrp="1"/>
          </p:cNvGraphicFramePr>
          <p:nvPr>
            <p:extLst>
              <p:ext uri="{D42A27DB-BD31-4B8C-83A1-F6EECF244321}">
                <p14:modId xmlns:p14="http://schemas.microsoft.com/office/powerpoint/2010/main" val="3337680351"/>
              </p:ext>
            </p:extLst>
          </p:nvPr>
        </p:nvGraphicFramePr>
        <p:xfrm>
          <a:off x="2843808" y="369332"/>
          <a:ext cx="6096000" cy="6328812"/>
        </p:xfrm>
        <a:graphic>
          <a:graphicData uri="http://schemas.openxmlformats.org/drawingml/2006/table">
            <a:tbl>
              <a:tblPr firstRow="1" bandRow="1">
                <a:tableStyleId>{5C22544A-7EE6-4342-B048-85BDC9FD1C3A}</a:tableStyleId>
              </a:tblPr>
              <a:tblGrid>
                <a:gridCol w="1584176"/>
                <a:gridCol w="288032"/>
                <a:gridCol w="1152128"/>
                <a:gridCol w="864096"/>
                <a:gridCol w="216024"/>
                <a:gridCol w="1991544"/>
              </a:tblGrid>
              <a:tr h="395372">
                <a:tc>
                  <a:txBody>
                    <a:bodyPr/>
                    <a:lstStyle/>
                    <a:p>
                      <a:r>
                        <a:rPr lang="ru-RU" dirty="0" err="1" smtClean="0"/>
                        <a:t>Дв</a:t>
                      </a:r>
                      <a:r>
                        <a:rPr lang="ru-RU" dirty="0" smtClean="0"/>
                        <a:t>.</a:t>
                      </a:r>
                      <a:r>
                        <a:rPr lang="ru-RU" baseline="0" dirty="0" smtClean="0"/>
                        <a:t> код</a:t>
                      </a:r>
                      <a:endParaRPr lang="ru-RU" dirty="0"/>
                    </a:p>
                  </a:txBody>
                  <a:tcPr/>
                </a:tc>
                <a:tc>
                  <a:txBody>
                    <a:bodyPr/>
                    <a:lstStyle/>
                    <a:p>
                      <a:endParaRPr lang="ru-RU"/>
                    </a:p>
                  </a:txBody>
                  <a:tcPr/>
                </a:tc>
                <a:tc gridSpan="2">
                  <a:txBody>
                    <a:bodyPr/>
                    <a:lstStyle/>
                    <a:p>
                      <a:r>
                        <a:rPr lang="ru-RU" dirty="0" smtClean="0"/>
                        <a:t>Двоично-</a:t>
                      </a:r>
                      <a:r>
                        <a:rPr lang="ru-RU" dirty="0" err="1" smtClean="0"/>
                        <a:t>дес</a:t>
                      </a:r>
                      <a:r>
                        <a:rPr lang="ru-RU" dirty="0" smtClean="0"/>
                        <a:t>.</a:t>
                      </a:r>
                      <a:r>
                        <a:rPr lang="ru-RU" baseline="0" dirty="0" smtClean="0"/>
                        <a:t> код</a:t>
                      </a:r>
                      <a:endParaRPr lang="ru-RU" dirty="0"/>
                    </a:p>
                  </a:txBody>
                  <a:tcPr/>
                </a:tc>
                <a:tc hMerge="1">
                  <a:txBody>
                    <a:bodyPr/>
                    <a:lstStyle/>
                    <a:p>
                      <a:endParaRPr lang="ru-RU" dirty="0"/>
                    </a:p>
                  </a:txBody>
                  <a:tcPr/>
                </a:tc>
                <a:tc>
                  <a:txBody>
                    <a:bodyPr/>
                    <a:lstStyle/>
                    <a:p>
                      <a:endParaRPr lang="ru-RU" dirty="0"/>
                    </a:p>
                  </a:txBody>
                  <a:tcPr/>
                </a:tc>
                <a:tc>
                  <a:txBody>
                    <a:bodyPr/>
                    <a:lstStyle/>
                    <a:p>
                      <a:r>
                        <a:rPr lang="ru-RU" dirty="0" smtClean="0"/>
                        <a:t>Десятичное</a:t>
                      </a:r>
                      <a:r>
                        <a:rPr lang="ru-RU" baseline="0" dirty="0" smtClean="0"/>
                        <a:t> число</a:t>
                      </a:r>
                      <a:endParaRPr lang="ru-RU" dirty="0"/>
                    </a:p>
                  </a:txBody>
                  <a:tcPr/>
                </a:tc>
              </a:tr>
              <a:tr h="370840">
                <a:tc>
                  <a:txBody>
                    <a:bodyPr/>
                    <a:lstStyle/>
                    <a:p>
                      <a:r>
                        <a:rPr lang="ru-RU" sz="1600" dirty="0" smtClean="0"/>
                        <a:t>0000</a:t>
                      </a:r>
                      <a:endParaRPr lang="ru-RU" sz="1600" dirty="0"/>
                    </a:p>
                  </a:txBody>
                  <a:tcPr/>
                </a:tc>
                <a:tc>
                  <a:txBody>
                    <a:bodyPr/>
                    <a:lstStyle/>
                    <a:p>
                      <a:endParaRPr lang="ru-RU" sz="1600"/>
                    </a:p>
                  </a:txBody>
                  <a:tcPr/>
                </a:tc>
                <a:tc>
                  <a:txBody>
                    <a:bodyPr/>
                    <a:lstStyle/>
                    <a:p>
                      <a:endParaRPr lang="ru-RU" sz="1600" dirty="0"/>
                    </a:p>
                  </a:txBody>
                  <a:tcPr/>
                </a:tc>
                <a:tc>
                  <a:txBody>
                    <a:bodyPr/>
                    <a:lstStyle/>
                    <a:p>
                      <a:r>
                        <a:rPr lang="ru-RU" sz="1600" dirty="0" smtClean="0"/>
                        <a:t>0000</a:t>
                      </a:r>
                      <a:endParaRPr lang="ru-RU" sz="1600" dirty="0"/>
                    </a:p>
                  </a:txBody>
                  <a:tcPr/>
                </a:tc>
                <a:tc>
                  <a:txBody>
                    <a:bodyPr/>
                    <a:lstStyle/>
                    <a:p>
                      <a:endParaRPr lang="ru-RU" sz="1600"/>
                    </a:p>
                  </a:txBody>
                  <a:tcPr/>
                </a:tc>
                <a:tc>
                  <a:txBody>
                    <a:bodyPr/>
                    <a:lstStyle/>
                    <a:p>
                      <a:r>
                        <a:rPr lang="ru-RU" sz="1600" dirty="0" smtClean="0"/>
                        <a:t>0</a:t>
                      </a:r>
                      <a:endParaRPr lang="ru-RU" sz="1600" dirty="0"/>
                    </a:p>
                  </a:txBody>
                  <a:tcPr/>
                </a:tc>
              </a:tr>
              <a:tr h="370840">
                <a:tc>
                  <a:txBody>
                    <a:bodyPr/>
                    <a:lstStyle/>
                    <a:p>
                      <a:r>
                        <a:rPr lang="ru-RU" sz="1600" dirty="0" smtClean="0"/>
                        <a:t>0001</a:t>
                      </a:r>
                    </a:p>
                  </a:txBody>
                  <a:tcPr/>
                </a:tc>
                <a:tc>
                  <a:txBody>
                    <a:bodyPr/>
                    <a:lstStyle/>
                    <a:p>
                      <a:endParaRPr lang="ru-RU" sz="1600"/>
                    </a:p>
                  </a:txBody>
                  <a:tcPr/>
                </a:tc>
                <a:tc>
                  <a:txBody>
                    <a:bodyPr/>
                    <a:lstStyle/>
                    <a:p>
                      <a:endParaRPr lang="ru-RU"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endParaRPr lang="ru-RU" sz="1600"/>
                    </a:p>
                  </a:txBody>
                  <a:tcPr/>
                </a:tc>
                <a:tc>
                  <a:txBody>
                    <a:bodyPr/>
                    <a:lstStyle/>
                    <a:p>
                      <a:r>
                        <a:rPr lang="ru-RU" sz="1600" dirty="0" smtClean="0"/>
                        <a:t>1</a:t>
                      </a:r>
                      <a:endParaRPr lang="ru-RU" sz="1600" dirty="0"/>
                    </a:p>
                  </a:txBody>
                  <a:tcPr/>
                </a:tc>
              </a:tr>
              <a:tr h="370840">
                <a:tc>
                  <a:txBody>
                    <a:bodyPr/>
                    <a:lstStyle/>
                    <a:p>
                      <a:r>
                        <a:rPr lang="ru-RU" sz="1600" dirty="0" smtClean="0"/>
                        <a:t>0010</a:t>
                      </a:r>
                    </a:p>
                  </a:txBody>
                  <a:tcPr/>
                </a:tc>
                <a:tc>
                  <a:txBody>
                    <a:bodyPr/>
                    <a:lstStyle/>
                    <a:p>
                      <a:endParaRPr lang="ru-RU" sz="1600"/>
                    </a:p>
                  </a:txBody>
                  <a:tcPr/>
                </a:tc>
                <a:tc>
                  <a:txBody>
                    <a:bodyPr/>
                    <a:lstStyle/>
                    <a:p>
                      <a:endParaRPr lang="ru-RU"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0010</a:t>
                      </a:r>
                    </a:p>
                  </a:txBody>
                  <a:tcPr/>
                </a:tc>
                <a:tc>
                  <a:txBody>
                    <a:bodyPr/>
                    <a:lstStyle/>
                    <a:p>
                      <a:endParaRPr lang="ru-RU" sz="1600"/>
                    </a:p>
                  </a:txBody>
                  <a:tcPr/>
                </a:tc>
                <a:tc>
                  <a:txBody>
                    <a:bodyPr/>
                    <a:lstStyle/>
                    <a:p>
                      <a:r>
                        <a:rPr lang="ru-RU" sz="1600" dirty="0" smtClean="0"/>
                        <a:t>2</a:t>
                      </a:r>
                      <a:endParaRPr lang="ru-RU" sz="1600" dirty="0"/>
                    </a:p>
                  </a:txBody>
                  <a:tcPr/>
                </a:tc>
              </a:tr>
              <a:tr h="370840">
                <a:tc>
                  <a:txBody>
                    <a:bodyPr/>
                    <a:lstStyle/>
                    <a:p>
                      <a:r>
                        <a:rPr lang="ru-RU" sz="1600" dirty="0" smtClean="0"/>
                        <a:t>0011</a:t>
                      </a:r>
                      <a:endParaRPr lang="ru-RU" sz="1600" dirty="0"/>
                    </a:p>
                  </a:txBody>
                  <a:tcPr/>
                </a:tc>
                <a:tc>
                  <a:txBody>
                    <a:bodyPr/>
                    <a:lstStyle/>
                    <a:p>
                      <a:endParaRPr lang="ru-RU" sz="1600" dirty="0"/>
                    </a:p>
                  </a:txBody>
                  <a:tcPr/>
                </a:tc>
                <a:tc>
                  <a:txBody>
                    <a:bodyPr/>
                    <a:lstStyle/>
                    <a:p>
                      <a:endParaRPr lang="ru-RU"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0011</a:t>
                      </a:r>
                    </a:p>
                  </a:txBody>
                  <a:tcPr/>
                </a:tc>
                <a:tc>
                  <a:txBody>
                    <a:bodyPr/>
                    <a:lstStyle/>
                    <a:p>
                      <a:endParaRPr lang="ru-RU" sz="1600"/>
                    </a:p>
                  </a:txBody>
                  <a:tcPr/>
                </a:tc>
                <a:tc>
                  <a:txBody>
                    <a:bodyPr/>
                    <a:lstStyle/>
                    <a:p>
                      <a:r>
                        <a:rPr lang="ru-RU" sz="1600" dirty="0" smtClean="0"/>
                        <a:t>3</a:t>
                      </a:r>
                      <a:endParaRPr lang="ru-RU" sz="1600" dirty="0"/>
                    </a:p>
                  </a:txBody>
                  <a:tcPr/>
                </a:tc>
              </a:tr>
              <a:tr h="370840">
                <a:tc>
                  <a:txBody>
                    <a:bodyPr/>
                    <a:lstStyle/>
                    <a:p>
                      <a:r>
                        <a:rPr lang="ru-RU" sz="1600" dirty="0" smtClean="0"/>
                        <a:t>0100</a:t>
                      </a:r>
                      <a:endParaRPr lang="ru-RU" sz="1600" dirty="0"/>
                    </a:p>
                  </a:txBody>
                  <a:tcPr/>
                </a:tc>
                <a:tc>
                  <a:txBody>
                    <a:bodyPr/>
                    <a:lstStyle/>
                    <a:p>
                      <a:endParaRPr lang="ru-RU" sz="1600"/>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0100</a:t>
                      </a:r>
                    </a:p>
                  </a:txBody>
                  <a:tcPr/>
                </a:tc>
                <a:tc>
                  <a:txBody>
                    <a:bodyPr/>
                    <a:lstStyle/>
                    <a:p>
                      <a:endParaRPr lang="ru-RU" sz="1600"/>
                    </a:p>
                  </a:txBody>
                  <a:tcPr/>
                </a:tc>
                <a:tc>
                  <a:txBody>
                    <a:bodyPr/>
                    <a:lstStyle/>
                    <a:p>
                      <a:r>
                        <a:rPr lang="ru-RU" sz="1600" dirty="0" smtClean="0"/>
                        <a:t>4</a:t>
                      </a:r>
                      <a:endParaRPr lang="ru-RU" sz="1600" dirty="0"/>
                    </a:p>
                  </a:txBody>
                  <a:tcPr/>
                </a:tc>
              </a:tr>
              <a:tr h="370840">
                <a:tc>
                  <a:txBody>
                    <a:bodyPr/>
                    <a:lstStyle/>
                    <a:p>
                      <a:r>
                        <a:rPr lang="ru-RU" sz="1600" dirty="0" smtClean="0"/>
                        <a:t>0101</a:t>
                      </a:r>
                      <a:endParaRPr lang="ru-RU" sz="1600" dirty="0"/>
                    </a:p>
                  </a:txBody>
                  <a:tcPr/>
                </a:tc>
                <a:tc>
                  <a:txBody>
                    <a:bodyPr/>
                    <a:lstStyle/>
                    <a:p>
                      <a:endParaRPr lang="ru-RU" sz="1600"/>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0101</a:t>
                      </a:r>
                    </a:p>
                  </a:txBody>
                  <a:tcPr/>
                </a:tc>
                <a:tc>
                  <a:txBody>
                    <a:bodyPr/>
                    <a:lstStyle/>
                    <a:p>
                      <a:endParaRPr lang="ru-RU" sz="1600"/>
                    </a:p>
                  </a:txBody>
                  <a:tcPr/>
                </a:tc>
                <a:tc>
                  <a:txBody>
                    <a:bodyPr/>
                    <a:lstStyle/>
                    <a:p>
                      <a:r>
                        <a:rPr lang="ru-RU" sz="1600" dirty="0" smtClean="0"/>
                        <a:t>5</a:t>
                      </a:r>
                      <a:endParaRPr lang="ru-RU" sz="1600" dirty="0"/>
                    </a:p>
                  </a:txBody>
                  <a:tcPr/>
                </a:tc>
              </a:tr>
              <a:tr h="370840">
                <a:tc>
                  <a:txBody>
                    <a:bodyPr/>
                    <a:lstStyle/>
                    <a:p>
                      <a:r>
                        <a:rPr lang="ru-RU" sz="1600" dirty="0" smtClean="0"/>
                        <a:t>0110</a:t>
                      </a:r>
                      <a:endParaRPr lang="ru-RU" sz="1600" dirty="0"/>
                    </a:p>
                  </a:txBody>
                  <a:tcPr/>
                </a:tc>
                <a:tc>
                  <a:txBody>
                    <a:bodyPr/>
                    <a:lstStyle/>
                    <a:p>
                      <a:endParaRPr lang="ru-RU" sz="1600" dirty="0"/>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0110</a:t>
                      </a:r>
                    </a:p>
                  </a:txBody>
                  <a:tcPr/>
                </a:tc>
                <a:tc>
                  <a:txBody>
                    <a:bodyPr/>
                    <a:lstStyle/>
                    <a:p>
                      <a:endParaRPr lang="ru-RU" sz="1600" dirty="0"/>
                    </a:p>
                  </a:txBody>
                  <a:tcPr/>
                </a:tc>
                <a:tc>
                  <a:txBody>
                    <a:bodyPr/>
                    <a:lstStyle/>
                    <a:p>
                      <a:r>
                        <a:rPr lang="ru-RU" sz="1600" dirty="0" smtClean="0"/>
                        <a:t>6</a:t>
                      </a:r>
                      <a:endParaRPr lang="ru-RU" sz="1600" dirty="0"/>
                    </a:p>
                  </a:txBody>
                  <a:tcPr/>
                </a:tc>
              </a:tr>
              <a:tr h="370840">
                <a:tc>
                  <a:txBody>
                    <a:bodyPr/>
                    <a:lstStyle/>
                    <a:p>
                      <a:r>
                        <a:rPr lang="ru-RU" sz="1600" dirty="0" smtClean="0"/>
                        <a:t>0111</a:t>
                      </a:r>
                      <a:endParaRPr lang="ru-RU" sz="1600" dirty="0"/>
                    </a:p>
                  </a:txBody>
                  <a:tcPr/>
                </a:tc>
                <a:tc>
                  <a:txBody>
                    <a:bodyPr/>
                    <a:lstStyle/>
                    <a:p>
                      <a:endParaRPr lang="ru-RU" sz="1600" dirty="0"/>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0111</a:t>
                      </a:r>
                    </a:p>
                  </a:txBody>
                  <a:tcPr/>
                </a:tc>
                <a:tc>
                  <a:txBody>
                    <a:bodyPr/>
                    <a:lstStyle/>
                    <a:p>
                      <a:endParaRPr lang="ru-RU" sz="1600" dirty="0"/>
                    </a:p>
                  </a:txBody>
                  <a:tcPr/>
                </a:tc>
                <a:tc>
                  <a:txBody>
                    <a:bodyPr/>
                    <a:lstStyle/>
                    <a:p>
                      <a:r>
                        <a:rPr lang="ru-RU" sz="1600" dirty="0" smtClean="0"/>
                        <a:t>7</a:t>
                      </a:r>
                      <a:endParaRPr lang="ru-RU" sz="1600" dirty="0"/>
                    </a:p>
                  </a:txBody>
                  <a:tcPr/>
                </a:tc>
              </a:tr>
              <a:tr h="370840">
                <a:tc>
                  <a:txBody>
                    <a:bodyPr/>
                    <a:lstStyle/>
                    <a:p>
                      <a:r>
                        <a:rPr lang="ru-RU" sz="1600" dirty="0" smtClean="0"/>
                        <a:t>1000</a:t>
                      </a:r>
                      <a:endParaRPr lang="ru-RU" sz="1600" dirty="0"/>
                    </a:p>
                  </a:txBody>
                  <a:tcPr/>
                </a:tc>
                <a:tc>
                  <a:txBody>
                    <a:bodyPr/>
                    <a:lstStyle/>
                    <a:p>
                      <a:endParaRPr lang="ru-RU" sz="1600" dirty="0"/>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1000</a:t>
                      </a:r>
                    </a:p>
                  </a:txBody>
                  <a:tcPr/>
                </a:tc>
                <a:tc>
                  <a:txBody>
                    <a:bodyPr/>
                    <a:lstStyle/>
                    <a:p>
                      <a:endParaRPr lang="ru-RU" sz="1600" dirty="0"/>
                    </a:p>
                  </a:txBody>
                  <a:tcPr/>
                </a:tc>
                <a:tc>
                  <a:txBody>
                    <a:bodyPr/>
                    <a:lstStyle/>
                    <a:p>
                      <a:r>
                        <a:rPr lang="ru-RU" sz="1600" dirty="0" smtClean="0"/>
                        <a:t>8</a:t>
                      </a:r>
                      <a:endParaRPr lang="ru-RU" sz="1600" dirty="0"/>
                    </a:p>
                  </a:txBody>
                  <a:tcPr/>
                </a:tc>
              </a:tr>
              <a:tr h="370840">
                <a:tc>
                  <a:txBody>
                    <a:bodyPr/>
                    <a:lstStyle/>
                    <a:p>
                      <a:r>
                        <a:rPr lang="ru-RU" sz="1600" dirty="0" smtClean="0"/>
                        <a:t>1001</a:t>
                      </a:r>
                      <a:endParaRPr lang="ru-RU" sz="1600" dirty="0"/>
                    </a:p>
                  </a:txBody>
                  <a:tcPr/>
                </a:tc>
                <a:tc>
                  <a:txBody>
                    <a:bodyPr/>
                    <a:lstStyle/>
                    <a:p>
                      <a:endParaRPr lang="ru-RU" sz="1600" dirty="0"/>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1001</a:t>
                      </a:r>
                    </a:p>
                  </a:txBody>
                  <a:tcPr/>
                </a:tc>
                <a:tc>
                  <a:txBody>
                    <a:bodyPr/>
                    <a:lstStyle/>
                    <a:p>
                      <a:endParaRPr lang="ru-RU" sz="1600" dirty="0"/>
                    </a:p>
                  </a:txBody>
                  <a:tcPr/>
                </a:tc>
                <a:tc>
                  <a:txBody>
                    <a:bodyPr/>
                    <a:lstStyle/>
                    <a:p>
                      <a:r>
                        <a:rPr lang="ru-RU" sz="1600" dirty="0" smtClean="0"/>
                        <a:t>9</a:t>
                      </a:r>
                      <a:endParaRPr lang="ru-RU" sz="1600" dirty="0"/>
                    </a:p>
                  </a:txBody>
                  <a:tcPr/>
                </a:tc>
              </a:tr>
              <a:tr h="370840">
                <a:tc>
                  <a:txBody>
                    <a:bodyPr/>
                    <a:lstStyle/>
                    <a:p>
                      <a:r>
                        <a:rPr lang="ru-RU" sz="1600" b="1" dirty="0" smtClean="0">
                          <a:solidFill>
                            <a:srgbClr val="FF0000"/>
                          </a:solidFill>
                        </a:rPr>
                        <a:t>1010</a:t>
                      </a:r>
                      <a:endParaRPr lang="ru-RU" sz="1600" b="1" dirty="0">
                        <a:solidFill>
                          <a:srgbClr val="FF0000"/>
                        </a:solidFill>
                      </a:endParaRPr>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r>
                        <a:rPr lang="ru-RU" sz="1600" dirty="0" smtClean="0"/>
                        <a:t>0000</a:t>
                      </a:r>
                      <a:endParaRPr lang="ru-RU" sz="1600" dirty="0"/>
                    </a:p>
                  </a:txBody>
                  <a:tcPr/>
                </a:tc>
                <a:tc>
                  <a:txBody>
                    <a:bodyPr/>
                    <a:lstStyle/>
                    <a:p>
                      <a:endParaRPr lang="ru-RU" sz="1600" dirty="0"/>
                    </a:p>
                  </a:txBody>
                  <a:tcPr/>
                </a:tc>
                <a:tc>
                  <a:txBody>
                    <a:bodyPr/>
                    <a:lstStyle/>
                    <a:p>
                      <a:r>
                        <a:rPr lang="ru-RU" sz="1600" dirty="0" smtClean="0"/>
                        <a:t>10</a:t>
                      </a:r>
                      <a:endParaRPr lang="ru-RU" sz="1600" dirty="0"/>
                    </a:p>
                  </a:txBody>
                  <a:tcPr/>
                </a:tc>
              </a:tr>
              <a:tr h="370840">
                <a:tc>
                  <a:txBody>
                    <a:bodyPr/>
                    <a:lstStyle/>
                    <a:p>
                      <a:r>
                        <a:rPr lang="ru-RU" sz="1600" b="1" dirty="0" smtClean="0">
                          <a:solidFill>
                            <a:srgbClr val="FF0000"/>
                          </a:solidFill>
                        </a:rPr>
                        <a:t>1011</a:t>
                      </a:r>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endParaRPr lang="ru-RU" sz="1600" dirty="0"/>
                    </a:p>
                  </a:txBody>
                  <a:tcPr/>
                </a:tc>
                <a:tc>
                  <a:txBody>
                    <a:bodyPr/>
                    <a:lstStyle/>
                    <a:p>
                      <a:r>
                        <a:rPr lang="ru-RU" sz="1600" dirty="0" smtClean="0"/>
                        <a:t>11</a:t>
                      </a:r>
                      <a:endParaRPr lang="ru-RU" sz="1600" dirty="0"/>
                    </a:p>
                  </a:txBody>
                  <a:tcPr/>
                </a:tc>
              </a:tr>
              <a:tr h="370840">
                <a:tc>
                  <a:txBody>
                    <a:bodyPr/>
                    <a:lstStyle/>
                    <a:p>
                      <a:r>
                        <a:rPr lang="ru-RU" sz="1600" b="1" dirty="0" smtClean="0">
                          <a:solidFill>
                            <a:srgbClr val="FF0000"/>
                          </a:solidFill>
                        </a:rPr>
                        <a:t>1100</a:t>
                      </a:r>
                      <a:endParaRPr lang="ru-RU" sz="1600" b="1" dirty="0">
                        <a:solidFill>
                          <a:srgbClr val="FF0000"/>
                        </a:solidFill>
                      </a:endParaRPr>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0010</a:t>
                      </a:r>
                    </a:p>
                  </a:txBody>
                  <a:tcPr/>
                </a:tc>
                <a:tc>
                  <a:txBody>
                    <a:bodyPr/>
                    <a:lstStyle/>
                    <a:p>
                      <a:endParaRPr lang="ru-RU" sz="1600" dirty="0"/>
                    </a:p>
                  </a:txBody>
                  <a:tcPr/>
                </a:tc>
                <a:tc>
                  <a:txBody>
                    <a:bodyPr/>
                    <a:lstStyle/>
                    <a:p>
                      <a:r>
                        <a:rPr lang="ru-RU" sz="1600" dirty="0" smtClean="0"/>
                        <a:t>12</a:t>
                      </a:r>
                      <a:endParaRPr lang="ru-RU" sz="1600" dirty="0"/>
                    </a:p>
                  </a:txBody>
                  <a:tcPr/>
                </a:tc>
              </a:tr>
              <a:tr h="370840">
                <a:tc>
                  <a:txBody>
                    <a:bodyPr/>
                    <a:lstStyle/>
                    <a:p>
                      <a:r>
                        <a:rPr lang="ru-RU" sz="1600" b="1" dirty="0" smtClean="0">
                          <a:solidFill>
                            <a:srgbClr val="FF0000"/>
                          </a:solidFill>
                        </a:rPr>
                        <a:t>1101</a:t>
                      </a:r>
                      <a:endParaRPr lang="ru-RU" sz="1600" b="1" dirty="0">
                        <a:solidFill>
                          <a:srgbClr val="FF0000"/>
                        </a:solidFill>
                      </a:endParaRPr>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0011</a:t>
                      </a:r>
                    </a:p>
                  </a:txBody>
                  <a:tcPr/>
                </a:tc>
                <a:tc>
                  <a:txBody>
                    <a:bodyPr/>
                    <a:lstStyle/>
                    <a:p>
                      <a:endParaRPr lang="ru-RU" sz="1600" dirty="0"/>
                    </a:p>
                  </a:txBody>
                  <a:tcPr/>
                </a:tc>
                <a:tc>
                  <a:txBody>
                    <a:bodyPr/>
                    <a:lstStyle/>
                    <a:p>
                      <a:r>
                        <a:rPr lang="ru-RU" sz="1600" dirty="0" smtClean="0"/>
                        <a:t>13</a:t>
                      </a:r>
                      <a:endParaRPr lang="ru-RU" sz="1600" dirty="0"/>
                    </a:p>
                  </a:txBody>
                  <a:tcPr/>
                </a:tc>
              </a:tr>
              <a:tr h="370840">
                <a:tc>
                  <a:txBody>
                    <a:bodyPr/>
                    <a:lstStyle/>
                    <a:p>
                      <a:r>
                        <a:rPr lang="ru-RU" sz="1600" b="1" dirty="0" smtClean="0">
                          <a:solidFill>
                            <a:srgbClr val="FF0000"/>
                          </a:solidFill>
                        </a:rPr>
                        <a:t>1110</a:t>
                      </a:r>
                      <a:endParaRPr lang="ru-RU" sz="1600" b="1" dirty="0">
                        <a:solidFill>
                          <a:srgbClr val="FF0000"/>
                        </a:solidFill>
                      </a:endParaRPr>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0100</a:t>
                      </a:r>
                    </a:p>
                  </a:txBody>
                  <a:tcPr/>
                </a:tc>
                <a:tc>
                  <a:txBody>
                    <a:bodyPr/>
                    <a:lstStyle/>
                    <a:p>
                      <a:endParaRPr lang="ru-RU" sz="1600" dirty="0"/>
                    </a:p>
                  </a:txBody>
                  <a:tcPr/>
                </a:tc>
                <a:tc>
                  <a:txBody>
                    <a:bodyPr/>
                    <a:lstStyle/>
                    <a:p>
                      <a:r>
                        <a:rPr lang="ru-RU" sz="1600" dirty="0" smtClean="0"/>
                        <a:t>14</a:t>
                      </a:r>
                      <a:endParaRPr lang="ru-RU" sz="1600" dirty="0"/>
                    </a:p>
                  </a:txBody>
                  <a:tcPr/>
                </a:tc>
              </a:tr>
              <a:tr h="370840">
                <a:tc>
                  <a:txBody>
                    <a:bodyPr/>
                    <a:lstStyle/>
                    <a:p>
                      <a:r>
                        <a:rPr lang="ru-RU" sz="1600" b="1" dirty="0" smtClean="0">
                          <a:solidFill>
                            <a:srgbClr val="FF0000"/>
                          </a:solidFill>
                        </a:rPr>
                        <a:t>1111</a:t>
                      </a:r>
                      <a:endParaRPr lang="ru-RU" sz="1600" b="1" dirty="0">
                        <a:solidFill>
                          <a:srgbClr val="FF0000"/>
                        </a:solidFill>
                      </a:endParaRPr>
                    </a:p>
                  </a:txBody>
                  <a:tcPr/>
                </a:tc>
                <a:tc>
                  <a:txBody>
                    <a:bodyPr/>
                    <a:lstStyle/>
                    <a:p>
                      <a:endParaRPr lang="ru-RU"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0001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smtClean="0"/>
                        <a:t>0101</a:t>
                      </a:r>
                    </a:p>
                  </a:txBody>
                  <a:tcPr/>
                </a:tc>
                <a:tc>
                  <a:txBody>
                    <a:bodyPr/>
                    <a:lstStyle/>
                    <a:p>
                      <a:endParaRPr lang="ru-RU" sz="1600" dirty="0"/>
                    </a:p>
                  </a:txBody>
                  <a:tcPr/>
                </a:tc>
                <a:tc>
                  <a:txBody>
                    <a:bodyPr/>
                    <a:lstStyle/>
                    <a:p>
                      <a:r>
                        <a:rPr lang="ru-RU" sz="1600" dirty="0" smtClean="0"/>
                        <a:t>15</a:t>
                      </a:r>
                      <a:endParaRPr lang="ru-RU" sz="1600" dirty="0"/>
                    </a:p>
                  </a:txBody>
                  <a:tcPr/>
                </a:tc>
              </a:tr>
            </a:tbl>
          </a:graphicData>
        </a:graphic>
      </p:graphicFrame>
    </p:spTree>
    <p:extLst>
      <p:ext uri="{BB962C8B-B14F-4D97-AF65-F5344CB8AC3E}">
        <p14:creationId xmlns:p14="http://schemas.microsoft.com/office/powerpoint/2010/main" val="15044423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6577" y="82521"/>
            <a:ext cx="2194832" cy="369332"/>
          </a:xfrm>
          <a:prstGeom prst="rect">
            <a:avLst/>
          </a:prstGeom>
          <a:noFill/>
        </p:spPr>
        <p:txBody>
          <a:bodyPr wrap="none" rtlCol="0">
            <a:spAutoFit/>
          </a:bodyPr>
          <a:lstStyle/>
          <a:p>
            <a:r>
              <a:rPr lang="ru-RU" dirty="0" smtClean="0"/>
              <a:t>Пример реализации</a:t>
            </a:r>
            <a:endParaRPr lang="ru-RU" dirty="0"/>
          </a:p>
        </p:txBody>
      </p:sp>
      <p:sp>
        <p:nvSpPr>
          <p:cNvPr id="5" name="Прямоугольник 4"/>
          <p:cNvSpPr/>
          <p:nvPr/>
        </p:nvSpPr>
        <p:spPr>
          <a:xfrm>
            <a:off x="899592" y="999108"/>
            <a:ext cx="1584176" cy="2160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899592" y="999108"/>
            <a:ext cx="576064" cy="2160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905302" y="988874"/>
            <a:ext cx="373820" cy="369332"/>
          </a:xfrm>
          <a:prstGeom prst="rect">
            <a:avLst/>
          </a:prstGeom>
          <a:noFill/>
        </p:spPr>
        <p:txBody>
          <a:bodyPr wrap="none" rtlCol="0">
            <a:spAutoFit/>
          </a:bodyPr>
          <a:lstStyle/>
          <a:p>
            <a:r>
              <a:rPr lang="en-US" dirty="0" smtClean="0"/>
              <a:t>a</a:t>
            </a:r>
            <a:r>
              <a:rPr lang="en-US" baseline="-25000" dirty="0" smtClean="0"/>
              <a:t>0</a:t>
            </a:r>
            <a:endParaRPr lang="ru-RU" baseline="-25000" dirty="0"/>
          </a:p>
        </p:txBody>
      </p:sp>
      <p:sp>
        <p:nvSpPr>
          <p:cNvPr id="8" name="TextBox 7"/>
          <p:cNvSpPr txBox="1"/>
          <p:nvPr/>
        </p:nvSpPr>
        <p:spPr>
          <a:xfrm>
            <a:off x="905302" y="1318359"/>
            <a:ext cx="242374" cy="369332"/>
          </a:xfrm>
          <a:prstGeom prst="rect">
            <a:avLst/>
          </a:prstGeom>
          <a:noFill/>
        </p:spPr>
        <p:txBody>
          <a:bodyPr wrap="none" rtlCol="0">
            <a:spAutoFit/>
          </a:bodyPr>
          <a:lstStyle/>
          <a:p>
            <a:r>
              <a:rPr lang="en-US" dirty="0"/>
              <a:t>.</a:t>
            </a:r>
            <a:endParaRPr lang="ru-RU" dirty="0"/>
          </a:p>
        </p:txBody>
      </p:sp>
      <p:sp>
        <p:nvSpPr>
          <p:cNvPr id="9" name="TextBox 8"/>
          <p:cNvSpPr txBox="1"/>
          <p:nvPr/>
        </p:nvSpPr>
        <p:spPr>
          <a:xfrm>
            <a:off x="899592" y="1133693"/>
            <a:ext cx="242374" cy="369332"/>
          </a:xfrm>
          <a:prstGeom prst="rect">
            <a:avLst/>
          </a:prstGeom>
          <a:noFill/>
        </p:spPr>
        <p:txBody>
          <a:bodyPr wrap="none" rtlCol="0">
            <a:spAutoFit/>
          </a:bodyPr>
          <a:lstStyle/>
          <a:p>
            <a:r>
              <a:rPr lang="en-US" dirty="0"/>
              <a:t>.</a:t>
            </a:r>
            <a:endParaRPr lang="ru-RU" dirty="0"/>
          </a:p>
        </p:txBody>
      </p:sp>
      <p:sp>
        <p:nvSpPr>
          <p:cNvPr id="10" name="TextBox 9"/>
          <p:cNvSpPr txBox="1"/>
          <p:nvPr/>
        </p:nvSpPr>
        <p:spPr>
          <a:xfrm>
            <a:off x="911733" y="1548256"/>
            <a:ext cx="373820" cy="369332"/>
          </a:xfrm>
          <a:prstGeom prst="rect">
            <a:avLst/>
          </a:prstGeom>
          <a:noFill/>
        </p:spPr>
        <p:txBody>
          <a:bodyPr wrap="none" rtlCol="0">
            <a:spAutoFit/>
          </a:bodyPr>
          <a:lstStyle/>
          <a:p>
            <a:r>
              <a:rPr lang="en-US" dirty="0" smtClean="0"/>
              <a:t>a</a:t>
            </a:r>
            <a:r>
              <a:rPr lang="en-US" baseline="-25000" dirty="0"/>
              <a:t>3</a:t>
            </a:r>
            <a:endParaRPr lang="ru-RU" baseline="-25000" dirty="0"/>
          </a:p>
        </p:txBody>
      </p:sp>
      <p:sp>
        <p:nvSpPr>
          <p:cNvPr id="11" name="TextBox 10"/>
          <p:cNvSpPr txBox="1"/>
          <p:nvPr/>
        </p:nvSpPr>
        <p:spPr>
          <a:xfrm>
            <a:off x="914115" y="2230634"/>
            <a:ext cx="385042" cy="369332"/>
          </a:xfrm>
          <a:prstGeom prst="rect">
            <a:avLst/>
          </a:prstGeom>
          <a:noFill/>
        </p:spPr>
        <p:txBody>
          <a:bodyPr wrap="none" rtlCol="0">
            <a:spAutoFit/>
          </a:bodyPr>
          <a:lstStyle/>
          <a:p>
            <a:r>
              <a:rPr lang="en-US" dirty="0"/>
              <a:t>b</a:t>
            </a:r>
            <a:r>
              <a:rPr lang="en-US" baseline="-25000" dirty="0" smtClean="0"/>
              <a:t>0</a:t>
            </a:r>
            <a:endParaRPr lang="ru-RU" baseline="-25000" dirty="0"/>
          </a:p>
        </p:txBody>
      </p:sp>
      <p:sp>
        <p:nvSpPr>
          <p:cNvPr id="12" name="TextBox 11"/>
          <p:cNvSpPr txBox="1"/>
          <p:nvPr/>
        </p:nvSpPr>
        <p:spPr>
          <a:xfrm>
            <a:off x="908405" y="2375453"/>
            <a:ext cx="242374" cy="369332"/>
          </a:xfrm>
          <a:prstGeom prst="rect">
            <a:avLst/>
          </a:prstGeom>
          <a:noFill/>
        </p:spPr>
        <p:txBody>
          <a:bodyPr wrap="none" rtlCol="0">
            <a:spAutoFit/>
          </a:bodyPr>
          <a:lstStyle/>
          <a:p>
            <a:r>
              <a:rPr lang="en-US" dirty="0"/>
              <a:t>.</a:t>
            </a:r>
            <a:endParaRPr lang="ru-RU" dirty="0"/>
          </a:p>
        </p:txBody>
      </p:sp>
      <p:sp>
        <p:nvSpPr>
          <p:cNvPr id="13" name="TextBox 12"/>
          <p:cNvSpPr txBox="1"/>
          <p:nvPr/>
        </p:nvSpPr>
        <p:spPr>
          <a:xfrm>
            <a:off x="920546" y="2790016"/>
            <a:ext cx="385042" cy="369332"/>
          </a:xfrm>
          <a:prstGeom prst="rect">
            <a:avLst/>
          </a:prstGeom>
          <a:noFill/>
        </p:spPr>
        <p:txBody>
          <a:bodyPr wrap="none" rtlCol="0">
            <a:spAutoFit/>
          </a:bodyPr>
          <a:lstStyle/>
          <a:p>
            <a:r>
              <a:rPr lang="en-US" dirty="0"/>
              <a:t>b</a:t>
            </a:r>
            <a:r>
              <a:rPr lang="en-US" baseline="-25000" dirty="0" smtClean="0"/>
              <a:t>3</a:t>
            </a:r>
            <a:endParaRPr lang="ru-RU" baseline="-25000" dirty="0"/>
          </a:p>
        </p:txBody>
      </p:sp>
      <p:sp>
        <p:nvSpPr>
          <p:cNvPr id="14" name="TextBox 13"/>
          <p:cNvSpPr txBox="1"/>
          <p:nvPr/>
        </p:nvSpPr>
        <p:spPr>
          <a:xfrm>
            <a:off x="899592" y="2572538"/>
            <a:ext cx="242374" cy="369332"/>
          </a:xfrm>
          <a:prstGeom prst="rect">
            <a:avLst/>
          </a:prstGeom>
          <a:noFill/>
        </p:spPr>
        <p:txBody>
          <a:bodyPr wrap="none" rtlCol="0">
            <a:spAutoFit/>
          </a:bodyPr>
          <a:lstStyle/>
          <a:p>
            <a:r>
              <a:rPr lang="en-US" dirty="0"/>
              <a:t>.</a:t>
            </a:r>
            <a:endParaRPr lang="ru-RU" dirty="0"/>
          </a:p>
        </p:txBody>
      </p:sp>
      <p:cxnSp>
        <p:nvCxnSpPr>
          <p:cNvPr id="18" name="Прямая соединительная линия 17"/>
          <p:cNvCxnSpPr/>
          <p:nvPr/>
        </p:nvCxnSpPr>
        <p:spPr>
          <a:xfrm>
            <a:off x="467544" y="1133693"/>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467544" y="1719188"/>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467544" y="2439268"/>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467544" y="3015332"/>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52861" y="927100"/>
            <a:ext cx="383438" cy="369332"/>
          </a:xfrm>
          <a:prstGeom prst="rect">
            <a:avLst/>
          </a:prstGeom>
          <a:noFill/>
        </p:spPr>
        <p:txBody>
          <a:bodyPr wrap="none" rtlCol="0">
            <a:spAutoFit/>
          </a:bodyPr>
          <a:lstStyle/>
          <a:p>
            <a:r>
              <a:rPr lang="en-US" dirty="0" smtClean="0"/>
              <a:t>X</a:t>
            </a:r>
            <a:r>
              <a:rPr lang="en-US" baseline="-25000" dirty="0" smtClean="0"/>
              <a:t>0</a:t>
            </a:r>
            <a:endParaRPr lang="ru-RU" baseline="-25000" dirty="0"/>
          </a:p>
        </p:txBody>
      </p:sp>
      <p:sp>
        <p:nvSpPr>
          <p:cNvPr id="23" name="TextBox 22"/>
          <p:cNvSpPr txBox="1"/>
          <p:nvPr/>
        </p:nvSpPr>
        <p:spPr>
          <a:xfrm>
            <a:off x="152861" y="1503025"/>
            <a:ext cx="383438" cy="369332"/>
          </a:xfrm>
          <a:prstGeom prst="rect">
            <a:avLst/>
          </a:prstGeom>
          <a:noFill/>
        </p:spPr>
        <p:txBody>
          <a:bodyPr wrap="none" rtlCol="0">
            <a:spAutoFit/>
          </a:bodyPr>
          <a:lstStyle/>
          <a:p>
            <a:r>
              <a:rPr lang="en-US" dirty="0" smtClean="0"/>
              <a:t>X</a:t>
            </a:r>
            <a:r>
              <a:rPr lang="en-US" baseline="-25000" dirty="0"/>
              <a:t>3</a:t>
            </a:r>
            <a:endParaRPr lang="ru-RU" baseline="-25000" dirty="0"/>
          </a:p>
        </p:txBody>
      </p:sp>
      <p:sp>
        <p:nvSpPr>
          <p:cNvPr id="24" name="TextBox 23"/>
          <p:cNvSpPr txBox="1"/>
          <p:nvPr/>
        </p:nvSpPr>
        <p:spPr>
          <a:xfrm>
            <a:off x="160875" y="2786756"/>
            <a:ext cx="375424" cy="369332"/>
          </a:xfrm>
          <a:prstGeom prst="rect">
            <a:avLst/>
          </a:prstGeom>
          <a:noFill/>
        </p:spPr>
        <p:txBody>
          <a:bodyPr wrap="none" rtlCol="0">
            <a:spAutoFit/>
          </a:bodyPr>
          <a:lstStyle/>
          <a:p>
            <a:r>
              <a:rPr lang="en-US" dirty="0"/>
              <a:t>Y</a:t>
            </a:r>
            <a:r>
              <a:rPr lang="en-US" baseline="-25000" dirty="0" smtClean="0"/>
              <a:t>3</a:t>
            </a:r>
            <a:endParaRPr lang="ru-RU" baseline="-25000" dirty="0"/>
          </a:p>
        </p:txBody>
      </p:sp>
      <p:sp>
        <p:nvSpPr>
          <p:cNvPr id="25" name="TextBox 24"/>
          <p:cNvSpPr txBox="1"/>
          <p:nvPr/>
        </p:nvSpPr>
        <p:spPr>
          <a:xfrm>
            <a:off x="160875" y="2235758"/>
            <a:ext cx="375424" cy="369332"/>
          </a:xfrm>
          <a:prstGeom prst="rect">
            <a:avLst/>
          </a:prstGeom>
          <a:noFill/>
        </p:spPr>
        <p:txBody>
          <a:bodyPr wrap="none" rtlCol="0">
            <a:spAutoFit/>
          </a:bodyPr>
          <a:lstStyle/>
          <a:p>
            <a:r>
              <a:rPr lang="en-US" dirty="0" smtClean="0"/>
              <a:t>Y</a:t>
            </a:r>
            <a:r>
              <a:rPr lang="en-US" baseline="-25000" dirty="0"/>
              <a:t>0</a:t>
            </a:r>
            <a:endParaRPr lang="ru-RU" baseline="-25000" dirty="0"/>
          </a:p>
        </p:txBody>
      </p:sp>
      <p:sp>
        <p:nvSpPr>
          <p:cNvPr id="27" name="Прямоугольник 26"/>
          <p:cNvSpPr/>
          <p:nvPr/>
        </p:nvSpPr>
        <p:spPr>
          <a:xfrm>
            <a:off x="1979712" y="999108"/>
            <a:ext cx="504056" cy="2160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TextBox 27"/>
          <p:cNvSpPr txBox="1"/>
          <p:nvPr/>
        </p:nvSpPr>
        <p:spPr>
          <a:xfrm>
            <a:off x="1475656" y="988874"/>
            <a:ext cx="487634" cy="369332"/>
          </a:xfrm>
          <a:prstGeom prst="rect">
            <a:avLst/>
          </a:prstGeom>
          <a:noFill/>
        </p:spPr>
        <p:txBody>
          <a:bodyPr wrap="none" rtlCol="0">
            <a:spAutoFit/>
          </a:bodyPr>
          <a:lstStyle/>
          <a:p>
            <a:r>
              <a:rPr lang="en-US" dirty="0" smtClean="0"/>
              <a:t>SM</a:t>
            </a:r>
            <a:endParaRPr lang="ru-RU" dirty="0"/>
          </a:p>
        </p:txBody>
      </p:sp>
      <p:sp>
        <p:nvSpPr>
          <p:cNvPr id="29" name="TextBox 28"/>
          <p:cNvSpPr txBox="1"/>
          <p:nvPr/>
        </p:nvSpPr>
        <p:spPr>
          <a:xfrm>
            <a:off x="2130786" y="930943"/>
            <a:ext cx="352982" cy="369332"/>
          </a:xfrm>
          <a:prstGeom prst="rect">
            <a:avLst/>
          </a:prstGeom>
          <a:noFill/>
        </p:spPr>
        <p:txBody>
          <a:bodyPr wrap="none" rtlCol="0">
            <a:spAutoFit/>
          </a:bodyPr>
          <a:lstStyle/>
          <a:p>
            <a:r>
              <a:rPr lang="en-US" dirty="0" smtClean="0"/>
              <a:t>s</a:t>
            </a:r>
            <a:r>
              <a:rPr lang="en-US" baseline="-25000" dirty="0" smtClean="0"/>
              <a:t>0</a:t>
            </a:r>
            <a:endParaRPr lang="ru-RU" baseline="-25000" dirty="0"/>
          </a:p>
        </p:txBody>
      </p:sp>
      <p:sp>
        <p:nvSpPr>
          <p:cNvPr id="30" name="TextBox 29"/>
          <p:cNvSpPr txBox="1"/>
          <p:nvPr/>
        </p:nvSpPr>
        <p:spPr>
          <a:xfrm>
            <a:off x="2130786" y="1450107"/>
            <a:ext cx="352982" cy="369332"/>
          </a:xfrm>
          <a:prstGeom prst="rect">
            <a:avLst/>
          </a:prstGeom>
          <a:noFill/>
        </p:spPr>
        <p:txBody>
          <a:bodyPr wrap="none" rtlCol="0">
            <a:spAutoFit/>
          </a:bodyPr>
          <a:lstStyle/>
          <a:p>
            <a:r>
              <a:rPr lang="en-US" dirty="0" smtClean="0"/>
              <a:t>s</a:t>
            </a:r>
            <a:r>
              <a:rPr lang="en-US" baseline="-25000" dirty="0"/>
              <a:t>1</a:t>
            </a:r>
            <a:endParaRPr lang="ru-RU" baseline="-25000" dirty="0"/>
          </a:p>
        </p:txBody>
      </p:sp>
      <p:sp>
        <p:nvSpPr>
          <p:cNvPr id="31" name="TextBox 30"/>
          <p:cNvSpPr txBox="1"/>
          <p:nvPr/>
        </p:nvSpPr>
        <p:spPr>
          <a:xfrm>
            <a:off x="2130786" y="1969271"/>
            <a:ext cx="352982" cy="369332"/>
          </a:xfrm>
          <a:prstGeom prst="rect">
            <a:avLst/>
          </a:prstGeom>
          <a:noFill/>
        </p:spPr>
        <p:txBody>
          <a:bodyPr wrap="none" rtlCol="0">
            <a:spAutoFit/>
          </a:bodyPr>
          <a:lstStyle/>
          <a:p>
            <a:r>
              <a:rPr lang="en-US" dirty="0" smtClean="0"/>
              <a:t>s</a:t>
            </a:r>
            <a:r>
              <a:rPr lang="en-US" baseline="-25000" dirty="0" smtClean="0"/>
              <a:t>2</a:t>
            </a:r>
            <a:endParaRPr lang="ru-RU" baseline="-25000" dirty="0"/>
          </a:p>
        </p:txBody>
      </p:sp>
      <p:sp>
        <p:nvSpPr>
          <p:cNvPr id="32" name="TextBox 31"/>
          <p:cNvSpPr txBox="1"/>
          <p:nvPr/>
        </p:nvSpPr>
        <p:spPr>
          <a:xfrm>
            <a:off x="2130786" y="2488435"/>
            <a:ext cx="352982" cy="369332"/>
          </a:xfrm>
          <a:prstGeom prst="rect">
            <a:avLst/>
          </a:prstGeom>
          <a:noFill/>
        </p:spPr>
        <p:txBody>
          <a:bodyPr wrap="none" rtlCol="0">
            <a:spAutoFit/>
          </a:bodyPr>
          <a:lstStyle/>
          <a:p>
            <a:r>
              <a:rPr lang="en-US" dirty="0" smtClean="0"/>
              <a:t>s</a:t>
            </a:r>
            <a:r>
              <a:rPr lang="en-US" baseline="-25000" dirty="0"/>
              <a:t>3</a:t>
            </a:r>
            <a:endParaRPr lang="ru-RU" baseline="-25000" dirty="0"/>
          </a:p>
        </p:txBody>
      </p:sp>
      <p:sp>
        <p:nvSpPr>
          <p:cNvPr id="33" name="TextBox 32"/>
          <p:cNvSpPr txBox="1"/>
          <p:nvPr/>
        </p:nvSpPr>
        <p:spPr>
          <a:xfrm>
            <a:off x="2155233" y="2796702"/>
            <a:ext cx="306494" cy="369332"/>
          </a:xfrm>
          <a:prstGeom prst="rect">
            <a:avLst/>
          </a:prstGeom>
          <a:noFill/>
        </p:spPr>
        <p:txBody>
          <a:bodyPr wrap="none" rtlCol="0">
            <a:spAutoFit/>
          </a:bodyPr>
          <a:lstStyle/>
          <a:p>
            <a:r>
              <a:rPr lang="en-US" dirty="0"/>
              <a:t>p</a:t>
            </a:r>
            <a:endParaRPr lang="ru-RU" dirty="0"/>
          </a:p>
        </p:txBody>
      </p:sp>
      <p:cxnSp>
        <p:nvCxnSpPr>
          <p:cNvPr id="36" name="Прямая соединительная линия 35"/>
          <p:cNvCxnSpPr/>
          <p:nvPr/>
        </p:nvCxnSpPr>
        <p:spPr>
          <a:xfrm>
            <a:off x="2468978" y="2230634"/>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 name="Группа 56"/>
          <p:cNvGrpSpPr/>
          <p:nvPr/>
        </p:nvGrpSpPr>
        <p:grpSpPr>
          <a:xfrm>
            <a:off x="6088222" y="930943"/>
            <a:ext cx="1595398" cy="2228405"/>
            <a:chOff x="6072946" y="858935"/>
            <a:chExt cx="1595398" cy="2228405"/>
          </a:xfrm>
        </p:grpSpPr>
        <p:sp>
          <p:nvSpPr>
            <p:cNvPr id="38" name="Прямоугольник 37"/>
            <p:cNvSpPr/>
            <p:nvPr/>
          </p:nvSpPr>
          <p:spPr>
            <a:xfrm>
              <a:off x="6084168" y="927100"/>
              <a:ext cx="1584176" cy="2160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Прямоугольник 38"/>
            <p:cNvSpPr/>
            <p:nvPr/>
          </p:nvSpPr>
          <p:spPr>
            <a:xfrm>
              <a:off x="6084168" y="927100"/>
              <a:ext cx="576064" cy="2160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Box 39"/>
            <p:cNvSpPr txBox="1"/>
            <p:nvPr/>
          </p:nvSpPr>
          <p:spPr>
            <a:xfrm>
              <a:off x="6072946" y="916866"/>
              <a:ext cx="373820" cy="369332"/>
            </a:xfrm>
            <a:prstGeom prst="rect">
              <a:avLst/>
            </a:prstGeom>
            <a:noFill/>
          </p:spPr>
          <p:txBody>
            <a:bodyPr wrap="none" rtlCol="0">
              <a:spAutoFit/>
            </a:bodyPr>
            <a:lstStyle/>
            <a:p>
              <a:r>
                <a:rPr lang="en-US" dirty="0" smtClean="0"/>
                <a:t>a</a:t>
              </a:r>
              <a:r>
                <a:rPr lang="en-US" baseline="-25000" dirty="0" smtClean="0"/>
                <a:t>0</a:t>
              </a:r>
              <a:endParaRPr lang="ru-RU" baseline="-25000" dirty="0"/>
            </a:p>
          </p:txBody>
        </p:sp>
        <p:sp>
          <p:nvSpPr>
            <p:cNvPr id="43" name="TextBox 42"/>
            <p:cNvSpPr txBox="1"/>
            <p:nvPr/>
          </p:nvSpPr>
          <p:spPr>
            <a:xfrm>
              <a:off x="6072946" y="1637322"/>
              <a:ext cx="373820" cy="369332"/>
            </a:xfrm>
            <a:prstGeom prst="rect">
              <a:avLst/>
            </a:prstGeom>
            <a:noFill/>
          </p:spPr>
          <p:txBody>
            <a:bodyPr wrap="none" rtlCol="0">
              <a:spAutoFit/>
            </a:bodyPr>
            <a:lstStyle/>
            <a:p>
              <a:r>
                <a:rPr lang="en-US" dirty="0" smtClean="0"/>
                <a:t>a</a:t>
              </a:r>
              <a:r>
                <a:rPr lang="en-US" baseline="-25000" dirty="0" smtClean="0"/>
                <a:t>2</a:t>
              </a:r>
              <a:endParaRPr lang="ru-RU" baseline="-25000" dirty="0"/>
            </a:p>
          </p:txBody>
        </p:sp>
        <p:sp>
          <p:nvSpPr>
            <p:cNvPr id="44" name="TextBox 43"/>
            <p:cNvSpPr txBox="1"/>
            <p:nvPr/>
          </p:nvSpPr>
          <p:spPr>
            <a:xfrm>
              <a:off x="6072946" y="1997550"/>
              <a:ext cx="385042" cy="369332"/>
            </a:xfrm>
            <a:prstGeom prst="rect">
              <a:avLst/>
            </a:prstGeom>
            <a:noFill/>
          </p:spPr>
          <p:txBody>
            <a:bodyPr wrap="none" rtlCol="0">
              <a:spAutoFit/>
            </a:bodyPr>
            <a:lstStyle/>
            <a:p>
              <a:r>
                <a:rPr lang="en-US" dirty="0"/>
                <a:t>b</a:t>
              </a:r>
              <a:r>
                <a:rPr lang="en-US" baseline="-25000" dirty="0" smtClean="0"/>
                <a:t>0</a:t>
              </a:r>
              <a:endParaRPr lang="ru-RU" baseline="-25000" dirty="0"/>
            </a:p>
          </p:txBody>
        </p:sp>
        <p:sp>
          <p:nvSpPr>
            <p:cNvPr id="46" name="TextBox 45"/>
            <p:cNvSpPr txBox="1"/>
            <p:nvPr/>
          </p:nvSpPr>
          <p:spPr>
            <a:xfrm>
              <a:off x="6072946" y="2718008"/>
              <a:ext cx="385042" cy="369332"/>
            </a:xfrm>
            <a:prstGeom prst="rect">
              <a:avLst/>
            </a:prstGeom>
            <a:noFill/>
          </p:spPr>
          <p:txBody>
            <a:bodyPr wrap="none" rtlCol="0">
              <a:spAutoFit/>
            </a:bodyPr>
            <a:lstStyle/>
            <a:p>
              <a:r>
                <a:rPr lang="en-US" dirty="0" smtClean="0"/>
                <a:t>b</a:t>
              </a:r>
              <a:r>
                <a:rPr lang="en-US" baseline="-25000" dirty="0"/>
                <a:t>2</a:t>
              </a:r>
              <a:endParaRPr lang="ru-RU" baseline="-25000" dirty="0"/>
            </a:p>
          </p:txBody>
        </p:sp>
        <p:sp>
          <p:nvSpPr>
            <p:cNvPr id="48" name="Прямоугольник 47"/>
            <p:cNvSpPr/>
            <p:nvPr/>
          </p:nvSpPr>
          <p:spPr>
            <a:xfrm>
              <a:off x="7164288" y="927100"/>
              <a:ext cx="504056" cy="21602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TextBox 48"/>
            <p:cNvSpPr txBox="1"/>
            <p:nvPr/>
          </p:nvSpPr>
          <p:spPr>
            <a:xfrm>
              <a:off x="6660232" y="916866"/>
              <a:ext cx="487634" cy="369332"/>
            </a:xfrm>
            <a:prstGeom prst="rect">
              <a:avLst/>
            </a:prstGeom>
            <a:noFill/>
          </p:spPr>
          <p:txBody>
            <a:bodyPr wrap="none" rtlCol="0">
              <a:spAutoFit/>
            </a:bodyPr>
            <a:lstStyle/>
            <a:p>
              <a:r>
                <a:rPr lang="en-US" dirty="0" smtClean="0"/>
                <a:t>SM</a:t>
              </a:r>
              <a:endParaRPr lang="ru-RU" dirty="0"/>
            </a:p>
          </p:txBody>
        </p:sp>
        <p:sp>
          <p:nvSpPr>
            <p:cNvPr id="50" name="TextBox 49"/>
            <p:cNvSpPr txBox="1"/>
            <p:nvPr/>
          </p:nvSpPr>
          <p:spPr>
            <a:xfrm>
              <a:off x="7315362" y="858935"/>
              <a:ext cx="352982" cy="369332"/>
            </a:xfrm>
            <a:prstGeom prst="rect">
              <a:avLst/>
            </a:prstGeom>
            <a:noFill/>
          </p:spPr>
          <p:txBody>
            <a:bodyPr wrap="none" rtlCol="0">
              <a:spAutoFit/>
            </a:bodyPr>
            <a:lstStyle/>
            <a:p>
              <a:r>
                <a:rPr lang="en-US" dirty="0" smtClean="0"/>
                <a:t>s</a:t>
              </a:r>
              <a:r>
                <a:rPr lang="en-US" baseline="-25000" dirty="0" smtClean="0"/>
                <a:t>0</a:t>
              </a:r>
              <a:endParaRPr lang="ru-RU" baseline="-25000" dirty="0"/>
            </a:p>
          </p:txBody>
        </p:sp>
        <p:sp>
          <p:nvSpPr>
            <p:cNvPr id="51" name="TextBox 50"/>
            <p:cNvSpPr txBox="1"/>
            <p:nvPr/>
          </p:nvSpPr>
          <p:spPr>
            <a:xfrm>
              <a:off x="7315362" y="1378099"/>
              <a:ext cx="352982" cy="369332"/>
            </a:xfrm>
            <a:prstGeom prst="rect">
              <a:avLst/>
            </a:prstGeom>
            <a:noFill/>
          </p:spPr>
          <p:txBody>
            <a:bodyPr wrap="none" rtlCol="0">
              <a:spAutoFit/>
            </a:bodyPr>
            <a:lstStyle/>
            <a:p>
              <a:r>
                <a:rPr lang="en-US" dirty="0" smtClean="0"/>
                <a:t>s</a:t>
              </a:r>
              <a:r>
                <a:rPr lang="en-US" baseline="-25000" dirty="0"/>
                <a:t>1</a:t>
              </a:r>
              <a:endParaRPr lang="ru-RU" baseline="-25000" dirty="0"/>
            </a:p>
          </p:txBody>
        </p:sp>
        <p:sp>
          <p:nvSpPr>
            <p:cNvPr id="52" name="TextBox 51"/>
            <p:cNvSpPr txBox="1"/>
            <p:nvPr/>
          </p:nvSpPr>
          <p:spPr>
            <a:xfrm>
              <a:off x="7315362" y="1897263"/>
              <a:ext cx="352982" cy="369332"/>
            </a:xfrm>
            <a:prstGeom prst="rect">
              <a:avLst/>
            </a:prstGeom>
            <a:noFill/>
          </p:spPr>
          <p:txBody>
            <a:bodyPr wrap="none" rtlCol="0">
              <a:spAutoFit/>
            </a:bodyPr>
            <a:lstStyle/>
            <a:p>
              <a:r>
                <a:rPr lang="en-US" dirty="0" smtClean="0"/>
                <a:t>s</a:t>
              </a:r>
              <a:r>
                <a:rPr lang="en-US" baseline="-25000" dirty="0" smtClean="0"/>
                <a:t>2</a:t>
              </a:r>
              <a:endParaRPr lang="ru-RU" baseline="-25000" dirty="0"/>
            </a:p>
          </p:txBody>
        </p:sp>
        <p:sp>
          <p:nvSpPr>
            <p:cNvPr id="54" name="TextBox 53"/>
            <p:cNvSpPr txBox="1"/>
            <p:nvPr/>
          </p:nvSpPr>
          <p:spPr>
            <a:xfrm>
              <a:off x="7354682" y="2616253"/>
              <a:ext cx="306494" cy="369332"/>
            </a:xfrm>
            <a:prstGeom prst="rect">
              <a:avLst/>
            </a:prstGeom>
            <a:noFill/>
          </p:spPr>
          <p:txBody>
            <a:bodyPr wrap="none" rtlCol="0">
              <a:spAutoFit/>
            </a:bodyPr>
            <a:lstStyle/>
            <a:p>
              <a:r>
                <a:rPr lang="en-US" dirty="0"/>
                <a:t>p</a:t>
              </a:r>
              <a:endParaRPr lang="ru-RU" dirty="0"/>
            </a:p>
          </p:txBody>
        </p:sp>
        <p:sp>
          <p:nvSpPr>
            <p:cNvPr id="55" name="TextBox 54"/>
            <p:cNvSpPr txBox="1"/>
            <p:nvPr/>
          </p:nvSpPr>
          <p:spPr>
            <a:xfrm>
              <a:off x="6072946" y="1277094"/>
              <a:ext cx="373820" cy="369332"/>
            </a:xfrm>
            <a:prstGeom prst="rect">
              <a:avLst/>
            </a:prstGeom>
            <a:noFill/>
          </p:spPr>
          <p:txBody>
            <a:bodyPr wrap="none" rtlCol="0">
              <a:spAutoFit/>
            </a:bodyPr>
            <a:lstStyle/>
            <a:p>
              <a:r>
                <a:rPr lang="en-US" dirty="0" smtClean="0"/>
                <a:t>a</a:t>
              </a:r>
              <a:r>
                <a:rPr lang="en-US" baseline="-25000" dirty="0"/>
                <a:t>1</a:t>
              </a:r>
              <a:endParaRPr lang="ru-RU" baseline="-25000" dirty="0"/>
            </a:p>
          </p:txBody>
        </p:sp>
        <p:sp>
          <p:nvSpPr>
            <p:cNvPr id="56" name="TextBox 55"/>
            <p:cNvSpPr txBox="1"/>
            <p:nvPr/>
          </p:nvSpPr>
          <p:spPr>
            <a:xfrm>
              <a:off x="6072946" y="2357778"/>
              <a:ext cx="385042" cy="369332"/>
            </a:xfrm>
            <a:prstGeom prst="rect">
              <a:avLst/>
            </a:prstGeom>
            <a:noFill/>
          </p:spPr>
          <p:txBody>
            <a:bodyPr wrap="none" rtlCol="0">
              <a:spAutoFit/>
            </a:bodyPr>
            <a:lstStyle/>
            <a:p>
              <a:r>
                <a:rPr lang="en-US" dirty="0" smtClean="0"/>
                <a:t>b</a:t>
              </a:r>
              <a:r>
                <a:rPr lang="en-US" baseline="-25000" dirty="0"/>
                <a:t>1</a:t>
              </a:r>
              <a:endParaRPr lang="ru-RU" baseline="-25000" dirty="0"/>
            </a:p>
          </p:txBody>
        </p:sp>
      </p:grpSp>
      <p:cxnSp>
        <p:nvCxnSpPr>
          <p:cNvPr id="63" name="Соединительная линия уступом 62"/>
          <p:cNvCxnSpPr/>
          <p:nvPr/>
        </p:nvCxnSpPr>
        <p:spPr>
          <a:xfrm flipV="1">
            <a:off x="2901026" y="1548256"/>
            <a:ext cx="3187196" cy="682378"/>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Соединительная линия уступом 64"/>
          <p:cNvCxnSpPr/>
          <p:nvPr/>
        </p:nvCxnSpPr>
        <p:spPr>
          <a:xfrm flipV="1">
            <a:off x="2483768" y="1173540"/>
            <a:ext cx="3604454" cy="514151"/>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Соединительная линия уступом 67"/>
          <p:cNvCxnSpPr/>
          <p:nvPr/>
        </p:nvCxnSpPr>
        <p:spPr>
          <a:xfrm flipV="1">
            <a:off x="2483768" y="1917588"/>
            <a:ext cx="3604454" cy="827197"/>
          </a:xfrm>
          <a:prstGeom prst="bentConnector3">
            <a:avLst>
              <a:gd name="adj1" fmla="val 67691"/>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Соединительная линия уступом 70"/>
          <p:cNvCxnSpPr/>
          <p:nvPr/>
        </p:nvCxnSpPr>
        <p:spPr>
          <a:xfrm flipV="1">
            <a:off x="2483768" y="644213"/>
            <a:ext cx="6063462" cy="666452"/>
          </a:xfrm>
          <a:prstGeom prst="bentConnector3">
            <a:avLst>
              <a:gd name="adj1" fmla="val 24998"/>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Прямая соединительная линия 72"/>
          <p:cNvCxnSpPr/>
          <p:nvPr/>
        </p:nvCxnSpPr>
        <p:spPr>
          <a:xfrm>
            <a:off x="7683620" y="1133693"/>
            <a:ext cx="86361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Прямая соединительная линия 73"/>
          <p:cNvCxnSpPr/>
          <p:nvPr/>
        </p:nvCxnSpPr>
        <p:spPr>
          <a:xfrm>
            <a:off x="7683620" y="1686405"/>
            <a:ext cx="7768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Прямая соединительная линия 74"/>
          <p:cNvCxnSpPr/>
          <p:nvPr/>
        </p:nvCxnSpPr>
        <p:spPr>
          <a:xfrm>
            <a:off x="7707135" y="2235758"/>
            <a:ext cx="75329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Прямая соединительная линия 75"/>
          <p:cNvCxnSpPr/>
          <p:nvPr/>
        </p:nvCxnSpPr>
        <p:spPr>
          <a:xfrm>
            <a:off x="5667396" y="2254224"/>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Прямая соединительная линия 76"/>
          <p:cNvCxnSpPr/>
          <p:nvPr/>
        </p:nvCxnSpPr>
        <p:spPr>
          <a:xfrm>
            <a:off x="5667396" y="2614452"/>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Прямоугольник 77"/>
          <p:cNvSpPr/>
          <p:nvPr/>
        </p:nvSpPr>
        <p:spPr>
          <a:xfrm>
            <a:off x="3373030" y="2897909"/>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11</a:t>
            </a:r>
            <a:endParaRPr lang="ru-RU" dirty="0"/>
          </a:p>
        </p:txBody>
      </p:sp>
      <p:sp>
        <p:nvSpPr>
          <p:cNvPr id="79" name="Прямоугольник 78"/>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0" name="Прямоугольник 79"/>
          <p:cNvSpPr/>
          <p:nvPr/>
        </p:nvSpPr>
        <p:spPr>
          <a:xfrm>
            <a:off x="4872562" y="3725416"/>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3" name="Соединительная линия уступом 82"/>
          <p:cNvCxnSpPr/>
          <p:nvPr/>
        </p:nvCxnSpPr>
        <p:spPr>
          <a:xfrm>
            <a:off x="2483768" y="3057593"/>
            <a:ext cx="2388794" cy="1091487"/>
          </a:xfrm>
          <a:prstGeom prst="bentConnector3">
            <a:avLst>
              <a:gd name="adj1" fmla="val 8196"/>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p:cNvCxnSpPr/>
          <p:nvPr/>
        </p:nvCxnSpPr>
        <p:spPr>
          <a:xfrm>
            <a:off x="2771800" y="2744785"/>
            <a:ext cx="0" cy="9806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88"/>
          <p:cNvCxnSpPr/>
          <p:nvPr/>
        </p:nvCxnSpPr>
        <p:spPr>
          <a:xfrm>
            <a:off x="2771800" y="3725416"/>
            <a:ext cx="127071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Прямая соединительная линия 90"/>
          <p:cNvCxnSpPr/>
          <p:nvPr/>
        </p:nvCxnSpPr>
        <p:spPr>
          <a:xfrm>
            <a:off x="3211261" y="1686405"/>
            <a:ext cx="0" cy="12720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Прямая соединительная линия 92"/>
          <p:cNvCxnSpPr/>
          <p:nvPr/>
        </p:nvCxnSpPr>
        <p:spPr>
          <a:xfrm>
            <a:off x="3211261" y="2971422"/>
            <a:ext cx="15389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Прямая соединительная линия 96"/>
          <p:cNvCxnSpPr/>
          <p:nvPr/>
        </p:nvCxnSpPr>
        <p:spPr>
          <a:xfrm>
            <a:off x="2901026" y="2254224"/>
            <a:ext cx="0" cy="9929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Прямая соединительная линия 98"/>
          <p:cNvCxnSpPr/>
          <p:nvPr/>
        </p:nvCxnSpPr>
        <p:spPr>
          <a:xfrm>
            <a:off x="2901026" y="3247203"/>
            <a:ext cx="4641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Овал 102"/>
          <p:cNvSpPr/>
          <p:nvPr/>
        </p:nvSpPr>
        <p:spPr>
          <a:xfrm>
            <a:off x="3179968" y="166243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4" name="Овал 103"/>
          <p:cNvSpPr/>
          <p:nvPr/>
        </p:nvSpPr>
        <p:spPr>
          <a:xfrm>
            <a:off x="2867872" y="220486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5" name="Овал 104"/>
          <p:cNvSpPr/>
          <p:nvPr/>
        </p:nvSpPr>
        <p:spPr>
          <a:xfrm>
            <a:off x="2735888" y="270892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6" name="TextBox 105"/>
          <p:cNvSpPr txBox="1"/>
          <p:nvPr/>
        </p:nvSpPr>
        <p:spPr>
          <a:xfrm>
            <a:off x="3376479" y="2884634"/>
            <a:ext cx="301686" cy="369332"/>
          </a:xfrm>
          <a:prstGeom prst="rect">
            <a:avLst/>
          </a:prstGeom>
          <a:noFill/>
        </p:spPr>
        <p:txBody>
          <a:bodyPr wrap="none" rtlCol="0">
            <a:spAutoFit/>
          </a:bodyPr>
          <a:lstStyle/>
          <a:p>
            <a:r>
              <a:rPr lang="en-US" dirty="0"/>
              <a:t>1</a:t>
            </a:r>
            <a:endParaRPr lang="ru-RU" dirty="0"/>
          </a:p>
        </p:txBody>
      </p:sp>
      <p:sp>
        <p:nvSpPr>
          <p:cNvPr id="107" name="TextBox 106"/>
          <p:cNvSpPr txBox="1"/>
          <p:nvPr/>
        </p:nvSpPr>
        <p:spPr>
          <a:xfrm>
            <a:off x="4872562" y="3725416"/>
            <a:ext cx="301686" cy="369332"/>
          </a:xfrm>
          <a:prstGeom prst="rect">
            <a:avLst/>
          </a:prstGeom>
          <a:noFill/>
        </p:spPr>
        <p:txBody>
          <a:bodyPr wrap="none" rtlCol="0">
            <a:spAutoFit/>
          </a:bodyPr>
          <a:lstStyle/>
          <a:p>
            <a:r>
              <a:rPr lang="en-US" dirty="0"/>
              <a:t>1</a:t>
            </a:r>
            <a:endParaRPr lang="ru-RU" dirty="0"/>
          </a:p>
        </p:txBody>
      </p:sp>
      <p:sp>
        <p:nvSpPr>
          <p:cNvPr id="108" name="TextBox 107"/>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cxnSp>
        <p:nvCxnSpPr>
          <p:cNvPr id="110" name="Соединительная линия уступом 109"/>
          <p:cNvCxnSpPr>
            <a:stCxn id="78" idx="3"/>
            <a:endCxn id="108" idx="1"/>
          </p:cNvCxnSpPr>
          <p:nvPr/>
        </p:nvCxnSpPr>
        <p:spPr>
          <a:xfrm>
            <a:off x="3787782" y="3213482"/>
            <a:ext cx="252569" cy="198805"/>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Соединительная линия уступом 113"/>
          <p:cNvCxnSpPr>
            <a:stCxn id="79" idx="3"/>
          </p:cNvCxnSpPr>
          <p:nvPr/>
        </p:nvCxnSpPr>
        <p:spPr>
          <a:xfrm>
            <a:off x="4457268" y="3562776"/>
            <a:ext cx="415294" cy="315573"/>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Прямая соединительная линия 115"/>
          <p:cNvCxnSpPr/>
          <p:nvPr/>
        </p:nvCxnSpPr>
        <p:spPr>
          <a:xfrm>
            <a:off x="5667396" y="2254224"/>
            <a:ext cx="0" cy="17867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p:cNvCxnSpPr>
            <a:stCxn id="80" idx="3"/>
          </p:cNvCxnSpPr>
          <p:nvPr/>
        </p:nvCxnSpPr>
        <p:spPr>
          <a:xfrm>
            <a:off x="5287314" y="4040989"/>
            <a:ext cx="317311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Овал 119"/>
          <p:cNvSpPr/>
          <p:nvPr/>
        </p:nvSpPr>
        <p:spPr>
          <a:xfrm>
            <a:off x="5652120" y="257384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1" name="TextBox 120"/>
          <p:cNvSpPr txBox="1"/>
          <p:nvPr/>
        </p:nvSpPr>
        <p:spPr>
          <a:xfrm>
            <a:off x="8547230" y="459547"/>
            <a:ext cx="352982" cy="369332"/>
          </a:xfrm>
          <a:prstGeom prst="rect">
            <a:avLst/>
          </a:prstGeom>
          <a:noFill/>
        </p:spPr>
        <p:txBody>
          <a:bodyPr wrap="none" rtlCol="0">
            <a:spAutoFit/>
          </a:bodyPr>
          <a:lstStyle/>
          <a:p>
            <a:r>
              <a:rPr lang="en-US" dirty="0" smtClean="0"/>
              <a:t>s</a:t>
            </a:r>
            <a:r>
              <a:rPr lang="en-US" baseline="-25000" dirty="0" smtClean="0"/>
              <a:t>0</a:t>
            </a:r>
            <a:endParaRPr lang="ru-RU" baseline="-25000" dirty="0"/>
          </a:p>
        </p:txBody>
      </p:sp>
      <p:sp>
        <p:nvSpPr>
          <p:cNvPr id="123" name="TextBox 122"/>
          <p:cNvSpPr txBox="1"/>
          <p:nvPr/>
        </p:nvSpPr>
        <p:spPr>
          <a:xfrm>
            <a:off x="8535199" y="948378"/>
            <a:ext cx="352982" cy="369332"/>
          </a:xfrm>
          <a:prstGeom prst="rect">
            <a:avLst/>
          </a:prstGeom>
          <a:noFill/>
        </p:spPr>
        <p:txBody>
          <a:bodyPr wrap="none" rtlCol="0">
            <a:spAutoFit/>
          </a:bodyPr>
          <a:lstStyle/>
          <a:p>
            <a:r>
              <a:rPr lang="en-US" dirty="0" smtClean="0"/>
              <a:t>s</a:t>
            </a:r>
            <a:r>
              <a:rPr lang="en-US" baseline="-25000" dirty="0"/>
              <a:t>1</a:t>
            </a:r>
            <a:endParaRPr lang="ru-RU" baseline="-25000" dirty="0"/>
          </a:p>
        </p:txBody>
      </p:sp>
      <p:sp>
        <p:nvSpPr>
          <p:cNvPr id="130" name="TextBox 129"/>
          <p:cNvSpPr txBox="1"/>
          <p:nvPr/>
        </p:nvSpPr>
        <p:spPr>
          <a:xfrm>
            <a:off x="8502572" y="1477767"/>
            <a:ext cx="352982" cy="369332"/>
          </a:xfrm>
          <a:prstGeom prst="rect">
            <a:avLst/>
          </a:prstGeom>
          <a:noFill/>
        </p:spPr>
        <p:txBody>
          <a:bodyPr wrap="none" rtlCol="0">
            <a:spAutoFit/>
          </a:bodyPr>
          <a:lstStyle/>
          <a:p>
            <a:r>
              <a:rPr lang="en-US" dirty="0" smtClean="0"/>
              <a:t>s</a:t>
            </a:r>
            <a:r>
              <a:rPr lang="en-US" baseline="-25000" dirty="0" smtClean="0"/>
              <a:t>2</a:t>
            </a:r>
            <a:endParaRPr lang="ru-RU" baseline="-25000" dirty="0"/>
          </a:p>
        </p:txBody>
      </p:sp>
      <p:sp>
        <p:nvSpPr>
          <p:cNvPr id="131" name="TextBox 130"/>
          <p:cNvSpPr txBox="1"/>
          <p:nvPr/>
        </p:nvSpPr>
        <p:spPr>
          <a:xfrm>
            <a:off x="8539498" y="2048990"/>
            <a:ext cx="352982" cy="369332"/>
          </a:xfrm>
          <a:prstGeom prst="rect">
            <a:avLst/>
          </a:prstGeom>
          <a:noFill/>
        </p:spPr>
        <p:txBody>
          <a:bodyPr wrap="none" rtlCol="0">
            <a:spAutoFit/>
          </a:bodyPr>
          <a:lstStyle/>
          <a:p>
            <a:r>
              <a:rPr lang="en-US" dirty="0" smtClean="0"/>
              <a:t>s</a:t>
            </a:r>
            <a:r>
              <a:rPr lang="en-US" baseline="-25000" dirty="0"/>
              <a:t>3</a:t>
            </a:r>
            <a:endParaRPr lang="ru-RU" baseline="-25000" dirty="0"/>
          </a:p>
        </p:txBody>
      </p:sp>
      <p:sp>
        <p:nvSpPr>
          <p:cNvPr id="133" name="TextBox 132"/>
          <p:cNvSpPr txBox="1"/>
          <p:nvPr/>
        </p:nvSpPr>
        <p:spPr>
          <a:xfrm>
            <a:off x="8502572" y="3765435"/>
            <a:ext cx="306494" cy="369332"/>
          </a:xfrm>
          <a:prstGeom prst="rect">
            <a:avLst/>
          </a:prstGeom>
          <a:noFill/>
        </p:spPr>
        <p:txBody>
          <a:bodyPr wrap="none" rtlCol="0">
            <a:spAutoFit/>
          </a:bodyPr>
          <a:lstStyle/>
          <a:p>
            <a:r>
              <a:rPr lang="en-US" dirty="0"/>
              <a:t>p</a:t>
            </a:r>
            <a:endParaRPr lang="ru-RU" dirty="0"/>
          </a:p>
        </p:txBody>
      </p:sp>
      <p:sp>
        <p:nvSpPr>
          <p:cNvPr id="134" name="TextBox 133"/>
          <p:cNvSpPr txBox="1"/>
          <p:nvPr/>
        </p:nvSpPr>
        <p:spPr>
          <a:xfrm>
            <a:off x="1279122" y="557768"/>
            <a:ext cx="587020" cy="369332"/>
          </a:xfrm>
          <a:prstGeom prst="rect">
            <a:avLst/>
          </a:prstGeom>
          <a:noFill/>
        </p:spPr>
        <p:txBody>
          <a:bodyPr wrap="none" rtlCol="0">
            <a:spAutoFit/>
          </a:bodyPr>
          <a:lstStyle/>
          <a:p>
            <a:r>
              <a:rPr lang="en-US" dirty="0" smtClean="0"/>
              <a:t>DD1</a:t>
            </a:r>
            <a:endParaRPr lang="ru-RU" dirty="0"/>
          </a:p>
        </p:txBody>
      </p:sp>
      <p:sp>
        <p:nvSpPr>
          <p:cNvPr id="135" name="TextBox 134"/>
          <p:cNvSpPr txBox="1"/>
          <p:nvPr/>
        </p:nvSpPr>
        <p:spPr>
          <a:xfrm>
            <a:off x="3808370" y="2741443"/>
            <a:ext cx="587020" cy="369332"/>
          </a:xfrm>
          <a:prstGeom prst="rect">
            <a:avLst/>
          </a:prstGeom>
          <a:noFill/>
        </p:spPr>
        <p:txBody>
          <a:bodyPr wrap="none" rtlCol="0">
            <a:spAutoFit/>
          </a:bodyPr>
          <a:lstStyle/>
          <a:p>
            <a:r>
              <a:rPr lang="en-US" dirty="0" smtClean="0"/>
              <a:t>DD2</a:t>
            </a:r>
            <a:endParaRPr lang="ru-RU" dirty="0"/>
          </a:p>
        </p:txBody>
      </p:sp>
      <p:sp>
        <p:nvSpPr>
          <p:cNvPr id="136" name="TextBox 135"/>
          <p:cNvSpPr txBox="1"/>
          <p:nvPr/>
        </p:nvSpPr>
        <p:spPr>
          <a:xfrm>
            <a:off x="4457268" y="3109452"/>
            <a:ext cx="587020" cy="369332"/>
          </a:xfrm>
          <a:prstGeom prst="rect">
            <a:avLst/>
          </a:prstGeom>
          <a:noFill/>
        </p:spPr>
        <p:txBody>
          <a:bodyPr wrap="none" rtlCol="0">
            <a:spAutoFit/>
          </a:bodyPr>
          <a:lstStyle/>
          <a:p>
            <a:r>
              <a:rPr lang="en-US" dirty="0" smtClean="0"/>
              <a:t>DD3</a:t>
            </a:r>
            <a:endParaRPr lang="ru-RU" dirty="0"/>
          </a:p>
        </p:txBody>
      </p:sp>
      <p:sp>
        <p:nvSpPr>
          <p:cNvPr id="137" name="TextBox 136"/>
          <p:cNvSpPr txBox="1"/>
          <p:nvPr/>
        </p:nvSpPr>
        <p:spPr>
          <a:xfrm>
            <a:off x="4786428" y="4356562"/>
            <a:ext cx="587020" cy="369332"/>
          </a:xfrm>
          <a:prstGeom prst="rect">
            <a:avLst/>
          </a:prstGeom>
          <a:noFill/>
        </p:spPr>
        <p:txBody>
          <a:bodyPr wrap="none" rtlCol="0">
            <a:spAutoFit/>
          </a:bodyPr>
          <a:lstStyle/>
          <a:p>
            <a:r>
              <a:rPr lang="en-US" dirty="0" smtClean="0"/>
              <a:t>DD4</a:t>
            </a:r>
            <a:endParaRPr lang="ru-RU" dirty="0"/>
          </a:p>
        </p:txBody>
      </p:sp>
      <p:sp>
        <p:nvSpPr>
          <p:cNvPr id="138" name="TextBox 137"/>
          <p:cNvSpPr txBox="1"/>
          <p:nvPr/>
        </p:nvSpPr>
        <p:spPr>
          <a:xfrm>
            <a:off x="6645023" y="3227621"/>
            <a:ext cx="587020" cy="369332"/>
          </a:xfrm>
          <a:prstGeom prst="rect">
            <a:avLst/>
          </a:prstGeom>
          <a:noFill/>
        </p:spPr>
        <p:txBody>
          <a:bodyPr wrap="none" rtlCol="0">
            <a:spAutoFit/>
          </a:bodyPr>
          <a:lstStyle/>
          <a:p>
            <a:r>
              <a:rPr lang="en-US" dirty="0" smtClean="0"/>
              <a:t>DD5</a:t>
            </a:r>
            <a:endParaRPr lang="ru-RU" dirty="0"/>
          </a:p>
        </p:txBody>
      </p:sp>
      <p:sp>
        <p:nvSpPr>
          <p:cNvPr id="139" name="Овал 138"/>
          <p:cNvSpPr/>
          <p:nvPr/>
        </p:nvSpPr>
        <p:spPr>
          <a:xfrm>
            <a:off x="5651936" y="400506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0" name="TextBox 139"/>
          <p:cNvSpPr txBox="1"/>
          <p:nvPr/>
        </p:nvSpPr>
        <p:spPr>
          <a:xfrm>
            <a:off x="5651936" y="2645848"/>
            <a:ext cx="538930" cy="369332"/>
          </a:xfrm>
          <a:prstGeom prst="rect">
            <a:avLst/>
          </a:prstGeom>
          <a:noFill/>
        </p:spPr>
        <p:txBody>
          <a:bodyPr wrap="none" rtlCol="0">
            <a:spAutoFit/>
          </a:bodyPr>
          <a:lstStyle/>
          <a:p>
            <a:r>
              <a:rPr lang="ru-RU" dirty="0" smtClean="0"/>
              <a:t>«0»</a:t>
            </a:r>
            <a:endParaRPr lang="ru-RU" dirty="0"/>
          </a:p>
        </p:txBody>
      </p:sp>
      <p:cxnSp>
        <p:nvCxnSpPr>
          <p:cNvPr id="142" name="Прямая соединительная линия 141"/>
          <p:cNvCxnSpPr>
            <a:endCxn id="140" idx="2"/>
          </p:cNvCxnSpPr>
          <p:nvPr/>
        </p:nvCxnSpPr>
        <p:spPr>
          <a:xfrm flipH="1" flipV="1">
            <a:off x="5921401" y="3015180"/>
            <a:ext cx="166821" cy="15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1029592" y="4725894"/>
            <a:ext cx="1459054" cy="923330"/>
          </a:xfrm>
          <a:prstGeom prst="rect">
            <a:avLst/>
          </a:prstGeom>
          <a:noFill/>
        </p:spPr>
        <p:txBody>
          <a:bodyPr wrap="none" rtlCol="0">
            <a:spAutoFit/>
          </a:bodyPr>
          <a:lstStyle/>
          <a:p>
            <a:r>
              <a:rPr lang="ru-RU" dirty="0" smtClean="0"/>
              <a:t>Пример</a:t>
            </a:r>
            <a:endParaRPr lang="ru-RU" dirty="0"/>
          </a:p>
          <a:p>
            <a:endParaRPr lang="ru-RU" dirty="0" smtClean="0"/>
          </a:p>
          <a:p>
            <a:r>
              <a:rPr lang="ru-RU" dirty="0" smtClean="0"/>
              <a:t>0111+0100=?</a:t>
            </a:r>
            <a:endParaRPr lang="ru-RU" dirty="0"/>
          </a:p>
        </p:txBody>
      </p:sp>
    </p:spTree>
    <p:extLst>
      <p:ext uri="{BB962C8B-B14F-4D97-AF65-F5344CB8AC3E}">
        <p14:creationId xmlns:p14="http://schemas.microsoft.com/office/powerpoint/2010/main" val="20879427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43808" y="354412"/>
            <a:ext cx="2878801" cy="369332"/>
          </a:xfrm>
          <a:prstGeom prst="rect">
            <a:avLst/>
          </a:prstGeom>
          <a:noFill/>
        </p:spPr>
        <p:txBody>
          <a:bodyPr wrap="none" rtlCol="0">
            <a:spAutoFit/>
          </a:bodyPr>
          <a:lstStyle/>
          <a:p>
            <a:r>
              <a:rPr lang="ru-RU" dirty="0" smtClean="0"/>
              <a:t>Арифметическое сложение</a:t>
            </a:r>
            <a:endParaRPr lang="ru-RU" dirty="0"/>
          </a:p>
        </p:txBody>
      </p:sp>
      <p:sp>
        <p:nvSpPr>
          <p:cNvPr id="6" name="TextBox 5"/>
          <p:cNvSpPr txBox="1"/>
          <p:nvPr/>
        </p:nvSpPr>
        <p:spPr>
          <a:xfrm>
            <a:off x="188001" y="693820"/>
            <a:ext cx="5904656" cy="369332"/>
          </a:xfrm>
          <a:prstGeom prst="rect">
            <a:avLst/>
          </a:prstGeom>
          <a:noFill/>
        </p:spPr>
        <p:txBody>
          <a:bodyPr wrap="square" rtlCol="0">
            <a:spAutoFit/>
          </a:bodyPr>
          <a:lstStyle/>
          <a:p>
            <a:r>
              <a:rPr lang="ru-RU" dirty="0" smtClean="0"/>
              <a:t>Пример</a:t>
            </a:r>
            <a:r>
              <a:rPr lang="en-US" dirty="0" smtClean="0"/>
              <a:t>:</a:t>
            </a:r>
            <a:r>
              <a:rPr lang="ru-RU" dirty="0" smtClean="0"/>
              <a:t> умножение двухразрядных двоичных чисел</a:t>
            </a:r>
          </a:p>
        </p:txBody>
      </p:sp>
      <p:sp>
        <p:nvSpPr>
          <p:cNvPr id="8" name="TextBox 7"/>
          <p:cNvSpPr txBox="1"/>
          <p:nvPr/>
        </p:nvSpPr>
        <p:spPr>
          <a:xfrm>
            <a:off x="1021166" y="2545270"/>
            <a:ext cx="880369" cy="369332"/>
          </a:xfrm>
          <a:prstGeom prst="rect">
            <a:avLst/>
          </a:prstGeom>
          <a:noFill/>
        </p:spPr>
        <p:txBody>
          <a:bodyPr wrap="none" rtlCol="0">
            <a:spAutoFit/>
          </a:bodyPr>
          <a:lstStyle/>
          <a:p>
            <a:r>
              <a:rPr lang="en-US" dirty="0" smtClean="0"/>
              <a:t>a</a:t>
            </a:r>
            <a:r>
              <a:rPr lang="en-US" baseline="-25000" dirty="0" smtClean="0"/>
              <a:t>1</a:t>
            </a:r>
            <a:r>
              <a:rPr lang="en-US" dirty="0" smtClean="0"/>
              <a:t>      a</a:t>
            </a:r>
            <a:r>
              <a:rPr lang="en-US" baseline="-25000" dirty="0" smtClean="0"/>
              <a:t>0</a:t>
            </a:r>
            <a:endParaRPr lang="ru-RU" baseline="-25000" dirty="0"/>
          </a:p>
        </p:txBody>
      </p:sp>
      <p:sp>
        <p:nvSpPr>
          <p:cNvPr id="9" name="TextBox 8"/>
          <p:cNvSpPr txBox="1"/>
          <p:nvPr/>
        </p:nvSpPr>
        <p:spPr>
          <a:xfrm>
            <a:off x="1021166" y="2942620"/>
            <a:ext cx="902811" cy="369332"/>
          </a:xfrm>
          <a:prstGeom prst="rect">
            <a:avLst/>
          </a:prstGeom>
          <a:noFill/>
        </p:spPr>
        <p:txBody>
          <a:bodyPr wrap="none" rtlCol="0">
            <a:spAutoFit/>
          </a:bodyPr>
          <a:lstStyle/>
          <a:p>
            <a:r>
              <a:rPr lang="en-US" dirty="0"/>
              <a:t>b</a:t>
            </a:r>
            <a:r>
              <a:rPr lang="en-US" baseline="-25000" dirty="0" smtClean="0"/>
              <a:t>1</a:t>
            </a:r>
            <a:r>
              <a:rPr lang="en-US" dirty="0" smtClean="0"/>
              <a:t>      </a:t>
            </a:r>
            <a:r>
              <a:rPr lang="en-US" dirty="0"/>
              <a:t>b</a:t>
            </a:r>
            <a:r>
              <a:rPr lang="en-US" baseline="-25000" dirty="0" smtClean="0"/>
              <a:t>0</a:t>
            </a:r>
            <a:endParaRPr lang="ru-RU" baseline="-25000" dirty="0"/>
          </a:p>
        </p:txBody>
      </p:sp>
      <p:sp>
        <p:nvSpPr>
          <p:cNvPr id="10" name="TextBox 9"/>
          <p:cNvSpPr txBox="1"/>
          <p:nvPr/>
        </p:nvSpPr>
        <p:spPr>
          <a:xfrm>
            <a:off x="737114" y="2748762"/>
            <a:ext cx="284052" cy="369332"/>
          </a:xfrm>
          <a:prstGeom prst="rect">
            <a:avLst/>
          </a:prstGeom>
          <a:noFill/>
        </p:spPr>
        <p:txBody>
          <a:bodyPr wrap="none" rtlCol="0">
            <a:spAutoFit/>
          </a:bodyPr>
          <a:lstStyle/>
          <a:p>
            <a:r>
              <a:rPr lang="en-US" dirty="0" smtClean="0"/>
              <a:t>x</a:t>
            </a:r>
            <a:endParaRPr lang="ru-RU" dirty="0"/>
          </a:p>
        </p:txBody>
      </p:sp>
      <p:cxnSp>
        <p:nvCxnSpPr>
          <p:cNvPr id="12" name="Прямая соединительная линия 11"/>
          <p:cNvCxnSpPr/>
          <p:nvPr/>
        </p:nvCxnSpPr>
        <p:spPr>
          <a:xfrm>
            <a:off x="737114" y="3311952"/>
            <a:ext cx="153063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74741" y="3351461"/>
            <a:ext cx="1944217" cy="369332"/>
          </a:xfrm>
          <a:prstGeom prst="rect">
            <a:avLst/>
          </a:prstGeom>
          <a:noFill/>
        </p:spPr>
        <p:txBody>
          <a:bodyPr wrap="square" rtlCol="0">
            <a:spAutoFit/>
          </a:bodyPr>
          <a:lstStyle/>
          <a:p>
            <a:r>
              <a:rPr lang="en-US" dirty="0" smtClean="0"/>
              <a:t>b</a:t>
            </a:r>
            <a:r>
              <a:rPr lang="en-US" baseline="-25000" dirty="0" smtClean="0"/>
              <a:t>1</a:t>
            </a:r>
            <a:r>
              <a:rPr lang="en-US" dirty="0" smtClean="0"/>
              <a:t> a</a:t>
            </a:r>
            <a:r>
              <a:rPr lang="en-US" baseline="-25000" dirty="0" smtClean="0"/>
              <a:t>1</a:t>
            </a:r>
            <a:r>
              <a:rPr lang="en-US" dirty="0" smtClean="0"/>
              <a:t>    b</a:t>
            </a:r>
            <a:r>
              <a:rPr lang="en-US" baseline="-25000" dirty="0" smtClean="0"/>
              <a:t>1</a:t>
            </a:r>
            <a:r>
              <a:rPr lang="en-US" dirty="0" smtClean="0"/>
              <a:t> a</a:t>
            </a:r>
            <a:r>
              <a:rPr lang="en-US" baseline="-25000" dirty="0"/>
              <a:t>0</a:t>
            </a:r>
            <a:r>
              <a:rPr lang="en-US" dirty="0" smtClean="0"/>
              <a:t>    </a:t>
            </a:r>
            <a:endParaRPr lang="ru-RU" dirty="0" smtClean="0"/>
          </a:p>
        </p:txBody>
      </p:sp>
      <p:sp>
        <p:nvSpPr>
          <p:cNvPr id="15" name="TextBox 14"/>
          <p:cNvSpPr txBox="1"/>
          <p:nvPr/>
        </p:nvSpPr>
        <p:spPr>
          <a:xfrm>
            <a:off x="1505381" y="3767870"/>
            <a:ext cx="1944217" cy="369332"/>
          </a:xfrm>
          <a:prstGeom prst="rect">
            <a:avLst/>
          </a:prstGeom>
          <a:noFill/>
        </p:spPr>
        <p:txBody>
          <a:bodyPr wrap="square" rtlCol="0">
            <a:spAutoFit/>
          </a:bodyPr>
          <a:lstStyle/>
          <a:p>
            <a:r>
              <a:rPr lang="en-US" dirty="0" smtClean="0"/>
              <a:t>b</a:t>
            </a:r>
            <a:r>
              <a:rPr lang="en-US" baseline="-25000" dirty="0"/>
              <a:t>0</a:t>
            </a:r>
            <a:r>
              <a:rPr lang="en-US" dirty="0" smtClean="0"/>
              <a:t> a</a:t>
            </a:r>
            <a:r>
              <a:rPr lang="en-US" baseline="-25000" dirty="0" smtClean="0"/>
              <a:t>1</a:t>
            </a:r>
            <a:r>
              <a:rPr lang="en-US" dirty="0" smtClean="0"/>
              <a:t>    b</a:t>
            </a:r>
            <a:r>
              <a:rPr lang="en-US" baseline="-25000" dirty="0"/>
              <a:t>0</a:t>
            </a:r>
            <a:r>
              <a:rPr lang="en-US" dirty="0" smtClean="0"/>
              <a:t> a</a:t>
            </a:r>
            <a:r>
              <a:rPr lang="en-US" baseline="-25000" dirty="0"/>
              <a:t>0</a:t>
            </a:r>
            <a:r>
              <a:rPr lang="en-US" dirty="0" smtClean="0"/>
              <a:t>    </a:t>
            </a:r>
            <a:endParaRPr lang="ru-RU" dirty="0" smtClean="0"/>
          </a:p>
        </p:txBody>
      </p:sp>
      <p:sp>
        <p:nvSpPr>
          <p:cNvPr id="16" name="TextBox 15"/>
          <p:cNvSpPr txBox="1"/>
          <p:nvPr/>
        </p:nvSpPr>
        <p:spPr>
          <a:xfrm>
            <a:off x="376240" y="3583204"/>
            <a:ext cx="300082" cy="369332"/>
          </a:xfrm>
          <a:prstGeom prst="rect">
            <a:avLst/>
          </a:prstGeom>
          <a:noFill/>
        </p:spPr>
        <p:txBody>
          <a:bodyPr wrap="none" rtlCol="0">
            <a:spAutoFit/>
          </a:bodyPr>
          <a:lstStyle/>
          <a:p>
            <a:r>
              <a:rPr lang="en-US" dirty="0" smtClean="0"/>
              <a:t>+</a:t>
            </a:r>
            <a:endParaRPr lang="ru-RU" dirty="0"/>
          </a:p>
        </p:txBody>
      </p:sp>
      <p:cxnSp>
        <p:nvCxnSpPr>
          <p:cNvPr id="17" name="Прямая соединительная линия 16"/>
          <p:cNvCxnSpPr/>
          <p:nvPr/>
        </p:nvCxnSpPr>
        <p:spPr>
          <a:xfrm>
            <a:off x="874741" y="4293096"/>
            <a:ext cx="24344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244346" y="4293096"/>
            <a:ext cx="460382" cy="369332"/>
          </a:xfrm>
          <a:prstGeom prst="rect">
            <a:avLst/>
          </a:prstGeom>
          <a:noFill/>
        </p:spPr>
        <p:txBody>
          <a:bodyPr wrap="none" rtlCol="0">
            <a:spAutoFit/>
          </a:bodyPr>
          <a:lstStyle/>
          <a:p>
            <a:r>
              <a:rPr lang="en-US" dirty="0" smtClean="0"/>
              <a:t>M</a:t>
            </a:r>
            <a:r>
              <a:rPr lang="en-US" baseline="-25000" dirty="0" smtClean="0"/>
              <a:t>0</a:t>
            </a:r>
            <a:endParaRPr lang="ru-RU" baseline="-25000" dirty="0"/>
          </a:p>
        </p:txBody>
      </p:sp>
      <p:sp>
        <p:nvSpPr>
          <p:cNvPr id="20" name="TextBox 19"/>
          <p:cNvSpPr txBox="1"/>
          <p:nvPr/>
        </p:nvSpPr>
        <p:spPr>
          <a:xfrm>
            <a:off x="1616658" y="4303536"/>
            <a:ext cx="460382" cy="369332"/>
          </a:xfrm>
          <a:prstGeom prst="rect">
            <a:avLst/>
          </a:prstGeom>
          <a:noFill/>
        </p:spPr>
        <p:txBody>
          <a:bodyPr wrap="none" rtlCol="0">
            <a:spAutoFit/>
          </a:bodyPr>
          <a:lstStyle/>
          <a:p>
            <a:r>
              <a:rPr lang="en-US" dirty="0" smtClean="0"/>
              <a:t>M</a:t>
            </a:r>
            <a:r>
              <a:rPr lang="en-US" baseline="-25000" dirty="0"/>
              <a:t>1</a:t>
            </a:r>
            <a:endParaRPr lang="ru-RU" baseline="-25000" dirty="0"/>
          </a:p>
        </p:txBody>
      </p:sp>
      <p:sp>
        <p:nvSpPr>
          <p:cNvPr id="21" name="TextBox 20"/>
          <p:cNvSpPr txBox="1"/>
          <p:nvPr/>
        </p:nvSpPr>
        <p:spPr>
          <a:xfrm>
            <a:off x="1012189" y="4303536"/>
            <a:ext cx="460382" cy="369332"/>
          </a:xfrm>
          <a:prstGeom prst="rect">
            <a:avLst/>
          </a:prstGeom>
          <a:noFill/>
        </p:spPr>
        <p:txBody>
          <a:bodyPr wrap="none" rtlCol="0">
            <a:spAutoFit/>
          </a:bodyPr>
          <a:lstStyle/>
          <a:p>
            <a:r>
              <a:rPr lang="en-US" dirty="0" smtClean="0"/>
              <a:t>M</a:t>
            </a:r>
            <a:r>
              <a:rPr lang="en-US" baseline="-25000" dirty="0"/>
              <a:t>2</a:t>
            </a:r>
            <a:endParaRPr lang="ru-RU" baseline="-25000" dirty="0"/>
          </a:p>
        </p:txBody>
      </p:sp>
      <p:sp>
        <p:nvSpPr>
          <p:cNvPr id="22" name="TextBox 21"/>
          <p:cNvSpPr txBox="1"/>
          <p:nvPr/>
        </p:nvSpPr>
        <p:spPr>
          <a:xfrm>
            <a:off x="414359" y="4283804"/>
            <a:ext cx="460382" cy="369332"/>
          </a:xfrm>
          <a:prstGeom prst="rect">
            <a:avLst/>
          </a:prstGeom>
          <a:noFill/>
        </p:spPr>
        <p:txBody>
          <a:bodyPr wrap="none" rtlCol="0">
            <a:spAutoFit/>
          </a:bodyPr>
          <a:lstStyle/>
          <a:p>
            <a:r>
              <a:rPr lang="en-US" dirty="0" smtClean="0"/>
              <a:t>M</a:t>
            </a:r>
            <a:r>
              <a:rPr lang="en-US" baseline="-25000" dirty="0"/>
              <a:t>3</a:t>
            </a:r>
            <a:endParaRPr lang="ru-RU" baseline="-25000" dirty="0"/>
          </a:p>
        </p:txBody>
      </p:sp>
      <p:cxnSp>
        <p:nvCxnSpPr>
          <p:cNvPr id="24" name="Прямая соединительная линия 23"/>
          <p:cNvCxnSpPr/>
          <p:nvPr/>
        </p:nvCxnSpPr>
        <p:spPr>
          <a:xfrm>
            <a:off x="4201636" y="2428798"/>
            <a:ext cx="406620" cy="48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Группа 27"/>
          <p:cNvGrpSpPr/>
          <p:nvPr/>
        </p:nvGrpSpPr>
        <p:grpSpPr>
          <a:xfrm>
            <a:off x="4606091" y="1935857"/>
            <a:ext cx="416917" cy="650728"/>
            <a:chOff x="4040351" y="3227621"/>
            <a:chExt cx="416917" cy="650728"/>
          </a:xfrm>
        </p:grpSpPr>
        <p:sp>
          <p:nvSpPr>
            <p:cNvPr id="23" name="Прямоугольник 22"/>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TextBox 24"/>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cxnSp>
        <p:nvCxnSpPr>
          <p:cNvPr id="26" name="Соединительная линия уступом 25"/>
          <p:cNvCxnSpPr>
            <a:endCxn id="25" idx="1"/>
          </p:cNvCxnSpPr>
          <p:nvPr/>
        </p:nvCxnSpPr>
        <p:spPr>
          <a:xfrm>
            <a:off x="3779912" y="1935857"/>
            <a:ext cx="826179" cy="184666"/>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Соединительная линия уступом 26"/>
          <p:cNvCxnSpPr>
            <a:stCxn id="23" idx="3"/>
          </p:cNvCxnSpPr>
          <p:nvPr/>
        </p:nvCxnSpPr>
        <p:spPr>
          <a:xfrm>
            <a:off x="5023008" y="2271012"/>
            <a:ext cx="415294" cy="315573"/>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3779912" y="3579162"/>
            <a:ext cx="8283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Группа 32"/>
          <p:cNvGrpSpPr/>
          <p:nvPr/>
        </p:nvGrpSpPr>
        <p:grpSpPr>
          <a:xfrm>
            <a:off x="4606091" y="3081367"/>
            <a:ext cx="416917" cy="650728"/>
            <a:chOff x="4040351" y="3227621"/>
            <a:chExt cx="416917" cy="650728"/>
          </a:xfrm>
        </p:grpSpPr>
        <p:sp>
          <p:nvSpPr>
            <p:cNvPr id="36" name="Прямоугольник 35"/>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TextBox 36"/>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cxnSp>
        <p:nvCxnSpPr>
          <p:cNvPr id="34" name="Соединительная линия уступом 33"/>
          <p:cNvCxnSpPr>
            <a:endCxn id="37" idx="1"/>
          </p:cNvCxnSpPr>
          <p:nvPr/>
        </p:nvCxnSpPr>
        <p:spPr>
          <a:xfrm>
            <a:off x="4353522" y="3067228"/>
            <a:ext cx="252569" cy="198805"/>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Соединительная линия уступом 34"/>
          <p:cNvCxnSpPr>
            <a:stCxn id="36" idx="3"/>
          </p:cNvCxnSpPr>
          <p:nvPr/>
        </p:nvCxnSpPr>
        <p:spPr>
          <a:xfrm>
            <a:off x="5023008" y="3416522"/>
            <a:ext cx="607293" cy="308370"/>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p:cNvCxnSpPr/>
          <p:nvPr/>
        </p:nvCxnSpPr>
        <p:spPr>
          <a:xfrm>
            <a:off x="4201636" y="4719818"/>
            <a:ext cx="406620" cy="485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Группа 39"/>
          <p:cNvGrpSpPr/>
          <p:nvPr/>
        </p:nvGrpSpPr>
        <p:grpSpPr>
          <a:xfrm>
            <a:off x="4606091" y="4226877"/>
            <a:ext cx="416917" cy="650728"/>
            <a:chOff x="4040351" y="3227621"/>
            <a:chExt cx="416917" cy="650728"/>
          </a:xfrm>
        </p:grpSpPr>
        <p:sp>
          <p:nvSpPr>
            <p:cNvPr id="43" name="Прямоугольник 42"/>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TextBox 43"/>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cxnSp>
        <p:nvCxnSpPr>
          <p:cNvPr id="41" name="Соединительная линия уступом 40"/>
          <p:cNvCxnSpPr>
            <a:endCxn id="44" idx="1"/>
          </p:cNvCxnSpPr>
          <p:nvPr/>
        </p:nvCxnSpPr>
        <p:spPr>
          <a:xfrm>
            <a:off x="3491880" y="4212738"/>
            <a:ext cx="1114211" cy="198805"/>
          </a:xfrm>
          <a:prstGeom prst="bentConnector3">
            <a:avLst>
              <a:gd name="adj1" fmla="val 23499"/>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Соединительная линия уступом 41"/>
          <p:cNvCxnSpPr>
            <a:stCxn id="43" idx="3"/>
          </p:cNvCxnSpPr>
          <p:nvPr/>
        </p:nvCxnSpPr>
        <p:spPr>
          <a:xfrm flipV="1">
            <a:off x="5023008" y="4185038"/>
            <a:ext cx="671008" cy="376994"/>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995936" y="5870181"/>
            <a:ext cx="61232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 name="Группа 46"/>
          <p:cNvGrpSpPr/>
          <p:nvPr/>
        </p:nvGrpSpPr>
        <p:grpSpPr>
          <a:xfrm>
            <a:off x="4606091" y="5372386"/>
            <a:ext cx="416917" cy="650728"/>
            <a:chOff x="4040351" y="3227621"/>
            <a:chExt cx="416917" cy="650728"/>
          </a:xfrm>
        </p:grpSpPr>
        <p:sp>
          <p:nvSpPr>
            <p:cNvPr id="50" name="Прямоугольник 49"/>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extBox 50"/>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cxnSp>
        <p:nvCxnSpPr>
          <p:cNvPr id="48" name="Соединительная линия уступом 47"/>
          <p:cNvCxnSpPr>
            <a:endCxn id="51" idx="1"/>
          </p:cNvCxnSpPr>
          <p:nvPr/>
        </p:nvCxnSpPr>
        <p:spPr>
          <a:xfrm>
            <a:off x="3491880" y="5457649"/>
            <a:ext cx="1114211" cy="99403"/>
          </a:xfrm>
          <a:prstGeom prst="bentConnector3">
            <a:avLst>
              <a:gd name="adj1" fmla="val 21362"/>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Соединительная линия уступом 48"/>
          <p:cNvCxnSpPr>
            <a:stCxn id="50" idx="3"/>
          </p:cNvCxnSpPr>
          <p:nvPr/>
        </p:nvCxnSpPr>
        <p:spPr>
          <a:xfrm>
            <a:off x="5023008" y="5707541"/>
            <a:ext cx="706997" cy="203760"/>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Прямая соединительная линия 52"/>
          <p:cNvCxnSpPr/>
          <p:nvPr/>
        </p:nvCxnSpPr>
        <p:spPr>
          <a:xfrm>
            <a:off x="4201636" y="2433652"/>
            <a:ext cx="0" cy="38036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Прямая соединительная линия 53"/>
          <p:cNvCxnSpPr/>
          <p:nvPr/>
        </p:nvCxnSpPr>
        <p:spPr>
          <a:xfrm>
            <a:off x="3995936" y="3054340"/>
            <a:ext cx="0" cy="31829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p:cNvCxnSpPr/>
          <p:nvPr/>
        </p:nvCxnSpPr>
        <p:spPr>
          <a:xfrm>
            <a:off x="3995936" y="3067229"/>
            <a:ext cx="357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Овал 62"/>
          <p:cNvSpPr/>
          <p:nvPr/>
        </p:nvSpPr>
        <p:spPr>
          <a:xfrm>
            <a:off x="3973076" y="5842467"/>
            <a:ext cx="45720" cy="4572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Овал 65"/>
          <p:cNvSpPr/>
          <p:nvPr/>
        </p:nvSpPr>
        <p:spPr>
          <a:xfrm>
            <a:off x="4178776" y="4699385"/>
            <a:ext cx="45720" cy="4572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1" name="Прямая соединительная линия 70"/>
          <p:cNvCxnSpPr/>
          <p:nvPr/>
        </p:nvCxnSpPr>
        <p:spPr>
          <a:xfrm>
            <a:off x="3787924" y="1628800"/>
            <a:ext cx="0" cy="19455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Овал 76"/>
          <p:cNvSpPr/>
          <p:nvPr/>
        </p:nvSpPr>
        <p:spPr>
          <a:xfrm>
            <a:off x="3760297" y="1912069"/>
            <a:ext cx="45720" cy="4572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8" name="Прямая соединительная линия 77"/>
          <p:cNvCxnSpPr/>
          <p:nvPr/>
        </p:nvCxnSpPr>
        <p:spPr>
          <a:xfrm>
            <a:off x="3491880" y="1633654"/>
            <a:ext cx="0" cy="38239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Овал 80"/>
          <p:cNvSpPr/>
          <p:nvPr/>
        </p:nvSpPr>
        <p:spPr>
          <a:xfrm>
            <a:off x="3469020" y="4189878"/>
            <a:ext cx="45720" cy="4572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TextBox 84"/>
          <p:cNvSpPr txBox="1"/>
          <p:nvPr/>
        </p:nvSpPr>
        <p:spPr>
          <a:xfrm>
            <a:off x="4470558" y="1586349"/>
            <a:ext cx="699601" cy="369332"/>
          </a:xfrm>
          <a:prstGeom prst="rect">
            <a:avLst/>
          </a:prstGeom>
          <a:noFill/>
        </p:spPr>
        <p:txBody>
          <a:bodyPr wrap="square" rtlCol="0">
            <a:spAutoFit/>
          </a:bodyPr>
          <a:lstStyle/>
          <a:p>
            <a:r>
              <a:rPr lang="en-US" dirty="0" smtClean="0"/>
              <a:t>b</a:t>
            </a:r>
            <a:r>
              <a:rPr lang="en-US" baseline="-25000" dirty="0" smtClean="0"/>
              <a:t>0</a:t>
            </a:r>
            <a:r>
              <a:rPr lang="en-US" dirty="0" smtClean="0"/>
              <a:t> a</a:t>
            </a:r>
            <a:r>
              <a:rPr lang="en-US" baseline="-25000" dirty="0"/>
              <a:t>0</a:t>
            </a:r>
            <a:r>
              <a:rPr lang="en-US" dirty="0" smtClean="0"/>
              <a:t>    </a:t>
            </a:r>
            <a:endParaRPr lang="ru-RU" dirty="0" smtClean="0"/>
          </a:p>
        </p:txBody>
      </p:sp>
      <p:sp>
        <p:nvSpPr>
          <p:cNvPr id="86" name="Прямоугольник 85"/>
          <p:cNvSpPr/>
          <p:nvPr/>
        </p:nvSpPr>
        <p:spPr>
          <a:xfrm>
            <a:off x="4479806" y="2729936"/>
            <a:ext cx="679994" cy="369332"/>
          </a:xfrm>
          <a:prstGeom prst="rect">
            <a:avLst/>
          </a:prstGeom>
        </p:spPr>
        <p:txBody>
          <a:bodyPr wrap="none">
            <a:spAutoFit/>
          </a:bodyPr>
          <a:lstStyle/>
          <a:p>
            <a:r>
              <a:rPr lang="en-US" dirty="0" smtClean="0"/>
              <a:t>b</a:t>
            </a:r>
            <a:r>
              <a:rPr lang="en-US" baseline="-25000" dirty="0" smtClean="0"/>
              <a:t>0</a:t>
            </a:r>
            <a:r>
              <a:rPr lang="en-US" dirty="0" smtClean="0"/>
              <a:t> a</a:t>
            </a:r>
            <a:r>
              <a:rPr lang="en-US" baseline="-25000" dirty="0" smtClean="0"/>
              <a:t>1</a:t>
            </a:r>
            <a:r>
              <a:rPr lang="en-US" dirty="0" smtClean="0"/>
              <a:t> </a:t>
            </a:r>
            <a:endParaRPr lang="ru-RU" dirty="0"/>
          </a:p>
        </p:txBody>
      </p:sp>
      <p:sp>
        <p:nvSpPr>
          <p:cNvPr id="87" name="TextBox 86"/>
          <p:cNvSpPr txBox="1"/>
          <p:nvPr/>
        </p:nvSpPr>
        <p:spPr>
          <a:xfrm>
            <a:off x="4460662" y="4973108"/>
            <a:ext cx="709497" cy="369332"/>
          </a:xfrm>
          <a:prstGeom prst="rect">
            <a:avLst/>
          </a:prstGeom>
          <a:noFill/>
        </p:spPr>
        <p:txBody>
          <a:bodyPr wrap="square" rtlCol="0">
            <a:spAutoFit/>
          </a:bodyPr>
          <a:lstStyle/>
          <a:p>
            <a:r>
              <a:rPr lang="en-US" dirty="0" smtClean="0"/>
              <a:t>b</a:t>
            </a:r>
            <a:r>
              <a:rPr lang="en-US" baseline="-25000" dirty="0" smtClean="0"/>
              <a:t>1</a:t>
            </a:r>
            <a:r>
              <a:rPr lang="en-US" dirty="0" smtClean="0"/>
              <a:t> a</a:t>
            </a:r>
            <a:r>
              <a:rPr lang="en-US" baseline="-25000" dirty="0" smtClean="0"/>
              <a:t>1</a:t>
            </a:r>
            <a:endParaRPr lang="ru-RU" dirty="0" smtClean="0"/>
          </a:p>
        </p:txBody>
      </p:sp>
      <p:sp>
        <p:nvSpPr>
          <p:cNvPr id="88" name="Прямоугольник 87"/>
          <p:cNvSpPr/>
          <p:nvPr/>
        </p:nvSpPr>
        <p:spPr>
          <a:xfrm>
            <a:off x="4475635" y="3857102"/>
            <a:ext cx="679994" cy="369332"/>
          </a:xfrm>
          <a:prstGeom prst="rect">
            <a:avLst/>
          </a:prstGeom>
        </p:spPr>
        <p:txBody>
          <a:bodyPr wrap="none">
            <a:spAutoFit/>
          </a:bodyPr>
          <a:lstStyle/>
          <a:p>
            <a:r>
              <a:rPr lang="en-US" dirty="0" smtClean="0"/>
              <a:t>b</a:t>
            </a:r>
            <a:r>
              <a:rPr lang="en-US" baseline="-25000" dirty="0" smtClean="0"/>
              <a:t>1</a:t>
            </a:r>
            <a:r>
              <a:rPr lang="en-US" dirty="0" smtClean="0"/>
              <a:t> a</a:t>
            </a:r>
            <a:r>
              <a:rPr lang="en-US" baseline="-25000" dirty="0" smtClean="0"/>
              <a:t>0</a:t>
            </a:r>
            <a:r>
              <a:rPr lang="en-US" dirty="0" smtClean="0"/>
              <a:t> </a:t>
            </a:r>
            <a:endParaRPr lang="ru-RU" dirty="0"/>
          </a:p>
        </p:txBody>
      </p:sp>
      <p:grpSp>
        <p:nvGrpSpPr>
          <p:cNvPr id="89" name="Группа 88"/>
          <p:cNvGrpSpPr/>
          <p:nvPr/>
        </p:nvGrpSpPr>
        <p:grpSpPr>
          <a:xfrm>
            <a:off x="5630301" y="3604055"/>
            <a:ext cx="2254067" cy="1025640"/>
            <a:chOff x="384168" y="1220884"/>
            <a:chExt cx="3023303" cy="1415547"/>
          </a:xfrm>
        </p:grpSpPr>
        <p:sp>
          <p:nvSpPr>
            <p:cNvPr id="90" name="Прямоугольник 89"/>
            <p:cNvSpPr/>
            <p:nvPr/>
          </p:nvSpPr>
          <p:spPr>
            <a:xfrm>
              <a:off x="623577" y="122088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Прямоугольник 90"/>
            <p:cNvSpPr/>
            <p:nvPr/>
          </p:nvSpPr>
          <p:spPr>
            <a:xfrm>
              <a:off x="623577"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Прямоугольник 91"/>
            <p:cNvSpPr/>
            <p:nvPr/>
          </p:nvSpPr>
          <p:spPr>
            <a:xfrm>
              <a:off x="1555314"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p:cNvSpPr txBox="1"/>
            <p:nvPr/>
          </p:nvSpPr>
          <p:spPr>
            <a:xfrm>
              <a:off x="1024301" y="1235689"/>
              <a:ext cx="487634" cy="369332"/>
            </a:xfrm>
            <a:prstGeom prst="rect">
              <a:avLst/>
            </a:prstGeom>
            <a:noFill/>
          </p:spPr>
          <p:txBody>
            <a:bodyPr wrap="none" rtlCol="0">
              <a:spAutoFit/>
            </a:bodyPr>
            <a:lstStyle/>
            <a:p>
              <a:r>
                <a:rPr lang="en-US" dirty="0" smtClean="0"/>
                <a:t>SM</a:t>
              </a:r>
              <a:endParaRPr lang="ru-RU" dirty="0"/>
            </a:p>
          </p:txBody>
        </p:sp>
        <p:sp>
          <p:nvSpPr>
            <p:cNvPr id="94" name="TextBox 93"/>
            <p:cNvSpPr txBox="1"/>
            <p:nvPr/>
          </p:nvSpPr>
          <p:spPr>
            <a:xfrm>
              <a:off x="623577" y="1222141"/>
              <a:ext cx="295274" cy="369332"/>
            </a:xfrm>
            <a:prstGeom prst="rect">
              <a:avLst/>
            </a:prstGeom>
            <a:noFill/>
          </p:spPr>
          <p:txBody>
            <a:bodyPr wrap="none" rtlCol="0">
              <a:spAutoFit/>
            </a:bodyPr>
            <a:lstStyle/>
            <a:p>
              <a:r>
                <a:rPr lang="en-US" dirty="0" smtClean="0"/>
                <a:t>a</a:t>
              </a:r>
              <a:endParaRPr lang="ru-RU" dirty="0"/>
            </a:p>
          </p:txBody>
        </p:sp>
        <p:sp>
          <p:nvSpPr>
            <p:cNvPr id="95" name="TextBox 94"/>
            <p:cNvSpPr txBox="1"/>
            <p:nvPr/>
          </p:nvSpPr>
          <p:spPr>
            <a:xfrm>
              <a:off x="653136" y="1726420"/>
              <a:ext cx="306494" cy="369332"/>
            </a:xfrm>
            <a:prstGeom prst="rect">
              <a:avLst/>
            </a:prstGeom>
            <a:noFill/>
          </p:spPr>
          <p:txBody>
            <a:bodyPr wrap="none" rtlCol="0">
              <a:spAutoFit/>
            </a:bodyPr>
            <a:lstStyle/>
            <a:p>
              <a:r>
                <a:rPr lang="en-US" dirty="0"/>
                <a:t>b</a:t>
              </a:r>
              <a:endParaRPr lang="ru-RU" dirty="0"/>
            </a:p>
          </p:txBody>
        </p:sp>
        <p:sp>
          <p:nvSpPr>
            <p:cNvPr id="96" name="TextBox 95"/>
            <p:cNvSpPr txBox="1"/>
            <p:nvPr/>
          </p:nvSpPr>
          <p:spPr>
            <a:xfrm>
              <a:off x="1711878" y="1222141"/>
              <a:ext cx="274434" cy="369332"/>
            </a:xfrm>
            <a:prstGeom prst="rect">
              <a:avLst/>
            </a:prstGeom>
            <a:noFill/>
          </p:spPr>
          <p:txBody>
            <a:bodyPr wrap="none" rtlCol="0">
              <a:spAutoFit/>
            </a:bodyPr>
            <a:lstStyle/>
            <a:p>
              <a:r>
                <a:rPr lang="en-US" dirty="0"/>
                <a:t>s</a:t>
              </a:r>
              <a:endParaRPr lang="ru-RU" dirty="0"/>
            </a:p>
          </p:txBody>
        </p:sp>
        <p:sp>
          <p:nvSpPr>
            <p:cNvPr id="97" name="TextBox 96"/>
            <p:cNvSpPr txBox="1"/>
            <p:nvPr/>
          </p:nvSpPr>
          <p:spPr>
            <a:xfrm>
              <a:off x="1685235" y="2126166"/>
              <a:ext cx="306494" cy="369332"/>
            </a:xfrm>
            <a:prstGeom prst="rect">
              <a:avLst/>
            </a:prstGeom>
            <a:noFill/>
          </p:spPr>
          <p:txBody>
            <a:bodyPr wrap="none" rtlCol="0">
              <a:spAutoFit/>
            </a:bodyPr>
            <a:lstStyle/>
            <a:p>
              <a:r>
                <a:rPr lang="en-US" dirty="0"/>
                <a:t>p</a:t>
              </a:r>
              <a:endParaRPr lang="ru-RU" dirty="0"/>
            </a:p>
          </p:txBody>
        </p:sp>
        <p:cxnSp>
          <p:nvCxnSpPr>
            <p:cNvPr id="98" name="Прямая соединительная линия 97"/>
            <p:cNvCxnSpPr/>
            <p:nvPr/>
          </p:nvCxnSpPr>
          <p:spPr>
            <a:xfrm flipH="1">
              <a:off x="384168" y="140555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Прямая соединительная линия 98"/>
            <p:cNvCxnSpPr/>
            <p:nvPr/>
          </p:nvCxnSpPr>
          <p:spPr>
            <a:xfrm flipH="1">
              <a:off x="398194" y="202365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Прямая соединительная линия 99"/>
            <p:cNvCxnSpPr/>
            <p:nvPr/>
          </p:nvCxnSpPr>
          <p:spPr>
            <a:xfrm flipH="1">
              <a:off x="2008253" y="1382001"/>
              <a:ext cx="1399218" cy="56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Прямая соединительная линия 100"/>
            <p:cNvCxnSpPr/>
            <p:nvPr/>
          </p:nvCxnSpPr>
          <p:spPr>
            <a:xfrm flipH="1">
              <a:off x="1991729" y="2457423"/>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Прямая соединительная линия 101"/>
            <p:cNvCxnSpPr/>
            <p:nvPr/>
          </p:nvCxnSpPr>
          <p:spPr>
            <a:xfrm flipH="1">
              <a:off x="384551" y="2495498"/>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593824" y="2126694"/>
              <a:ext cx="402490" cy="509737"/>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endParaRPr lang="ru-RU" baseline="-25000" dirty="0"/>
            </a:p>
          </p:txBody>
        </p:sp>
      </p:grpSp>
      <p:grpSp>
        <p:nvGrpSpPr>
          <p:cNvPr id="106" name="Группа 105"/>
          <p:cNvGrpSpPr/>
          <p:nvPr/>
        </p:nvGrpSpPr>
        <p:grpSpPr>
          <a:xfrm>
            <a:off x="5694016" y="5329647"/>
            <a:ext cx="1830312" cy="1025640"/>
            <a:chOff x="384168" y="1220884"/>
            <a:chExt cx="2454935" cy="1415547"/>
          </a:xfrm>
        </p:grpSpPr>
        <p:sp>
          <p:nvSpPr>
            <p:cNvPr id="107" name="Прямоугольник 106"/>
            <p:cNvSpPr/>
            <p:nvPr/>
          </p:nvSpPr>
          <p:spPr>
            <a:xfrm>
              <a:off x="623577" y="1220884"/>
              <a:ext cx="1368152"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Прямоугольник 107"/>
            <p:cNvSpPr/>
            <p:nvPr/>
          </p:nvSpPr>
          <p:spPr>
            <a:xfrm>
              <a:off x="623577"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Прямоугольник 108"/>
            <p:cNvSpPr/>
            <p:nvPr/>
          </p:nvSpPr>
          <p:spPr>
            <a:xfrm>
              <a:off x="1555314" y="1220884"/>
              <a:ext cx="436415" cy="13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0" name="TextBox 109"/>
            <p:cNvSpPr txBox="1"/>
            <p:nvPr/>
          </p:nvSpPr>
          <p:spPr>
            <a:xfrm>
              <a:off x="1024301" y="1235689"/>
              <a:ext cx="487634" cy="369332"/>
            </a:xfrm>
            <a:prstGeom prst="rect">
              <a:avLst/>
            </a:prstGeom>
            <a:noFill/>
          </p:spPr>
          <p:txBody>
            <a:bodyPr wrap="none" rtlCol="0">
              <a:spAutoFit/>
            </a:bodyPr>
            <a:lstStyle/>
            <a:p>
              <a:r>
                <a:rPr lang="en-US" dirty="0" smtClean="0"/>
                <a:t>SM</a:t>
              </a:r>
              <a:endParaRPr lang="ru-RU" dirty="0"/>
            </a:p>
          </p:txBody>
        </p:sp>
        <p:sp>
          <p:nvSpPr>
            <p:cNvPr id="111" name="TextBox 110"/>
            <p:cNvSpPr txBox="1"/>
            <p:nvPr/>
          </p:nvSpPr>
          <p:spPr>
            <a:xfrm>
              <a:off x="623577" y="1222141"/>
              <a:ext cx="295274" cy="369332"/>
            </a:xfrm>
            <a:prstGeom prst="rect">
              <a:avLst/>
            </a:prstGeom>
            <a:noFill/>
          </p:spPr>
          <p:txBody>
            <a:bodyPr wrap="none" rtlCol="0">
              <a:spAutoFit/>
            </a:bodyPr>
            <a:lstStyle/>
            <a:p>
              <a:r>
                <a:rPr lang="en-US" dirty="0" smtClean="0"/>
                <a:t>a</a:t>
              </a:r>
              <a:endParaRPr lang="ru-RU" dirty="0"/>
            </a:p>
          </p:txBody>
        </p:sp>
        <p:sp>
          <p:nvSpPr>
            <p:cNvPr id="112" name="TextBox 111"/>
            <p:cNvSpPr txBox="1"/>
            <p:nvPr/>
          </p:nvSpPr>
          <p:spPr>
            <a:xfrm>
              <a:off x="653136" y="1726420"/>
              <a:ext cx="306494" cy="369332"/>
            </a:xfrm>
            <a:prstGeom prst="rect">
              <a:avLst/>
            </a:prstGeom>
            <a:noFill/>
          </p:spPr>
          <p:txBody>
            <a:bodyPr wrap="none" rtlCol="0">
              <a:spAutoFit/>
            </a:bodyPr>
            <a:lstStyle/>
            <a:p>
              <a:r>
                <a:rPr lang="en-US" dirty="0"/>
                <a:t>b</a:t>
              </a:r>
              <a:endParaRPr lang="ru-RU" dirty="0"/>
            </a:p>
          </p:txBody>
        </p:sp>
        <p:sp>
          <p:nvSpPr>
            <p:cNvPr id="113" name="TextBox 112"/>
            <p:cNvSpPr txBox="1"/>
            <p:nvPr/>
          </p:nvSpPr>
          <p:spPr>
            <a:xfrm>
              <a:off x="1711878" y="1222141"/>
              <a:ext cx="274434" cy="369332"/>
            </a:xfrm>
            <a:prstGeom prst="rect">
              <a:avLst/>
            </a:prstGeom>
            <a:noFill/>
          </p:spPr>
          <p:txBody>
            <a:bodyPr wrap="none" rtlCol="0">
              <a:spAutoFit/>
            </a:bodyPr>
            <a:lstStyle/>
            <a:p>
              <a:r>
                <a:rPr lang="en-US" dirty="0"/>
                <a:t>s</a:t>
              </a:r>
              <a:endParaRPr lang="ru-RU" dirty="0"/>
            </a:p>
          </p:txBody>
        </p:sp>
        <p:sp>
          <p:nvSpPr>
            <p:cNvPr id="114" name="TextBox 113"/>
            <p:cNvSpPr txBox="1"/>
            <p:nvPr/>
          </p:nvSpPr>
          <p:spPr>
            <a:xfrm>
              <a:off x="1685235" y="2126166"/>
              <a:ext cx="306494" cy="369332"/>
            </a:xfrm>
            <a:prstGeom prst="rect">
              <a:avLst/>
            </a:prstGeom>
            <a:noFill/>
          </p:spPr>
          <p:txBody>
            <a:bodyPr wrap="none" rtlCol="0">
              <a:spAutoFit/>
            </a:bodyPr>
            <a:lstStyle/>
            <a:p>
              <a:r>
                <a:rPr lang="en-US" dirty="0"/>
                <a:t>p</a:t>
              </a:r>
              <a:endParaRPr lang="ru-RU" dirty="0"/>
            </a:p>
          </p:txBody>
        </p:sp>
        <p:cxnSp>
          <p:nvCxnSpPr>
            <p:cNvPr id="115" name="Прямая соединительная линия 114"/>
            <p:cNvCxnSpPr/>
            <p:nvPr/>
          </p:nvCxnSpPr>
          <p:spPr>
            <a:xfrm flipH="1">
              <a:off x="384168" y="1405550"/>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Прямая соединительная линия 115"/>
            <p:cNvCxnSpPr/>
            <p:nvPr/>
          </p:nvCxnSpPr>
          <p:spPr>
            <a:xfrm flipH="1">
              <a:off x="398194" y="2023659"/>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Прямая соединительная линия 116"/>
            <p:cNvCxnSpPr/>
            <p:nvPr/>
          </p:nvCxnSpPr>
          <p:spPr>
            <a:xfrm flipH="1">
              <a:off x="2008253" y="1387658"/>
              <a:ext cx="830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p:cNvCxnSpPr/>
            <p:nvPr/>
          </p:nvCxnSpPr>
          <p:spPr>
            <a:xfrm flipH="1">
              <a:off x="1991729" y="2457423"/>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Прямая соединительная линия 118"/>
            <p:cNvCxnSpPr/>
            <p:nvPr/>
          </p:nvCxnSpPr>
          <p:spPr>
            <a:xfrm flipH="1">
              <a:off x="384551" y="2495498"/>
              <a:ext cx="239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593824" y="2126694"/>
              <a:ext cx="402490" cy="509737"/>
            </a:xfrm>
            <a:prstGeom prst="rect">
              <a:avLst/>
            </a:prstGeom>
            <a:noFill/>
          </p:spPr>
          <p:txBody>
            <a:bodyPr wrap="none" rtlCol="0">
              <a:spAutoFit/>
            </a:bodyPr>
            <a:lstStyle/>
            <a:p>
              <a:r>
                <a:rPr lang="en-US" i="1" dirty="0" smtClean="0">
                  <a:latin typeface="Times New Roman" panose="02020603050405020304" pitchFamily="18" charset="0"/>
                  <a:cs typeface="Times New Roman" panose="02020603050405020304" pitchFamily="18" charset="0"/>
                </a:rPr>
                <a:t>p</a:t>
              </a:r>
              <a:endParaRPr lang="ru-RU" baseline="-25000" dirty="0"/>
            </a:p>
          </p:txBody>
        </p:sp>
      </p:grpSp>
      <p:cxnSp>
        <p:nvCxnSpPr>
          <p:cNvPr id="127" name="Прямая соединительная линия 126"/>
          <p:cNvCxnSpPr/>
          <p:nvPr/>
        </p:nvCxnSpPr>
        <p:spPr>
          <a:xfrm flipV="1">
            <a:off x="5687381" y="4973108"/>
            <a:ext cx="6921" cy="4845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Прямая соединительная линия 129"/>
          <p:cNvCxnSpPr/>
          <p:nvPr/>
        </p:nvCxnSpPr>
        <p:spPr>
          <a:xfrm>
            <a:off x="5694302" y="4973108"/>
            <a:ext cx="12875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Прямая соединительная линия 131"/>
          <p:cNvCxnSpPr/>
          <p:nvPr/>
        </p:nvCxnSpPr>
        <p:spPr>
          <a:xfrm flipV="1">
            <a:off x="6981803" y="4477762"/>
            <a:ext cx="0" cy="4953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Прямая соединительная линия 135"/>
          <p:cNvCxnSpPr/>
          <p:nvPr/>
        </p:nvCxnSpPr>
        <p:spPr>
          <a:xfrm>
            <a:off x="7071051" y="6225586"/>
            <a:ext cx="0" cy="2277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Прямая соединительная линия 136"/>
          <p:cNvCxnSpPr/>
          <p:nvPr/>
        </p:nvCxnSpPr>
        <p:spPr>
          <a:xfrm>
            <a:off x="7524328" y="5443177"/>
            <a:ext cx="0" cy="101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Прямая соединительная линия 139"/>
          <p:cNvCxnSpPr/>
          <p:nvPr/>
        </p:nvCxnSpPr>
        <p:spPr>
          <a:xfrm>
            <a:off x="7884368" y="3730518"/>
            <a:ext cx="0" cy="27228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Прямая соединительная линия 142"/>
          <p:cNvCxnSpPr/>
          <p:nvPr/>
        </p:nvCxnSpPr>
        <p:spPr>
          <a:xfrm>
            <a:off x="5438302" y="2586585"/>
            <a:ext cx="287811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Прямая соединительная линия 144"/>
          <p:cNvCxnSpPr/>
          <p:nvPr/>
        </p:nvCxnSpPr>
        <p:spPr>
          <a:xfrm>
            <a:off x="8316416" y="2586585"/>
            <a:ext cx="0" cy="38667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8086225" y="6448514"/>
            <a:ext cx="460382" cy="369332"/>
          </a:xfrm>
          <a:prstGeom prst="rect">
            <a:avLst/>
          </a:prstGeom>
          <a:noFill/>
        </p:spPr>
        <p:txBody>
          <a:bodyPr wrap="none" rtlCol="0">
            <a:spAutoFit/>
          </a:bodyPr>
          <a:lstStyle/>
          <a:p>
            <a:r>
              <a:rPr lang="en-US" dirty="0" smtClean="0"/>
              <a:t>M</a:t>
            </a:r>
            <a:r>
              <a:rPr lang="en-US" baseline="-25000" dirty="0" smtClean="0"/>
              <a:t>0</a:t>
            </a:r>
            <a:endParaRPr lang="ru-RU" baseline="-25000" dirty="0"/>
          </a:p>
        </p:txBody>
      </p:sp>
      <p:sp>
        <p:nvSpPr>
          <p:cNvPr id="147" name="TextBox 146"/>
          <p:cNvSpPr txBox="1"/>
          <p:nvPr/>
        </p:nvSpPr>
        <p:spPr>
          <a:xfrm>
            <a:off x="7654177" y="6454132"/>
            <a:ext cx="460382" cy="369332"/>
          </a:xfrm>
          <a:prstGeom prst="rect">
            <a:avLst/>
          </a:prstGeom>
          <a:noFill/>
        </p:spPr>
        <p:txBody>
          <a:bodyPr wrap="none" rtlCol="0">
            <a:spAutoFit/>
          </a:bodyPr>
          <a:lstStyle/>
          <a:p>
            <a:r>
              <a:rPr lang="en-US" dirty="0" smtClean="0"/>
              <a:t>M</a:t>
            </a:r>
            <a:r>
              <a:rPr lang="en-US" baseline="-25000" dirty="0"/>
              <a:t>1</a:t>
            </a:r>
            <a:endParaRPr lang="ru-RU" baseline="-25000" dirty="0"/>
          </a:p>
        </p:txBody>
      </p:sp>
      <p:sp>
        <p:nvSpPr>
          <p:cNvPr id="148" name="TextBox 147"/>
          <p:cNvSpPr txBox="1"/>
          <p:nvPr/>
        </p:nvSpPr>
        <p:spPr>
          <a:xfrm>
            <a:off x="7294137" y="6435082"/>
            <a:ext cx="460382" cy="369332"/>
          </a:xfrm>
          <a:prstGeom prst="rect">
            <a:avLst/>
          </a:prstGeom>
          <a:noFill/>
        </p:spPr>
        <p:txBody>
          <a:bodyPr wrap="none" rtlCol="0">
            <a:spAutoFit/>
          </a:bodyPr>
          <a:lstStyle/>
          <a:p>
            <a:r>
              <a:rPr lang="en-US" dirty="0" smtClean="0"/>
              <a:t>M</a:t>
            </a:r>
            <a:r>
              <a:rPr lang="en-US" baseline="-25000" dirty="0"/>
              <a:t>2</a:t>
            </a:r>
            <a:endParaRPr lang="ru-RU" baseline="-25000" dirty="0"/>
          </a:p>
        </p:txBody>
      </p:sp>
      <p:sp>
        <p:nvSpPr>
          <p:cNvPr id="149" name="TextBox 148"/>
          <p:cNvSpPr txBox="1"/>
          <p:nvPr/>
        </p:nvSpPr>
        <p:spPr>
          <a:xfrm>
            <a:off x="6841161" y="6435082"/>
            <a:ext cx="460382" cy="369332"/>
          </a:xfrm>
          <a:prstGeom prst="rect">
            <a:avLst/>
          </a:prstGeom>
          <a:noFill/>
        </p:spPr>
        <p:txBody>
          <a:bodyPr wrap="none" rtlCol="0">
            <a:spAutoFit/>
          </a:bodyPr>
          <a:lstStyle/>
          <a:p>
            <a:r>
              <a:rPr lang="en-US" dirty="0" smtClean="0"/>
              <a:t>M</a:t>
            </a:r>
            <a:r>
              <a:rPr lang="en-US" baseline="-25000" dirty="0"/>
              <a:t>3</a:t>
            </a:r>
            <a:endParaRPr lang="ru-RU" baseline="-25000" dirty="0"/>
          </a:p>
        </p:txBody>
      </p:sp>
      <p:sp>
        <p:nvSpPr>
          <p:cNvPr id="150" name="TextBox 149"/>
          <p:cNvSpPr txBox="1"/>
          <p:nvPr/>
        </p:nvSpPr>
        <p:spPr>
          <a:xfrm>
            <a:off x="3608800" y="6340180"/>
            <a:ext cx="880369" cy="369332"/>
          </a:xfrm>
          <a:prstGeom prst="rect">
            <a:avLst/>
          </a:prstGeom>
          <a:noFill/>
        </p:spPr>
        <p:txBody>
          <a:bodyPr wrap="none" rtlCol="0">
            <a:spAutoFit/>
          </a:bodyPr>
          <a:lstStyle/>
          <a:p>
            <a:r>
              <a:rPr lang="en-US" dirty="0" smtClean="0"/>
              <a:t>a</a:t>
            </a:r>
            <a:r>
              <a:rPr lang="en-US" baseline="-25000" dirty="0" smtClean="0"/>
              <a:t>1</a:t>
            </a:r>
            <a:r>
              <a:rPr lang="en-US" dirty="0" smtClean="0"/>
              <a:t>      a</a:t>
            </a:r>
            <a:r>
              <a:rPr lang="en-US" baseline="-25000" dirty="0" smtClean="0"/>
              <a:t>0</a:t>
            </a:r>
            <a:endParaRPr lang="ru-RU" baseline="-25000" dirty="0"/>
          </a:p>
        </p:txBody>
      </p:sp>
      <p:sp>
        <p:nvSpPr>
          <p:cNvPr id="151" name="TextBox 150"/>
          <p:cNvSpPr txBox="1"/>
          <p:nvPr/>
        </p:nvSpPr>
        <p:spPr>
          <a:xfrm>
            <a:off x="3157394" y="1068351"/>
            <a:ext cx="902811" cy="369332"/>
          </a:xfrm>
          <a:prstGeom prst="rect">
            <a:avLst/>
          </a:prstGeom>
          <a:noFill/>
        </p:spPr>
        <p:txBody>
          <a:bodyPr wrap="none" rtlCol="0">
            <a:spAutoFit/>
          </a:bodyPr>
          <a:lstStyle/>
          <a:p>
            <a:r>
              <a:rPr lang="en-US" dirty="0"/>
              <a:t>b</a:t>
            </a:r>
            <a:r>
              <a:rPr lang="en-US" baseline="-25000" dirty="0" smtClean="0"/>
              <a:t>1</a:t>
            </a:r>
            <a:r>
              <a:rPr lang="en-US" dirty="0" smtClean="0"/>
              <a:t>      </a:t>
            </a:r>
            <a:r>
              <a:rPr lang="en-US" dirty="0"/>
              <a:t>b</a:t>
            </a:r>
            <a:r>
              <a:rPr lang="en-US" baseline="-25000" dirty="0" smtClean="0"/>
              <a:t>0</a:t>
            </a:r>
            <a:endParaRPr lang="ru-RU" baseline="-25000" dirty="0"/>
          </a:p>
        </p:txBody>
      </p:sp>
      <p:sp>
        <p:nvSpPr>
          <p:cNvPr id="153" name="Овал 152"/>
          <p:cNvSpPr/>
          <p:nvPr/>
        </p:nvSpPr>
        <p:spPr>
          <a:xfrm>
            <a:off x="3409923" y="1504392"/>
            <a:ext cx="163914" cy="16391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4" name="Овал 153"/>
          <p:cNvSpPr/>
          <p:nvPr/>
        </p:nvSpPr>
        <p:spPr>
          <a:xfrm>
            <a:off x="3722442" y="1504392"/>
            <a:ext cx="163914" cy="16391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5" name="Овал 154"/>
          <p:cNvSpPr/>
          <p:nvPr/>
        </p:nvSpPr>
        <p:spPr>
          <a:xfrm>
            <a:off x="3913979" y="6225586"/>
            <a:ext cx="163914" cy="16391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6" name="Овал 155"/>
          <p:cNvSpPr/>
          <p:nvPr/>
        </p:nvSpPr>
        <p:spPr>
          <a:xfrm>
            <a:off x="4138182" y="6225586"/>
            <a:ext cx="163914" cy="16391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248564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51720" y="66690"/>
            <a:ext cx="5065297" cy="369332"/>
          </a:xfrm>
          <a:prstGeom prst="rect">
            <a:avLst/>
          </a:prstGeom>
          <a:noFill/>
        </p:spPr>
        <p:txBody>
          <a:bodyPr wrap="none" rtlCol="0">
            <a:spAutoFit/>
          </a:bodyPr>
          <a:lstStyle/>
          <a:p>
            <a:r>
              <a:rPr lang="ru-RU" b="1" dirty="0" smtClean="0"/>
              <a:t>Генератор прямоугольных импульсов (меандра)</a:t>
            </a:r>
            <a:endParaRPr lang="ru-RU" b="1" dirty="0"/>
          </a:p>
        </p:txBody>
      </p:sp>
      <p:cxnSp>
        <p:nvCxnSpPr>
          <p:cNvPr id="5" name="Прямая соединительная линия 4"/>
          <p:cNvCxnSpPr>
            <a:stCxn id="9" idx="3"/>
          </p:cNvCxnSpPr>
          <p:nvPr/>
        </p:nvCxnSpPr>
        <p:spPr>
          <a:xfrm>
            <a:off x="3857607" y="1998575"/>
            <a:ext cx="576064" cy="0"/>
          </a:xfrm>
          <a:prstGeom prst="line">
            <a:avLst/>
          </a:prstGeom>
          <a:ln w="285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p:nvPr/>
        </p:nvCxnSpPr>
        <p:spPr>
          <a:xfrm>
            <a:off x="2417447" y="1742759"/>
            <a:ext cx="504056" cy="0"/>
          </a:xfrm>
          <a:prstGeom prst="line">
            <a:avLst/>
          </a:prstGeom>
          <a:ln w="285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p:nvPr/>
        </p:nvCxnSpPr>
        <p:spPr>
          <a:xfrm>
            <a:off x="2723147" y="2186487"/>
            <a:ext cx="21602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Группа 7"/>
          <p:cNvGrpSpPr/>
          <p:nvPr/>
        </p:nvGrpSpPr>
        <p:grpSpPr>
          <a:xfrm>
            <a:off x="2921503" y="1560529"/>
            <a:ext cx="936104" cy="841982"/>
            <a:chOff x="3779912" y="1412776"/>
            <a:chExt cx="936104" cy="841982"/>
          </a:xfrm>
        </p:grpSpPr>
        <p:sp>
          <p:nvSpPr>
            <p:cNvPr id="9" name="Блок-схема: процесс 8"/>
            <p:cNvSpPr/>
            <p:nvPr/>
          </p:nvSpPr>
          <p:spPr>
            <a:xfrm>
              <a:off x="3779912" y="1446886"/>
              <a:ext cx="936104" cy="807872"/>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0" name="Объект 9"/>
            <p:cNvGraphicFramePr>
              <a:graphicFrameLocks noChangeAspect="1"/>
            </p:cNvGraphicFramePr>
            <p:nvPr>
              <p:extLst>
                <p:ext uri="{D42A27DB-BD31-4B8C-83A1-F6EECF244321}">
                  <p14:modId xmlns:p14="http://schemas.microsoft.com/office/powerpoint/2010/main" val="2831348824"/>
                </p:ext>
              </p:extLst>
            </p:nvPr>
          </p:nvGraphicFramePr>
          <p:xfrm>
            <a:off x="4355976" y="1493406"/>
            <a:ext cx="254000" cy="203200"/>
          </p:xfrm>
          <a:graphic>
            <a:graphicData uri="http://schemas.openxmlformats.org/presentationml/2006/ole">
              <mc:AlternateContent xmlns:mc="http://schemas.openxmlformats.org/markup-compatibility/2006">
                <mc:Choice xmlns:v="urn:schemas-microsoft-com:vml" Requires="v">
                  <p:oleObj spid="_x0000_s63074" name="Equation" r:id="rId3" imgW="253800" imgH="203040" progId="Equation.DSMT4">
                    <p:embed/>
                  </p:oleObj>
                </mc:Choice>
                <mc:Fallback>
                  <p:oleObj name="Equation" r:id="rId3" imgW="253800" imgH="203040" progId="Equation.DSMT4">
                    <p:embed/>
                    <p:pic>
                      <p:nvPicPr>
                        <p:cNvPr id="0" name=""/>
                        <p:cNvPicPr/>
                        <p:nvPr/>
                      </p:nvPicPr>
                      <p:blipFill>
                        <a:blip r:embed="rId4"/>
                        <a:stretch>
                          <a:fillRect/>
                        </a:stretch>
                      </p:blipFill>
                      <p:spPr>
                        <a:xfrm>
                          <a:off x="4355976" y="1493406"/>
                          <a:ext cx="254000" cy="203200"/>
                        </a:xfrm>
                        <a:prstGeom prst="rect">
                          <a:avLst/>
                        </a:prstGeom>
                      </p:spPr>
                    </p:pic>
                  </p:oleObj>
                </mc:Fallback>
              </mc:AlternateContent>
            </a:graphicData>
          </a:graphic>
        </p:graphicFrame>
        <p:sp>
          <p:nvSpPr>
            <p:cNvPr id="11" name="Равнобедренный треугольник 10"/>
            <p:cNvSpPr/>
            <p:nvPr/>
          </p:nvSpPr>
          <p:spPr>
            <a:xfrm rot="5400000">
              <a:off x="4056668" y="1466383"/>
              <a:ext cx="227570" cy="2572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p:cNvSpPr txBox="1"/>
            <p:nvPr/>
          </p:nvSpPr>
          <p:spPr>
            <a:xfrm>
              <a:off x="3779912" y="1412776"/>
              <a:ext cx="255198" cy="369332"/>
            </a:xfrm>
            <a:prstGeom prst="rect">
              <a:avLst/>
            </a:prstGeom>
            <a:noFill/>
          </p:spPr>
          <p:txBody>
            <a:bodyPr wrap="none" rtlCol="0">
              <a:spAutoFit/>
            </a:bodyPr>
            <a:lstStyle/>
            <a:p>
              <a:r>
                <a:rPr lang="ru-RU" dirty="0" smtClean="0"/>
                <a:t>-</a:t>
              </a:r>
              <a:endParaRPr lang="ru-RU" dirty="0"/>
            </a:p>
          </p:txBody>
        </p:sp>
        <p:sp>
          <p:nvSpPr>
            <p:cNvPr id="13" name="TextBox 12"/>
            <p:cNvSpPr txBox="1"/>
            <p:nvPr/>
          </p:nvSpPr>
          <p:spPr>
            <a:xfrm>
              <a:off x="3806945" y="1850822"/>
              <a:ext cx="300082" cy="369332"/>
            </a:xfrm>
            <a:prstGeom prst="rect">
              <a:avLst/>
            </a:prstGeom>
            <a:noFill/>
          </p:spPr>
          <p:txBody>
            <a:bodyPr wrap="none" rtlCol="0">
              <a:spAutoFit/>
            </a:bodyPr>
            <a:lstStyle/>
            <a:p>
              <a:r>
                <a:rPr lang="ru-RU" dirty="0"/>
                <a:t>+</a:t>
              </a:r>
            </a:p>
          </p:txBody>
        </p:sp>
      </p:grpSp>
      <p:cxnSp>
        <p:nvCxnSpPr>
          <p:cNvPr id="14" name="Прямая соединительная линия 13"/>
          <p:cNvCxnSpPr/>
          <p:nvPr/>
        </p:nvCxnSpPr>
        <p:spPr>
          <a:xfrm flipV="1">
            <a:off x="1049295" y="2709525"/>
            <a:ext cx="3384376" cy="3132"/>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5" name="Группа 14"/>
          <p:cNvGrpSpPr/>
          <p:nvPr/>
        </p:nvGrpSpPr>
        <p:grpSpPr>
          <a:xfrm>
            <a:off x="941282" y="2700639"/>
            <a:ext cx="216024" cy="216024"/>
            <a:chOff x="4067944" y="2564904"/>
            <a:chExt cx="216024" cy="216024"/>
          </a:xfrm>
        </p:grpSpPr>
        <p:cxnSp>
          <p:nvCxnSpPr>
            <p:cNvPr id="16" name="Прямая соединительная линия 15"/>
            <p:cNvCxnSpPr/>
            <p:nvPr/>
          </p:nvCxnSpPr>
          <p:spPr>
            <a:xfrm>
              <a:off x="4175956" y="2564904"/>
              <a:ext cx="0" cy="2160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4067944" y="2780928"/>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 name="Прямая соединительная линия 17"/>
          <p:cNvCxnSpPr/>
          <p:nvPr/>
        </p:nvCxnSpPr>
        <p:spPr>
          <a:xfrm>
            <a:off x="2723147" y="2183241"/>
            <a:ext cx="0" cy="5294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Прямоугольник 18"/>
          <p:cNvSpPr/>
          <p:nvPr/>
        </p:nvSpPr>
        <p:spPr>
          <a:xfrm>
            <a:off x="3093314" y="1179156"/>
            <a:ext cx="592481" cy="1440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0" name="Прямая соединительная линия 19"/>
          <p:cNvCxnSpPr>
            <a:endCxn id="19" idx="3"/>
          </p:cNvCxnSpPr>
          <p:nvPr/>
        </p:nvCxnSpPr>
        <p:spPr>
          <a:xfrm flipH="1">
            <a:off x="3685795" y="1251164"/>
            <a:ext cx="7478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a:stCxn id="19" idx="1"/>
          </p:cNvCxnSpPr>
          <p:nvPr/>
        </p:nvCxnSpPr>
        <p:spPr>
          <a:xfrm flipH="1">
            <a:off x="2417447" y="1251164"/>
            <a:ext cx="675867" cy="0"/>
          </a:xfrm>
          <a:prstGeom prst="line">
            <a:avLst/>
          </a:prstGeom>
          <a:ln w="285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231437" y="803648"/>
            <a:ext cx="415498" cy="369332"/>
          </a:xfrm>
          <a:prstGeom prst="rect">
            <a:avLst/>
          </a:prstGeom>
          <a:noFill/>
        </p:spPr>
        <p:txBody>
          <a:bodyPr wrap="none" rtlCol="0">
            <a:spAutoFit/>
          </a:bodyPr>
          <a:lstStyle/>
          <a:p>
            <a:r>
              <a:rPr lang="en-US" b="1" i="1" dirty="0" smtClean="0">
                <a:latin typeface="Times New Roman" panose="02020603050405020304" pitchFamily="18" charset="0"/>
                <a:cs typeface="Times New Roman" panose="02020603050405020304" pitchFamily="18" charset="0"/>
              </a:rPr>
              <a:t>R</a:t>
            </a:r>
            <a:r>
              <a:rPr lang="ru-RU" b="1" i="1" baseline="-25000" dirty="0">
                <a:latin typeface="Times New Roman" panose="02020603050405020304" pitchFamily="18" charset="0"/>
                <a:cs typeface="Times New Roman" panose="02020603050405020304" pitchFamily="18" charset="0"/>
              </a:rPr>
              <a:t>3</a:t>
            </a:r>
          </a:p>
        </p:txBody>
      </p:sp>
      <p:sp>
        <p:nvSpPr>
          <p:cNvPr id="23" name="TextBox 22"/>
          <p:cNvSpPr txBox="1"/>
          <p:nvPr/>
        </p:nvSpPr>
        <p:spPr>
          <a:xfrm>
            <a:off x="1578217" y="2217845"/>
            <a:ext cx="415498" cy="369332"/>
          </a:xfrm>
          <a:prstGeom prst="rect">
            <a:avLst/>
          </a:prstGeom>
          <a:noFill/>
        </p:spPr>
        <p:txBody>
          <a:bodyPr wrap="none" rtlCol="0">
            <a:spAutoFit/>
          </a:bodyPr>
          <a:lstStyle/>
          <a:p>
            <a:r>
              <a:rPr lang="en-US" b="1" i="1" dirty="0">
                <a:latin typeface="Times New Roman" panose="02020603050405020304" pitchFamily="18" charset="0"/>
                <a:cs typeface="Times New Roman" panose="02020603050405020304" pitchFamily="18" charset="0"/>
              </a:rPr>
              <a:t>R</a:t>
            </a:r>
            <a:r>
              <a:rPr lang="en-US" b="1" i="1" baseline="-25000" dirty="0" smtClean="0">
                <a:latin typeface="Times New Roman" panose="02020603050405020304" pitchFamily="18" charset="0"/>
                <a:cs typeface="Times New Roman" panose="02020603050405020304" pitchFamily="18" charset="0"/>
              </a:rPr>
              <a:t>2</a:t>
            </a:r>
            <a:endParaRPr lang="ru-RU" b="1" i="1" baseline="-25000" dirty="0">
              <a:latin typeface="Times New Roman" panose="02020603050405020304" pitchFamily="18" charset="0"/>
              <a:cs typeface="Times New Roman" panose="02020603050405020304" pitchFamily="18" charset="0"/>
            </a:endParaRPr>
          </a:p>
        </p:txBody>
      </p:sp>
      <p:graphicFrame>
        <p:nvGraphicFramePr>
          <p:cNvPr id="24" name="Объект 23"/>
          <p:cNvGraphicFramePr>
            <a:graphicFrameLocks noChangeAspect="1"/>
          </p:cNvGraphicFramePr>
          <p:nvPr>
            <p:extLst>
              <p:ext uri="{D42A27DB-BD31-4B8C-83A1-F6EECF244321}">
                <p14:modId xmlns:p14="http://schemas.microsoft.com/office/powerpoint/2010/main" val="2230649615"/>
              </p:ext>
            </p:extLst>
          </p:nvPr>
        </p:nvGraphicFramePr>
        <p:xfrm>
          <a:off x="1632620" y="1745195"/>
          <a:ext cx="419100" cy="381000"/>
        </p:xfrm>
        <a:graphic>
          <a:graphicData uri="http://schemas.openxmlformats.org/presentationml/2006/ole">
            <mc:AlternateContent xmlns:mc="http://schemas.openxmlformats.org/markup-compatibility/2006">
              <mc:Choice xmlns:v="urn:schemas-microsoft-com:vml" Requires="v">
                <p:oleObj spid="_x0000_s63075" name="Equation" r:id="rId5" imgW="419040" imgH="380880" progId="Equation.DSMT4">
                  <p:embed/>
                </p:oleObj>
              </mc:Choice>
              <mc:Fallback>
                <p:oleObj name="Equation" r:id="rId5" imgW="419040" imgH="380880" progId="Equation.DSMT4">
                  <p:embed/>
                  <p:pic>
                    <p:nvPicPr>
                      <p:cNvPr id="0" name=""/>
                      <p:cNvPicPr/>
                      <p:nvPr/>
                    </p:nvPicPr>
                    <p:blipFill>
                      <a:blip r:embed="rId6"/>
                      <a:stretch>
                        <a:fillRect/>
                      </a:stretch>
                    </p:blipFill>
                    <p:spPr>
                      <a:xfrm>
                        <a:off x="1632620" y="1745195"/>
                        <a:ext cx="419100" cy="381000"/>
                      </a:xfrm>
                      <a:prstGeom prst="rect">
                        <a:avLst/>
                      </a:prstGeom>
                    </p:spPr>
                  </p:pic>
                </p:oleObj>
              </mc:Fallback>
            </mc:AlternateContent>
          </a:graphicData>
        </a:graphic>
      </p:graphicFrame>
      <p:graphicFrame>
        <p:nvGraphicFramePr>
          <p:cNvPr id="25" name="Объект 24"/>
          <p:cNvGraphicFramePr>
            <a:graphicFrameLocks noChangeAspect="1"/>
          </p:cNvGraphicFramePr>
          <p:nvPr>
            <p:extLst>
              <p:ext uri="{D42A27DB-BD31-4B8C-83A1-F6EECF244321}">
                <p14:modId xmlns:p14="http://schemas.microsoft.com/office/powerpoint/2010/main" val="2278951277"/>
              </p:ext>
            </p:extLst>
          </p:nvPr>
        </p:nvGraphicFramePr>
        <p:xfrm>
          <a:off x="5106362" y="2111521"/>
          <a:ext cx="533400" cy="381000"/>
        </p:xfrm>
        <a:graphic>
          <a:graphicData uri="http://schemas.openxmlformats.org/presentationml/2006/ole">
            <mc:AlternateContent xmlns:mc="http://schemas.openxmlformats.org/markup-compatibility/2006">
              <mc:Choice xmlns:v="urn:schemas-microsoft-com:vml" Requires="v">
                <p:oleObj spid="_x0000_s63076" name="Equation" r:id="rId7" imgW="533160" imgH="380880" progId="Equation.DSMT4">
                  <p:embed/>
                </p:oleObj>
              </mc:Choice>
              <mc:Fallback>
                <p:oleObj name="Equation" r:id="rId7" imgW="533160" imgH="380880" progId="Equation.DSMT4">
                  <p:embed/>
                  <p:pic>
                    <p:nvPicPr>
                      <p:cNvPr id="0" name=""/>
                      <p:cNvPicPr>
                        <a:picLocks noChangeAspect="1" noChangeArrowheads="1"/>
                      </p:cNvPicPr>
                      <p:nvPr/>
                    </p:nvPicPr>
                    <p:blipFill>
                      <a:blip r:embed="rId8"/>
                      <a:srcRect/>
                      <a:stretch>
                        <a:fillRect/>
                      </a:stretch>
                    </p:blipFill>
                    <p:spPr bwMode="auto">
                      <a:xfrm>
                        <a:off x="5106362" y="2111521"/>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6" name="Прямая соединительная линия 25"/>
          <p:cNvCxnSpPr/>
          <p:nvPr/>
        </p:nvCxnSpPr>
        <p:spPr>
          <a:xfrm>
            <a:off x="4433671" y="1998575"/>
            <a:ext cx="5695" cy="714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821661" y="2287216"/>
            <a:ext cx="415498" cy="369332"/>
          </a:xfrm>
          <a:prstGeom prst="rect">
            <a:avLst/>
          </a:prstGeom>
          <a:noFill/>
        </p:spPr>
        <p:txBody>
          <a:bodyPr wrap="none" rtlCol="0">
            <a:spAutoFit/>
          </a:bodyPr>
          <a:lstStyle/>
          <a:p>
            <a:r>
              <a:rPr lang="en-US" b="1" i="1" dirty="0" smtClean="0">
                <a:latin typeface="Times New Roman" panose="02020603050405020304" pitchFamily="18" charset="0"/>
                <a:cs typeface="Times New Roman" panose="02020603050405020304" pitchFamily="18" charset="0"/>
              </a:rPr>
              <a:t>R</a:t>
            </a:r>
            <a:r>
              <a:rPr lang="ru-RU" b="1" i="1" baseline="-25000" dirty="0">
                <a:latin typeface="Times New Roman" panose="02020603050405020304" pitchFamily="18" charset="0"/>
                <a:cs typeface="Times New Roman" panose="02020603050405020304" pitchFamily="18" charset="0"/>
              </a:rPr>
              <a:t>1</a:t>
            </a:r>
          </a:p>
        </p:txBody>
      </p:sp>
      <p:cxnSp>
        <p:nvCxnSpPr>
          <p:cNvPr id="28" name="Прямая соединительная линия 27"/>
          <p:cNvCxnSpPr/>
          <p:nvPr/>
        </p:nvCxnSpPr>
        <p:spPr>
          <a:xfrm>
            <a:off x="4439366" y="1998575"/>
            <a:ext cx="50994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Прямоугольник 28"/>
          <p:cNvSpPr/>
          <p:nvPr/>
        </p:nvSpPr>
        <p:spPr>
          <a:xfrm>
            <a:off x="3309530" y="2628631"/>
            <a:ext cx="592481" cy="1440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Прямоугольник 29"/>
          <p:cNvSpPr/>
          <p:nvPr/>
        </p:nvSpPr>
        <p:spPr>
          <a:xfrm>
            <a:off x="1489726" y="2628631"/>
            <a:ext cx="592481" cy="1440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Овал 30"/>
          <p:cNvSpPr/>
          <p:nvPr/>
        </p:nvSpPr>
        <p:spPr>
          <a:xfrm>
            <a:off x="4932717" y="196257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Овал 31"/>
          <p:cNvSpPr/>
          <p:nvPr/>
        </p:nvSpPr>
        <p:spPr>
          <a:xfrm>
            <a:off x="2669475" y="267352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33" name="Группа 32"/>
          <p:cNvGrpSpPr/>
          <p:nvPr/>
        </p:nvGrpSpPr>
        <p:grpSpPr>
          <a:xfrm>
            <a:off x="2309435" y="2099437"/>
            <a:ext cx="216024" cy="216024"/>
            <a:chOff x="4067944" y="2564904"/>
            <a:chExt cx="216024" cy="216024"/>
          </a:xfrm>
        </p:grpSpPr>
        <p:cxnSp>
          <p:nvCxnSpPr>
            <p:cNvPr id="34" name="Прямая соединительная линия 33"/>
            <p:cNvCxnSpPr/>
            <p:nvPr/>
          </p:nvCxnSpPr>
          <p:spPr>
            <a:xfrm>
              <a:off x="4175956" y="2564904"/>
              <a:ext cx="0" cy="2160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4067944" y="2780928"/>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Прямая соединительная линия 35"/>
          <p:cNvCxnSpPr/>
          <p:nvPr/>
        </p:nvCxnSpPr>
        <p:spPr>
          <a:xfrm flipV="1">
            <a:off x="4433671" y="1248728"/>
            <a:ext cx="0" cy="749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p:nvPr/>
        </p:nvCxnSpPr>
        <p:spPr>
          <a:xfrm>
            <a:off x="2417447" y="1259642"/>
            <a:ext cx="0" cy="4855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Группа 37"/>
          <p:cNvGrpSpPr/>
          <p:nvPr/>
        </p:nvGrpSpPr>
        <p:grpSpPr>
          <a:xfrm>
            <a:off x="2309435" y="1976140"/>
            <a:ext cx="216024" cy="128588"/>
            <a:chOff x="5652120" y="1248728"/>
            <a:chExt cx="216024" cy="128588"/>
          </a:xfrm>
        </p:grpSpPr>
        <p:cxnSp>
          <p:nvCxnSpPr>
            <p:cNvPr id="39" name="Прямая соединительная линия 38"/>
            <p:cNvCxnSpPr/>
            <p:nvPr/>
          </p:nvCxnSpPr>
          <p:spPr>
            <a:xfrm>
              <a:off x="5652120" y="1248728"/>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5652120" y="1377316"/>
              <a:ext cx="2160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Группа 40"/>
          <p:cNvGrpSpPr/>
          <p:nvPr/>
        </p:nvGrpSpPr>
        <p:grpSpPr>
          <a:xfrm>
            <a:off x="4860709" y="2335758"/>
            <a:ext cx="216024" cy="216024"/>
            <a:chOff x="4067944" y="2564904"/>
            <a:chExt cx="216024" cy="216024"/>
          </a:xfrm>
        </p:grpSpPr>
        <p:cxnSp>
          <p:nvCxnSpPr>
            <p:cNvPr id="42" name="Прямая соединительная линия 41"/>
            <p:cNvCxnSpPr/>
            <p:nvPr/>
          </p:nvCxnSpPr>
          <p:spPr>
            <a:xfrm>
              <a:off x="4175956" y="2564904"/>
              <a:ext cx="0" cy="2160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4067944" y="2780928"/>
              <a:ext cx="21602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Прямая соединительная линия 43"/>
          <p:cNvCxnSpPr/>
          <p:nvPr/>
        </p:nvCxnSpPr>
        <p:spPr>
          <a:xfrm>
            <a:off x="2417447" y="1745195"/>
            <a:ext cx="0" cy="2309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p:nvPr/>
        </p:nvCxnSpPr>
        <p:spPr>
          <a:xfrm>
            <a:off x="4902654" y="2064833"/>
            <a:ext cx="0" cy="30307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p:cNvCxnSpPr/>
          <p:nvPr/>
        </p:nvCxnSpPr>
        <p:spPr>
          <a:xfrm>
            <a:off x="2195736" y="1856544"/>
            <a:ext cx="0" cy="30307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p:nvPr/>
        </p:nvCxnSpPr>
        <p:spPr>
          <a:xfrm flipH="1">
            <a:off x="1157307" y="3212976"/>
            <a:ext cx="1512168"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8" name="Объект 47"/>
          <p:cNvGraphicFramePr>
            <a:graphicFrameLocks noChangeAspect="1"/>
          </p:cNvGraphicFramePr>
          <p:nvPr>
            <p:extLst>
              <p:ext uri="{D42A27DB-BD31-4B8C-83A1-F6EECF244321}">
                <p14:modId xmlns:p14="http://schemas.microsoft.com/office/powerpoint/2010/main" val="3080229315"/>
              </p:ext>
            </p:extLst>
          </p:nvPr>
        </p:nvGraphicFramePr>
        <p:xfrm>
          <a:off x="1668941" y="2808651"/>
          <a:ext cx="342900" cy="381000"/>
        </p:xfrm>
        <a:graphic>
          <a:graphicData uri="http://schemas.openxmlformats.org/presentationml/2006/ole">
            <mc:AlternateContent xmlns:mc="http://schemas.openxmlformats.org/markup-compatibility/2006">
              <mc:Choice xmlns:v="urn:schemas-microsoft-com:vml" Requires="v">
                <p:oleObj spid="_x0000_s63077" name="Equation" r:id="rId9" imgW="342720" imgH="380880" progId="Equation.DSMT4">
                  <p:embed/>
                </p:oleObj>
              </mc:Choice>
              <mc:Fallback>
                <p:oleObj name="Equation" r:id="rId9" imgW="342720" imgH="380880" progId="Equation.DSMT4">
                  <p:embed/>
                  <p:pic>
                    <p:nvPicPr>
                      <p:cNvPr id="0" name=""/>
                      <p:cNvPicPr>
                        <a:picLocks noChangeAspect="1" noChangeArrowheads="1"/>
                      </p:cNvPicPr>
                      <p:nvPr/>
                    </p:nvPicPr>
                    <p:blipFill>
                      <a:blip r:embed="rId10"/>
                      <a:srcRect/>
                      <a:stretch>
                        <a:fillRect/>
                      </a:stretch>
                    </p:blipFill>
                    <p:spPr bwMode="auto">
                      <a:xfrm>
                        <a:off x="1668941" y="2808651"/>
                        <a:ext cx="342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 name="TextBox 48"/>
          <p:cNvSpPr txBox="1"/>
          <p:nvPr/>
        </p:nvSpPr>
        <p:spPr>
          <a:xfrm>
            <a:off x="3757406" y="2822456"/>
            <a:ext cx="604653" cy="369332"/>
          </a:xfrm>
          <a:prstGeom prst="rect">
            <a:avLst/>
          </a:prstGeom>
          <a:noFill/>
        </p:spPr>
        <p:txBody>
          <a:bodyPr wrap="none" rtlCol="0">
            <a:spAutoFit/>
          </a:bodyPr>
          <a:lstStyle/>
          <a:p>
            <a:r>
              <a:rPr lang="ru-RU" dirty="0" smtClean="0"/>
              <a:t>ПОС</a:t>
            </a:r>
            <a:endParaRPr lang="ru-RU" dirty="0"/>
          </a:p>
        </p:txBody>
      </p:sp>
      <p:sp>
        <p:nvSpPr>
          <p:cNvPr id="50" name="TextBox 49"/>
          <p:cNvSpPr txBox="1"/>
          <p:nvPr/>
        </p:nvSpPr>
        <p:spPr>
          <a:xfrm>
            <a:off x="3709982" y="803648"/>
            <a:ext cx="612668" cy="369332"/>
          </a:xfrm>
          <a:prstGeom prst="rect">
            <a:avLst/>
          </a:prstGeom>
          <a:noFill/>
        </p:spPr>
        <p:txBody>
          <a:bodyPr wrap="none" rtlCol="0">
            <a:spAutoFit/>
          </a:bodyPr>
          <a:lstStyle/>
          <a:p>
            <a:r>
              <a:rPr lang="ru-RU" dirty="0"/>
              <a:t>О</a:t>
            </a:r>
            <a:r>
              <a:rPr lang="ru-RU" dirty="0" smtClean="0"/>
              <a:t>ОС</a:t>
            </a:r>
            <a:endParaRPr lang="ru-RU" dirty="0"/>
          </a:p>
        </p:txBody>
      </p:sp>
      <p:sp>
        <p:nvSpPr>
          <p:cNvPr id="51" name="TextBox 50"/>
          <p:cNvSpPr txBox="1"/>
          <p:nvPr/>
        </p:nvSpPr>
        <p:spPr>
          <a:xfrm>
            <a:off x="5180631" y="1502418"/>
            <a:ext cx="3993657" cy="369332"/>
          </a:xfrm>
          <a:prstGeom prst="rect">
            <a:avLst/>
          </a:prstGeom>
          <a:noFill/>
        </p:spPr>
        <p:txBody>
          <a:bodyPr wrap="none" rtlCol="0">
            <a:spAutoFit/>
          </a:bodyPr>
          <a:lstStyle/>
          <a:p>
            <a:r>
              <a:rPr lang="ru-RU" dirty="0" smtClean="0"/>
              <a:t>Два  состояния напряжений на выходе</a:t>
            </a:r>
            <a:endParaRPr lang="ru-RU" dirty="0"/>
          </a:p>
        </p:txBody>
      </p:sp>
      <p:graphicFrame>
        <p:nvGraphicFramePr>
          <p:cNvPr id="52" name="Объект 51"/>
          <p:cNvGraphicFramePr>
            <a:graphicFrameLocks noChangeAspect="1"/>
          </p:cNvGraphicFramePr>
          <p:nvPr>
            <p:extLst>
              <p:ext uri="{D42A27DB-BD31-4B8C-83A1-F6EECF244321}">
                <p14:modId xmlns:p14="http://schemas.microsoft.com/office/powerpoint/2010/main" val="251412719"/>
              </p:ext>
            </p:extLst>
          </p:nvPr>
        </p:nvGraphicFramePr>
        <p:xfrm>
          <a:off x="5805309" y="1997899"/>
          <a:ext cx="3213100" cy="419100"/>
        </p:xfrm>
        <a:graphic>
          <a:graphicData uri="http://schemas.openxmlformats.org/presentationml/2006/ole">
            <mc:AlternateContent xmlns:mc="http://schemas.openxmlformats.org/markup-compatibility/2006">
              <mc:Choice xmlns:v="urn:schemas-microsoft-com:vml" Requires="v">
                <p:oleObj spid="_x0000_s63078" name="Equation" r:id="rId11" imgW="3213000" imgH="419040" progId="Equation.DSMT4">
                  <p:embed/>
                </p:oleObj>
              </mc:Choice>
              <mc:Fallback>
                <p:oleObj name="Equation" r:id="rId11" imgW="3213000" imgH="419040" progId="Equation.DSMT4">
                  <p:embed/>
                  <p:pic>
                    <p:nvPicPr>
                      <p:cNvPr id="0" name=""/>
                      <p:cNvPicPr/>
                      <p:nvPr/>
                    </p:nvPicPr>
                    <p:blipFill>
                      <a:blip r:embed="rId12"/>
                      <a:stretch>
                        <a:fillRect/>
                      </a:stretch>
                    </p:blipFill>
                    <p:spPr>
                      <a:xfrm>
                        <a:off x="5805309" y="1997899"/>
                        <a:ext cx="3213100" cy="419100"/>
                      </a:xfrm>
                      <a:prstGeom prst="rect">
                        <a:avLst/>
                      </a:prstGeom>
                    </p:spPr>
                  </p:pic>
                </p:oleObj>
              </mc:Fallback>
            </mc:AlternateContent>
          </a:graphicData>
        </a:graphic>
      </p:graphicFrame>
      <p:sp>
        <p:nvSpPr>
          <p:cNvPr id="53" name="TextBox 52"/>
          <p:cNvSpPr txBox="1"/>
          <p:nvPr/>
        </p:nvSpPr>
        <p:spPr>
          <a:xfrm>
            <a:off x="115991" y="618982"/>
            <a:ext cx="2395528" cy="369332"/>
          </a:xfrm>
          <a:prstGeom prst="rect">
            <a:avLst/>
          </a:prstGeom>
          <a:noFill/>
        </p:spPr>
        <p:txBody>
          <a:bodyPr wrap="none" rtlCol="0">
            <a:spAutoFit/>
          </a:bodyPr>
          <a:lstStyle/>
          <a:p>
            <a:r>
              <a:rPr lang="ru-RU" dirty="0" smtClean="0"/>
              <a:t>Триггер </a:t>
            </a:r>
            <a:r>
              <a:rPr lang="ru-RU" dirty="0" err="1" smtClean="0"/>
              <a:t>Шмитта</a:t>
            </a:r>
            <a:r>
              <a:rPr lang="ru-RU" dirty="0" smtClean="0"/>
              <a:t> </a:t>
            </a:r>
            <a:r>
              <a:rPr lang="en-US" dirty="0" smtClean="0"/>
              <a:t>+ </a:t>
            </a:r>
            <a:r>
              <a:rPr lang="ru-RU" dirty="0" smtClean="0"/>
              <a:t>ООС</a:t>
            </a:r>
            <a:endParaRPr lang="ru-RU" dirty="0"/>
          </a:p>
        </p:txBody>
      </p:sp>
      <p:graphicFrame>
        <p:nvGraphicFramePr>
          <p:cNvPr id="54" name="Объект 53"/>
          <p:cNvGraphicFramePr>
            <a:graphicFrameLocks noChangeAspect="1"/>
          </p:cNvGraphicFramePr>
          <p:nvPr>
            <p:extLst>
              <p:ext uri="{D42A27DB-BD31-4B8C-83A1-F6EECF244321}">
                <p14:modId xmlns:p14="http://schemas.microsoft.com/office/powerpoint/2010/main" val="162714637"/>
              </p:ext>
            </p:extLst>
          </p:nvPr>
        </p:nvGraphicFramePr>
        <p:xfrm>
          <a:off x="7157076" y="3191788"/>
          <a:ext cx="1498600" cy="381000"/>
        </p:xfrm>
        <a:graphic>
          <a:graphicData uri="http://schemas.openxmlformats.org/presentationml/2006/ole">
            <mc:AlternateContent xmlns:mc="http://schemas.openxmlformats.org/markup-compatibility/2006">
              <mc:Choice xmlns:v="urn:schemas-microsoft-com:vml" Requires="v">
                <p:oleObj spid="_x0000_s63079" name="Equation" r:id="rId13" imgW="1498320" imgH="380880" progId="Equation.DSMT4">
                  <p:embed/>
                </p:oleObj>
              </mc:Choice>
              <mc:Fallback>
                <p:oleObj name="Equation" r:id="rId13" imgW="1498320" imgH="380880" progId="Equation.DSMT4">
                  <p:embed/>
                  <p:pic>
                    <p:nvPicPr>
                      <p:cNvPr id="0" name=""/>
                      <p:cNvPicPr/>
                      <p:nvPr/>
                    </p:nvPicPr>
                    <p:blipFill>
                      <a:blip r:embed="rId14"/>
                      <a:stretch>
                        <a:fillRect/>
                      </a:stretch>
                    </p:blipFill>
                    <p:spPr>
                      <a:xfrm>
                        <a:off x="7157076" y="3191788"/>
                        <a:ext cx="1498600" cy="381000"/>
                      </a:xfrm>
                      <a:prstGeom prst="rect">
                        <a:avLst/>
                      </a:prstGeom>
                    </p:spPr>
                  </p:pic>
                </p:oleObj>
              </mc:Fallback>
            </mc:AlternateContent>
          </a:graphicData>
        </a:graphic>
      </p:graphicFrame>
      <p:graphicFrame>
        <p:nvGraphicFramePr>
          <p:cNvPr id="55" name="Объект 54"/>
          <p:cNvGraphicFramePr>
            <a:graphicFrameLocks noChangeAspect="1"/>
          </p:cNvGraphicFramePr>
          <p:nvPr>
            <p:extLst>
              <p:ext uri="{D42A27DB-BD31-4B8C-83A1-F6EECF244321}">
                <p14:modId xmlns:p14="http://schemas.microsoft.com/office/powerpoint/2010/main" val="770680379"/>
              </p:ext>
            </p:extLst>
          </p:nvPr>
        </p:nvGraphicFramePr>
        <p:xfrm>
          <a:off x="6372200" y="747454"/>
          <a:ext cx="1460500" cy="800100"/>
        </p:xfrm>
        <a:graphic>
          <a:graphicData uri="http://schemas.openxmlformats.org/presentationml/2006/ole">
            <mc:AlternateContent xmlns:mc="http://schemas.openxmlformats.org/markup-compatibility/2006">
              <mc:Choice xmlns:v="urn:schemas-microsoft-com:vml" Requires="v">
                <p:oleObj spid="_x0000_s63080" name="Equation" r:id="rId15" imgW="1460160" imgH="799920" progId="Equation.DSMT4">
                  <p:embed/>
                </p:oleObj>
              </mc:Choice>
              <mc:Fallback>
                <p:oleObj name="Equation" r:id="rId15" imgW="1460160" imgH="799920" progId="Equation.DSMT4">
                  <p:embed/>
                  <p:pic>
                    <p:nvPicPr>
                      <p:cNvPr id="0" name=""/>
                      <p:cNvPicPr>
                        <a:picLocks noChangeAspect="1" noChangeArrowheads="1"/>
                      </p:cNvPicPr>
                      <p:nvPr/>
                    </p:nvPicPr>
                    <p:blipFill>
                      <a:blip r:embed="rId16"/>
                      <a:srcRect/>
                      <a:stretch>
                        <a:fillRect/>
                      </a:stretch>
                    </p:blipFill>
                    <p:spPr bwMode="auto">
                      <a:xfrm>
                        <a:off x="6372200" y="747454"/>
                        <a:ext cx="14605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Объект 55"/>
          <p:cNvGraphicFramePr>
            <a:graphicFrameLocks noChangeAspect="1"/>
          </p:cNvGraphicFramePr>
          <p:nvPr>
            <p:extLst>
              <p:ext uri="{D42A27DB-BD31-4B8C-83A1-F6EECF244321}">
                <p14:modId xmlns:p14="http://schemas.microsoft.com/office/powerpoint/2010/main" val="4180461879"/>
              </p:ext>
            </p:extLst>
          </p:nvPr>
        </p:nvGraphicFramePr>
        <p:xfrm>
          <a:off x="5940152" y="3845808"/>
          <a:ext cx="2768600" cy="419100"/>
        </p:xfrm>
        <a:graphic>
          <a:graphicData uri="http://schemas.openxmlformats.org/presentationml/2006/ole">
            <mc:AlternateContent xmlns:mc="http://schemas.openxmlformats.org/markup-compatibility/2006">
              <mc:Choice xmlns:v="urn:schemas-microsoft-com:vml" Requires="v">
                <p:oleObj spid="_x0000_s63081" name="Equation" r:id="rId17" imgW="2768400" imgH="419040" progId="Equation.DSMT4">
                  <p:embed/>
                </p:oleObj>
              </mc:Choice>
              <mc:Fallback>
                <p:oleObj name="Equation" r:id="rId17" imgW="2768400" imgH="419040" progId="Equation.DSMT4">
                  <p:embed/>
                  <p:pic>
                    <p:nvPicPr>
                      <p:cNvPr id="0" name=""/>
                      <p:cNvPicPr/>
                      <p:nvPr/>
                    </p:nvPicPr>
                    <p:blipFill>
                      <a:blip r:embed="rId18"/>
                      <a:stretch>
                        <a:fillRect/>
                      </a:stretch>
                    </p:blipFill>
                    <p:spPr>
                      <a:xfrm>
                        <a:off x="5940152" y="3845808"/>
                        <a:ext cx="2768600" cy="419100"/>
                      </a:xfrm>
                      <a:prstGeom prst="rect">
                        <a:avLst/>
                      </a:prstGeom>
                    </p:spPr>
                  </p:pic>
                </p:oleObj>
              </mc:Fallback>
            </mc:AlternateContent>
          </a:graphicData>
        </a:graphic>
      </p:graphicFrame>
      <p:cxnSp>
        <p:nvCxnSpPr>
          <p:cNvPr id="57" name="Прямая со стрелкой 56"/>
          <p:cNvCxnSpPr/>
          <p:nvPr/>
        </p:nvCxnSpPr>
        <p:spPr>
          <a:xfrm flipV="1">
            <a:off x="1049295" y="3356992"/>
            <a:ext cx="0" cy="3384376"/>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8" name="Прямая со стрелкой 57"/>
          <p:cNvCxnSpPr/>
          <p:nvPr/>
        </p:nvCxnSpPr>
        <p:spPr>
          <a:xfrm>
            <a:off x="1049295" y="5949280"/>
            <a:ext cx="4027438" cy="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9" name="Прямая соединительная линия 58"/>
          <p:cNvCxnSpPr/>
          <p:nvPr/>
        </p:nvCxnSpPr>
        <p:spPr>
          <a:xfrm>
            <a:off x="1049294" y="6525344"/>
            <a:ext cx="5289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Прямая соединительная линия 59"/>
          <p:cNvCxnSpPr/>
          <p:nvPr/>
        </p:nvCxnSpPr>
        <p:spPr>
          <a:xfrm flipV="1">
            <a:off x="1578217" y="594928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p:cNvCxnSpPr/>
          <p:nvPr/>
        </p:nvCxnSpPr>
        <p:spPr>
          <a:xfrm flipV="1">
            <a:off x="1578217" y="5373216"/>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a:off x="1587074" y="5385465"/>
            <a:ext cx="5289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p:nvPr/>
        </p:nvCxnSpPr>
        <p:spPr>
          <a:xfrm>
            <a:off x="2082207" y="5385465"/>
            <a:ext cx="5289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Прямая соединительная линия 63"/>
          <p:cNvCxnSpPr/>
          <p:nvPr/>
        </p:nvCxnSpPr>
        <p:spPr>
          <a:xfrm flipV="1">
            <a:off x="2611130" y="5398223"/>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flipV="1">
            <a:off x="2614266" y="594928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a:off x="2611129" y="6525344"/>
            <a:ext cx="5289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a:off x="3131992" y="6525344"/>
            <a:ext cx="5289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flipV="1">
            <a:off x="3646935" y="594928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p:cNvCxnSpPr/>
          <p:nvPr/>
        </p:nvCxnSpPr>
        <p:spPr>
          <a:xfrm flipV="1">
            <a:off x="3646935" y="5373216"/>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p:cNvCxnSpPr/>
          <p:nvPr/>
        </p:nvCxnSpPr>
        <p:spPr>
          <a:xfrm>
            <a:off x="3646421" y="5392538"/>
            <a:ext cx="5289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p:cNvCxnSpPr/>
          <p:nvPr/>
        </p:nvCxnSpPr>
        <p:spPr>
          <a:xfrm>
            <a:off x="4138314" y="5392538"/>
            <a:ext cx="5289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4818504" y="6042590"/>
            <a:ext cx="255198" cy="400110"/>
          </a:xfrm>
          <a:prstGeom prst="rect">
            <a:avLst/>
          </a:prstGeom>
          <a:noFill/>
        </p:spPr>
        <p:txBody>
          <a:bodyPr wrap="none" rtlCol="0">
            <a:spAutoFit/>
          </a:bodyPr>
          <a:lstStyle/>
          <a:p>
            <a:r>
              <a:rPr lang="en-US" sz="2000" b="1" i="1" dirty="0" smtClean="0">
                <a:latin typeface="Times New Roman" panose="02020603050405020304" pitchFamily="18" charset="0"/>
                <a:cs typeface="Times New Roman" panose="02020603050405020304" pitchFamily="18" charset="0"/>
              </a:rPr>
              <a:t>t</a:t>
            </a:r>
            <a:endParaRPr lang="ru-RU" sz="2000" b="1" i="1" dirty="0">
              <a:latin typeface="Times New Roman" panose="02020603050405020304" pitchFamily="18" charset="0"/>
              <a:cs typeface="Times New Roman" panose="02020603050405020304" pitchFamily="18" charset="0"/>
            </a:endParaRPr>
          </a:p>
        </p:txBody>
      </p:sp>
      <p:graphicFrame>
        <p:nvGraphicFramePr>
          <p:cNvPr id="73" name="Объект 72"/>
          <p:cNvGraphicFramePr>
            <a:graphicFrameLocks noChangeAspect="1"/>
          </p:cNvGraphicFramePr>
          <p:nvPr>
            <p:extLst>
              <p:ext uri="{D42A27DB-BD31-4B8C-83A1-F6EECF244321}">
                <p14:modId xmlns:p14="http://schemas.microsoft.com/office/powerpoint/2010/main" val="2266092770"/>
              </p:ext>
            </p:extLst>
          </p:nvPr>
        </p:nvGraphicFramePr>
        <p:xfrm>
          <a:off x="376848" y="6353894"/>
          <a:ext cx="558800" cy="342900"/>
        </p:xfrm>
        <a:graphic>
          <a:graphicData uri="http://schemas.openxmlformats.org/presentationml/2006/ole">
            <mc:AlternateContent xmlns:mc="http://schemas.openxmlformats.org/markup-compatibility/2006">
              <mc:Choice xmlns:v="urn:schemas-microsoft-com:vml" Requires="v">
                <p:oleObj spid="_x0000_s63082" name="Equation" r:id="rId19" imgW="558720" imgH="342720" progId="Equation.DSMT4">
                  <p:embed/>
                </p:oleObj>
              </mc:Choice>
              <mc:Fallback>
                <p:oleObj name="Equation" r:id="rId19" imgW="558720" imgH="342720" progId="Equation.DSMT4">
                  <p:embed/>
                  <p:pic>
                    <p:nvPicPr>
                      <p:cNvPr id="0" name=""/>
                      <p:cNvPicPr/>
                      <p:nvPr/>
                    </p:nvPicPr>
                    <p:blipFill>
                      <a:blip r:embed="rId20"/>
                      <a:stretch>
                        <a:fillRect/>
                      </a:stretch>
                    </p:blipFill>
                    <p:spPr>
                      <a:xfrm>
                        <a:off x="376848" y="6353894"/>
                        <a:ext cx="558800" cy="342900"/>
                      </a:xfrm>
                      <a:prstGeom prst="rect">
                        <a:avLst/>
                      </a:prstGeom>
                    </p:spPr>
                  </p:pic>
                </p:oleObj>
              </mc:Fallback>
            </mc:AlternateContent>
          </a:graphicData>
        </a:graphic>
      </p:graphicFrame>
      <p:graphicFrame>
        <p:nvGraphicFramePr>
          <p:cNvPr id="74" name="Объект 73"/>
          <p:cNvGraphicFramePr>
            <a:graphicFrameLocks noChangeAspect="1"/>
          </p:cNvGraphicFramePr>
          <p:nvPr>
            <p:extLst>
              <p:ext uri="{D42A27DB-BD31-4B8C-83A1-F6EECF244321}">
                <p14:modId xmlns:p14="http://schemas.microsoft.com/office/powerpoint/2010/main" val="403524351"/>
              </p:ext>
            </p:extLst>
          </p:nvPr>
        </p:nvGraphicFramePr>
        <p:xfrm>
          <a:off x="467544" y="5201766"/>
          <a:ext cx="381000" cy="342900"/>
        </p:xfrm>
        <a:graphic>
          <a:graphicData uri="http://schemas.openxmlformats.org/presentationml/2006/ole">
            <mc:AlternateContent xmlns:mc="http://schemas.openxmlformats.org/markup-compatibility/2006">
              <mc:Choice xmlns:v="urn:schemas-microsoft-com:vml" Requires="v">
                <p:oleObj spid="_x0000_s63083" name="Equation" r:id="rId21" imgW="380880" imgH="342720" progId="Equation.DSMT4">
                  <p:embed/>
                </p:oleObj>
              </mc:Choice>
              <mc:Fallback>
                <p:oleObj name="Equation" r:id="rId21" imgW="380880" imgH="342720" progId="Equation.DSMT4">
                  <p:embed/>
                  <p:pic>
                    <p:nvPicPr>
                      <p:cNvPr id="0" name=""/>
                      <p:cNvPicPr/>
                      <p:nvPr/>
                    </p:nvPicPr>
                    <p:blipFill>
                      <a:blip r:embed="rId22"/>
                      <a:stretch>
                        <a:fillRect/>
                      </a:stretch>
                    </p:blipFill>
                    <p:spPr>
                      <a:xfrm>
                        <a:off x="467544" y="5201766"/>
                        <a:ext cx="381000" cy="342900"/>
                      </a:xfrm>
                      <a:prstGeom prst="rect">
                        <a:avLst/>
                      </a:prstGeom>
                    </p:spPr>
                  </p:pic>
                </p:oleObj>
              </mc:Fallback>
            </mc:AlternateContent>
          </a:graphicData>
        </a:graphic>
      </p:graphicFrame>
      <p:cxnSp>
        <p:nvCxnSpPr>
          <p:cNvPr id="75" name="Прямая со стрелкой 74"/>
          <p:cNvCxnSpPr/>
          <p:nvPr/>
        </p:nvCxnSpPr>
        <p:spPr>
          <a:xfrm>
            <a:off x="1049295" y="4365104"/>
            <a:ext cx="3811414" cy="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76" name="Прямая соединительная линия 75"/>
          <p:cNvCxnSpPr/>
          <p:nvPr/>
        </p:nvCxnSpPr>
        <p:spPr>
          <a:xfrm>
            <a:off x="1049294" y="4869160"/>
            <a:ext cx="3769210" cy="0"/>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cxnSp>
        <p:nvCxnSpPr>
          <p:cNvPr id="77" name="Прямая соединительная линия 76"/>
          <p:cNvCxnSpPr/>
          <p:nvPr/>
        </p:nvCxnSpPr>
        <p:spPr>
          <a:xfrm>
            <a:off x="1036898" y="3861048"/>
            <a:ext cx="3769210" cy="0"/>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cxnSp>
        <p:nvCxnSpPr>
          <p:cNvPr id="78" name="Прямая соединительная линия 77"/>
          <p:cNvCxnSpPr/>
          <p:nvPr/>
        </p:nvCxnSpPr>
        <p:spPr>
          <a:xfrm flipH="1" flipV="1">
            <a:off x="2611129" y="3645024"/>
            <a:ext cx="3137" cy="309634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9" name="Прямая соединительная линия 78"/>
          <p:cNvCxnSpPr/>
          <p:nvPr/>
        </p:nvCxnSpPr>
        <p:spPr>
          <a:xfrm flipH="1" flipV="1">
            <a:off x="3642764" y="3645024"/>
            <a:ext cx="3137" cy="309634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0" name="Прямая соединительная линия 79"/>
          <p:cNvCxnSpPr/>
          <p:nvPr/>
        </p:nvCxnSpPr>
        <p:spPr>
          <a:xfrm flipH="1" flipV="1">
            <a:off x="1587074" y="3645024"/>
            <a:ext cx="3137" cy="309634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81" name="Дуга 80"/>
          <p:cNvSpPr/>
          <p:nvPr/>
        </p:nvSpPr>
        <p:spPr>
          <a:xfrm rot="16200000">
            <a:off x="1679033" y="3774313"/>
            <a:ext cx="1944217" cy="2117687"/>
          </a:xfrm>
          <a:prstGeom prst="arc">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2" name="Дуга 81"/>
          <p:cNvSpPr/>
          <p:nvPr/>
        </p:nvSpPr>
        <p:spPr>
          <a:xfrm rot="10800000">
            <a:off x="2614263" y="2822455"/>
            <a:ext cx="2080073" cy="2046705"/>
          </a:xfrm>
          <a:prstGeom prst="arc">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3" name="Дуга 82"/>
          <p:cNvSpPr/>
          <p:nvPr/>
        </p:nvSpPr>
        <p:spPr>
          <a:xfrm rot="16200000">
            <a:off x="3746998" y="3774313"/>
            <a:ext cx="1944216" cy="2117687"/>
          </a:xfrm>
          <a:prstGeom prst="arc">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graphicFrame>
        <p:nvGraphicFramePr>
          <p:cNvPr id="84" name="Объект 83"/>
          <p:cNvGraphicFramePr>
            <a:graphicFrameLocks noChangeAspect="1"/>
          </p:cNvGraphicFramePr>
          <p:nvPr>
            <p:extLst>
              <p:ext uri="{D42A27DB-BD31-4B8C-83A1-F6EECF244321}">
                <p14:modId xmlns:p14="http://schemas.microsoft.com/office/powerpoint/2010/main" val="1772159496"/>
              </p:ext>
            </p:extLst>
          </p:nvPr>
        </p:nvGraphicFramePr>
        <p:xfrm>
          <a:off x="590550" y="3675063"/>
          <a:ext cx="317500" cy="341312"/>
        </p:xfrm>
        <a:graphic>
          <a:graphicData uri="http://schemas.openxmlformats.org/presentationml/2006/ole">
            <mc:AlternateContent xmlns:mc="http://schemas.openxmlformats.org/markup-compatibility/2006">
              <mc:Choice xmlns:v="urn:schemas-microsoft-com:vml" Requires="v">
                <p:oleObj spid="_x0000_s63084" name="Equation" r:id="rId23" imgW="317160" imgH="380880" progId="Equation.DSMT4">
                  <p:embed/>
                </p:oleObj>
              </mc:Choice>
              <mc:Fallback>
                <p:oleObj name="Equation" r:id="rId23" imgW="317160" imgH="380880" progId="Equation.DSMT4">
                  <p:embed/>
                  <p:pic>
                    <p:nvPicPr>
                      <p:cNvPr id="0" name=""/>
                      <p:cNvPicPr>
                        <a:picLocks noChangeAspect="1" noChangeArrowheads="1"/>
                      </p:cNvPicPr>
                      <p:nvPr/>
                    </p:nvPicPr>
                    <p:blipFill>
                      <a:blip r:embed="rId24"/>
                      <a:srcRect/>
                      <a:stretch>
                        <a:fillRect/>
                      </a:stretch>
                    </p:blipFill>
                    <p:spPr bwMode="auto">
                      <a:xfrm>
                        <a:off x="590550" y="3675063"/>
                        <a:ext cx="317500" cy="341312"/>
                      </a:xfrm>
                      <a:prstGeom prst="rect">
                        <a:avLst/>
                      </a:prstGeom>
                      <a:noFill/>
                      <a:ln>
                        <a:noFill/>
                      </a:ln>
                    </p:spPr>
                  </p:pic>
                </p:oleObj>
              </mc:Fallback>
            </mc:AlternateContent>
          </a:graphicData>
        </a:graphic>
      </p:graphicFrame>
      <p:graphicFrame>
        <p:nvGraphicFramePr>
          <p:cNvPr id="85" name="Объект 84"/>
          <p:cNvGraphicFramePr>
            <a:graphicFrameLocks noChangeAspect="1"/>
          </p:cNvGraphicFramePr>
          <p:nvPr>
            <p:extLst>
              <p:ext uri="{D42A27DB-BD31-4B8C-83A1-F6EECF244321}">
                <p14:modId xmlns:p14="http://schemas.microsoft.com/office/powerpoint/2010/main" val="2510629545"/>
              </p:ext>
            </p:extLst>
          </p:nvPr>
        </p:nvGraphicFramePr>
        <p:xfrm>
          <a:off x="608013" y="4699000"/>
          <a:ext cx="342900" cy="341313"/>
        </p:xfrm>
        <a:graphic>
          <a:graphicData uri="http://schemas.openxmlformats.org/presentationml/2006/ole">
            <mc:AlternateContent xmlns:mc="http://schemas.openxmlformats.org/markup-compatibility/2006">
              <mc:Choice xmlns:v="urn:schemas-microsoft-com:vml" Requires="v">
                <p:oleObj spid="_x0000_s63085" name="Equation" r:id="rId25" imgW="342720" imgH="380880" progId="Equation.DSMT4">
                  <p:embed/>
                </p:oleObj>
              </mc:Choice>
              <mc:Fallback>
                <p:oleObj name="Equation" r:id="rId25" imgW="342720" imgH="380880" progId="Equation.DSMT4">
                  <p:embed/>
                  <p:pic>
                    <p:nvPicPr>
                      <p:cNvPr id="0" name=""/>
                      <p:cNvPicPr>
                        <a:picLocks noChangeAspect="1" noChangeArrowheads="1"/>
                      </p:cNvPicPr>
                      <p:nvPr/>
                    </p:nvPicPr>
                    <p:blipFill>
                      <a:blip r:embed="rId26"/>
                      <a:srcRect/>
                      <a:stretch>
                        <a:fillRect/>
                      </a:stretch>
                    </p:blipFill>
                    <p:spPr bwMode="auto">
                      <a:xfrm>
                        <a:off x="608013" y="4699000"/>
                        <a:ext cx="3429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 name="TextBox 85"/>
          <p:cNvSpPr txBox="1"/>
          <p:nvPr/>
        </p:nvSpPr>
        <p:spPr>
          <a:xfrm>
            <a:off x="4757934" y="4354867"/>
            <a:ext cx="255198" cy="400110"/>
          </a:xfrm>
          <a:prstGeom prst="rect">
            <a:avLst/>
          </a:prstGeom>
          <a:noFill/>
        </p:spPr>
        <p:txBody>
          <a:bodyPr wrap="none" rtlCol="0">
            <a:spAutoFit/>
          </a:bodyPr>
          <a:lstStyle/>
          <a:p>
            <a:r>
              <a:rPr lang="en-US" sz="2000" b="1" i="1" dirty="0" smtClean="0">
                <a:latin typeface="Times New Roman" panose="02020603050405020304" pitchFamily="18" charset="0"/>
                <a:cs typeface="Times New Roman" panose="02020603050405020304" pitchFamily="18" charset="0"/>
              </a:rPr>
              <a:t>t</a:t>
            </a:r>
            <a:endParaRPr lang="ru-RU" sz="2000" b="1" i="1" dirty="0">
              <a:latin typeface="Times New Roman" panose="02020603050405020304" pitchFamily="18" charset="0"/>
              <a:cs typeface="Times New Roman" panose="02020603050405020304" pitchFamily="18" charset="0"/>
            </a:endParaRPr>
          </a:p>
        </p:txBody>
      </p:sp>
      <p:sp>
        <p:nvSpPr>
          <p:cNvPr id="87" name="TextBox 86"/>
          <p:cNvSpPr txBox="1"/>
          <p:nvPr/>
        </p:nvSpPr>
        <p:spPr>
          <a:xfrm>
            <a:off x="1641239" y="5949280"/>
            <a:ext cx="340158" cy="400110"/>
          </a:xfrm>
          <a:prstGeom prst="rect">
            <a:avLst/>
          </a:prstGeom>
          <a:noFill/>
        </p:spPr>
        <p:txBody>
          <a:bodyPr wrap="none" rtlCol="0">
            <a:spAutoFit/>
          </a:bodyPr>
          <a:lstStyle/>
          <a:p>
            <a:r>
              <a:rPr lang="en-US" sz="2000" b="1" i="1" dirty="0" smtClean="0">
                <a:latin typeface="Times New Roman" panose="02020603050405020304" pitchFamily="18" charset="0"/>
                <a:cs typeface="Times New Roman" panose="02020603050405020304" pitchFamily="18" charset="0"/>
              </a:rPr>
              <a:t>t</a:t>
            </a:r>
            <a:r>
              <a:rPr lang="en-US" sz="2000" b="1" i="1" baseline="-25000" dirty="0" smtClean="0">
                <a:latin typeface="Times New Roman" panose="02020603050405020304" pitchFamily="18" charset="0"/>
                <a:cs typeface="Times New Roman" panose="02020603050405020304" pitchFamily="18" charset="0"/>
              </a:rPr>
              <a:t>1</a:t>
            </a:r>
            <a:endParaRPr lang="ru-RU" sz="2000" b="1" i="1" baseline="-25000" dirty="0">
              <a:latin typeface="Times New Roman" panose="02020603050405020304" pitchFamily="18" charset="0"/>
              <a:cs typeface="Times New Roman" panose="02020603050405020304" pitchFamily="18" charset="0"/>
            </a:endParaRPr>
          </a:p>
        </p:txBody>
      </p:sp>
      <p:sp>
        <p:nvSpPr>
          <p:cNvPr id="88" name="TextBox 87"/>
          <p:cNvSpPr txBox="1"/>
          <p:nvPr/>
        </p:nvSpPr>
        <p:spPr>
          <a:xfrm>
            <a:off x="2614844" y="5949280"/>
            <a:ext cx="340158" cy="400110"/>
          </a:xfrm>
          <a:prstGeom prst="rect">
            <a:avLst/>
          </a:prstGeom>
          <a:noFill/>
        </p:spPr>
        <p:txBody>
          <a:bodyPr wrap="none" rtlCol="0">
            <a:spAutoFit/>
          </a:bodyPr>
          <a:lstStyle/>
          <a:p>
            <a:r>
              <a:rPr lang="en-US" sz="2000" b="1" i="1" dirty="0" smtClean="0">
                <a:latin typeface="Times New Roman" panose="02020603050405020304" pitchFamily="18" charset="0"/>
                <a:cs typeface="Times New Roman" panose="02020603050405020304" pitchFamily="18" charset="0"/>
              </a:rPr>
              <a:t>t</a:t>
            </a:r>
            <a:r>
              <a:rPr lang="en-US" sz="2000" b="1" i="1" baseline="-25000" dirty="0">
                <a:latin typeface="Times New Roman" panose="02020603050405020304" pitchFamily="18" charset="0"/>
                <a:cs typeface="Times New Roman" panose="02020603050405020304" pitchFamily="18" charset="0"/>
              </a:rPr>
              <a:t>2</a:t>
            </a:r>
            <a:endParaRPr lang="ru-RU" sz="2000" b="1" i="1" baseline="-25000" dirty="0">
              <a:latin typeface="Times New Roman" panose="02020603050405020304" pitchFamily="18" charset="0"/>
              <a:cs typeface="Times New Roman" panose="02020603050405020304" pitchFamily="18" charset="0"/>
            </a:endParaRPr>
          </a:p>
        </p:txBody>
      </p:sp>
      <p:sp>
        <p:nvSpPr>
          <p:cNvPr id="89" name="TextBox 88"/>
          <p:cNvSpPr txBox="1"/>
          <p:nvPr/>
        </p:nvSpPr>
        <p:spPr>
          <a:xfrm>
            <a:off x="3637725" y="5949280"/>
            <a:ext cx="340158" cy="400110"/>
          </a:xfrm>
          <a:prstGeom prst="rect">
            <a:avLst/>
          </a:prstGeom>
          <a:noFill/>
        </p:spPr>
        <p:txBody>
          <a:bodyPr wrap="none" rtlCol="0">
            <a:spAutoFit/>
          </a:bodyPr>
          <a:lstStyle/>
          <a:p>
            <a:r>
              <a:rPr lang="en-US" sz="2000" b="1" i="1" dirty="0" smtClean="0">
                <a:latin typeface="Times New Roman" panose="02020603050405020304" pitchFamily="18" charset="0"/>
                <a:cs typeface="Times New Roman" panose="02020603050405020304" pitchFamily="18" charset="0"/>
              </a:rPr>
              <a:t>t</a:t>
            </a:r>
            <a:r>
              <a:rPr lang="en-US" sz="2000" b="1" i="1" baseline="-25000" dirty="0" smtClean="0">
                <a:latin typeface="Times New Roman" panose="02020603050405020304" pitchFamily="18" charset="0"/>
                <a:cs typeface="Times New Roman" panose="02020603050405020304" pitchFamily="18" charset="0"/>
              </a:rPr>
              <a:t>3</a:t>
            </a:r>
            <a:endParaRPr lang="ru-RU" sz="2000" b="1" i="1" baseline="-25000" dirty="0">
              <a:latin typeface="Times New Roman" panose="02020603050405020304" pitchFamily="18" charset="0"/>
              <a:cs typeface="Times New Roman" panose="02020603050405020304" pitchFamily="18" charset="0"/>
            </a:endParaRPr>
          </a:p>
        </p:txBody>
      </p:sp>
      <p:sp>
        <p:nvSpPr>
          <p:cNvPr id="90" name="TextBox 89"/>
          <p:cNvSpPr txBox="1"/>
          <p:nvPr/>
        </p:nvSpPr>
        <p:spPr>
          <a:xfrm>
            <a:off x="5940152" y="4554922"/>
            <a:ext cx="2897716" cy="369332"/>
          </a:xfrm>
          <a:prstGeom prst="rect">
            <a:avLst/>
          </a:prstGeom>
          <a:noFill/>
        </p:spPr>
        <p:txBody>
          <a:bodyPr wrap="none" rtlCol="0">
            <a:spAutoFit/>
          </a:bodyPr>
          <a:lstStyle/>
          <a:p>
            <a:r>
              <a:rPr lang="ru-RU" dirty="0" smtClean="0"/>
              <a:t>Релаксационный генератор</a:t>
            </a:r>
            <a:endParaRPr lang="ru-RU" dirty="0"/>
          </a:p>
        </p:txBody>
      </p:sp>
      <p:sp>
        <p:nvSpPr>
          <p:cNvPr id="91" name="TextBox 90"/>
          <p:cNvSpPr txBox="1"/>
          <p:nvPr/>
        </p:nvSpPr>
        <p:spPr>
          <a:xfrm>
            <a:off x="6300192" y="5049180"/>
            <a:ext cx="2049407" cy="369332"/>
          </a:xfrm>
          <a:prstGeom prst="rect">
            <a:avLst/>
          </a:prstGeom>
          <a:noFill/>
        </p:spPr>
        <p:txBody>
          <a:bodyPr wrap="none" rtlCol="0">
            <a:spAutoFit/>
          </a:bodyPr>
          <a:lstStyle/>
          <a:p>
            <a:r>
              <a:rPr lang="ru-RU" dirty="0" smtClean="0"/>
              <a:t>Период колебаний</a:t>
            </a:r>
            <a:endParaRPr lang="ru-RU" dirty="0"/>
          </a:p>
        </p:txBody>
      </p:sp>
      <p:graphicFrame>
        <p:nvGraphicFramePr>
          <p:cNvPr id="92" name="Объект 91"/>
          <p:cNvGraphicFramePr>
            <a:graphicFrameLocks noChangeAspect="1"/>
          </p:cNvGraphicFramePr>
          <p:nvPr>
            <p:extLst>
              <p:ext uri="{D42A27DB-BD31-4B8C-83A1-F6EECF244321}">
                <p14:modId xmlns:p14="http://schemas.microsoft.com/office/powerpoint/2010/main" val="2818768631"/>
              </p:ext>
            </p:extLst>
          </p:nvPr>
        </p:nvGraphicFramePr>
        <p:xfrm>
          <a:off x="5831259" y="5461800"/>
          <a:ext cx="2692400" cy="889000"/>
        </p:xfrm>
        <a:graphic>
          <a:graphicData uri="http://schemas.openxmlformats.org/presentationml/2006/ole">
            <mc:AlternateContent xmlns:mc="http://schemas.openxmlformats.org/markup-compatibility/2006">
              <mc:Choice xmlns:v="urn:schemas-microsoft-com:vml" Requires="v">
                <p:oleObj spid="_x0000_s63086" name="Equation" r:id="rId27" imgW="2692080" imgH="888840" progId="Equation.DSMT4">
                  <p:embed/>
                </p:oleObj>
              </mc:Choice>
              <mc:Fallback>
                <p:oleObj name="Equation" r:id="rId27" imgW="2692080" imgH="888840" progId="Equation.DSMT4">
                  <p:embed/>
                  <p:pic>
                    <p:nvPicPr>
                      <p:cNvPr id="0" name=""/>
                      <p:cNvPicPr/>
                      <p:nvPr/>
                    </p:nvPicPr>
                    <p:blipFill>
                      <a:blip r:embed="rId28"/>
                      <a:stretch>
                        <a:fillRect/>
                      </a:stretch>
                    </p:blipFill>
                    <p:spPr>
                      <a:xfrm>
                        <a:off x="5831259" y="5461800"/>
                        <a:ext cx="2692400" cy="889000"/>
                      </a:xfrm>
                      <a:prstGeom prst="rect">
                        <a:avLst/>
                      </a:prstGeom>
                    </p:spPr>
                  </p:pic>
                </p:oleObj>
              </mc:Fallback>
            </mc:AlternateContent>
          </a:graphicData>
        </a:graphic>
      </p:graphicFrame>
      <p:sp>
        <p:nvSpPr>
          <p:cNvPr id="93" name="TextBox 92"/>
          <p:cNvSpPr txBox="1"/>
          <p:nvPr/>
        </p:nvSpPr>
        <p:spPr>
          <a:xfrm>
            <a:off x="5946451" y="3164746"/>
            <a:ext cx="981231" cy="369332"/>
          </a:xfrm>
          <a:prstGeom prst="rect">
            <a:avLst/>
          </a:prstGeom>
          <a:noFill/>
        </p:spPr>
        <p:txBody>
          <a:bodyPr wrap="none" rtlCol="0">
            <a:spAutoFit/>
          </a:bodyPr>
          <a:lstStyle/>
          <a:p>
            <a:r>
              <a:rPr lang="ru-RU" dirty="0" smtClean="0"/>
              <a:t>Условие</a:t>
            </a:r>
            <a:endParaRPr lang="ru-RU" dirty="0"/>
          </a:p>
        </p:txBody>
      </p:sp>
      <p:graphicFrame>
        <p:nvGraphicFramePr>
          <p:cNvPr id="94" name="Объект 93"/>
          <p:cNvGraphicFramePr>
            <a:graphicFrameLocks noChangeAspect="1"/>
          </p:cNvGraphicFramePr>
          <p:nvPr>
            <p:extLst>
              <p:ext uri="{D42A27DB-BD31-4B8C-83A1-F6EECF244321}">
                <p14:modId xmlns:p14="http://schemas.microsoft.com/office/powerpoint/2010/main" val="2524409675"/>
              </p:ext>
            </p:extLst>
          </p:nvPr>
        </p:nvGraphicFramePr>
        <p:xfrm>
          <a:off x="5927895" y="2471882"/>
          <a:ext cx="2794000" cy="419100"/>
        </p:xfrm>
        <a:graphic>
          <a:graphicData uri="http://schemas.openxmlformats.org/presentationml/2006/ole">
            <mc:AlternateContent xmlns:mc="http://schemas.openxmlformats.org/markup-compatibility/2006">
              <mc:Choice xmlns:v="urn:schemas-microsoft-com:vml" Requires="v">
                <p:oleObj spid="_x0000_s63087" name="Equation" r:id="rId29" imgW="2793960" imgH="419040" progId="Equation.DSMT4">
                  <p:embed/>
                </p:oleObj>
              </mc:Choice>
              <mc:Fallback>
                <p:oleObj name="Equation" r:id="rId29" imgW="2793960" imgH="419040" progId="Equation.DSMT4">
                  <p:embed/>
                  <p:pic>
                    <p:nvPicPr>
                      <p:cNvPr id="0" name=""/>
                      <p:cNvPicPr>
                        <a:picLocks noChangeAspect="1" noChangeArrowheads="1"/>
                      </p:cNvPicPr>
                      <p:nvPr/>
                    </p:nvPicPr>
                    <p:blipFill>
                      <a:blip r:embed="rId30"/>
                      <a:srcRect/>
                      <a:stretch>
                        <a:fillRect/>
                      </a:stretch>
                    </p:blipFill>
                    <p:spPr bwMode="auto">
                      <a:xfrm>
                        <a:off x="5927895" y="2471882"/>
                        <a:ext cx="2794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 name="TextBox 94"/>
          <p:cNvSpPr txBox="1"/>
          <p:nvPr/>
        </p:nvSpPr>
        <p:spPr>
          <a:xfrm>
            <a:off x="2479781" y="1838117"/>
            <a:ext cx="351378" cy="369332"/>
          </a:xfrm>
          <a:prstGeom prst="rect">
            <a:avLst/>
          </a:prstGeom>
          <a:noFill/>
        </p:spPr>
        <p:txBody>
          <a:bodyPr wrap="none" rtlCol="0">
            <a:spAutoFit/>
          </a:bodyPr>
          <a:lstStyle/>
          <a:p>
            <a:r>
              <a:rPr lang="ru-RU" b="1" i="1" dirty="0" smtClean="0">
                <a:latin typeface="Times New Roman" panose="02020603050405020304" pitchFamily="18" charset="0"/>
                <a:cs typeface="Times New Roman" panose="02020603050405020304" pitchFamily="18" charset="0"/>
              </a:rPr>
              <a:t>С</a:t>
            </a:r>
            <a:endParaRPr lang="ru-RU" b="1" i="1" dirty="0">
              <a:latin typeface="Times New Roman" panose="02020603050405020304" pitchFamily="18" charset="0"/>
              <a:cs typeface="Times New Roman" panose="02020603050405020304" pitchFamily="18" charset="0"/>
            </a:endParaRPr>
          </a:p>
        </p:txBody>
      </p:sp>
      <p:sp>
        <p:nvSpPr>
          <p:cNvPr id="96" name="TextBox 95"/>
          <p:cNvSpPr txBox="1"/>
          <p:nvPr/>
        </p:nvSpPr>
        <p:spPr>
          <a:xfrm>
            <a:off x="8100392" y="988314"/>
            <a:ext cx="745717" cy="369332"/>
          </a:xfrm>
          <a:prstGeom prst="rect">
            <a:avLst/>
          </a:prstGeom>
          <a:noFill/>
        </p:spPr>
        <p:txBody>
          <a:bodyPr wrap="none" rtlCol="0">
            <a:spAutoFit/>
          </a:bodyPr>
          <a:lstStyle/>
          <a:p>
            <a:r>
              <a:rPr lang="ru-RU" dirty="0" smtClean="0"/>
              <a:t>(ПОС)</a:t>
            </a:r>
            <a:endParaRPr lang="ru-RU" dirty="0"/>
          </a:p>
        </p:txBody>
      </p:sp>
      <p:graphicFrame>
        <p:nvGraphicFramePr>
          <p:cNvPr id="97" name="Объект 96"/>
          <p:cNvGraphicFramePr>
            <a:graphicFrameLocks noChangeAspect="1"/>
          </p:cNvGraphicFramePr>
          <p:nvPr>
            <p:extLst>
              <p:ext uri="{D42A27DB-BD31-4B8C-83A1-F6EECF244321}">
                <p14:modId xmlns:p14="http://schemas.microsoft.com/office/powerpoint/2010/main" val="2117642972"/>
              </p:ext>
            </p:extLst>
          </p:nvPr>
        </p:nvGraphicFramePr>
        <p:xfrm>
          <a:off x="4860709" y="5254455"/>
          <a:ext cx="927100" cy="431800"/>
        </p:xfrm>
        <a:graphic>
          <a:graphicData uri="http://schemas.openxmlformats.org/presentationml/2006/ole">
            <mc:AlternateContent xmlns:mc="http://schemas.openxmlformats.org/markup-compatibility/2006">
              <mc:Choice xmlns:v="urn:schemas-microsoft-com:vml" Requires="v">
                <p:oleObj spid="_x0000_s63088" name="Equation" r:id="rId31" imgW="927000" imgH="431640" progId="Equation.DSMT4">
                  <p:embed/>
                </p:oleObj>
              </mc:Choice>
              <mc:Fallback>
                <p:oleObj name="Equation" r:id="rId31" imgW="927000" imgH="431640" progId="Equation.DSMT4">
                  <p:embed/>
                  <p:pic>
                    <p:nvPicPr>
                      <p:cNvPr id="0" name=""/>
                      <p:cNvPicPr/>
                      <p:nvPr/>
                    </p:nvPicPr>
                    <p:blipFill>
                      <a:blip r:embed="rId32"/>
                      <a:stretch>
                        <a:fillRect/>
                      </a:stretch>
                    </p:blipFill>
                    <p:spPr>
                      <a:xfrm>
                        <a:off x="4860709" y="5254455"/>
                        <a:ext cx="927100" cy="431800"/>
                      </a:xfrm>
                      <a:prstGeom prst="rect">
                        <a:avLst/>
                      </a:prstGeom>
                    </p:spPr>
                  </p:pic>
                </p:oleObj>
              </mc:Fallback>
            </mc:AlternateContent>
          </a:graphicData>
        </a:graphic>
      </p:graphicFrame>
      <p:graphicFrame>
        <p:nvGraphicFramePr>
          <p:cNvPr id="98" name="Объект 97"/>
          <p:cNvGraphicFramePr>
            <a:graphicFrameLocks noChangeAspect="1"/>
          </p:cNvGraphicFramePr>
          <p:nvPr>
            <p:extLst>
              <p:ext uri="{D42A27DB-BD31-4B8C-83A1-F6EECF244321}">
                <p14:modId xmlns:p14="http://schemas.microsoft.com/office/powerpoint/2010/main" val="1740881912"/>
              </p:ext>
            </p:extLst>
          </p:nvPr>
        </p:nvGraphicFramePr>
        <p:xfrm>
          <a:off x="4957763" y="4122738"/>
          <a:ext cx="800100" cy="431800"/>
        </p:xfrm>
        <a:graphic>
          <a:graphicData uri="http://schemas.openxmlformats.org/presentationml/2006/ole">
            <mc:AlternateContent xmlns:mc="http://schemas.openxmlformats.org/markup-compatibility/2006">
              <mc:Choice xmlns:v="urn:schemas-microsoft-com:vml" Requires="v">
                <p:oleObj spid="_x0000_s63089" name="Equation" r:id="rId33" imgW="799920" imgH="431640" progId="Equation.DSMT4">
                  <p:embed/>
                </p:oleObj>
              </mc:Choice>
              <mc:Fallback>
                <p:oleObj name="Equation" r:id="rId33" imgW="799920" imgH="431640" progId="Equation.DSMT4">
                  <p:embed/>
                  <p:pic>
                    <p:nvPicPr>
                      <p:cNvPr id="0" name=""/>
                      <p:cNvPicPr>
                        <a:picLocks noChangeAspect="1" noChangeArrowheads="1"/>
                      </p:cNvPicPr>
                      <p:nvPr/>
                    </p:nvPicPr>
                    <p:blipFill>
                      <a:blip r:embed="rId34"/>
                      <a:srcRect/>
                      <a:stretch>
                        <a:fillRect/>
                      </a:stretch>
                    </p:blipFill>
                    <p:spPr bwMode="auto">
                      <a:xfrm>
                        <a:off x="4957763" y="4122738"/>
                        <a:ext cx="8001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36099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Прямая соединительная линия 28"/>
          <p:cNvCxnSpPr/>
          <p:nvPr/>
        </p:nvCxnSpPr>
        <p:spPr>
          <a:xfrm>
            <a:off x="6160222" y="1264556"/>
            <a:ext cx="500010" cy="1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Прямоугольник 3"/>
          <p:cNvSpPr/>
          <p:nvPr/>
        </p:nvSpPr>
        <p:spPr>
          <a:xfrm>
            <a:off x="2501770" y="771765"/>
            <a:ext cx="108012" cy="3572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7" name="Группа 16"/>
          <p:cNvGrpSpPr/>
          <p:nvPr/>
        </p:nvGrpSpPr>
        <p:grpSpPr>
          <a:xfrm>
            <a:off x="3275856" y="930801"/>
            <a:ext cx="488925" cy="650728"/>
            <a:chOff x="3275856" y="930801"/>
            <a:chExt cx="488925" cy="650728"/>
          </a:xfrm>
        </p:grpSpPr>
        <p:grpSp>
          <p:nvGrpSpPr>
            <p:cNvPr id="5" name="Группа 4"/>
            <p:cNvGrpSpPr/>
            <p:nvPr/>
          </p:nvGrpSpPr>
          <p:grpSpPr>
            <a:xfrm>
              <a:off x="3275856" y="930801"/>
              <a:ext cx="416917" cy="650728"/>
              <a:chOff x="4040351" y="3227621"/>
              <a:chExt cx="416917" cy="650728"/>
            </a:xfrm>
          </p:grpSpPr>
          <p:sp>
            <p:nvSpPr>
              <p:cNvPr id="6" name="Прямоугольник 5"/>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sp>
          <p:nvSpPr>
            <p:cNvPr id="8" name="Овал 7"/>
            <p:cNvSpPr/>
            <p:nvPr/>
          </p:nvSpPr>
          <p:spPr>
            <a:xfrm>
              <a:off x="3620765" y="119394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18" name="Группа 17"/>
          <p:cNvGrpSpPr/>
          <p:nvPr/>
        </p:nvGrpSpPr>
        <p:grpSpPr>
          <a:xfrm>
            <a:off x="4507521" y="930801"/>
            <a:ext cx="493045" cy="650728"/>
            <a:chOff x="4283968" y="1012600"/>
            <a:chExt cx="493045" cy="650728"/>
          </a:xfrm>
        </p:grpSpPr>
        <p:grpSp>
          <p:nvGrpSpPr>
            <p:cNvPr id="9" name="Группа 8"/>
            <p:cNvGrpSpPr/>
            <p:nvPr/>
          </p:nvGrpSpPr>
          <p:grpSpPr>
            <a:xfrm>
              <a:off x="4283968" y="1012600"/>
              <a:ext cx="416917" cy="650728"/>
              <a:chOff x="4040351" y="3227621"/>
              <a:chExt cx="416917" cy="650728"/>
            </a:xfrm>
          </p:grpSpPr>
          <p:sp>
            <p:nvSpPr>
              <p:cNvPr id="10" name="Прямоугольник 9"/>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sp>
          <p:nvSpPr>
            <p:cNvPr id="12" name="Овал 11"/>
            <p:cNvSpPr/>
            <p:nvPr/>
          </p:nvSpPr>
          <p:spPr>
            <a:xfrm>
              <a:off x="4632997" y="126008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19" name="Группа 18"/>
          <p:cNvGrpSpPr/>
          <p:nvPr/>
        </p:nvGrpSpPr>
        <p:grpSpPr>
          <a:xfrm>
            <a:off x="5743305" y="930801"/>
            <a:ext cx="498183" cy="650728"/>
            <a:chOff x="5227078" y="1012600"/>
            <a:chExt cx="498183" cy="650728"/>
          </a:xfrm>
        </p:grpSpPr>
        <p:grpSp>
          <p:nvGrpSpPr>
            <p:cNvPr id="13" name="Группа 12"/>
            <p:cNvGrpSpPr/>
            <p:nvPr/>
          </p:nvGrpSpPr>
          <p:grpSpPr>
            <a:xfrm>
              <a:off x="5227078" y="1012600"/>
              <a:ext cx="416917" cy="650728"/>
              <a:chOff x="4040351" y="3227621"/>
              <a:chExt cx="416917" cy="650728"/>
            </a:xfrm>
          </p:grpSpPr>
          <p:sp>
            <p:nvSpPr>
              <p:cNvPr id="14" name="Прямоугольник 13"/>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Box 14"/>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sp>
          <p:nvSpPr>
            <p:cNvPr id="16" name="Овал 15"/>
            <p:cNvSpPr/>
            <p:nvPr/>
          </p:nvSpPr>
          <p:spPr>
            <a:xfrm>
              <a:off x="5581245" y="1264233"/>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21" name="Прямая соединительная линия 20"/>
          <p:cNvCxnSpPr>
            <a:stCxn id="8" idx="6"/>
            <a:endCxn id="10" idx="1"/>
          </p:cNvCxnSpPr>
          <p:nvPr/>
        </p:nvCxnSpPr>
        <p:spPr>
          <a:xfrm>
            <a:off x="3764781" y="1265956"/>
            <a:ext cx="7449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a:off x="4998400" y="1241878"/>
            <a:ext cx="7449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Группа 27"/>
          <p:cNvGrpSpPr/>
          <p:nvPr/>
        </p:nvGrpSpPr>
        <p:grpSpPr>
          <a:xfrm>
            <a:off x="5519752" y="1045158"/>
            <a:ext cx="223553" cy="201706"/>
            <a:chOff x="4286133" y="1052736"/>
            <a:chExt cx="223553" cy="201706"/>
          </a:xfrm>
        </p:grpSpPr>
        <p:cxnSp>
          <p:nvCxnSpPr>
            <p:cNvPr id="25" name="Прямая соединительная линия 24"/>
            <p:cNvCxnSpPr/>
            <p:nvPr/>
          </p:nvCxnSpPr>
          <p:spPr>
            <a:xfrm flipH="1">
              <a:off x="4286133" y="1052736"/>
              <a:ext cx="2235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4286133" y="1052736"/>
              <a:ext cx="0" cy="2017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Прямая соединительная линия 31"/>
          <p:cNvCxnSpPr/>
          <p:nvPr/>
        </p:nvCxnSpPr>
        <p:spPr>
          <a:xfrm flipV="1">
            <a:off x="6410227" y="764704"/>
            <a:ext cx="0" cy="4897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flipH="1">
            <a:off x="2987824" y="764704"/>
            <a:ext cx="342240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2987824" y="764704"/>
            <a:ext cx="0" cy="3507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a:off x="2987824" y="1115467"/>
            <a:ext cx="2880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Группа 38"/>
          <p:cNvGrpSpPr/>
          <p:nvPr/>
        </p:nvGrpSpPr>
        <p:grpSpPr>
          <a:xfrm>
            <a:off x="4286133" y="1053878"/>
            <a:ext cx="223553" cy="201706"/>
            <a:chOff x="4286133" y="1052736"/>
            <a:chExt cx="223553" cy="201706"/>
          </a:xfrm>
        </p:grpSpPr>
        <p:cxnSp>
          <p:nvCxnSpPr>
            <p:cNvPr id="40" name="Прямая соединительная линия 39"/>
            <p:cNvCxnSpPr/>
            <p:nvPr/>
          </p:nvCxnSpPr>
          <p:spPr>
            <a:xfrm flipH="1">
              <a:off x="4286133" y="1052736"/>
              <a:ext cx="2235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p:nvPr/>
          </p:nvCxnSpPr>
          <p:spPr>
            <a:xfrm>
              <a:off x="4286133" y="1052736"/>
              <a:ext cx="0" cy="2017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Овал 41"/>
          <p:cNvSpPr/>
          <p:nvPr/>
        </p:nvSpPr>
        <p:spPr>
          <a:xfrm>
            <a:off x="6624228" y="1229952"/>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6" name="Прямая соединительная линия 45"/>
          <p:cNvCxnSpPr/>
          <p:nvPr/>
        </p:nvCxnSpPr>
        <p:spPr>
          <a:xfrm flipH="1">
            <a:off x="2915816" y="1412776"/>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p:cNvCxnSpPr/>
          <p:nvPr/>
        </p:nvCxnSpPr>
        <p:spPr>
          <a:xfrm>
            <a:off x="2915816" y="1916832"/>
            <a:ext cx="374441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Овал 48"/>
          <p:cNvSpPr/>
          <p:nvPr/>
        </p:nvSpPr>
        <p:spPr>
          <a:xfrm>
            <a:off x="6607435" y="1857425"/>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1" name="Прямая соединительная линия 50"/>
          <p:cNvCxnSpPr/>
          <p:nvPr/>
        </p:nvCxnSpPr>
        <p:spPr>
          <a:xfrm flipV="1">
            <a:off x="2915816" y="1700808"/>
            <a:ext cx="0" cy="1926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Прямая соединительная линия 52"/>
          <p:cNvCxnSpPr/>
          <p:nvPr/>
        </p:nvCxnSpPr>
        <p:spPr>
          <a:xfrm>
            <a:off x="2915816" y="1412776"/>
            <a:ext cx="0" cy="1687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Прямая соединительная линия 54"/>
          <p:cNvCxnSpPr/>
          <p:nvPr/>
        </p:nvCxnSpPr>
        <p:spPr>
          <a:xfrm flipV="1">
            <a:off x="2915816" y="1581529"/>
            <a:ext cx="119279" cy="1192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p:cNvCxnSpPr/>
          <p:nvPr/>
        </p:nvCxnSpPr>
        <p:spPr>
          <a:xfrm flipH="1">
            <a:off x="2555776" y="1412776"/>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Прямая соединительная линия 58"/>
          <p:cNvCxnSpPr>
            <a:stCxn id="4" idx="2"/>
          </p:cNvCxnSpPr>
          <p:nvPr/>
        </p:nvCxnSpPr>
        <p:spPr>
          <a:xfrm>
            <a:off x="2555776" y="1129001"/>
            <a:ext cx="0" cy="2837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p:cNvCxnSpPr>
            <a:stCxn id="4" idx="0"/>
          </p:cNvCxnSpPr>
          <p:nvPr/>
        </p:nvCxnSpPr>
        <p:spPr>
          <a:xfrm flipV="1">
            <a:off x="2555776" y="620688"/>
            <a:ext cx="0" cy="15107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p:nvPr/>
        </p:nvCxnSpPr>
        <p:spPr>
          <a:xfrm flipH="1">
            <a:off x="2123728" y="620688"/>
            <a:ext cx="4320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flipH="1">
            <a:off x="2195736" y="1916832"/>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Овал 65"/>
          <p:cNvSpPr/>
          <p:nvPr/>
        </p:nvSpPr>
        <p:spPr>
          <a:xfrm>
            <a:off x="2129855" y="1870237"/>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Овал 66"/>
          <p:cNvSpPr/>
          <p:nvPr/>
        </p:nvSpPr>
        <p:spPr>
          <a:xfrm>
            <a:off x="2051720" y="584684"/>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TextBox 67"/>
          <p:cNvSpPr txBox="1"/>
          <p:nvPr/>
        </p:nvSpPr>
        <p:spPr>
          <a:xfrm>
            <a:off x="2555776" y="1456502"/>
            <a:ext cx="290464" cy="369332"/>
          </a:xfrm>
          <a:prstGeom prst="rect">
            <a:avLst/>
          </a:prstGeom>
          <a:noFill/>
        </p:spPr>
        <p:txBody>
          <a:bodyPr wrap="none" rtlCol="0">
            <a:spAutoFit/>
          </a:bodyPr>
          <a:lstStyle/>
          <a:p>
            <a:r>
              <a:rPr lang="en-US" dirty="0" smtClean="0"/>
              <a:t>S</a:t>
            </a:r>
            <a:endParaRPr lang="ru-RU" dirty="0"/>
          </a:p>
        </p:txBody>
      </p:sp>
      <p:sp>
        <p:nvSpPr>
          <p:cNvPr id="69" name="TextBox 68"/>
          <p:cNvSpPr txBox="1"/>
          <p:nvPr/>
        </p:nvSpPr>
        <p:spPr>
          <a:xfrm>
            <a:off x="2143944" y="759669"/>
            <a:ext cx="309700" cy="369332"/>
          </a:xfrm>
          <a:prstGeom prst="rect">
            <a:avLst/>
          </a:prstGeom>
          <a:noFill/>
        </p:spPr>
        <p:txBody>
          <a:bodyPr wrap="none" rtlCol="0">
            <a:spAutoFit/>
          </a:bodyPr>
          <a:lstStyle/>
          <a:p>
            <a:r>
              <a:rPr lang="en-US" dirty="0"/>
              <a:t>R</a:t>
            </a:r>
            <a:endParaRPr lang="ru-RU" dirty="0"/>
          </a:p>
        </p:txBody>
      </p:sp>
      <p:sp>
        <p:nvSpPr>
          <p:cNvPr id="70" name="TextBox 69"/>
          <p:cNvSpPr txBox="1"/>
          <p:nvPr/>
        </p:nvSpPr>
        <p:spPr>
          <a:xfrm>
            <a:off x="1475656" y="1079890"/>
            <a:ext cx="452368" cy="369332"/>
          </a:xfrm>
          <a:prstGeom prst="rect">
            <a:avLst/>
          </a:prstGeom>
          <a:noFill/>
        </p:spPr>
        <p:txBody>
          <a:bodyPr wrap="none" rtlCol="0">
            <a:spAutoFit/>
          </a:bodyPr>
          <a:lstStyle/>
          <a:p>
            <a:r>
              <a:rPr lang="en-US" dirty="0" smtClean="0"/>
              <a:t>U</a:t>
            </a:r>
            <a:r>
              <a:rPr lang="ru-RU" dirty="0" smtClean="0"/>
              <a:t>п</a:t>
            </a:r>
            <a:endParaRPr lang="ru-RU" dirty="0"/>
          </a:p>
        </p:txBody>
      </p:sp>
      <p:cxnSp>
        <p:nvCxnSpPr>
          <p:cNvPr id="72" name="Прямая со стрелкой 71"/>
          <p:cNvCxnSpPr/>
          <p:nvPr/>
        </p:nvCxnSpPr>
        <p:spPr>
          <a:xfrm>
            <a:off x="1928024" y="584684"/>
            <a:ext cx="0" cy="1357561"/>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948264" y="1339386"/>
            <a:ext cx="914033" cy="369332"/>
          </a:xfrm>
          <a:prstGeom prst="rect">
            <a:avLst/>
          </a:prstGeom>
          <a:noFill/>
        </p:spPr>
        <p:txBody>
          <a:bodyPr wrap="none" rtlCol="0">
            <a:spAutoFit/>
          </a:bodyPr>
          <a:lstStyle/>
          <a:p>
            <a:r>
              <a:rPr lang="en-US" dirty="0" smtClean="0"/>
              <a:t>U</a:t>
            </a:r>
            <a:r>
              <a:rPr lang="ru-RU" dirty="0" err="1" smtClean="0"/>
              <a:t>вых</a:t>
            </a:r>
            <a:r>
              <a:rPr lang="ru-RU" dirty="0" smtClean="0"/>
              <a:t>(</a:t>
            </a:r>
            <a:r>
              <a:rPr lang="en-US" dirty="0" smtClean="0"/>
              <a:t>t)</a:t>
            </a:r>
            <a:endParaRPr lang="ru-RU" dirty="0"/>
          </a:p>
        </p:txBody>
      </p:sp>
      <p:cxnSp>
        <p:nvCxnSpPr>
          <p:cNvPr id="75" name="Прямая со стрелкой 74"/>
          <p:cNvCxnSpPr/>
          <p:nvPr/>
        </p:nvCxnSpPr>
        <p:spPr>
          <a:xfrm flipV="1">
            <a:off x="6804248" y="1241878"/>
            <a:ext cx="0" cy="637845"/>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76" name="Овал 75"/>
          <p:cNvSpPr/>
          <p:nvPr/>
        </p:nvSpPr>
        <p:spPr>
          <a:xfrm>
            <a:off x="2879812" y="138449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Овал 76"/>
          <p:cNvSpPr/>
          <p:nvPr/>
        </p:nvSpPr>
        <p:spPr>
          <a:xfrm>
            <a:off x="4245868" y="122532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Овал 77"/>
          <p:cNvSpPr/>
          <p:nvPr/>
        </p:nvSpPr>
        <p:spPr>
          <a:xfrm>
            <a:off x="5483721" y="119675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TextBox 78"/>
          <p:cNvSpPr txBox="1"/>
          <p:nvPr/>
        </p:nvSpPr>
        <p:spPr>
          <a:xfrm>
            <a:off x="3315569" y="43870"/>
            <a:ext cx="2806602" cy="369332"/>
          </a:xfrm>
          <a:prstGeom prst="rect">
            <a:avLst/>
          </a:prstGeom>
          <a:noFill/>
        </p:spPr>
        <p:txBody>
          <a:bodyPr wrap="none" rtlCol="0">
            <a:spAutoFit/>
          </a:bodyPr>
          <a:lstStyle/>
          <a:p>
            <a:r>
              <a:rPr lang="ru-RU" b="1" dirty="0" smtClean="0"/>
              <a:t>Автогенератор на ЛЭ И-НЕ</a:t>
            </a:r>
            <a:endParaRPr lang="ru-RU" b="1" dirty="0"/>
          </a:p>
        </p:txBody>
      </p:sp>
      <p:sp>
        <p:nvSpPr>
          <p:cNvPr id="80" name="Овал 79"/>
          <p:cNvSpPr/>
          <p:nvPr/>
        </p:nvSpPr>
        <p:spPr>
          <a:xfrm>
            <a:off x="6381725" y="1232200"/>
            <a:ext cx="72008" cy="654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1" name="Прямая со стрелкой 80"/>
          <p:cNvCxnSpPr/>
          <p:nvPr/>
        </p:nvCxnSpPr>
        <p:spPr>
          <a:xfrm flipV="1">
            <a:off x="3995936" y="1261331"/>
            <a:ext cx="0" cy="637845"/>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Прямая со стрелкой 81"/>
          <p:cNvCxnSpPr/>
          <p:nvPr/>
        </p:nvCxnSpPr>
        <p:spPr>
          <a:xfrm flipV="1">
            <a:off x="5220072" y="1241878"/>
            <a:ext cx="0" cy="637845"/>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3999065" y="1529844"/>
            <a:ext cx="667170" cy="369332"/>
          </a:xfrm>
          <a:prstGeom prst="rect">
            <a:avLst/>
          </a:prstGeom>
          <a:noFill/>
        </p:spPr>
        <p:txBody>
          <a:bodyPr wrap="none" rtlCol="0">
            <a:spAutoFit/>
          </a:bodyPr>
          <a:lstStyle/>
          <a:p>
            <a:r>
              <a:rPr lang="en-US" dirty="0" smtClean="0"/>
              <a:t>U</a:t>
            </a:r>
            <a:r>
              <a:rPr lang="ru-RU" dirty="0" smtClean="0"/>
              <a:t>1(</a:t>
            </a:r>
            <a:r>
              <a:rPr lang="en-US" dirty="0" smtClean="0"/>
              <a:t>t)</a:t>
            </a:r>
            <a:endParaRPr lang="ru-RU" dirty="0"/>
          </a:p>
        </p:txBody>
      </p:sp>
      <p:sp>
        <p:nvSpPr>
          <p:cNvPr id="84" name="TextBox 83"/>
          <p:cNvSpPr txBox="1"/>
          <p:nvPr/>
        </p:nvSpPr>
        <p:spPr>
          <a:xfrm>
            <a:off x="5247015" y="1524052"/>
            <a:ext cx="667170" cy="369332"/>
          </a:xfrm>
          <a:prstGeom prst="rect">
            <a:avLst/>
          </a:prstGeom>
          <a:noFill/>
        </p:spPr>
        <p:txBody>
          <a:bodyPr wrap="none" rtlCol="0">
            <a:spAutoFit/>
          </a:bodyPr>
          <a:lstStyle/>
          <a:p>
            <a:r>
              <a:rPr lang="en-US" dirty="0" smtClean="0"/>
              <a:t>U</a:t>
            </a:r>
            <a:r>
              <a:rPr lang="ru-RU" dirty="0" smtClean="0"/>
              <a:t>2(</a:t>
            </a:r>
            <a:r>
              <a:rPr lang="en-US" dirty="0" smtClean="0"/>
              <a:t>t)</a:t>
            </a:r>
            <a:endParaRPr lang="ru-RU" dirty="0"/>
          </a:p>
        </p:txBody>
      </p:sp>
      <p:sp>
        <p:nvSpPr>
          <p:cNvPr id="85" name="TextBox 84"/>
          <p:cNvSpPr txBox="1"/>
          <p:nvPr/>
        </p:nvSpPr>
        <p:spPr>
          <a:xfrm>
            <a:off x="365979" y="3049340"/>
            <a:ext cx="2594236" cy="369332"/>
          </a:xfrm>
          <a:prstGeom prst="rect">
            <a:avLst/>
          </a:prstGeom>
          <a:noFill/>
        </p:spPr>
        <p:txBody>
          <a:bodyPr wrap="none" rtlCol="0">
            <a:spAutoFit/>
          </a:bodyPr>
          <a:lstStyle/>
          <a:p>
            <a:r>
              <a:rPr lang="ru-RU" dirty="0" smtClean="0"/>
              <a:t>Временная диаграмма </a:t>
            </a:r>
            <a:r>
              <a:rPr lang="ru-RU" dirty="0"/>
              <a:t>?</a:t>
            </a:r>
          </a:p>
        </p:txBody>
      </p:sp>
      <p:sp>
        <p:nvSpPr>
          <p:cNvPr id="86" name="TextBox 85"/>
          <p:cNvSpPr txBox="1"/>
          <p:nvPr/>
        </p:nvSpPr>
        <p:spPr>
          <a:xfrm>
            <a:off x="5370852" y="2254667"/>
            <a:ext cx="3348545" cy="369332"/>
          </a:xfrm>
          <a:prstGeom prst="rect">
            <a:avLst/>
          </a:prstGeom>
          <a:noFill/>
        </p:spPr>
        <p:txBody>
          <a:bodyPr wrap="none" rtlCol="0">
            <a:spAutoFit/>
          </a:bodyPr>
          <a:lstStyle/>
          <a:p>
            <a:r>
              <a:rPr lang="ru-RU" dirty="0" smtClean="0"/>
              <a:t>Частота генерации порядка МГц</a:t>
            </a:r>
            <a:endParaRPr lang="ru-RU" dirty="0"/>
          </a:p>
        </p:txBody>
      </p:sp>
      <p:sp>
        <p:nvSpPr>
          <p:cNvPr id="87" name="TextBox 86"/>
          <p:cNvSpPr txBox="1"/>
          <p:nvPr/>
        </p:nvSpPr>
        <p:spPr>
          <a:xfrm>
            <a:off x="403418" y="3398282"/>
            <a:ext cx="7988982" cy="369332"/>
          </a:xfrm>
          <a:prstGeom prst="rect">
            <a:avLst/>
          </a:prstGeom>
          <a:noFill/>
        </p:spPr>
        <p:txBody>
          <a:bodyPr wrap="none" rtlCol="0">
            <a:spAutoFit/>
          </a:bodyPr>
          <a:lstStyle/>
          <a:p>
            <a:r>
              <a:rPr lang="ru-RU" dirty="0" smtClean="0"/>
              <a:t>Недостаток схемы </a:t>
            </a:r>
            <a:r>
              <a:rPr lang="en-US" dirty="0" smtClean="0"/>
              <a:t>: </a:t>
            </a:r>
            <a:r>
              <a:rPr lang="ru-RU" dirty="0" smtClean="0"/>
              <a:t>относительное изменение частоты генерации порядка 10%</a:t>
            </a:r>
            <a:endParaRPr lang="ru-RU" dirty="0"/>
          </a:p>
        </p:txBody>
      </p:sp>
      <p:sp>
        <p:nvSpPr>
          <p:cNvPr id="88" name="TextBox 87"/>
          <p:cNvSpPr txBox="1"/>
          <p:nvPr/>
        </p:nvSpPr>
        <p:spPr>
          <a:xfrm>
            <a:off x="2889719" y="3827026"/>
            <a:ext cx="2815899" cy="369332"/>
          </a:xfrm>
          <a:prstGeom prst="rect">
            <a:avLst/>
          </a:prstGeom>
          <a:noFill/>
        </p:spPr>
        <p:txBody>
          <a:bodyPr wrap="none" rtlCol="0">
            <a:spAutoFit/>
          </a:bodyPr>
          <a:lstStyle/>
          <a:p>
            <a:r>
              <a:rPr lang="ru-RU" b="1" dirty="0" smtClean="0"/>
              <a:t>Кварцевый автогенератор</a:t>
            </a:r>
            <a:endParaRPr lang="ru-RU" b="1" dirty="0"/>
          </a:p>
        </p:txBody>
      </p:sp>
      <p:cxnSp>
        <p:nvCxnSpPr>
          <p:cNvPr id="89" name="Прямая соединительная линия 88"/>
          <p:cNvCxnSpPr/>
          <p:nvPr/>
        </p:nvCxnSpPr>
        <p:spPr>
          <a:xfrm>
            <a:off x="6090646" y="6017084"/>
            <a:ext cx="500010" cy="1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Прямоугольник 89"/>
          <p:cNvSpPr/>
          <p:nvPr/>
        </p:nvSpPr>
        <p:spPr>
          <a:xfrm rot="5400000">
            <a:off x="3407739" y="5216953"/>
            <a:ext cx="108012" cy="3572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1" name="Группа 90"/>
          <p:cNvGrpSpPr/>
          <p:nvPr/>
        </p:nvGrpSpPr>
        <p:grpSpPr>
          <a:xfrm>
            <a:off x="3206280" y="5683329"/>
            <a:ext cx="488925" cy="650728"/>
            <a:chOff x="3275856" y="930801"/>
            <a:chExt cx="488925" cy="650728"/>
          </a:xfrm>
        </p:grpSpPr>
        <p:grpSp>
          <p:nvGrpSpPr>
            <p:cNvPr id="92" name="Группа 91"/>
            <p:cNvGrpSpPr/>
            <p:nvPr/>
          </p:nvGrpSpPr>
          <p:grpSpPr>
            <a:xfrm>
              <a:off x="3275856" y="930801"/>
              <a:ext cx="416917" cy="650728"/>
              <a:chOff x="4040351" y="3227621"/>
              <a:chExt cx="416917" cy="650728"/>
            </a:xfrm>
          </p:grpSpPr>
          <p:sp>
            <p:nvSpPr>
              <p:cNvPr id="94" name="Прямоугольник 93"/>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5" name="TextBox 94"/>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sp>
          <p:nvSpPr>
            <p:cNvPr id="93" name="Овал 92"/>
            <p:cNvSpPr/>
            <p:nvPr/>
          </p:nvSpPr>
          <p:spPr>
            <a:xfrm>
              <a:off x="3620765" y="119394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96" name="Группа 95"/>
          <p:cNvGrpSpPr/>
          <p:nvPr/>
        </p:nvGrpSpPr>
        <p:grpSpPr>
          <a:xfrm>
            <a:off x="4437945" y="5683329"/>
            <a:ext cx="493045" cy="650728"/>
            <a:chOff x="4283968" y="1012600"/>
            <a:chExt cx="493045" cy="650728"/>
          </a:xfrm>
        </p:grpSpPr>
        <p:grpSp>
          <p:nvGrpSpPr>
            <p:cNvPr id="97" name="Группа 96"/>
            <p:cNvGrpSpPr/>
            <p:nvPr/>
          </p:nvGrpSpPr>
          <p:grpSpPr>
            <a:xfrm>
              <a:off x="4283968" y="1012600"/>
              <a:ext cx="416917" cy="650728"/>
              <a:chOff x="4040351" y="3227621"/>
              <a:chExt cx="416917" cy="650728"/>
            </a:xfrm>
          </p:grpSpPr>
          <p:sp>
            <p:nvSpPr>
              <p:cNvPr id="99" name="Прямоугольник 98"/>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0" name="TextBox 99"/>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sp>
          <p:nvSpPr>
            <p:cNvPr id="98" name="Овал 97"/>
            <p:cNvSpPr/>
            <p:nvPr/>
          </p:nvSpPr>
          <p:spPr>
            <a:xfrm>
              <a:off x="4632997" y="126008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101" name="Группа 100"/>
          <p:cNvGrpSpPr/>
          <p:nvPr/>
        </p:nvGrpSpPr>
        <p:grpSpPr>
          <a:xfrm>
            <a:off x="5673729" y="5683329"/>
            <a:ext cx="498183" cy="650728"/>
            <a:chOff x="5227078" y="1012600"/>
            <a:chExt cx="498183" cy="650728"/>
          </a:xfrm>
        </p:grpSpPr>
        <p:grpSp>
          <p:nvGrpSpPr>
            <p:cNvPr id="102" name="Группа 101"/>
            <p:cNvGrpSpPr/>
            <p:nvPr/>
          </p:nvGrpSpPr>
          <p:grpSpPr>
            <a:xfrm>
              <a:off x="5227078" y="1012600"/>
              <a:ext cx="416917" cy="650728"/>
              <a:chOff x="4040351" y="3227621"/>
              <a:chExt cx="416917" cy="650728"/>
            </a:xfrm>
          </p:grpSpPr>
          <p:sp>
            <p:nvSpPr>
              <p:cNvPr id="104" name="Прямоугольник 103"/>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5" name="TextBox 104"/>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sp>
          <p:nvSpPr>
            <p:cNvPr id="103" name="Овал 102"/>
            <p:cNvSpPr/>
            <p:nvPr/>
          </p:nvSpPr>
          <p:spPr>
            <a:xfrm>
              <a:off x="5581245" y="1264233"/>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106" name="Прямая соединительная линия 105"/>
          <p:cNvCxnSpPr>
            <a:stCxn id="93" idx="6"/>
            <a:endCxn id="99" idx="1"/>
          </p:cNvCxnSpPr>
          <p:nvPr/>
        </p:nvCxnSpPr>
        <p:spPr>
          <a:xfrm>
            <a:off x="3695205" y="6018484"/>
            <a:ext cx="7449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Прямая соединительная линия 106"/>
          <p:cNvCxnSpPr/>
          <p:nvPr/>
        </p:nvCxnSpPr>
        <p:spPr>
          <a:xfrm>
            <a:off x="4928824" y="5994406"/>
            <a:ext cx="7449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8" name="Группа 107"/>
          <p:cNvGrpSpPr/>
          <p:nvPr/>
        </p:nvGrpSpPr>
        <p:grpSpPr>
          <a:xfrm>
            <a:off x="5450176" y="5797686"/>
            <a:ext cx="223553" cy="201706"/>
            <a:chOff x="4286133" y="1052736"/>
            <a:chExt cx="223553" cy="201706"/>
          </a:xfrm>
        </p:grpSpPr>
        <p:cxnSp>
          <p:nvCxnSpPr>
            <p:cNvPr id="109" name="Прямая соединительная линия 108"/>
            <p:cNvCxnSpPr/>
            <p:nvPr/>
          </p:nvCxnSpPr>
          <p:spPr>
            <a:xfrm flipH="1">
              <a:off x="4286133" y="1052736"/>
              <a:ext cx="2235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Прямая соединительная линия 109"/>
            <p:cNvCxnSpPr/>
            <p:nvPr/>
          </p:nvCxnSpPr>
          <p:spPr>
            <a:xfrm>
              <a:off x="4286133" y="1052736"/>
              <a:ext cx="0" cy="2017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 name="Прямая соединительная линия 110"/>
          <p:cNvCxnSpPr/>
          <p:nvPr/>
        </p:nvCxnSpPr>
        <p:spPr>
          <a:xfrm flipV="1">
            <a:off x="5450176" y="5020237"/>
            <a:ext cx="0" cy="9650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Прямая соединительная линия 111"/>
          <p:cNvCxnSpPr/>
          <p:nvPr/>
        </p:nvCxnSpPr>
        <p:spPr>
          <a:xfrm flipH="1" flipV="1">
            <a:off x="4509686" y="5020237"/>
            <a:ext cx="961665"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Прямая соединительная линия 112"/>
          <p:cNvCxnSpPr/>
          <p:nvPr/>
        </p:nvCxnSpPr>
        <p:spPr>
          <a:xfrm>
            <a:off x="2918248" y="5021560"/>
            <a:ext cx="0" cy="84643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Прямая соединительная линия 113"/>
          <p:cNvCxnSpPr/>
          <p:nvPr/>
        </p:nvCxnSpPr>
        <p:spPr>
          <a:xfrm>
            <a:off x="2918248" y="5867995"/>
            <a:ext cx="2880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5" name="Группа 114"/>
          <p:cNvGrpSpPr/>
          <p:nvPr/>
        </p:nvGrpSpPr>
        <p:grpSpPr>
          <a:xfrm>
            <a:off x="4216557" y="5806406"/>
            <a:ext cx="223553" cy="201706"/>
            <a:chOff x="4286133" y="1052736"/>
            <a:chExt cx="223553" cy="201706"/>
          </a:xfrm>
        </p:grpSpPr>
        <p:cxnSp>
          <p:nvCxnSpPr>
            <p:cNvPr id="116" name="Прямая соединительная линия 115"/>
            <p:cNvCxnSpPr/>
            <p:nvPr/>
          </p:nvCxnSpPr>
          <p:spPr>
            <a:xfrm flipH="1">
              <a:off x="4286133" y="1052736"/>
              <a:ext cx="2235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Прямая соединительная линия 116"/>
            <p:cNvCxnSpPr/>
            <p:nvPr/>
          </p:nvCxnSpPr>
          <p:spPr>
            <a:xfrm>
              <a:off x="4286133" y="1052736"/>
              <a:ext cx="0" cy="2017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8" name="Овал 117"/>
          <p:cNvSpPr/>
          <p:nvPr/>
        </p:nvSpPr>
        <p:spPr>
          <a:xfrm>
            <a:off x="6554652" y="5982480"/>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19" name="Прямая соединительная линия 118"/>
          <p:cNvCxnSpPr/>
          <p:nvPr/>
        </p:nvCxnSpPr>
        <p:spPr>
          <a:xfrm flipH="1">
            <a:off x="2928030" y="6165304"/>
            <a:ext cx="2782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Овал 120"/>
          <p:cNvSpPr/>
          <p:nvPr/>
        </p:nvSpPr>
        <p:spPr>
          <a:xfrm>
            <a:off x="6505564" y="6357692"/>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5" name="Прямая соединительная линия 124"/>
          <p:cNvCxnSpPr/>
          <p:nvPr/>
        </p:nvCxnSpPr>
        <p:spPr>
          <a:xfrm rot="16200000" flipH="1">
            <a:off x="2738228" y="6012438"/>
            <a:ext cx="3600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4281872" y="4431794"/>
            <a:ext cx="308098" cy="369332"/>
          </a:xfrm>
          <a:prstGeom prst="rect">
            <a:avLst/>
          </a:prstGeom>
          <a:noFill/>
        </p:spPr>
        <p:txBody>
          <a:bodyPr wrap="none" rtlCol="0">
            <a:spAutoFit/>
          </a:bodyPr>
          <a:lstStyle/>
          <a:p>
            <a:r>
              <a:rPr lang="en-US" dirty="0"/>
              <a:t>C</a:t>
            </a:r>
            <a:endParaRPr lang="ru-RU" dirty="0"/>
          </a:p>
        </p:txBody>
      </p:sp>
      <p:sp>
        <p:nvSpPr>
          <p:cNvPr id="133" name="TextBox 132"/>
          <p:cNvSpPr txBox="1"/>
          <p:nvPr/>
        </p:nvSpPr>
        <p:spPr>
          <a:xfrm>
            <a:off x="3294308" y="5373216"/>
            <a:ext cx="309700" cy="369332"/>
          </a:xfrm>
          <a:prstGeom prst="rect">
            <a:avLst/>
          </a:prstGeom>
          <a:noFill/>
        </p:spPr>
        <p:txBody>
          <a:bodyPr wrap="none" rtlCol="0">
            <a:spAutoFit/>
          </a:bodyPr>
          <a:lstStyle/>
          <a:p>
            <a:r>
              <a:rPr lang="en-US" dirty="0"/>
              <a:t>R</a:t>
            </a:r>
            <a:endParaRPr lang="ru-RU" dirty="0"/>
          </a:p>
        </p:txBody>
      </p:sp>
      <p:sp>
        <p:nvSpPr>
          <p:cNvPr id="136" name="TextBox 135"/>
          <p:cNvSpPr txBox="1"/>
          <p:nvPr/>
        </p:nvSpPr>
        <p:spPr>
          <a:xfrm>
            <a:off x="6878688" y="6091914"/>
            <a:ext cx="914033" cy="369332"/>
          </a:xfrm>
          <a:prstGeom prst="rect">
            <a:avLst/>
          </a:prstGeom>
          <a:noFill/>
        </p:spPr>
        <p:txBody>
          <a:bodyPr wrap="none" rtlCol="0">
            <a:spAutoFit/>
          </a:bodyPr>
          <a:lstStyle/>
          <a:p>
            <a:r>
              <a:rPr lang="en-US" dirty="0" smtClean="0"/>
              <a:t>U</a:t>
            </a:r>
            <a:r>
              <a:rPr lang="ru-RU" dirty="0" err="1" smtClean="0"/>
              <a:t>вых</a:t>
            </a:r>
            <a:r>
              <a:rPr lang="ru-RU" dirty="0" smtClean="0"/>
              <a:t>(</a:t>
            </a:r>
            <a:r>
              <a:rPr lang="en-US" dirty="0" smtClean="0"/>
              <a:t>t)</a:t>
            </a:r>
            <a:endParaRPr lang="ru-RU" dirty="0"/>
          </a:p>
        </p:txBody>
      </p:sp>
      <p:cxnSp>
        <p:nvCxnSpPr>
          <p:cNvPr id="137" name="Прямая со стрелкой 136"/>
          <p:cNvCxnSpPr/>
          <p:nvPr/>
        </p:nvCxnSpPr>
        <p:spPr>
          <a:xfrm flipV="1">
            <a:off x="6734672" y="5994407"/>
            <a:ext cx="0" cy="472631"/>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138" name="Овал 137"/>
          <p:cNvSpPr/>
          <p:nvPr/>
        </p:nvSpPr>
        <p:spPr>
          <a:xfrm>
            <a:off x="2888207" y="582812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9" name="Овал 138"/>
          <p:cNvSpPr/>
          <p:nvPr/>
        </p:nvSpPr>
        <p:spPr>
          <a:xfrm>
            <a:off x="4176292" y="597785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0" name="Овал 139"/>
          <p:cNvSpPr/>
          <p:nvPr/>
        </p:nvSpPr>
        <p:spPr>
          <a:xfrm>
            <a:off x="5414145" y="594928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1" name="Овал 140"/>
          <p:cNvSpPr/>
          <p:nvPr/>
        </p:nvSpPr>
        <p:spPr>
          <a:xfrm>
            <a:off x="6312149" y="5984728"/>
            <a:ext cx="72008" cy="654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50" name="Прямая соединительная линия 149"/>
          <p:cNvCxnSpPr/>
          <p:nvPr/>
        </p:nvCxnSpPr>
        <p:spPr>
          <a:xfrm>
            <a:off x="4397909" y="4869160"/>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Прямая соединительная линия 150"/>
          <p:cNvCxnSpPr/>
          <p:nvPr/>
        </p:nvCxnSpPr>
        <p:spPr>
          <a:xfrm>
            <a:off x="4500043" y="4869160"/>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Прямая со стрелкой 152"/>
          <p:cNvCxnSpPr/>
          <p:nvPr/>
        </p:nvCxnSpPr>
        <p:spPr>
          <a:xfrm flipV="1">
            <a:off x="4176292" y="4869160"/>
            <a:ext cx="540770" cy="28803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p:cNvCxnSpPr/>
          <p:nvPr/>
        </p:nvCxnSpPr>
        <p:spPr>
          <a:xfrm>
            <a:off x="3386945" y="4877544"/>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Прямая соединительная линия 154"/>
          <p:cNvCxnSpPr/>
          <p:nvPr/>
        </p:nvCxnSpPr>
        <p:spPr>
          <a:xfrm>
            <a:off x="3667127" y="4877544"/>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Прямоугольник 155"/>
          <p:cNvSpPr/>
          <p:nvPr/>
        </p:nvSpPr>
        <p:spPr>
          <a:xfrm>
            <a:off x="3485397" y="4869160"/>
            <a:ext cx="65792" cy="2880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58" name="Прямая соединительная линия 157"/>
          <p:cNvCxnSpPr/>
          <p:nvPr/>
        </p:nvCxnSpPr>
        <p:spPr>
          <a:xfrm flipH="1">
            <a:off x="3667128" y="5021560"/>
            <a:ext cx="73078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Прямая соединительная линия 159"/>
          <p:cNvCxnSpPr>
            <a:stCxn id="90" idx="0"/>
          </p:cNvCxnSpPr>
          <p:nvPr/>
        </p:nvCxnSpPr>
        <p:spPr>
          <a:xfrm>
            <a:off x="3640363" y="5395571"/>
            <a:ext cx="5761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Прямая соединительная линия 161"/>
          <p:cNvCxnSpPr/>
          <p:nvPr/>
        </p:nvCxnSpPr>
        <p:spPr>
          <a:xfrm flipV="1">
            <a:off x="4216557" y="5395571"/>
            <a:ext cx="0" cy="4021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Прямая соединительная линия 163"/>
          <p:cNvCxnSpPr/>
          <p:nvPr/>
        </p:nvCxnSpPr>
        <p:spPr>
          <a:xfrm>
            <a:off x="2748776" y="2171353"/>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Прямая соединительная линия 166"/>
          <p:cNvCxnSpPr/>
          <p:nvPr/>
        </p:nvCxnSpPr>
        <p:spPr>
          <a:xfrm>
            <a:off x="2925723" y="1879723"/>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Овал 167"/>
          <p:cNvSpPr/>
          <p:nvPr/>
        </p:nvSpPr>
        <p:spPr>
          <a:xfrm>
            <a:off x="2892026" y="187972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71" name="Группа 170"/>
          <p:cNvGrpSpPr/>
          <p:nvPr/>
        </p:nvGrpSpPr>
        <p:grpSpPr>
          <a:xfrm>
            <a:off x="6378670" y="6429700"/>
            <a:ext cx="353895" cy="291630"/>
            <a:chOff x="6340651" y="4865562"/>
            <a:chExt cx="353895" cy="291630"/>
          </a:xfrm>
        </p:grpSpPr>
        <p:cxnSp>
          <p:nvCxnSpPr>
            <p:cNvPr id="169" name="Прямая соединительная линия 168"/>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Прямая соединительная линия 169"/>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3" name="Овал 172"/>
          <p:cNvSpPr/>
          <p:nvPr/>
        </p:nvSpPr>
        <p:spPr>
          <a:xfrm>
            <a:off x="5417046" y="576183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4" name="Овал 173"/>
          <p:cNvSpPr/>
          <p:nvPr/>
        </p:nvSpPr>
        <p:spPr>
          <a:xfrm>
            <a:off x="4187577" y="576716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77" name="Прямая соединительная линия 176"/>
          <p:cNvCxnSpPr/>
          <p:nvPr/>
        </p:nvCxnSpPr>
        <p:spPr>
          <a:xfrm>
            <a:off x="2928030" y="5020237"/>
            <a:ext cx="44913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Прямая соединительная линия 179"/>
          <p:cNvCxnSpPr/>
          <p:nvPr/>
        </p:nvCxnSpPr>
        <p:spPr>
          <a:xfrm>
            <a:off x="2918248" y="5386478"/>
            <a:ext cx="3576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Овал 182"/>
          <p:cNvSpPr/>
          <p:nvPr/>
        </p:nvSpPr>
        <p:spPr>
          <a:xfrm>
            <a:off x="2889719" y="534156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4" name="TextBox 183"/>
          <p:cNvSpPr txBox="1"/>
          <p:nvPr/>
        </p:nvSpPr>
        <p:spPr>
          <a:xfrm>
            <a:off x="3377364" y="4437112"/>
            <a:ext cx="330540" cy="369332"/>
          </a:xfrm>
          <a:prstGeom prst="rect">
            <a:avLst/>
          </a:prstGeom>
          <a:noFill/>
        </p:spPr>
        <p:txBody>
          <a:bodyPr wrap="none" rtlCol="0">
            <a:spAutoFit/>
          </a:bodyPr>
          <a:lstStyle/>
          <a:p>
            <a:r>
              <a:rPr lang="en-US" dirty="0" smtClean="0"/>
              <a:t>G</a:t>
            </a:r>
            <a:endParaRPr lang="ru-RU" dirty="0"/>
          </a:p>
        </p:txBody>
      </p:sp>
      <p:sp>
        <p:nvSpPr>
          <p:cNvPr id="186" name="Прямоугольник 185"/>
          <p:cNvSpPr/>
          <p:nvPr/>
        </p:nvSpPr>
        <p:spPr>
          <a:xfrm>
            <a:off x="462776" y="4178479"/>
            <a:ext cx="7709624" cy="369332"/>
          </a:xfrm>
          <a:prstGeom prst="rect">
            <a:avLst/>
          </a:prstGeom>
        </p:spPr>
        <p:txBody>
          <a:bodyPr wrap="square">
            <a:spAutoFit/>
          </a:bodyPr>
          <a:lstStyle/>
          <a:p>
            <a:r>
              <a:rPr lang="ru-RU" dirty="0" smtClean="0"/>
              <a:t>относительное изменение частоты генерации порядка </a:t>
            </a:r>
            <a:r>
              <a:rPr lang="en-US" dirty="0" smtClean="0"/>
              <a:t>0.</a:t>
            </a:r>
            <a:r>
              <a:rPr lang="ru-RU" dirty="0" smtClean="0"/>
              <a:t>0</a:t>
            </a:r>
            <a:r>
              <a:rPr lang="en-US" dirty="0" smtClean="0"/>
              <a:t>01</a:t>
            </a:r>
            <a:r>
              <a:rPr lang="ru-RU" dirty="0" smtClean="0"/>
              <a:t>%</a:t>
            </a:r>
            <a:endParaRPr lang="ru-RU" dirty="0"/>
          </a:p>
        </p:txBody>
      </p:sp>
      <p:sp>
        <p:nvSpPr>
          <p:cNvPr id="187" name="TextBox 186"/>
          <p:cNvSpPr txBox="1"/>
          <p:nvPr/>
        </p:nvSpPr>
        <p:spPr>
          <a:xfrm>
            <a:off x="411127" y="2623999"/>
            <a:ext cx="3921523" cy="369332"/>
          </a:xfrm>
          <a:prstGeom prst="rect">
            <a:avLst/>
          </a:prstGeom>
          <a:noFill/>
        </p:spPr>
        <p:txBody>
          <a:bodyPr wrap="none" rtlCol="0">
            <a:spAutoFit/>
          </a:bodyPr>
          <a:lstStyle/>
          <a:p>
            <a:r>
              <a:rPr lang="ru-RU" dirty="0" smtClean="0"/>
              <a:t>Исходное состояние</a:t>
            </a:r>
            <a:r>
              <a:rPr lang="en-US" dirty="0" smtClean="0"/>
              <a:t>: </a:t>
            </a:r>
            <a:r>
              <a:rPr lang="ru-RU" dirty="0" smtClean="0"/>
              <a:t>ключ </a:t>
            </a:r>
            <a:r>
              <a:rPr lang="en-US" dirty="0" smtClean="0"/>
              <a:t>S - </a:t>
            </a:r>
            <a:r>
              <a:rPr lang="ru-RU" dirty="0" smtClean="0"/>
              <a:t>замкнут</a:t>
            </a:r>
            <a:endParaRPr lang="ru-RU" dirty="0"/>
          </a:p>
        </p:txBody>
      </p:sp>
    </p:spTree>
    <p:extLst>
      <p:ext uri="{BB962C8B-B14F-4D97-AF65-F5344CB8AC3E}">
        <p14:creationId xmlns:p14="http://schemas.microsoft.com/office/powerpoint/2010/main" val="4194940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1800" y="208383"/>
            <a:ext cx="2581284" cy="369332"/>
          </a:xfrm>
          <a:prstGeom prst="rect">
            <a:avLst/>
          </a:prstGeom>
          <a:noFill/>
        </p:spPr>
        <p:txBody>
          <a:bodyPr wrap="none" rtlCol="0">
            <a:spAutoFit/>
          </a:bodyPr>
          <a:lstStyle/>
          <a:p>
            <a:r>
              <a:rPr lang="ru-RU" b="1" dirty="0" smtClean="0"/>
              <a:t>Интегральные таймеры</a:t>
            </a:r>
            <a:endParaRPr lang="ru-RU" b="1" dirty="0"/>
          </a:p>
        </p:txBody>
      </p:sp>
      <p:sp>
        <p:nvSpPr>
          <p:cNvPr id="5" name="TextBox 4"/>
          <p:cNvSpPr txBox="1"/>
          <p:nvPr/>
        </p:nvSpPr>
        <p:spPr>
          <a:xfrm>
            <a:off x="611560" y="577715"/>
            <a:ext cx="8054577" cy="646331"/>
          </a:xfrm>
          <a:prstGeom prst="rect">
            <a:avLst/>
          </a:prstGeom>
          <a:noFill/>
        </p:spPr>
        <p:txBody>
          <a:bodyPr wrap="none" rtlCol="0">
            <a:spAutoFit/>
          </a:bodyPr>
          <a:lstStyle/>
          <a:p>
            <a:r>
              <a:rPr lang="ru-RU" i="1" dirty="0" smtClean="0"/>
              <a:t>Таймер</a:t>
            </a:r>
            <a:r>
              <a:rPr lang="ru-RU" dirty="0" smtClean="0"/>
              <a:t> – устройство для формирования импульсных сигналов с регулируемой  </a:t>
            </a:r>
          </a:p>
          <a:p>
            <a:r>
              <a:rPr lang="ru-RU" dirty="0" smtClean="0"/>
              <a:t>длительностью и скважностью.</a:t>
            </a:r>
            <a:endParaRPr lang="ru-RU" dirty="0"/>
          </a:p>
        </p:txBody>
      </p:sp>
      <p:sp>
        <p:nvSpPr>
          <p:cNvPr id="6" name="TextBox 5"/>
          <p:cNvSpPr txBox="1"/>
          <p:nvPr/>
        </p:nvSpPr>
        <p:spPr>
          <a:xfrm>
            <a:off x="681811" y="1189720"/>
            <a:ext cx="7655878" cy="369332"/>
          </a:xfrm>
          <a:prstGeom prst="rect">
            <a:avLst/>
          </a:prstGeom>
          <a:noFill/>
        </p:spPr>
        <p:txBody>
          <a:bodyPr wrap="none" rtlCol="0">
            <a:spAutoFit/>
          </a:bodyPr>
          <a:lstStyle/>
          <a:p>
            <a:r>
              <a:rPr lang="ru-RU" i="1" dirty="0" smtClean="0"/>
              <a:t>Скважность </a:t>
            </a:r>
            <a:r>
              <a:rPr lang="en-US" i="1" dirty="0" smtClean="0"/>
              <a:t>(Q)</a:t>
            </a:r>
            <a:r>
              <a:rPr lang="ru-RU" dirty="0" smtClean="0"/>
              <a:t>= (Период повторения импульсов)</a:t>
            </a:r>
            <a:r>
              <a:rPr lang="en-US" dirty="0" smtClean="0"/>
              <a:t>/(</a:t>
            </a:r>
            <a:r>
              <a:rPr lang="ru-RU" dirty="0" smtClean="0"/>
              <a:t>длительность импульса)</a:t>
            </a:r>
            <a:endParaRPr lang="ru-RU" dirty="0"/>
          </a:p>
        </p:txBody>
      </p:sp>
      <p:sp>
        <p:nvSpPr>
          <p:cNvPr id="7" name="TextBox 6"/>
          <p:cNvSpPr txBox="1"/>
          <p:nvPr/>
        </p:nvSpPr>
        <p:spPr>
          <a:xfrm>
            <a:off x="493689" y="1558878"/>
            <a:ext cx="8484182" cy="369332"/>
          </a:xfrm>
          <a:prstGeom prst="rect">
            <a:avLst/>
          </a:prstGeom>
          <a:noFill/>
        </p:spPr>
        <p:txBody>
          <a:bodyPr wrap="none" rtlCol="0">
            <a:spAutoFit/>
          </a:bodyPr>
          <a:lstStyle/>
          <a:p>
            <a:r>
              <a:rPr lang="ru-RU" i="1" dirty="0" smtClean="0"/>
              <a:t>Классификация таймеров</a:t>
            </a:r>
            <a:r>
              <a:rPr lang="en-US" dirty="0" smtClean="0"/>
              <a:t>: </a:t>
            </a:r>
            <a:r>
              <a:rPr lang="ru-RU" dirty="0" smtClean="0"/>
              <a:t>однотактные и </a:t>
            </a:r>
            <a:r>
              <a:rPr lang="ru-RU" dirty="0" err="1" smtClean="0"/>
              <a:t>многотактные</a:t>
            </a:r>
            <a:r>
              <a:rPr lang="ru-RU" dirty="0" smtClean="0"/>
              <a:t> со встроенным счетчиком.</a:t>
            </a:r>
          </a:p>
        </p:txBody>
      </p:sp>
      <p:sp>
        <p:nvSpPr>
          <p:cNvPr id="8" name="TextBox 7"/>
          <p:cNvSpPr txBox="1"/>
          <p:nvPr/>
        </p:nvSpPr>
        <p:spPr>
          <a:xfrm>
            <a:off x="2941809" y="1894245"/>
            <a:ext cx="2686954" cy="369332"/>
          </a:xfrm>
          <a:prstGeom prst="rect">
            <a:avLst/>
          </a:prstGeom>
          <a:noFill/>
        </p:spPr>
        <p:txBody>
          <a:bodyPr wrap="none" rtlCol="0">
            <a:spAutoFit/>
          </a:bodyPr>
          <a:lstStyle/>
          <a:p>
            <a:r>
              <a:rPr lang="ru-RU" i="1" u="sng" dirty="0" smtClean="0"/>
              <a:t>Однотактные таймеры</a:t>
            </a:r>
            <a:endParaRPr lang="ru-RU" i="1" u="sng" dirty="0"/>
          </a:p>
        </p:txBody>
      </p:sp>
      <p:sp>
        <p:nvSpPr>
          <p:cNvPr id="9" name="TextBox 8"/>
          <p:cNvSpPr txBox="1"/>
          <p:nvPr/>
        </p:nvSpPr>
        <p:spPr>
          <a:xfrm>
            <a:off x="0" y="2257164"/>
            <a:ext cx="8925634" cy="646331"/>
          </a:xfrm>
          <a:prstGeom prst="rect">
            <a:avLst/>
          </a:prstGeom>
          <a:noFill/>
        </p:spPr>
        <p:txBody>
          <a:bodyPr wrap="square" rtlCol="0">
            <a:spAutoFit/>
          </a:bodyPr>
          <a:lstStyle/>
          <a:p>
            <a:r>
              <a:rPr lang="ru-RU" i="1" dirty="0" smtClean="0"/>
              <a:t>Назначение</a:t>
            </a:r>
            <a:r>
              <a:rPr lang="en-US" dirty="0" smtClean="0"/>
              <a:t>: </a:t>
            </a:r>
            <a:r>
              <a:rPr lang="ru-RU" dirty="0" smtClean="0"/>
              <a:t>формирование временных интервалов длительностью  от микросекунд  до часов</a:t>
            </a:r>
            <a:endParaRPr lang="ru-RU" dirty="0"/>
          </a:p>
        </p:txBody>
      </p:sp>
      <p:sp>
        <p:nvSpPr>
          <p:cNvPr id="10" name="TextBox 9"/>
          <p:cNvSpPr txBox="1"/>
          <p:nvPr/>
        </p:nvSpPr>
        <p:spPr>
          <a:xfrm>
            <a:off x="72441" y="2847968"/>
            <a:ext cx="2015103" cy="369332"/>
          </a:xfrm>
          <a:prstGeom prst="rect">
            <a:avLst/>
          </a:prstGeom>
          <a:noFill/>
        </p:spPr>
        <p:txBody>
          <a:bodyPr wrap="none" rtlCol="0">
            <a:spAutoFit/>
          </a:bodyPr>
          <a:lstStyle/>
          <a:p>
            <a:r>
              <a:rPr lang="ru-RU" dirty="0" smtClean="0"/>
              <a:t>Структурная схема</a:t>
            </a:r>
            <a:endParaRPr lang="ru-RU" dirty="0"/>
          </a:p>
        </p:txBody>
      </p:sp>
      <p:grpSp>
        <p:nvGrpSpPr>
          <p:cNvPr id="16" name="Группа 15"/>
          <p:cNvGrpSpPr/>
          <p:nvPr/>
        </p:nvGrpSpPr>
        <p:grpSpPr>
          <a:xfrm rot="16200000">
            <a:off x="1172943" y="4442171"/>
            <a:ext cx="102134" cy="288032"/>
            <a:chOff x="4397909" y="4869160"/>
            <a:chExt cx="102134" cy="288032"/>
          </a:xfrm>
        </p:grpSpPr>
        <p:cxnSp>
          <p:nvCxnSpPr>
            <p:cNvPr id="11" name="Прямая соединительная линия 10"/>
            <p:cNvCxnSpPr/>
            <p:nvPr/>
          </p:nvCxnSpPr>
          <p:spPr>
            <a:xfrm>
              <a:off x="4397909" y="4869160"/>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4500043" y="4869160"/>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Прямоугольник 13"/>
          <p:cNvSpPr/>
          <p:nvPr/>
        </p:nvSpPr>
        <p:spPr>
          <a:xfrm rot="10800000">
            <a:off x="1170005" y="3719813"/>
            <a:ext cx="108012" cy="3572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Box 14"/>
          <p:cNvSpPr txBox="1"/>
          <p:nvPr/>
        </p:nvSpPr>
        <p:spPr>
          <a:xfrm>
            <a:off x="770293" y="3707717"/>
            <a:ext cx="309700" cy="369332"/>
          </a:xfrm>
          <a:prstGeom prst="rect">
            <a:avLst/>
          </a:prstGeom>
          <a:noFill/>
        </p:spPr>
        <p:txBody>
          <a:bodyPr wrap="none" rtlCol="0">
            <a:spAutoFit/>
          </a:bodyPr>
          <a:lstStyle/>
          <a:p>
            <a:r>
              <a:rPr lang="en-US" dirty="0"/>
              <a:t>R</a:t>
            </a:r>
            <a:endParaRPr lang="ru-RU" dirty="0"/>
          </a:p>
        </p:txBody>
      </p:sp>
      <p:grpSp>
        <p:nvGrpSpPr>
          <p:cNvPr id="17" name="Группа 16"/>
          <p:cNvGrpSpPr/>
          <p:nvPr/>
        </p:nvGrpSpPr>
        <p:grpSpPr>
          <a:xfrm>
            <a:off x="1047062" y="5220554"/>
            <a:ext cx="353895" cy="291630"/>
            <a:chOff x="6340651" y="4865562"/>
            <a:chExt cx="353895" cy="291630"/>
          </a:xfrm>
        </p:grpSpPr>
        <p:cxnSp>
          <p:nvCxnSpPr>
            <p:cNvPr id="18" name="Прямая соединительная линия 17"/>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Прямая соединительная линия 20"/>
          <p:cNvCxnSpPr/>
          <p:nvPr/>
        </p:nvCxnSpPr>
        <p:spPr>
          <a:xfrm>
            <a:off x="1224009" y="464449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a:stCxn id="14" idx="0"/>
          </p:cNvCxnSpPr>
          <p:nvPr/>
        </p:nvCxnSpPr>
        <p:spPr>
          <a:xfrm flipH="1">
            <a:off x="1224009" y="4077049"/>
            <a:ext cx="2" cy="4580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a:stCxn id="14" idx="2"/>
          </p:cNvCxnSpPr>
          <p:nvPr/>
        </p:nvCxnSpPr>
        <p:spPr>
          <a:xfrm flipV="1">
            <a:off x="1224011" y="3420354"/>
            <a:ext cx="0" cy="2994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H="1">
            <a:off x="665949" y="3420354"/>
            <a:ext cx="5580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flipH="1">
            <a:off x="665949" y="5233369"/>
            <a:ext cx="5580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Овал 28"/>
          <p:cNvSpPr/>
          <p:nvPr/>
        </p:nvSpPr>
        <p:spPr>
          <a:xfrm>
            <a:off x="619699" y="519479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Овал 29"/>
          <p:cNvSpPr/>
          <p:nvPr/>
        </p:nvSpPr>
        <p:spPr>
          <a:xfrm>
            <a:off x="669067" y="3399862"/>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p:cNvSpPr txBox="1"/>
          <p:nvPr/>
        </p:nvSpPr>
        <p:spPr>
          <a:xfrm>
            <a:off x="199528" y="4070167"/>
            <a:ext cx="452368" cy="369332"/>
          </a:xfrm>
          <a:prstGeom prst="rect">
            <a:avLst/>
          </a:prstGeom>
          <a:noFill/>
        </p:spPr>
        <p:txBody>
          <a:bodyPr wrap="none" rtlCol="0">
            <a:spAutoFit/>
          </a:bodyPr>
          <a:lstStyle/>
          <a:p>
            <a:r>
              <a:rPr lang="en-US" dirty="0" smtClean="0"/>
              <a:t>U</a:t>
            </a:r>
            <a:r>
              <a:rPr lang="ru-RU" dirty="0" smtClean="0"/>
              <a:t>п</a:t>
            </a:r>
            <a:endParaRPr lang="ru-RU" dirty="0"/>
          </a:p>
        </p:txBody>
      </p:sp>
      <p:cxnSp>
        <p:nvCxnSpPr>
          <p:cNvPr id="32" name="Прямая со стрелкой 31"/>
          <p:cNvCxnSpPr>
            <a:stCxn id="30" idx="3"/>
            <a:endCxn id="29" idx="0"/>
          </p:cNvCxnSpPr>
          <p:nvPr/>
        </p:nvCxnSpPr>
        <p:spPr>
          <a:xfrm flipH="1">
            <a:off x="655703" y="3461325"/>
            <a:ext cx="23909" cy="1733471"/>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1224011" y="4306084"/>
            <a:ext cx="7380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flipV="1">
            <a:off x="1962093" y="4811910"/>
            <a:ext cx="0" cy="4214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1960462" y="4319792"/>
            <a:ext cx="1631" cy="3174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p:nvPr/>
        </p:nvCxnSpPr>
        <p:spPr>
          <a:xfrm flipV="1">
            <a:off x="1962093" y="4637254"/>
            <a:ext cx="176947" cy="1746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Группа 39"/>
          <p:cNvGrpSpPr/>
          <p:nvPr/>
        </p:nvGrpSpPr>
        <p:grpSpPr>
          <a:xfrm>
            <a:off x="1785145" y="5230800"/>
            <a:ext cx="353895" cy="291630"/>
            <a:chOff x="6340651" y="4865562"/>
            <a:chExt cx="353895" cy="291630"/>
          </a:xfrm>
        </p:grpSpPr>
        <p:cxnSp>
          <p:nvCxnSpPr>
            <p:cNvPr id="41" name="Прямая соединительная линия 40"/>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Овал 45"/>
          <p:cNvSpPr/>
          <p:nvPr/>
        </p:nvSpPr>
        <p:spPr>
          <a:xfrm>
            <a:off x="1190497" y="520444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9" name="Прямая соединительная линия 48"/>
          <p:cNvCxnSpPr/>
          <p:nvPr/>
        </p:nvCxnSpPr>
        <p:spPr>
          <a:xfrm flipH="1" flipV="1">
            <a:off x="1190497" y="5230800"/>
            <a:ext cx="402555" cy="25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Овал 50"/>
          <p:cNvSpPr/>
          <p:nvPr/>
        </p:nvSpPr>
        <p:spPr>
          <a:xfrm>
            <a:off x="1491408" y="519479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Овал 51"/>
          <p:cNvSpPr/>
          <p:nvPr/>
        </p:nvSpPr>
        <p:spPr>
          <a:xfrm>
            <a:off x="1530045" y="4284450"/>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6" name="Прямая соединительная линия 55"/>
          <p:cNvCxnSpPr/>
          <p:nvPr/>
        </p:nvCxnSpPr>
        <p:spPr>
          <a:xfrm>
            <a:off x="1960462" y="4306084"/>
            <a:ext cx="129777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Прямоугольник 56"/>
          <p:cNvSpPr/>
          <p:nvPr/>
        </p:nvSpPr>
        <p:spPr>
          <a:xfrm>
            <a:off x="3258237" y="3898431"/>
            <a:ext cx="504056" cy="913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Овал 57"/>
          <p:cNvSpPr/>
          <p:nvPr/>
        </p:nvSpPr>
        <p:spPr>
          <a:xfrm>
            <a:off x="3186229" y="449323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2" name="Прямая соединительная линия 61"/>
          <p:cNvCxnSpPr>
            <a:endCxn id="58" idx="2"/>
          </p:cNvCxnSpPr>
          <p:nvPr/>
        </p:nvCxnSpPr>
        <p:spPr>
          <a:xfrm flipV="1">
            <a:off x="2878788" y="4565246"/>
            <a:ext cx="307441" cy="7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Овал 62"/>
          <p:cNvSpPr/>
          <p:nvPr/>
        </p:nvSpPr>
        <p:spPr>
          <a:xfrm>
            <a:off x="2662764" y="4844404"/>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5" name="Прямая со стрелкой 64"/>
          <p:cNvCxnSpPr/>
          <p:nvPr/>
        </p:nvCxnSpPr>
        <p:spPr>
          <a:xfrm flipV="1">
            <a:off x="2878788" y="4874835"/>
            <a:ext cx="0" cy="3439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6" name="Группа 65"/>
          <p:cNvGrpSpPr/>
          <p:nvPr/>
        </p:nvGrpSpPr>
        <p:grpSpPr>
          <a:xfrm>
            <a:off x="2701056" y="5294786"/>
            <a:ext cx="353895" cy="291630"/>
            <a:chOff x="6340651" y="4865562"/>
            <a:chExt cx="353895" cy="291630"/>
          </a:xfrm>
        </p:grpSpPr>
        <p:cxnSp>
          <p:nvCxnSpPr>
            <p:cNvPr id="67" name="Прямая соединительная линия 66"/>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0" name="Прямая соединительная линия 69"/>
          <p:cNvCxnSpPr>
            <a:stCxn id="63" idx="0"/>
          </p:cNvCxnSpPr>
          <p:nvPr/>
        </p:nvCxnSpPr>
        <p:spPr>
          <a:xfrm flipH="1" flipV="1">
            <a:off x="2878787" y="4565246"/>
            <a:ext cx="1" cy="2791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Прямоугольник 70"/>
          <p:cNvSpPr/>
          <p:nvPr/>
        </p:nvSpPr>
        <p:spPr>
          <a:xfrm>
            <a:off x="4116831" y="4844404"/>
            <a:ext cx="1085622" cy="880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ЛБ</a:t>
            </a:r>
            <a:endParaRPr lang="ru-RU" dirty="0"/>
          </a:p>
        </p:txBody>
      </p:sp>
      <p:cxnSp>
        <p:nvCxnSpPr>
          <p:cNvPr id="73" name="Прямая соединительная линия 72"/>
          <p:cNvCxnSpPr>
            <a:stCxn id="57" idx="3"/>
          </p:cNvCxnSpPr>
          <p:nvPr/>
        </p:nvCxnSpPr>
        <p:spPr>
          <a:xfrm>
            <a:off x="3762293" y="4355171"/>
            <a:ext cx="250477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Прямая соединительная линия 76"/>
          <p:cNvCxnSpPr/>
          <p:nvPr/>
        </p:nvCxnSpPr>
        <p:spPr>
          <a:xfrm>
            <a:off x="3762293" y="5105387"/>
            <a:ext cx="0" cy="6192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Прямая соединительная линия 78"/>
          <p:cNvCxnSpPr/>
          <p:nvPr/>
        </p:nvCxnSpPr>
        <p:spPr>
          <a:xfrm flipH="1">
            <a:off x="2394141" y="5724610"/>
            <a:ext cx="136815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Прямая соединительная линия 80"/>
          <p:cNvCxnSpPr/>
          <p:nvPr/>
        </p:nvCxnSpPr>
        <p:spPr>
          <a:xfrm flipV="1">
            <a:off x="2394141" y="4724582"/>
            <a:ext cx="0" cy="10000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Прямая со стрелкой 82"/>
          <p:cNvCxnSpPr/>
          <p:nvPr/>
        </p:nvCxnSpPr>
        <p:spPr>
          <a:xfrm flipH="1">
            <a:off x="2139040" y="4704825"/>
            <a:ext cx="255101"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Овал 83"/>
          <p:cNvSpPr/>
          <p:nvPr/>
        </p:nvSpPr>
        <p:spPr>
          <a:xfrm>
            <a:off x="1190497" y="428445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Овал 84"/>
          <p:cNvSpPr/>
          <p:nvPr/>
        </p:nvSpPr>
        <p:spPr>
          <a:xfrm>
            <a:off x="1936335" y="426942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7" name="Прямая соединительная линия 86"/>
          <p:cNvCxnSpPr/>
          <p:nvPr/>
        </p:nvCxnSpPr>
        <p:spPr>
          <a:xfrm>
            <a:off x="3330245" y="443949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88"/>
          <p:cNvCxnSpPr/>
          <p:nvPr/>
        </p:nvCxnSpPr>
        <p:spPr>
          <a:xfrm flipV="1">
            <a:off x="3510265" y="4077049"/>
            <a:ext cx="0" cy="3624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Прямая соединительная линия 90"/>
          <p:cNvCxnSpPr/>
          <p:nvPr/>
        </p:nvCxnSpPr>
        <p:spPr>
          <a:xfrm>
            <a:off x="3510265" y="407704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2" name="Группа 91"/>
          <p:cNvGrpSpPr/>
          <p:nvPr/>
        </p:nvGrpSpPr>
        <p:grpSpPr>
          <a:xfrm>
            <a:off x="5749886" y="4132718"/>
            <a:ext cx="1999651" cy="1036712"/>
            <a:chOff x="507856" y="5704656"/>
            <a:chExt cx="1999651" cy="1036712"/>
          </a:xfrm>
        </p:grpSpPr>
        <p:sp>
          <p:nvSpPr>
            <p:cNvPr id="93" name="Прямоугольник 92"/>
            <p:cNvSpPr/>
            <p:nvPr/>
          </p:nvSpPr>
          <p:spPr>
            <a:xfrm>
              <a:off x="1025258" y="5733256"/>
              <a:ext cx="864096"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4" name="Прямая соединительная линия 93"/>
            <p:cNvCxnSpPr>
              <a:stCxn id="93" idx="0"/>
              <a:endCxn id="93" idx="2"/>
            </p:cNvCxnSpPr>
            <p:nvPr/>
          </p:nvCxnSpPr>
          <p:spPr>
            <a:xfrm>
              <a:off x="1457306" y="5733256"/>
              <a:ext cx="0" cy="1008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166842" y="6315560"/>
              <a:ext cx="290464" cy="369332"/>
            </a:xfrm>
            <a:prstGeom prst="rect">
              <a:avLst/>
            </a:prstGeom>
            <a:noFill/>
          </p:spPr>
          <p:txBody>
            <a:bodyPr wrap="none" rtlCol="0">
              <a:spAutoFit/>
            </a:bodyPr>
            <a:lstStyle/>
            <a:p>
              <a:r>
                <a:rPr lang="en-US" dirty="0"/>
                <a:t>S</a:t>
              </a:r>
              <a:endParaRPr lang="ru-RU" dirty="0"/>
            </a:p>
          </p:txBody>
        </p:sp>
        <p:sp>
          <p:nvSpPr>
            <p:cNvPr id="96" name="TextBox 95"/>
            <p:cNvSpPr txBox="1"/>
            <p:nvPr/>
          </p:nvSpPr>
          <p:spPr>
            <a:xfrm>
              <a:off x="1166842" y="5733256"/>
              <a:ext cx="309700" cy="369332"/>
            </a:xfrm>
            <a:prstGeom prst="rect">
              <a:avLst/>
            </a:prstGeom>
            <a:noFill/>
          </p:spPr>
          <p:txBody>
            <a:bodyPr wrap="none" rtlCol="0">
              <a:spAutoFit/>
            </a:bodyPr>
            <a:lstStyle/>
            <a:p>
              <a:r>
                <a:rPr lang="en-US" dirty="0"/>
                <a:t>R</a:t>
              </a:r>
              <a:endParaRPr lang="ru-RU" dirty="0"/>
            </a:p>
          </p:txBody>
        </p:sp>
        <p:sp>
          <p:nvSpPr>
            <p:cNvPr id="97" name="TextBox 96"/>
            <p:cNvSpPr txBox="1"/>
            <p:nvPr/>
          </p:nvSpPr>
          <p:spPr>
            <a:xfrm>
              <a:off x="1485610" y="5704656"/>
              <a:ext cx="296876" cy="369332"/>
            </a:xfrm>
            <a:prstGeom prst="rect">
              <a:avLst/>
            </a:prstGeom>
            <a:noFill/>
          </p:spPr>
          <p:txBody>
            <a:bodyPr wrap="none" rtlCol="0">
              <a:spAutoFit/>
            </a:bodyPr>
            <a:lstStyle/>
            <a:p>
              <a:r>
                <a:rPr lang="en-US" dirty="0" smtClean="0"/>
                <a:t>T</a:t>
              </a:r>
              <a:endParaRPr lang="ru-RU" dirty="0"/>
            </a:p>
          </p:txBody>
        </p:sp>
        <p:grpSp>
          <p:nvGrpSpPr>
            <p:cNvPr id="98" name="Группа 97"/>
            <p:cNvGrpSpPr/>
            <p:nvPr/>
          </p:nvGrpSpPr>
          <p:grpSpPr>
            <a:xfrm>
              <a:off x="1880828" y="5952976"/>
              <a:ext cx="626679" cy="603726"/>
              <a:chOff x="1827170" y="1920528"/>
              <a:chExt cx="626679" cy="603726"/>
            </a:xfrm>
          </p:grpSpPr>
          <p:cxnSp>
            <p:nvCxnSpPr>
              <p:cNvPr id="106" name="Прямая соединительная линия 105"/>
              <p:cNvCxnSpPr/>
              <p:nvPr/>
            </p:nvCxnSpPr>
            <p:spPr>
              <a:xfrm>
                <a:off x="1827170" y="2524254"/>
                <a:ext cx="36856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Прямая соединительная линия 106"/>
              <p:cNvCxnSpPr/>
              <p:nvPr/>
            </p:nvCxnSpPr>
            <p:spPr>
              <a:xfrm>
                <a:off x="1835696" y="1920528"/>
                <a:ext cx="6181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Группа 98"/>
            <p:cNvGrpSpPr/>
            <p:nvPr/>
          </p:nvGrpSpPr>
          <p:grpSpPr>
            <a:xfrm>
              <a:off x="507856" y="5927204"/>
              <a:ext cx="541172" cy="603726"/>
              <a:chOff x="1663090" y="1920528"/>
              <a:chExt cx="541172" cy="603726"/>
            </a:xfrm>
          </p:grpSpPr>
          <p:cxnSp>
            <p:nvCxnSpPr>
              <p:cNvPr id="104" name="Прямая соединительная линия 103"/>
              <p:cNvCxnSpPr/>
              <p:nvPr/>
            </p:nvCxnSpPr>
            <p:spPr>
              <a:xfrm>
                <a:off x="1663090" y="2524254"/>
                <a:ext cx="5326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Прямая соединительная линия 104"/>
              <p:cNvCxnSpPr/>
              <p:nvPr/>
            </p:nvCxnSpPr>
            <p:spPr>
              <a:xfrm>
                <a:off x="2019979" y="1920528"/>
                <a:ext cx="18428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3" name="Овал 102"/>
            <p:cNvSpPr/>
            <p:nvPr/>
          </p:nvSpPr>
          <p:spPr>
            <a:xfrm>
              <a:off x="1830046" y="649143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111" name="Прямая соединительная линия 110"/>
          <p:cNvCxnSpPr/>
          <p:nvPr/>
        </p:nvCxnSpPr>
        <p:spPr>
          <a:xfrm>
            <a:off x="7491424" y="4958992"/>
            <a:ext cx="0" cy="40737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Прямая соединительная линия 112"/>
          <p:cNvCxnSpPr/>
          <p:nvPr/>
        </p:nvCxnSpPr>
        <p:spPr>
          <a:xfrm flipH="1">
            <a:off x="5202453" y="5366369"/>
            <a:ext cx="228897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Прямая соединительная линия 115"/>
          <p:cNvCxnSpPr/>
          <p:nvPr/>
        </p:nvCxnSpPr>
        <p:spPr>
          <a:xfrm>
            <a:off x="3762293" y="5112954"/>
            <a:ext cx="35453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Прямая соединительная линия 118"/>
          <p:cNvCxnSpPr/>
          <p:nvPr/>
        </p:nvCxnSpPr>
        <p:spPr>
          <a:xfrm>
            <a:off x="5786077" y="4984764"/>
            <a:ext cx="0" cy="5376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Овал 124"/>
          <p:cNvSpPr/>
          <p:nvPr/>
        </p:nvSpPr>
        <p:spPr>
          <a:xfrm>
            <a:off x="5749886" y="5504353"/>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8" name="Группа 127"/>
          <p:cNvGrpSpPr/>
          <p:nvPr/>
        </p:nvGrpSpPr>
        <p:grpSpPr>
          <a:xfrm>
            <a:off x="5609129" y="5940634"/>
            <a:ext cx="353895" cy="334749"/>
            <a:chOff x="5609129" y="5708269"/>
            <a:chExt cx="353895" cy="334749"/>
          </a:xfrm>
        </p:grpSpPr>
        <p:cxnSp>
          <p:nvCxnSpPr>
            <p:cNvPr id="121" name="Прямая соединительная линия 120"/>
            <p:cNvCxnSpPr/>
            <p:nvPr/>
          </p:nvCxnSpPr>
          <p:spPr>
            <a:xfrm>
              <a:off x="5786077" y="5724610"/>
              <a:ext cx="0" cy="216024"/>
            </a:xfrm>
            <a:prstGeom prst="line">
              <a:avLst/>
            </a:prstGeom>
          </p:spPr>
          <p:style>
            <a:lnRef idx="1">
              <a:schemeClr val="accent1"/>
            </a:lnRef>
            <a:fillRef idx="0">
              <a:schemeClr val="accent1"/>
            </a:fillRef>
            <a:effectRef idx="0">
              <a:schemeClr val="accent1"/>
            </a:effectRef>
            <a:fontRef idx="minor">
              <a:schemeClr val="tx1"/>
            </a:fontRef>
          </p:style>
        </p:cxnSp>
        <p:grpSp>
          <p:nvGrpSpPr>
            <p:cNvPr id="122" name="Группа 121"/>
            <p:cNvGrpSpPr/>
            <p:nvPr/>
          </p:nvGrpSpPr>
          <p:grpSpPr>
            <a:xfrm>
              <a:off x="5609129" y="5751388"/>
              <a:ext cx="353895" cy="291630"/>
              <a:chOff x="6340651" y="4865562"/>
              <a:chExt cx="353895" cy="291630"/>
            </a:xfrm>
          </p:grpSpPr>
          <p:cxnSp>
            <p:nvCxnSpPr>
              <p:cNvPr id="123" name="Прямая соединительная линия 122"/>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Прямая соединительная линия 123"/>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6" name="Овал 125"/>
            <p:cNvSpPr/>
            <p:nvPr/>
          </p:nvSpPr>
          <p:spPr>
            <a:xfrm>
              <a:off x="5749886" y="570826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127" name="Овал 126"/>
          <p:cNvSpPr/>
          <p:nvPr/>
        </p:nvSpPr>
        <p:spPr>
          <a:xfrm>
            <a:off x="7668344" y="433934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9" name="Группа 128"/>
          <p:cNvGrpSpPr/>
          <p:nvPr/>
        </p:nvGrpSpPr>
        <p:grpSpPr>
          <a:xfrm>
            <a:off x="7518868" y="5616551"/>
            <a:ext cx="353895" cy="334749"/>
            <a:chOff x="5609129" y="5708269"/>
            <a:chExt cx="353895" cy="334749"/>
          </a:xfrm>
        </p:grpSpPr>
        <p:cxnSp>
          <p:nvCxnSpPr>
            <p:cNvPr id="130" name="Прямая соединительная линия 129"/>
            <p:cNvCxnSpPr/>
            <p:nvPr/>
          </p:nvCxnSpPr>
          <p:spPr>
            <a:xfrm>
              <a:off x="5786077" y="5724610"/>
              <a:ext cx="0" cy="216024"/>
            </a:xfrm>
            <a:prstGeom prst="line">
              <a:avLst/>
            </a:prstGeom>
          </p:spPr>
          <p:style>
            <a:lnRef idx="1">
              <a:schemeClr val="accent1"/>
            </a:lnRef>
            <a:fillRef idx="0">
              <a:schemeClr val="accent1"/>
            </a:fillRef>
            <a:effectRef idx="0">
              <a:schemeClr val="accent1"/>
            </a:effectRef>
            <a:fontRef idx="minor">
              <a:schemeClr val="tx1"/>
            </a:fontRef>
          </p:style>
        </p:cxnSp>
        <p:grpSp>
          <p:nvGrpSpPr>
            <p:cNvPr id="131" name="Группа 130"/>
            <p:cNvGrpSpPr/>
            <p:nvPr/>
          </p:nvGrpSpPr>
          <p:grpSpPr>
            <a:xfrm>
              <a:off x="5609129" y="5751388"/>
              <a:ext cx="353895" cy="291630"/>
              <a:chOff x="6340651" y="4865562"/>
              <a:chExt cx="353895" cy="291630"/>
            </a:xfrm>
          </p:grpSpPr>
          <p:cxnSp>
            <p:nvCxnSpPr>
              <p:cNvPr id="133" name="Прямая соединительная линия 132"/>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Прямая соединительная линия 133"/>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Овал 131"/>
            <p:cNvSpPr/>
            <p:nvPr/>
          </p:nvSpPr>
          <p:spPr>
            <a:xfrm>
              <a:off x="5749886" y="570826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137" name="Прямая со стрелкой 136"/>
          <p:cNvCxnSpPr/>
          <p:nvPr/>
        </p:nvCxnSpPr>
        <p:spPr>
          <a:xfrm flipH="1">
            <a:off x="7700464" y="4437374"/>
            <a:ext cx="15839" cy="1148311"/>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39" name="Прямая со стрелкой 138"/>
          <p:cNvCxnSpPr/>
          <p:nvPr/>
        </p:nvCxnSpPr>
        <p:spPr>
          <a:xfrm flipH="1">
            <a:off x="1566049" y="4364973"/>
            <a:ext cx="13177" cy="858531"/>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41" name="Прямая со стрелкой 140"/>
          <p:cNvCxnSpPr/>
          <p:nvPr/>
        </p:nvCxnSpPr>
        <p:spPr>
          <a:xfrm flipH="1">
            <a:off x="5949847" y="5540357"/>
            <a:ext cx="13178" cy="472285"/>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1972339" y="4296042"/>
            <a:ext cx="290464" cy="369332"/>
          </a:xfrm>
          <a:prstGeom prst="rect">
            <a:avLst/>
          </a:prstGeom>
          <a:noFill/>
        </p:spPr>
        <p:txBody>
          <a:bodyPr wrap="none" rtlCol="0">
            <a:spAutoFit/>
          </a:bodyPr>
          <a:lstStyle/>
          <a:p>
            <a:r>
              <a:rPr lang="en-US" dirty="0" smtClean="0"/>
              <a:t>S</a:t>
            </a:r>
            <a:endParaRPr lang="ru-RU" dirty="0"/>
          </a:p>
        </p:txBody>
      </p:sp>
      <p:sp>
        <p:nvSpPr>
          <p:cNvPr id="144" name="TextBox 143"/>
          <p:cNvSpPr txBox="1"/>
          <p:nvPr/>
        </p:nvSpPr>
        <p:spPr>
          <a:xfrm>
            <a:off x="3305308" y="3523051"/>
            <a:ext cx="456985" cy="369332"/>
          </a:xfrm>
          <a:prstGeom prst="rect">
            <a:avLst/>
          </a:prstGeom>
          <a:noFill/>
        </p:spPr>
        <p:txBody>
          <a:bodyPr wrap="none" rtlCol="0">
            <a:spAutoFit/>
          </a:bodyPr>
          <a:lstStyle/>
          <a:p>
            <a:r>
              <a:rPr lang="en-US" dirty="0" smtClean="0"/>
              <a:t>DA</a:t>
            </a:r>
            <a:endParaRPr lang="ru-RU" dirty="0"/>
          </a:p>
        </p:txBody>
      </p:sp>
      <p:sp>
        <p:nvSpPr>
          <p:cNvPr id="145" name="TextBox 144"/>
          <p:cNvSpPr txBox="1"/>
          <p:nvPr/>
        </p:nvSpPr>
        <p:spPr>
          <a:xfrm>
            <a:off x="7832326" y="4794099"/>
            <a:ext cx="696024" cy="369332"/>
          </a:xfrm>
          <a:prstGeom prst="rect">
            <a:avLst/>
          </a:prstGeom>
          <a:noFill/>
        </p:spPr>
        <p:txBody>
          <a:bodyPr wrap="none" rtlCol="0">
            <a:spAutoFit/>
          </a:bodyPr>
          <a:lstStyle/>
          <a:p>
            <a:r>
              <a:rPr lang="en-US" dirty="0" smtClean="0"/>
              <a:t>U</a:t>
            </a:r>
            <a:r>
              <a:rPr lang="ru-RU" dirty="0" err="1" smtClean="0"/>
              <a:t>вых</a:t>
            </a:r>
            <a:endParaRPr lang="ru-RU" dirty="0"/>
          </a:p>
        </p:txBody>
      </p:sp>
      <p:sp>
        <p:nvSpPr>
          <p:cNvPr id="146" name="TextBox 145"/>
          <p:cNvSpPr txBox="1"/>
          <p:nvPr/>
        </p:nvSpPr>
        <p:spPr>
          <a:xfrm>
            <a:off x="6057513" y="5571302"/>
            <a:ext cx="660758" cy="369332"/>
          </a:xfrm>
          <a:prstGeom prst="rect">
            <a:avLst/>
          </a:prstGeom>
          <a:noFill/>
        </p:spPr>
        <p:txBody>
          <a:bodyPr wrap="none" rtlCol="0">
            <a:spAutoFit/>
          </a:bodyPr>
          <a:lstStyle/>
          <a:p>
            <a:r>
              <a:rPr lang="en-US" dirty="0" smtClean="0"/>
              <a:t>U</a:t>
            </a:r>
            <a:r>
              <a:rPr lang="ru-RU" dirty="0" err="1" smtClean="0"/>
              <a:t>зап</a:t>
            </a:r>
            <a:endParaRPr lang="ru-RU" dirty="0"/>
          </a:p>
        </p:txBody>
      </p:sp>
      <p:sp>
        <p:nvSpPr>
          <p:cNvPr id="147" name="TextBox 146"/>
          <p:cNvSpPr txBox="1"/>
          <p:nvPr/>
        </p:nvSpPr>
        <p:spPr>
          <a:xfrm>
            <a:off x="3054951" y="4867935"/>
            <a:ext cx="574196" cy="369332"/>
          </a:xfrm>
          <a:prstGeom prst="rect">
            <a:avLst/>
          </a:prstGeom>
          <a:noFill/>
        </p:spPr>
        <p:txBody>
          <a:bodyPr wrap="none" rtlCol="0">
            <a:spAutoFit/>
          </a:bodyPr>
          <a:lstStyle/>
          <a:p>
            <a:r>
              <a:rPr lang="en-US" dirty="0" smtClean="0"/>
              <a:t>U</a:t>
            </a:r>
            <a:r>
              <a:rPr lang="ru-RU" dirty="0" smtClean="0"/>
              <a:t>оп</a:t>
            </a:r>
            <a:endParaRPr lang="ru-RU" dirty="0"/>
          </a:p>
        </p:txBody>
      </p:sp>
      <p:sp>
        <p:nvSpPr>
          <p:cNvPr id="148" name="TextBox 147"/>
          <p:cNvSpPr txBox="1"/>
          <p:nvPr/>
        </p:nvSpPr>
        <p:spPr>
          <a:xfrm>
            <a:off x="1491408" y="4653307"/>
            <a:ext cx="540982" cy="369332"/>
          </a:xfrm>
          <a:prstGeom prst="rect">
            <a:avLst/>
          </a:prstGeom>
          <a:noFill/>
        </p:spPr>
        <p:txBody>
          <a:bodyPr wrap="none" rtlCol="0">
            <a:spAutoFit/>
          </a:bodyPr>
          <a:lstStyle/>
          <a:p>
            <a:r>
              <a:rPr lang="en-US" dirty="0" smtClean="0"/>
              <a:t>U</a:t>
            </a:r>
            <a:r>
              <a:rPr lang="ru-RU" dirty="0" err="1" smtClean="0"/>
              <a:t>вх</a:t>
            </a:r>
            <a:endParaRPr lang="ru-RU" dirty="0"/>
          </a:p>
        </p:txBody>
      </p:sp>
      <p:sp>
        <p:nvSpPr>
          <p:cNvPr id="150" name="TextBox 149"/>
          <p:cNvSpPr txBox="1"/>
          <p:nvPr/>
        </p:nvSpPr>
        <p:spPr>
          <a:xfrm>
            <a:off x="4905410" y="3871174"/>
            <a:ext cx="1214820" cy="369332"/>
          </a:xfrm>
          <a:prstGeom prst="rect">
            <a:avLst/>
          </a:prstGeom>
          <a:noFill/>
        </p:spPr>
        <p:txBody>
          <a:bodyPr wrap="none" rtlCol="0">
            <a:spAutoFit/>
          </a:bodyPr>
          <a:lstStyle/>
          <a:p>
            <a:r>
              <a:rPr lang="en-US" dirty="0" smtClean="0"/>
              <a:t>RS-</a:t>
            </a:r>
            <a:r>
              <a:rPr lang="ru-RU" dirty="0" smtClean="0"/>
              <a:t>триггер</a:t>
            </a:r>
            <a:endParaRPr lang="ru-RU" dirty="0"/>
          </a:p>
        </p:txBody>
      </p:sp>
      <p:sp>
        <p:nvSpPr>
          <p:cNvPr id="151" name="TextBox 150"/>
          <p:cNvSpPr txBox="1"/>
          <p:nvPr/>
        </p:nvSpPr>
        <p:spPr>
          <a:xfrm>
            <a:off x="3791342" y="3252433"/>
            <a:ext cx="1432443" cy="646331"/>
          </a:xfrm>
          <a:prstGeom prst="rect">
            <a:avLst/>
          </a:prstGeom>
          <a:noFill/>
        </p:spPr>
        <p:txBody>
          <a:bodyPr wrap="none" rtlCol="0">
            <a:spAutoFit/>
          </a:bodyPr>
          <a:lstStyle/>
          <a:p>
            <a:r>
              <a:rPr lang="ru-RU" dirty="0" smtClean="0"/>
              <a:t>Аналоговый </a:t>
            </a:r>
          </a:p>
          <a:p>
            <a:r>
              <a:rPr lang="ru-RU" dirty="0" smtClean="0"/>
              <a:t>компаратор</a:t>
            </a:r>
            <a:endParaRPr lang="ru-RU" dirty="0"/>
          </a:p>
        </p:txBody>
      </p:sp>
      <p:sp>
        <p:nvSpPr>
          <p:cNvPr id="152" name="TextBox 151"/>
          <p:cNvSpPr txBox="1"/>
          <p:nvPr/>
        </p:nvSpPr>
        <p:spPr>
          <a:xfrm>
            <a:off x="156809" y="6147879"/>
            <a:ext cx="3921523" cy="369332"/>
          </a:xfrm>
          <a:prstGeom prst="rect">
            <a:avLst/>
          </a:prstGeom>
          <a:noFill/>
        </p:spPr>
        <p:txBody>
          <a:bodyPr wrap="none" rtlCol="0">
            <a:spAutoFit/>
          </a:bodyPr>
          <a:lstStyle/>
          <a:p>
            <a:r>
              <a:rPr lang="ru-RU" dirty="0" smtClean="0"/>
              <a:t>Исходное состояние</a:t>
            </a:r>
            <a:r>
              <a:rPr lang="en-US" dirty="0" smtClean="0"/>
              <a:t>: </a:t>
            </a:r>
            <a:r>
              <a:rPr lang="ru-RU" dirty="0" smtClean="0"/>
              <a:t>ключ </a:t>
            </a:r>
            <a:r>
              <a:rPr lang="en-US" dirty="0" smtClean="0"/>
              <a:t>S - </a:t>
            </a:r>
            <a:r>
              <a:rPr lang="ru-RU" dirty="0" smtClean="0"/>
              <a:t>замкнут</a:t>
            </a:r>
            <a:endParaRPr lang="ru-RU" dirty="0"/>
          </a:p>
        </p:txBody>
      </p:sp>
      <p:graphicFrame>
        <p:nvGraphicFramePr>
          <p:cNvPr id="101" name="Таблица 100"/>
          <p:cNvGraphicFramePr>
            <a:graphicFrameLocks noGrp="1"/>
          </p:cNvGraphicFramePr>
          <p:nvPr>
            <p:extLst>
              <p:ext uri="{D42A27DB-BD31-4B8C-83A1-F6EECF244321}">
                <p14:modId xmlns:p14="http://schemas.microsoft.com/office/powerpoint/2010/main" val="453099330"/>
              </p:ext>
            </p:extLst>
          </p:nvPr>
        </p:nvGraphicFramePr>
        <p:xfrm>
          <a:off x="6976165" y="2671354"/>
          <a:ext cx="2042879" cy="1396360"/>
        </p:xfrm>
        <a:graphic>
          <a:graphicData uri="http://schemas.openxmlformats.org/drawingml/2006/table">
            <a:tbl>
              <a:tblPr firstRow="1" bandRow="1">
                <a:tableStyleId>{5C22544A-7EE6-4342-B048-85BDC9FD1C3A}</a:tableStyleId>
              </a:tblPr>
              <a:tblGrid>
                <a:gridCol w="458703"/>
                <a:gridCol w="576064"/>
                <a:gridCol w="1008112"/>
              </a:tblGrid>
              <a:tr h="360040">
                <a:tc>
                  <a:txBody>
                    <a:bodyPr/>
                    <a:lstStyle/>
                    <a:p>
                      <a:r>
                        <a:rPr lang="en-US" sz="1100" dirty="0" smtClean="0"/>
                        <a:t>R</a:t>
                      </a:r>
                      <a:endParaRPr lang="ru-RU" sz="1100" dirty="0"/>
                    </a:p>
                  </a:txBody>
                  <a:tcPr/>
                </a:tc>
                <a:tc>
                  <a:txBody>
                    <a:bodyPr/>
                    <a:lstStyle/>
                    <a:p>
                      <a:r>
                        <a:rPr lang="en-US" sz="1100" dirty="0" smtClean="0"/>
                        <a:t>S</a:t>
                      </a:r>
                      <a:endParaRPr lang="ru-RU" sz="1100" dirty="0"/>
                    </a:p>
                  </a:txBody>
                  <a:tcPr/>
                </a:tc>
                <a:tc>
                  <a:txBody>
                    <a:bodyPr/>
                    <a:lstStyle/>
                    <a:p>
                      <a:r>
                        <a:rPr lang="en-US" sz="1100" dirty="0" smtClean="0"/>
                        <a:t>Q</a:t>
                      </a:r>
                      <a:endParaRPr lang="ru-RU" sz="1100" dirty="0"/>
                    </a:p>
                  </a:txBody>
                  <a:tcPr/>
                </a:tc>
              </a:tr>
              <a:tr h="223094">
                <a:tc>
                  <a:txBody>
                    <a:bodyPr/>
                    <a:lstStyle/>
                    <a:p>
                      <a:r>
                        <a:rPr lang="en-US" sz="1100" dirty="0" smtClean="0"/>
                        <a:t>0</a:t>
                      </a:r>
                      <a:endParaRPr lang="ru-RU" sz="1100" dirty="0"/>
                    </a:p>
                  </a:txBody>
                  <a:tcPr/>
                </a:tc>
                <a:tc>
                  <a:txBody>
                    <a:bodyPr/>
                    <a:lstStyle/>
                    <a:p>
                      <a:r>
                        <a:rPr lang="en-US" sz="1100" dirty="0" smtClean="0"/>
                        <a:t>0</a:t>
                      </a:r>
                      <a:endParaRPr lang="ru-RU" sz="1100" dirty="0"/>
                    </a:p>
                  </a:txBody>
                  <a:tcPr/>
                </a:tc>
                <a:tc>
                  <a:txBody>
                    <a:bodyPr/>
                    <a:lstStyle/>
                    <a:p>
                      <a:r>
                        <a:rPr lang="ru-RU" sz="1100" dirty="0" smtClean="0"/>
                        <a:t>хранение</a:t>
                      </a:r>
                      <a:endParaRPr lang="ru-RU" sz="1100" dirty="0"/>
                    </a:p>
                  </a:txBody>
                  <a:tcPr/>
                </a:tc>
              </a:tr>
              <a:tr h="252046">
                <a:tc>
                  <a:txBody>
                    <a:bodyPr/>
                    <a:lstStyle/>
                    <a:p>
                      <a:r>
                        <a:rPr lang="en-US" sz="1100" dirty="0" smtClean="0"/>
                        <a:t>0</a:t>
                      </a:r>
                      <a:endParaRPr lang="ru-RU" sz="1100" dirty="0"/>
                    </a:p>
                  </a:txBody>
                  <a:tcPr/>
                </a:tc>
                <a:tc>
                  <a:txBody>
                    <a:bodyPr/>
                    <a:lstStyle/>
                    <a:p>
                      <a:r>
                        <a:rPr lang="en-US" sz="1100" dirty="0" smtClean="0"/>
                        <a:t>1</a:t>
                      </a:r>
                      <a:endParaRPr lang="ru-RU" sz="1100" dirty="0"/>
                    </a:p>
                  </a:txBody>
                  <a:tcPr/>
                </a:tc>
                <a:tc>
                  <a:txBody>
                    <a:bodyPr/>
                    <a:lstStyle/>
                    <a:p>
                      <a:r>
                        <a:rPr lang="ru-RU" sz="1100" dirty="0" smtClean="0"/>
                        <a:t>1</a:t>
                      </a:r>
                      <a:endParaRPr lang="ru-RU" sz="1100" dirty="0"/>
                    </a:p>
                  </a:txBody>
                  <a:tcPr/>
                </a:tc>
              </a:tr>
              <a:tr h="208990">
                <a:tc>
                  <a:txBody>
                    <a:bodyPr/>
                    <a:lstStyle/>
                    <a:p>
                      <a:r>
                        <a:rPr lang="en-US" sz="1100" dirty="0" smtClean="0"/>
                        <a:t>1</a:t>
                      </a:r>
                      <a:endParaRPr lang="ru-RU" sz="1100" dirty="0"/>
                    </a:p>
                  </a:txBody>
                  <a:tcPr/>
                </a:tc>
                <a:tc>
                  <a:txBody>
                    <a:bodyPr/>
                    <a:lstStyle/>
                    <a:p>
                      <a:r>
                        <a:rPr lang="en-US" sz="1100" dirty="0" smtClean="0"/>
                        <a:t>0</a:t>
                      </a:r>
                      <a:endParaRPr lang="ru-RU" sz="1100" dirty="0"/>
                    </a:p>
                  </a:txBody>
                  <a:tcPr/>
                </a:tc>
                <a:tc>
                  <a:txBody>
                    <a:bodyPr/>
                    <a:lstStyle/>
                    <a:p>
                      <a:r>
                        <a:rPr lang="ru-RU" sz="1100" dirty="0" smtClean="0"/>
                        <a:t>0</a:t>
                      </a:r>
                      <a:endParaRPr lang="ru-RU" sz="1100" dirty="0"/>
                    </a:p>
                  </a:txBody>
                  <a:tcPr/>
                </a:tc>
              </a:tr>
              <a:tr h="237942">
                <a:tc>
                  <a:txBody>
                    <a:bodyPr/>
                    <a:lstStyle/>
                    <a:p>
                      <a:r>
                        <a:rPr lang="en-US" sz="1100" dirty="0" smtClean="0"/>
                        <a:t>1</a:t>
                      </a:r>
                      <a:endParaRPr lang="ru-RU" sz="1100" dirty="0"/>
                    </a:p>
                  </a:txBody>
                  <a:tcPr/>
                </a:tc>
                <a:tc>
                  <a:txBody>
                    <a:bodyPr/>
                    <a:lstStyle/>
                    <a:p>
                      <a:r>
                        <a:rPr lang="en-US" sz="1100" dirty="0" smtClean="0"/>
                        <a:t>1</a:t>
                      </a:r>
                      <a:endParaRPr lang="ru-RU" sz="1100" dirty="0"/>
                    </a:p>
                  </a:txBody>
                  <a:tcPr/>
                </a:tc>
                <a:tc>
                  <a:txBody>
                    <a:bodyPr/>
                    <a:lstStyle/>
                    <a:p>
                      <a:r>
                        <a:rPr lang="ru-RU" sz="1100" dirty="0" err="1" smtClean="0"/>
                        <a:t>запрещенно</a:t>
                      </a:r>
                      <a:endParaRPr lang="ru-RU" sz="1100" dirty="0"/>
                    </a:p>
                  </a:txBody>
                  <a:tcPr/>
                </a:tc>
              </a:tr>
            </a:tbl>
          </a:graphicData>
        </a:graphic>
      </p:graphicFrame>
      <p:cxnSp>
        <p:nvCxnSpPr>
          <p:cNvPr id="3" name="Прямая соединительная линия 2"/>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5906670" y="6275383"/>
            <a:ext cx="301686" cy="369332"/>
          </a:xfrm>
          <a:prstGeom prst="rect">
            <a:avLst/>
          </a:prstGeom>
          <a:noFill/>
        </p:spPr>
        <p:txBody>
          <a:bodyPr wrap="none" rtlCol="0">
            <a:spAutoFit/>
          </a:bodyPr>
          <a:lstStyle/>
          <a:p>
            <a:r>
              <a:rPr lang="en-US" dirty="0"/>
              <a:t>0</a:t>
            </a:r>
            <a:endParaRPr lang="ru-RU" dirty="0"/>
          </a:p>
        </p:txBody>
      </p:sp>
      <p:sp>
        <p:nvSpPr>
          <p:cNvPr id="44" name="TextBox 43"/>
          <p:cNvSpPr txBox="1"/>
          <p:nvPr/>
        </p:nvSpPr>
        <p:spPr>
          <a:xfrm>
            <a:off x="6718271" y="5848916"/>
            <a:ext cx="301686" cy="369332"/>
          </a:xfrm>
          <a:prstGeom prst="rect">
            <a:avLst/>
          </a:prstGeom>
          <a:noFill/>
        </p:spPr>
        <p:txBody>
          <a:bodyPr wrap="none" rtlCol="0">
            <a:spAutoFit/>
          </a:bodyPr>
          <a:lstStyle/>
          <a:p>
            <a:r>
              <a:rPr lang="en-US" dirty="0" smtClean="0"/>
              <a:t>1</a:t>
            </a:r>
            <a:endParaRPr lang="ru-RU" dirty="0"/>
          </a:p>
        </p:txBody>
      </p:sp>
    </p:spTree>
    <p:extLst>
      <p:ext uri="{BB962C8B-B14F-4D97-AF65-F5344CB8AC3E}">
        <p14:creationId xmlns:p14="http://schemas.microsoft.com/office/powerpoint/2010/main" val="502317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06256" y="83662"/>
            <a:ext cx="2824812" cy="369332"/>
          </a:xfrm>
          <a:prstGeom prst="rect">
            <a:avLst/>
          </a:prstGeom>
          <a:noFill/>
        </p:spPr>
        <p:txBody>
          <a:bodyPr wrap="none" rtlCol="0">
            <a:spAutoFit/>
          </a:bodyPr>
          <a:lstStyle/>
          <a:p>
            <a:r>
              <a:rPr lang="ru-RU" i="1" u="sng" dirty="0" err="1" smtClean="0"/>
              <a:t>Многотактные</a:t>
            </a:r>
            <a:r>
              <a:rPr lang="ru-RU" i="1" u="sng" dirty="0" smtClean="0"/>
              <a:t> таймеры</a:t>
            </a:r>
            <a:endParaRPr lang="ru-RU" i="1" u="sng" dirty="0"/>
          </a:p>
        </p:txBody>
      </p:sp>
      <p:grpSp>
        <p:nvGrpSpPr>
          <p:cNvPr id="5" name="Группа 4"/>
          <p:cNvGrpSpPr/>
          <p:nvPr/>
        </p:nvGrpSpPr>
        <p:grpSpPr>
          <a:xfrm rot="16200000">
            <a:off x="1150278" y="2095441"/>
            <a:ext cx="102134" cy="288032"/>
            <a:chOff x="4397909" y="4869160"/>
            <a:chExt cx="102134" cy="288032"/>
          </a:xfrm>
        </p:grpSpPr>
        <p:cxnSp>
          <p:nvCxnSpPr>
            <p:cNvPr id="6" name="Прямая соединительная линия 5"/>
            <p:cNvCxnSpPr/>
            <p:nvPr/>
          </p:nvCxnSpPr>
          <p:spPr>
            <a:xfrm>
              <a:off x="4397909" y="4869160"/>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p:nvPr/>
          </p:nvCxnSpPr>
          <p:spPr>
            <a:xfrm>
              <a:off x="4500043" y="4869160"/>
              <a:ext cx="0" cy="2880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Прямоугольник 7"/>
          <p:cNvSpPr/>
          <p:nvPr/>
        </p:nvSpPr>
        <p:spPr>
          <a:xfrm rot="10800000">
            <a:off x="1147340" y="1373083"/>
            <a:ext cx="108012" cy="3572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p:cNvSpPr txBox="1"/>
          <p:nvPr/>
        </p:nvSpPr>
        <p:spPr>
          <a:xfrm>
            <a:off x="747628" y="1360987"/>
            <a:ext cx="309700" cy="369332"/>
          </a:xfrm>
          <a:prstGeom prst="rect">
            <a:avLst/>
          </a:prstGeom>
          <a:noFill/>
        </p:spPr>
        <p:txBody>
          <a:bodyPr wrap="none" rtlCol="0">
            <a:spAutoFit/>
          </a:bodyPr>
          <a:lstStyle/>
          <a:p>
            <a:r>
              <a:rPr lang="en-US" dirty="0"/>
              <a:t>R</a:t>
            </a:r>
            <a:endParaRPr lang="ru-RU" dirty="0"/>
          </a:p>
        </p:txBody>
      </p:sp>
      <p:grpSp>
        <p:nvGrpSpPr>
          <p:cNvPr id="10" name="Группа 9"/>
          <p:cNvGrpSpPr/>
          <p:nvPr/>
        </p:nvGrpSpPr>
        <p:grpSpPr>
          <a:xfrm>
            <a:off x="1024397" y="2873824"/>
            <a:ext cx="353895" cy="291630"/>
            <a:chOff x="6340651" y="4865562"/>
            <a:chExt cx="353895" cy="291630"/>
          </a:xfrm>
        </p:grpSpPr>
        <p:cxnSp>
          <p:nvCxnSpPr>
            <p:cNvPr id="11" name="Прямая соединительная линия 10"/>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Прямая соединительная линия 12"/>
          <p:cNvCxnSpPr/>
          <p:nvPr/>
        </p:nvCxnSpPr>
        <p:spPr>
          <a:xfrm>
            <a:off x="1201344" y="229776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8" idx="0"/>
          </p:cNvCxnSpPr>
          <p:nvPr/>
        </p:nvCxnSpPr>
        <p:spPr>
          <a:xfrm flipH="1">
            <a:off x="1201344" y="1730319"/>
            <a:ext cx="2" cy="4580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stCxn id="8" idx="2"/>
          </p:cNvCxnSpPr>
          <p:nvPr/>
        </p:nvCxnSpPr>
        <p:spPr>
          <a:xfrm flipV="1">
            <a:off x="1201346" y="1073624"/>
            <a:ext cx="0" cy="2994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flipH="1">
            <a:off x="643284" y="1073624"/>
            <a:ext cx="5580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Овал 18"/>
          <p:cNvSpPr/>
          <p:nvPr/>
        </p:nvSpPr>
        <p:spPr>
          <a:xfrm>
            <a:off x="646402" y="1053132"/>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Овал 23"/>
          <p:cNvSpPr/>
          <p:nvPr/>
        </p:nvSpPr>
        <p:spPr>
          <a:xfrm>
            <a:off x="1503393" y="3660767"/>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Овал 24"/>
          <p:cNvSpPr/>
          <p:nvPr/>
        </p:nvSpPr>
        <p:spPr>
          <a:xfrm>
            <a:off x="1167832" y="193772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6" name="Прямая со стрелкой 25"/>
          <p:cNvCxnSpPr/>
          <p:nvPr/>
        </p:nvCxnSpPr>
        <p:spPr>
          <a:xfrm>
            <a:off x="2226972" y="3916075"/>
            <a:ext cx="7467" cy="429266"/>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grpSp>
        <p:nvGrpSpPr>
          <p:cNvPr id="27" name="Группа 26"/>
          <p:cNvGrpSpPr/>
          <p:nvPr/>
        </p:nvGrpSpPr>
        <p:grpSpPr>
          <a:xfrm>
            <a:off x="4189295" y="1785988"/>
            <a:ext cx="3537577" cy="1036712"/>
            <a:chOff x="-1030070" y="5704656"/>
            <a:chExt cx="3537577" cy="1036712"/>
          </a:xfrm>
        </p:grpSpPr>
        <p:sp>
          <p:nvSpPr>
            <p:cNvPr id="28" name="Прямоугольник 27"/>
            <p:cNvSpPr/>
            <p:nvPr/>
          </p:nvSpPr>
          <p:spPr>
            <a:xfrm>
              <a:off x="1025258" y="5733256"/>
              <a:ext cx="864096"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a:stCxn id="28" idx="0"/>
              <a:endCxn id="28" idx="2"/>
            </p:cNvCxnSpPr>
            <p:nvPr/>
          </p:nvCxnSpPr>
          <p:spPr>
            <a:xfrm>
              <a:off x="1457306" y="5733256"/>
              <a:ext cx="0" cy="1008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121678" y="6372036"/>
              <a:ext cx="309700" cy="369332"/>
            </a:xfrm>
            <a:prstGeom prst="rect">
              <a:avLst/>
            </a:prstGeom>
            <a:noFill/>
          </p:spPr>
          <p:txBody>
            <a:bodyPr wrap="none" rtlCol="0">
              <a:spAutoFit/>
            </a:bodyPr>
            <a:lstStyle/>
            <a:p>
              <a:r>
                <a:rPr lang="en-US" dirty="0"/>
                <a:t>R</a:t>
              </a:r>
              <a:endParaRPr lang="ru-RU" dirty="0"/>
            </a:p>
          </p:txBody>
        </p:sp>
        <p:sp>
          <p:nvSpPr>
            <p:cNvPr id="31" name="TextBox 30"/>
            <p:cNvSpPr txBox="1"/>
            <p:nvPr/>
          </p:nvSpPr>
          <p:spPr>
            <a:xfrm>
              <a:off x="1025258" y="5742538"/>
              <a:ext cx="308098" cy="369332"/>
            </a:xfrm>
            <a:prstGeom prst="rect">
              <a:avLst/>
            </a:prstGeom>
            <a:noFill/>
          </p:spPr>
          <p:txBody>
            <a:bodyPr wrap="none" rtlCol="0">
              <a:spAutoFit/>
            </a:bodyPr>
            <a:lstStyle/>
            <a:p>
              <a:r>
                <a:rPr lang="en-US" dirty="0"/>
                <a:t>C</a:t>
              </a:r>
              <a:endParaRPr lang="ru-RU" dirty="0"/>
            </a:p>
          </p:txBody>
        </p:sp>
        <p:sp>
          <p:nvSpPr>
            <p:cNvPr id="32" name="TextBox 31"/>
            <p:cNvSpPr txBox="1"/>
            <p:nvPr/>
          </p:nvSpPr>
          <p:spPr>
            <a:xfrm>
              <a:off x="1485610" y="5704656"/>
              <a:ext cx="421462" cy="369332"/>
            </a:xfrm>
            <a:prstGeom prst="rect">
              <a:avLst/>
            </a:prstGeom>
            <a:noFill/>
          </p:spPr>
          <p:txBody>
            <a:bodyPr wrap="none" rtlCol="0">
              <a:spAutoFit/>
            </a:bodyPr>
            <a:lstStyle/>
            <a:p>
              <a:r>
                <a:rPr lang="en-US" dirty="0" smtClean="0"/>
                <a:t>CT</a:t>
              </a:r>
              <a:endParaRPr lang="ru-RU" dirty="0"/>
            </a:p>
          </p:txBody>
        </p:sp>
        <p:cxnSp>
          <p:nvCxnSpPr>
            <p:cNvPr id="39" name="Прямая соединительная линия 38"/>
            <p:cNvCxnSpPr/>
            <p:nvPr/>
          </p:nvCxnSpPr>
          <p:spPr>
            <a:xfrm>
              <a:off x="1889354" y="5952976"/>
              <a:ext cx="6181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Группа 33"/>
            <p:cNvGrpSpPr/>
            <p:nvPr/>
          </p:nvGrpSpPr>
          <p:grpSpPr>
            <a:xfrm>
              <a:off x="-1030070" y="5927204"/>
              <a:ext cx="2079098" cy="603726"/>
              <a:chOff x="125164" y="1920528"/>
              <a:chExt cx="2079098" cy="603726"/>
            </a:xfrm>
          </p:grpSpPr>
          <p:cxnSp>
            <p:nvCxnSpPr>
              <p:cNvPr id="36" name="Прямая соединительная линия 35"/>
              <p:cNvCxnSpPr/>
              <p:nvPr/>
            </p:nvCxnSpPr>
            <p:spPr>
              <a:xfrm>
                <a:off x="1663090" y="2524254"/>
                <a:ext cx="5326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a:stCxn id="60" idx="3"/>
              </p:cNvCxnSpPr>
              <p:nvPr/>
            </p:nvCxnSpPr>
            <p:spPr>
              <a:xfrm>
                <a:off x="125164" y="1920528"/>
                <a:ext cx="20790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Прямая соединительная линия 106"/>
              <p:cNvCxnSpPr/>
              <p:nvPr/>
            </p:nvCxnSpPr>
            <p:spPr>
              <a:xfrm>
                <a:off x="1647846" y="2514141"/>
                <a:ext cx="5326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9" name="Овал 48"/>
          <p:cNvSpPr/>
          <p:nvPr/>
        </p:nvSpPr>
        <p:spPr>
          <a:xfrm>
            <a:off x="7645679" y="199261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7" name="Прямая со стрелкой 56"/>
          <p:cNvCxnSpPr>
            <a:endCxn id="84" idx="2"/>
          </p:cNvCxnSpPr>
          <p:nvPr/>
        </p:nvCxnSpPr>
        <p:spPr>
          <a:xfrm>
            <a:off x="1511336" y="3713043"/>
            <a:ext cx="13663" cy="560635"/>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879993" y="3745502"/>
            <a:ext cx="660758" cy="369332"/>
          </a:xfrm>
          <a:prstGeom prst="rect">
            <a:avLst/>
          </a:prstGeom>
          <a:noFill/>
        </p:spPr>
        <p:txBody>
          <a:bodyPr wrap="none" rtlCol="0">
            <a:spAutoFit/>
          </a:bodyPr>
          <a:lstStyle/>
          <a:p>
            <a:r>
              <a:rPr lang="en-US" dirty="0" smtClean="0"/>
              <a:t>U</a:t>
            </a:r>
            <a:r>
              <a:rPr lang="ru-RU" dirty="0" err="1" smtClean="0"/>
              <a:t>зап</a:t>
            </a:r>
            <a:endParaRPr lang="ru-RU" dirty="0"/>
          </a:p>
        </p:txBody>
      </p:sp>
      <p:sp>
        <p:nvSpPr>
          <p:cNvPr id="60" name="Прямоугольник 59"/>
          <p:cNvSpPr/>
          <p:nvPr/>
        </p:nvSpPr>
        <p:spPr>
          <a:xfrm>
            <a:off x="2245079" y="1594834"/>
            <a:ext cx="1944216" cy="827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Однотактный таймер</a:t>
            </a:r>
            <a:endParaRPr lang="ru-RU" dirty="0"/>
          </a:p>
        </p:txBody>
      </p:sp>
      <p:sp>
        <p:nvSpPr>
          <p:cNvPr id="61" name="Прямоугольник 60"/>
          <p:cNvSpPr/>
          <p:nvPr/>
        </p:nvSpPr>
        <p:spPr>
          <a:xfrm>
            <a:off x="2806213" y="2798852"/>
            <a:ext cx="1085622" cy="880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ЛБ</a:t>
            </a:r>
            <a:endParaRPr lang="ru-RU" dirty="0"/>
          </a:p>
        </p:txBody>
      </p:sp>
      <p:cxnSp>
        <p:nvCxnSpPr>
          <p:cNvPr id="65" name="Прямая соединительная линия 64"/>
          <p:cNvCxnSpPr/>
          <p:nvPr/>
        </p:nvCxnSpPr>
        <p:spPr>
          <a:xfrm>
            <a:off x="1203836" y="1973724"/>
            <a:ext cx="104373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Соединительная линия уступом 66"/>
          <p:cNvCxnSpPr>
            <a:stCxn id="61" idx="1"/>
          </p:cNvCxnSpPr>
          <p:nvPr/>
        </p:nvCxnSpPr>
        <p:spPr>
          <a:xfrm rot="10800000">
            <a:off x="2389095" y="2447369"/>
            <a:ext cx="417118" cy="791586"/>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Соединительная линия уступом 68"/>
          <p:cNvCxnSpPr/>
          <p:nvPr/>
        </p:nvCxnSpPr>
        <p:spPr>
          <a:xfrm rot="10800000" flipV="1">
            <a:off x="1540751" y="3458754"/>
            <a:ext cx="1265462" cy="220304"/>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Соединительная линия уступом 70"/>
          <p:cNvCxnSpPr>
            <a:stCxn id="61" idx="2"/>
          </p:cNvCxnSpPr>
          <p:nvPr/>
        </p:nvCxnSpPr>
        <p:spPr>
          <a:xfrm rot="5400000">
            <a:off x="2546054" y="3089864"/>
            <a:ext cx="213776" cy="1392164"/>
          </a:xfrm>
          <a:prstGeom prst="bentConnector2">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Овал 71"/>
          <p:cNvSpPr/>
          <p:nvPr/>
        </p:nvSpPr>
        <p:spPr>
          <a:xfrm>
            <a:off x="1955906" y="4078031"/>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73" name="Группа 72"/>
          <p:cNvGrpSpPr/>
          <p:nvPr/>
        </p:nvGrpSpPr>
        <p:grpSpPr>
          <a:xfrm>
            <a:off x="1816103" y="4078830"/>
            <a:ext cx="353895" cy="334749"/>
            <a:chOff x="5609129" y="5708269"/>
            <a:chExt cx="353895" cy="334749"/>
          </a:xfrm>
        </p:grpSpPr>
        <p:cxnSp>
          <p:nvCxnSpPr>
            <p:cNvPr id="74" name="Прямая соединительная линия 73"/>
            <p:cNvCxnSpPr/>
            <p:nvPr/>
          </p:nvCxnSpPr>
          <p:spPr>
            <a:xfrm>
              <a:off x="5786077" y="5724610"/>
              <a:ext cx="0" cy="216024"/>
            </a:xfrm>
            <a:prstGeom prst="line">
              <a:avLst/>
            </a:prstGeom>
          </p:spPr>
          <p:style>
            <a:lnRef idx="1">
              <a:schemeClr val="accent1"/>
            </a:lnRef>
            <a:fillRef idx="0">
              <a:schemeClr val="accent1"/>
            </a:fillRef>
            <a:effectRef idx="0">
              <a:schemeClr val="accent1"/>
            </a:effectRef>
            <a:fontRef idx="minor">
              <a:schemeClr val="tx1"/>
            </a:fontRef>
          </p:style>
        </p:cxnSp>
        <p:grpSp>
          <p:nvGrpSpPr>
            <p:cNvPr id="75" name="Группа 74"/>
            <p:cNvGrpSpPr/>
            <p:nvPr/>
          </p:nvGrpSpPr>
          <p:grpSpPr>
            <a:xfrm>
              <a:off x="5609129" y="5751388"/>
              <a:ext cx="353895" cy="291630"/>
              <a:chOff x="6340651" y="4865562"/>
              <a:chExt cx="353895" cy="291630"/>
            </a:xfrm>
          </p:grpSpPr>
          <p:cxnSp>
            <p:nvCxnSpPr>
              <p:cNvPr id="77" name="Прямая соединительная линия 76"/>
              <p:cNvCxnSpPr/>
              <p:nvPr/>
            </p:nvCxnSpPr>
            <p:spPr>
              <a:xfrm>
                <a:off x="6340651" y="515719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Прямая соединительная линия 77"/>
              <p:cNvCxnSpPr/>
              <p:nvPr/>
            </p:nvCxnSpPr>
            <p:spPr>
              <a:xfrm>
                <a:off x="6517598" y="486556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6" name="Овал 75"/>
            <p:cNvSpPr/>
            <p:nvPr/>
          </p:nvSpPr>
          <p:spPr>
            <a:xfrm>
              <a:off x="5749886" y="570826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1" name="Овал 80"/>
          <p:cNvSpPr/>
          <p:nvPr/>
        </p:nvSpPr>
        <p:spPr>
          <a:xfrm>
            <a:off x="1966572" y="386619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3" name="Прямая соединительная линия 82"/>
          <p:cNvCxnSpPr/>
          <p:nvPr/>
        </p:nvCxnSpPr>
        <p:spPr>
          <a:xfrm flipH="1">
            <a:off x="1539397" y="4267764"/>
            <a:ext cx="4536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Овал 83"/>
          <p:cNvSpPr/>
          <p:nvPr/>
        </p:nvSpPr>
        <p:spPr>
          <a:xfrm>
            <a:off x="1524999" y="4237674"/>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Овал 84"/>
          <p:cNvSpPr/>
          <p:nvPr/>
        </p:nvSpPr>
        <p:spPr>
          <a:xfrm>
            <a:off x="1957047" y="422204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7" name="Прямая соединительная линия 86"/>
          <p:cNvCxnSpPr/>
          <p:nvPr/>
        </p:nvCxnSpPr>
        <p:spPr>
          <a:xfrm flipV="1">
            <a:off x="6185007" y="1937720"/>
            <a:ext cx="144016" cy="1376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87"/>
          <p:cNvCxnSpPr/>
          <p:nvPr/>
        </p:nvCxnSpPr>
        <p:spPr>
          <a:xfrm>
            <a:off x="7117869" y="2447369"/>
            <a:ext cx="6181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88"/>
          <p:cNvCxnSpPr/>
          <p:nvPr/>
        </p:nvCxnSpPr>
        <p:spPr>
          <a:xfrm>
            <a:off x="7126437" y="2650623"/>
            <a:ext cx="6181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Овал 89"/>
          <p:cNvSpPr/>
          <p:nvPr/>
        </p:nvSpPr>
        <p:spPr>
          <a:xfrm>
            <a:off x="7680544" y="240655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Овал 90"/>
          <p:cNvSpPr/>
          <p:nvPr/>
        </p:nvSpPr>
        <p:spPr>
          <a:xfrm>
            <a:off x="7717687" y="2603963"/>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TextBox 91"/>
          <p:cNvSpPr txBox="1"/>
          <p:nvPr/>
        </p:nvSpPr>
        <p:spPr>
          <a:xfrm>
            <a:off x="7753691" y="1785988"/>
            <a:ext cx="457176" cy="369332"/>
          </a:xfrm>
          <a:prstGeom prst="rect">
            <a:avLst/>
          </a:prstGeom>
          <a:noFill/>
        </p:spPr>
        <p:txBody>
          <a:bodyPr wrap="none" rtlCol="0">
            <a:spAutoFit/>
          </a:bodyPr>
          <a:lstStyle/>
          <a:p>
            <a:r>
              <a:rPr lang="en-US" dirty="0" smtClean="0"/>
              <a:t>Q0</a:t>
            </a:r>
            <a:endParaRPr lang="ru-RU" dirty="0"/>
          </a:p>
        </p:txBody>
      </p:sp>
      <p:sp>
        <p:nvSpPr>
          <p:cNvPr id="93" name="TextBox 92"/>
          <p:cNvSpPr txBox="1"/>
          <p:nvPr/>
        </p:nvSpPr>
        <p:spPr>
          <a:xfrm>
            <a:off x="7753691" y="2193202"/>
            <a:ext cx="649537" cy="369332"/>
          </a:xfrm>
          <a:prstGeom prst="rect">
            <a:avLst/>
          </a:prstGeom>
          <a:noFill/>
        </p:spPr>
        <p:txBody>
          <a:bodyPr wrap="none" rtlCol="0">
            <a:spAutoFit/>
          </a:bodyPr>
          <a:lstStyle/>
          <a:p>
            <a:r>
              <a:rPr lang="en-US" dirty="0" smtClean="0"/>
              <a:t>Qn-1</a:t>
            </a:r>
            <a:endParaRPr lang="ru-RU" dirty="0"/>
          </a:p>
        </p:txBody>
      </p:sp>
      <p:cxnSp>
        <p:nvCxnSpPr>
          <p:cNvPr id="94" name="Прямая соединительная линия 93"/>
          <p:cNvCxnSpPr/>
          <p:nvPr/>
        </p:nvCxnSpPr>
        <p:spPr>
          <a:xfrm>
            <a:off x="7108719" y="2193202"/>
            <a:ext cx="618153"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7789695" y="2447369"/>
            <a:ext cx="461986" cy="369332"/>
          </a:xfrm>
          <a:prstGeom prst="rect">
            <a:avLst/>
          </a:prstGeom>
          <a:noFill/>
        </p:spPr>
        <p:txBody>
          <a:bodyPr wrap="none" rtlCol="0">
            <a:spAutoFit/>
          </a:bodyPr>
          <a:lstStyle/>
          <a:p>
            <a:r>
              <a:rPr lang="en-US" dirty="0" err="1" smtClean="0"/>
              <a:t>Qn</a:t>
            </a:r>
            <a:endParaRPr lang="ru-RU" dirty="0"/>
          </a:p>
        </p:txBody>
      </p:sp>
      <p:sp>
        <p:nvSpPr>
          <p:cNvPr id="96" name="Овал 95"/>
          <p:cNvSpPr/>
          <p:nvPr/>
        </p:nvSpPr>
        <p:spPr>
          <a:xfrm>
            <a:off x="7674254" y="216406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9" name="Соединительная линия уступом 98"/>
          <p:cNvCxnSpPr>
            <a:stCxn id="61" idx="3"/>
          </p:cNvCxnSpPr>
          <p:nvPr/>
        </p:nvCxnSpPr>
        <p:spPr>
          <a:xfrm flipV="1">
            <a:off x="3891835" y="2603963"/>
            <a:ext cx="1871390" cy="634992"/>
          </a:xfrm>
          <a:prstGeom prst="bentConnector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2322563" y="3927352"/>
            <a:ext cx="675185" cy="369332"/>
          </a:xfrm>
          <a:prstGeom prst="rect">
            <a:avLst/>
          </a:prstGeom>
          <a:noFill/>
        </p:spPr>
        <p:txBody>
          <a:bodyPr wrap="none" rtlCol="0">
            <a:spAutoFit/>
          </a:bodyPr>
          <a:lstStyle/>
          <a:p>
            <a:r>
              <a:rPr lang="en-US" dirty="0" smtClean="0"/>
              <a:t>U</a:t>
            </a:r>
            <a:r>
              <a:rPr lang="ru-RU" dirty="0" err="1"/>
              <a:t>с</a:t>
            </a:r>
            <a:r>
              <a:rPr lang="ru-RU" dirty="0" err="1" smtClean="0"/>
              <a:t>бр</a:t>
            </a:r>
            <a:endParaRPr lang="ru-RU" dirty="0"/>
          </a:p>
        </p:txBody>
      </p:sp>
      <p:sp>
        <p:nvSpPr>
          <p:cNvPr id="104" name="TextBox 103"/>
          <p:cNvSpPr txBox="1"/>
          <p:nvPr/>
        </p:nvSpPr>
        <p:spPr>
          <a:xfrm>
            <a:off x="485012" y="561216"/>
            <a:ext cx="567784" cy="369332"/>
          </a:xfrm>
          <a:prstGeom prst="rect">
            <a:avLst/>
          </a:prstGeom>
          <a:noFill/>
        </p:spPr>
        <p:txBody>
          <a:bodyPr wrap="none" rtlCol="0">
            <a:spAutoFit/>
          </a:bodyPr>
          <a:lstStyle/>
          <a:p>
            <a:r>
              <a:rPr lang="ru-RU" dirty="0" smtClean="0"/>
              <a:t>+</a:t>
            </a:r>
            <a:r>
              <a:rPr lang="en-US" dirty="0" smtClean="0"/>
              <a:t>U</a:t>
            </a:r>
            <a:r>
              <a:rPr lang="ru-RU" dirty="0" smtClean="0"/>
              <a:t>п</a:t>
            </a:r>
            <a:endParaRPr lang="ru-RU" dirty="0"/>
          </a:p>
        </p:txBody>
      </p:sp>
      <p:cxnSp>
        <p:nvCxnSpPr>
          <p:cNvPr id="109" name="Прямая соединительная линия 108"/>
          <p:cNvCxnSpPr/>
          <p:nvPr/>
        </p:nvCxnSpPr>
        <p:spPr>
          <a:xfrm>
            <a:off x="6268393" y="2478564"/>
            <a:ext cx="40827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688224" y="2047642"/>
            <a:ext cx="308098" cy="369332"/>
          </a:xfrm>
          <a:prstGeom prst="rect">
            <a:avLst/>
          </a:prstGeom>
          <a:noFill/>
        </p:spPr>
        <p:txBody>
          <a:bodyPr wrap="none" rtlCol="0">
            <a:spAutoFit/>
          </a:bodyPr>
          <a:lstStyle/>
          <a:p>
            <a:r>
              <a:rPr lang="en-US" dirty="0" smtClean="0"/>
              <a:t>C</a:t>
            </a:r>
            <a:endParaRPr lang="ru-RU" dirty="0"/>
          </a:p>
        </p:txBody>
      </p:sp>
      <p:sp>
        <p:nvSpPr>
          <p:cNvPr id="66" name="TextBox 65"/>
          <p:cNvSpPr txBox="1"/>
          <p:nvPr/>
        </p:nvSpPr>
        <p:spPr>
          <a:xfrm>
            <a:off x="669454" y="4941168"/>
            <a:ext cx="2594236" cy="369332"/>
          </a:xfrm>
          <a:prstGeom prst="rect">
            <a:avLst/>
          </a:prstGeom>
          <a:noFill/>
        </p:spPr>
        <p:txBody>
          <a:bodyPr wrap="none" rtlCol="0">
            <a:spAutoFit/>
          </a:bodyPr>
          <a:lstStyle/>
          <a:p>
            <a:r>
              <a:rPr lang="ru-RU" dirty="0" smtClean="0"/>
              <a:t>Временная диаграмма </a:t>
            </a:r>
            <a:r>
              <a:rPr lang="ru-RU" dirty="0"/>
              <a:t>?</a:t>
            </a:r>
          </a:p>
        </p:txBody>
      </p:sp>
    </p:spTree>
    <p:extLst>
      <p:ext uri="{BB962C8B-B14F-4D97-AF65-F5344CB8AC3E}">
        <p14:creationId xmlns:p14="http://schemas.microsoft.com/office/powerpoint/2010/main" val="3912792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67744" y="179348"/>
            <a:ext cx="4384534" cy="369332"/>
          </a:xfrm>
          <a:prstGeom prst="rect">
            <a:avLst/>
          </a:prstGeom>
          <a:noFill/>
        </p:spPr>
        <p:txBody>
          <a:bodyPr wrap="none" rtlCol="0">
            <a:spAutoFit/>
          </a:bodyPr>
          <a:lstStyle/>
          <a:p>
            <a:r>
              <a:rPr lang="ru-RU" dirty="0" smtClean="0"/>
              <a:t>Структурная схема интегрального таймера</a:t>
            </a:r>
            <a:endParaRPr lang="ru-RU" dirty="0"/>
          </a:p>
        </p:txBody>
      </p:sp>
      <p:sp>
        <p:nvSpPr>
          <p:cNvPr id="5" name="Прямоугольник 4"/>
          <p:cNvSpPr/>
          <p:nvPr/>
        </p:nvSpPr>
        <p:spPr>
          <a:xfrm rot="10800000">
            <a:off x="1685831" y="874118"/>
            <a:ext cx="108012" cy="3572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rot="10800000">
            <a:off x="1685831" y="2169662"/>
            <a:ext cx="108012" cy="3572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p:nvPr/>
        </p:nvSpPr>
        <p:spPr>
          <a:xfrm rot="10800000">
            <a:off x="1685830" y="3380986"/>
            <a:ext cx="108012" cy="3572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6" name="Группа 25"/>
          <p:cNvGrpSpPr/>
          <p:nvPr/>
        </p:nvGrpSpPr>
        <p:grpSpPr>
          <a:xfrm>
            <a:off x="1101440" y="1050491"/>
            <a:ext cx="2884586" cy="913479"/>
            <a:chOff x="1399382" y="3898431"/>
            <a:chExt cx="2884586" cy="913479"/>
          </a:xfrm>
        </p:grpSpPr>
        <p:cxnSp>
          <p:nvCxnSpPr>
            <p:cNvPr id="14" name="Прямая соединительная линия 13"/>
            <p:cNvCxnSpPr/>
            <p:nvPr/>
          </p:nvCxnSpPr>
          <p:spPr>
            <a:xfrm>
              <a:off x="1399382" y="4306084"/>
              <a:ext cx="18588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Прямоугольник 14"/>
            <p:cNvSpPr/>
            <p:nvPr/>
          </p:nvSpPr>
          <p:spPr>
            <a:xfrm>
              <a:off x="3258237" y="3898431"/>
              <a:ext cx="504056" cy="913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Овал 15"/>
            <p:cNvSpPr/>
            <p:nvPr/>
          </p:nvSpPr>
          <p:spPr>
            <a:xfrm>
              <a:off x="3186229" y="449323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7" name="Прямая соединительная линия 16"/>
            <p:cNvCxnSpPr>
              <a:endCxn id="16" idx="2"/>
            </p:cNvCxnSpPr>
            <p:nvPr/>
          </p:nvCxnSpPr>
          <p:spPr>
            <a:xfrm>
              <a:off x="1399382" y="4565246"/>
              <a:ext cx="17868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a:stCxn id="15" idx="3"/>
            </p:cNvCxnSpPr>
            <p:nvPr/>
          </p:nvCxnSpPr>
          <p:spPr>
            <a:xfrm>
              <a:off x="3762293" y="4355171"/>
              <a:ext cx="52167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flipV="1">
              <a:off x="3510265" y="4077049"/>
              <a:ext cx="0" cy="3624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3510265" y="407704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flipH="1">
              <a:off x="3330245" y="4439499"/>
              <a:ext cx="2035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Группа 26"/>
          <p:cNvGrpSpPr/>
          <p:nvPr/>
        </p:nvGrpSpPr>
        <p:grpSpPr>
          <a:xfrm>
            <a:off x="1101440" y="2491750"/>
            <a:ext cx="2884586" cy="913479"/>
            <a:chOff x="1399382" y="3898431"/>
            <a:chExt cx="2884586" cy="913479"/>
          </a:xfrm>
        </p:grpSpPr>
        <p:cxnSp>
          <p:nvCxnSpPr>
            <p:cNvPr id="28" name="Прямая соединительная линия 27"/>
            <p:cNvCxnSpPr>
              <a:stCxn id="49" idx="2"/>
            </p:cNvCxnSpPr>
            <p:nvPr/>
          </p:nvCxnSpPr>
          <p:spPr>
            <a:xfrm>
              <a:off x="2010114" y="4295621"/>
              <a:ext cx="1248123" cy="104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Прямоугольник 28"/>
            <p:cNvSpPr/>
            <p:nvPr/>
          </p:nvSpPr>
          <p:spPr>
            <a:xfrm>
              <a:off x="3258237" y="3898431"/>
              <a:ext cx="504056" cy="913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Овал 29"/>
            <p:cNvSpPr/>
            <p:nvPr/>
          </p:nvSpPr>
          <p:spPr>
            <a:xfrm>
              <a:off x="3186229" y="449323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1" name="Прямая соединительная линия 30"/>
            <p:cNvCxnSpPr>
              <a:endCxn id="30" idx="2"/>
            </p:cNvCxnSpPr>
            <p:nvPr/>
          </p:nvCxnSpPr>
          <p:spPr>
            <a:xfrm>
              <a:off x="1399382" y="4565246"/>
              <a:ext cx="17868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a:stCxn id="29" idx="3"/>
            </p:cNvCxnSpPr>
            <p:nvPr/>
          </p:nvCxnSpPr>
          <p:spPr>
            <a:xfrm>
              <a:off x="3762293" y="4355171"/>
              <a:ext cx="52167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flipV="1">
              <a:off x="3510265" y="4077049"/>
              <a:ext cx="0" cy="3624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3510265" y="407704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flipH="1">
              <a:off x="3330245" y="4439499"/>
              <a:ext cx="2035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2336233" y="971436"/>
            <a:ext cx="574003" cy="369332"/>
          </a:xfrm>
          <a:prstGeom prst="rect">
            <a:avLst/>
          </a:prstGeom>
          <a:noFill/>
        </p:spPr>
        <p:txBody>
          <a:bodyPr wrap="none" rtlCol="0">
            <a:spAutoFit/>
          </a:bodyPr>
          <a:lstStyle/>
          <a:p>
            <a:r>
              <a:rPr lang="en-US" dirty="0" smtClean="0"/>
              <a:t>DA</a:t>
            </a:r>
            <a:r>
              <a:rPr lang="ru-RU" dirty="0" smtClean="0"/>
              <a:t>1</a:t>
            </a:r>
            <a:endParaRPr lang="ru-RU" dirty="0"/>
          </a:p>
        </p:txBody>
      </p:sp>
      <p:sp>
        <p:nvSpPr>
          <p:cNvPr id="38" name="TextBox 37"/>
          <p:cNvSpPr txBox="1"/>
          <p:nvPr/>
        </p:nvSpPr>
        <p:spPr>
          <a:xfrm>
            <a:off x="2336232" y="2467096"/>
            <a:ext cx="574003" cy="369332"/>
          </a:xfrm>
          <a:prstGeom prst="rect">
            <a:avLst/>
          </a:prstGeom>
          <a:noFill/>
        </p:spPr>
        <p:txBody>
          <a:bodyPr wrap="none" rtlCol="0">
            <a:spAutoFit/>
          </a:bodyPr>
          <a:lstStyle/>
          <a:p>
            <a:r>
              <a:rPr lang="en-US" dirty="0" smtClean="0"/>
              <a:t>DA2</a:t>
            </a:r>
            <a:endParaRPr lang="ru-RU" dirty="0"/>
          </a:p>
        </p:txBody>
      </p:sp>
      <p:cxnSp>
        <p:nvCxnSpPr>
          <p:cNvPr id="45" name="Прямая соединительная линия 44"/>
          <p:cNvCxnSpPr>
            <a:stCxn id="5" idx="0"/>
            <a:endCxn id="6" idx="2"/>
          </p:cNvCxnSpPr>
          <p:nvPr/>
        </p:nvCxnSpPr>
        <p:spPr>
          <a:xfrm>
            <a:off x="1739837" y="1231354"/>
            <a:ext cx="0" cy="9383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a:stCxn id="6" idx="0"/>
            <a:endCxn id="7" idx="2"/>
          </p:cNvCxnSpPr>
          <p:nvPr/>
        </p:nvCxnSpPr>
        <p:spPr>
          <a:xfrm flipH="1">
            <a:off x="1739836" y="2526898"/>
            <a:ext cx="1" cy="8540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Овал 48"/>
          <p:cNvSpPr/>
          <p:nvPr/>
        </p:nvSpPr>
        <p:spPr>
          <a:xfrm>
            <a:off x="1712172" y="285293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Овал 49"/>
          <p:cNvSpPr/>
          <p:nvPr/>
        </p:nvSpPr>
        <p:spPr>
          <a:xfrm>
            <a:off x="1712172" y="168031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Овал 50"/>
          <p:cNvSpPr/>
          <p:nvPr/>
        </p:nvSpPr>
        <p:spPr>
          <a:xfrm>
            <a:off x="1089858" y="312808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Овал 51"/>
          <p:cNvSpPr/>
          <p:nvPr/>
        </p:nvSpPr>
        <p:spPr>
          <a:xfrm>
            <a:off x="1100589" y="168792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Овал 52"/>
          <p:cNvSpPr/>
          <p:nvPr/>
        </p:nvSpPr>
        <p:spPr>
          <a:xfrm>
            <a:off x="1085562" y="1425655"/>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TextBox 54"/>
          <p:cNvSpPr txBox="1"/>
          <p:nvPr/>
        </p:nvSpPr>
        <p:spPr>
          <a:xfrm>
            <a:off x="1158719" y="859777"/>
            <a:ext cx="426720" cy="369332"/>
          </a:xfrm>
          <a:prstGeom prst="rect">
            <a:avLst/>
          </a:prstGeom>
          <a:noFill/>
        </p:spPr>
        <p:txBody>
          <a:bodyPr wrap="none" rtlCol="0">
            <a:spAutoFit/>
          </a:bodyPr>
          <a:lstStyle/>
          <a:p>
            <a:r>
              <a:rPr lang="en-US" dirty="0" smtClean="0"/>
              <a:t>R</a:t>
            </a:r>
            <a:r>
              <a:rPr lang="ru-RU" dirty="0" smtClean="0"/>
              <a:t>1</a:t>
            </a:r>
            <a:endParaRPr lang="ru-RU" dirty="0"/>
          </a:p>
        </p:txBody>
      </p:sp>
      <p:sp>
        <p:nvSpPr>
          <p:cNvPr id="56" name="TextBox 55"/>
          <p:cNvSpPr txBox="1"/>
          <p:nvPr/>
        </p:nvSpPr>
        <p:spPr>
          <a:xfrm>
            <a:off x="1249450" y="2122418"/>
            <a:ext cx="426720" cy="369332"/>
          </a:xfrm>
          <a:prstGeom prst="rect">
            <a:avLst/>
          </a:prstGeom>
          <a:noFill/>
        </p:spPr>
        <p:txBody>
          <a:bodyPr wrap="none" rtlCol="0">
            <a:spAutoFit/>
          </a:bodyPr>
          <a:lstStyle/>
          <a:p>
            <a:r>
              <a:rPr lang="en-US" dirty="0" smtClean="0"/>
              <a:t>R</a:t>
            </a:r>
            <a:r>
              <a:rPr lang="ru-RU" dirty="0"/>
              <a:t>2</a:t>
            </a:r>
          </a:p>
        </p:txBody>
      </p:sp>
      <p:sp>
        <p:nvSpPr>
          <p:cNvPr id="57" name="TextBox 56"/>
          <p:cNvSpPr txBox="1"/>
          <p:nvPr/>
        </p:nvSpPr>
        <p:spPr>
          <a:xfrm>
            <a:off x="1253016" y="3368890"/>
            <a:ext cx="426720" cy="369332"/>
          </a:xfrm>
          <a:prstGeom prst="rect">
            <a:avLst/>
          </a:prstGeom>
          <a:noFill/>
        </p:spPr>
        <p:txBody>
          <a:bodyPr wrap="none" rtlCol="0">
            <a:spAutoFit/>
          </a:bodyPr>
          <a:lstStyle/>
          <a:p>
            <a:r>
              <a:rPr lang="en-US" dirty="0" smtClean="0"/>
              <a:t>R</a:t>
            </a:r>
            <a:r>
              <a:rPr lang="ru-RU" dirty="0" smtClean="0"/>
              <a:t>3</a:t>
            </a:r>
            <a:endParaRPr lang="ru-RU" dirty="0"/>
          </a:p>
        </p:txBody>
      </p:sp>
      <p:cxnSp>
        <p:nvCxnSpPr>
          <p:cNvPr id="59" name="Прямая соединительная линия 58"/>
          <p:cNvCxnSpPr/>
          <p:nvPr/>
        </p:nvCxnSpPr>
        <p:spPr>
          <a:xfrm>
            <a:off x="1739836" y="3917544"/>
            <a:ext cx="5352444" cy="129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Прямая соединительная линия 59"/>
          <p:cNvCxnSpPr/>
          <p:nvPr/>
        </p:nvCxnSpPr>
        <p:spPr>
          <a:xfrm>
            <a:off x="1748176" y="669285"/>
            <a:ext cx="5344104" cy="190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a:stCxn id="29" idx="2"/>
          </p:cNvCxnSpPr>
          <p:nvPr/>
        </p:nvCxnSpPr>
        <p:spPr>
          <a:xfrm>
            <a:off x="3212323" y="3405229"/>
            <a:ext cx="0" cy="5278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Прямая соединительная линия 63"/>
          <p:cNvCxnSpPr>
            <a:stCxn id="15" idx="0"/>
          </p:cNvCxnSpPr>
          <p:nvPr/>
        </p:nvCxnSpPr>
        <p:spPr>
          <a:xfrm flipV="1">
            <a:off x="3212323" y="692696"/>
            <a:ext cx="0" cy="3577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Овал 64"/>
          <p:cNvSpPr/>
          <p:nvPr/>
        </p:nvSpPr>
        <p:spPr>
          <a:xfrm>
            <a:off x="3178090" y="63973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Овал 65"/>
          <p:cNvSpPr/>
          <p:nvPr/>
        </p:nvSpPr>
        <p:spPr>
          <a:xfrm>
            <a:off x="3175942" y="388154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8" name="Прямая соединительная линия 67"/>
          <p:cNvCxnSpPr>
            <a:stCxn id="7" idx="0"/>
          </p:cNvCxnSpPr>
          <p:nvPr/>
        </p:nvCxnSpPr>
        <p:spPr>
          <a:xfrm>
            <a:off x="1739836" y="3738222"/>
            <a:ext cx="0" cy="1948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p:cNvCxnSpPr>
            <a:stCxn id="5" idx="2"/>
          </p:cNvCxnSpPr>
          <p:nvPr/>
        </p:nvCxnSpPr>
        <p:spPr>
          <a:xfrm flipV="1">
            <a:off x="1739837" y="669285"/>
            <a:ext cx="0" cy="2048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1114748" y="1156102"/>
            <a:ext cx="301686" cy="369332"/>
          </a:xfrm>
          <a:prstGeom prst="rect">
            <a:avLst/>
          </a:prstGeom>
          <a:noFill/>
        </p:spPr>
        <p:txBody>
          <a:bodyPr wrap="none" rtlCol="0">
            <a:spAutoFit/>
          </a:bodyPr>
          <a:lstStyle/>
          <a:p>
            <a:r>
              <a:rPr lang="ru-RU" dirty="0" smtClean="0"/>
              <a:t>6</a:t>
            </a:r>
            <a:endParaRPr lang="ru-RU" dirty="0"/>
          </a:p>
        </p:txBody>
      </p:sp>
      <p:sp>
        <p:nvSpPr>
          <p:cNvPr id="79" name="TextBox 78"/>
          <p:cNvSpPr txBox="1"/>
          <p:nvPr/>
        </p:nvSpPr>
        <p:spPr>
          <a:xfrm>
            <a:off x="1059753" y="1711411"/>
            <a:ext cx="301686" cy="369332"/>
          </a:xfrm>
          <a:prstGeom prst="rect">
            <a:avLst/>
          </a:prstGeom>
          <a:noFill/>
        </p:spPr>
        <p:txBody>
          <a:bodyPr wrap="none" rtlCol="0">
            <a:spAutoFit/>
          </a:bodyPr>
          <a:lstStyle/>
          <a:p>
            <a:r>
              <a:rPr lang="ru-RU" dirty="0" smtClean="0"/>
              <a:t>5</a:t>
            </a:r>
            <a:endParaRPr lang="ru-RU" dirty="0"/>
          </a:p>
        </p:txBody>
      </p:sp>
      <p:sp>
        <p:nvSpPr>
          <p:cNvPr id="80" name="TextBox 79"/>
          <p:cNvSpPr txBox="1"/>
          <p:nvPr/>
        </p:nvSpPr>
        <p:spPr>
          <a:xfrm>
            <a:off x="1011023" y="3200097"/>
            <a:ext cx="301686" cy="369332"/>
          </a:xfrm>
          <a:prstGeom prst="rect">
            <a:avLst/>
          </a:prstGeom>
          <a:noFill/>
        </p:spPr>
        <p:txBody>
          <a:bodyPr wrap="none" rtlCol="0">
            <a:spAutoFit/>
          </a:bodyPr>
          <a:lstStyle/>
          <a:p>
            <a:r>
              <a:rPr lang="ru-RU" dirty="0" smtClean="0"/>
              <a:t>2</a:t>
            </a:r>
            <a:endParaRPr lang="ru-RU" dirty="0"/>
          </a:p>
        </p:txBody>
      </p:sp>
      <p:cxnSp>
        <p:nvCxnSpPr>
          <p:cNvPr id="82" name="Соединительная линия уступом 81"/>
          <p:cNvCxnSpPr>
            <a:stCxn id="29" idx="0"/>
          </p:cNvCxnSpPr>
          <p:nvPr/>
        </p:nvCxnSpPr>
        <p:spPr>
          <a:xfrm rot="5400000" flipH="1" flipV="1">
            <a:off x="2524583" y="1380436"/>
            <a:ext cx="1799054" cy="423575"/>
          </a:xfrm>
          <a:prstGeom prst="bentConnector3">
            <a:avLst>
              <a:gd name="adj1" fmla="val 870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Соединительная линия уступом 85"/>
          <p:cNvCxnSpPr>
            <a:stCxn id="15" idx="2"/>
          </p:cNvCxnSpPr>
          <p:nvPr/>
        </p:nvCxnSpPr>
        <p:spPr>
          <a:xfrm rot="16200000" flipH="1">
            <a:off x="2407440" y="2768852"/>
            <a:ext cx="1961332" cy="351567"/>
          </a:xfrm>
          <a:prstGeom prst="bentConnector3">
            <a:avLst>
              <a:gd name="adj1" fmla="val 7912"/>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5" name="Группа 94"/>
          <p:cNvGrpSpPr/>
          <p:nvPr/>
        </p:nvGrpSpPr>
        <p:grpSpPr>
          <a:xfrm>
            <a:off x="3987695" y="1680316"/>
            <a:ext cx="2024465" cy="1036712"/>
            <a:chOff x="507856" y="5704656"/>
            <a:chExt cx="2024465" cy="1036712"/>
          </a:xfrm>
        </p:grpSpPr>
        <p:sp>
          <p:nvSpPr>
            <p:cNvPr id="96" name="Прямоугольник 95"/>
            <p:cNvSpPr/>
            <p:nvPr/>
          </p:nvSpPr>
          <p:spPr>
            <a:xfrm>
              <a:off x="1025258" y="5733256"/>
              <a:ext cx="864096"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7" name="Прямая соединительная линия 96"/>
            <p:cNvCxnSpPr/>
            <p:nvPr/>
          </p:nvCxnSpPr>
          <p:spPr>
            <a:xfrm>
              <a:off x="1556648" y="5733256"/>
              <a:ext cx="0" cy="1008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1166842" y="6315560"/>
              <a:ext cx="290464" cy="369332"/>
            </a:xfrm>
            <a:prstGeom prst="rect">
              <a:avLst/>
            </a:prstGeom>
            <a:noFill/>
          </p:spPr>
          <p:txBody>
            <a:bodyPr wrap="none" rtlCol="0">
              <a:spAutoFit/>
            </a:bodyPr>
            <a:lstStyle/>
            <a:p>
              <a:r>
                <a:rPr lang="en-US" dirty="0"/>
                <a:t>S</a:t>
              </a:r>
              <a:endParaRPr lang="ru-RU" dirty="0"/>
            </a:p>
          </p:txBody>
        </p:sp>
        <p:sp>
          <p:nvSpPr>
            <p:cNvPr id="99" name="TextBox 98"/>
            <p:cNvSpPr txBox="1"/>
            <p:nvPr/>
          </p:nvSpPr>
          <p:spPr>
            <a:xfrm>
              <a:off x="1166842" y="5733256"/>
              <a:ext cx="309700" cy="369332"/>
            </a:xfrm>
            <a:prstGeom prst="rect">
              <a:avLst/>
            </a:prstGeom>
            <a:noFill/>
          </p:spPr>
          <p:txBody>
            <a:bodyPr wrap="none" rtlCol="0">
              <a:spAutoFit/>
            </a:bodyPr>
            <a:lstStyle/>
            <a:p>
              <a:r>
                <a:rPr lang="en-US" dirty="0"/>
                <a:t>R</a:t>
              </a:r>
              <a:endParaRPr lang="ru-RU" dirty="0"/>
            </a:p>
          </p:txBody>
        </p:sp>
        <p:sp>
          <p:nvSpPr>
            <p:cNvPr id="100" name="TextBox 99"/>
            <p:cNvSpPr txBox="1"/>
            <p:nvPr/>
          </p:nvSpPr>
          <p:spPr>
            <a:xfrm>
              <a:off x="1571642" y="5704656"/>
              <a:ext cx="296876" cy="369332"/>
            </a:xfrm>
            <a:prstGeom prst="rect">
              <a:avLst/>
            </a:prstGeom>
            <a:noFill/>
          </p:spPr>
          <p:txBody>
            <a:bodyPr wrap="none" rtlCol="0">
              <a:spAutoFit/>
            </a:bodyPr>
            <a:lstStyle/>
            <a:p>
              <a:r>
                <a:rPr lang="en-US" dirty="0" smtClean="0"/>
                <a:t>T</a:t>
              </a:r>
              <a:endParaRPr lang="ru-RU" dirty="0"/>
            </a:p>
          </p:txBody>
        </p:sp>
        <p:grpSp>
          <p:nvGrpSpPr>
            <p:cNvPr id="101" name="Группа 100"/>
            <p:cNvGrpSpPr/>
            <p:nvPr/>
          </p:nvGrpSpPr>
          <p:grpSpPr>
            <a:xfrm>
              <a:off x="1880828" y="5952976"/>
              <a:ext cx="651493" cy="603726"/>
              <a:chOff x="1827170" y="1920528"/>
              <a:chExt cx="651493" cy="603726"/>
            </a:xfrm>
          </p:grpSpPr>
          <p:cxnSp>
            <p:nvCxnSpPr>
              <p:cNvPr id="106" name="Прямая соединительная линия 105"/>
              <p:cNvCxnSpPr/>
              <p:nvPr/>
            </p:nvCxnSpPr>
            <p:spPr>
              <a:xfrm>
                <a:off x="1827170" y="2524254"/>
                <a:ext cx="65149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Прямая соединительная линия 106"/>
              <p:cNvCxnSpPr/>
              <p:nvPr/>
            </p:nvCxnSpPr>
            <p:spPr>
              <a:xfrm>
                <a:off x="1835696" y="1920528"/>
                <a:ext cx="6181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Группа 101"/>
            <p:cNvGrpSpPr/>
            <p:nvPr/>
          </p:nvGrpSpPr>
          <p:grpSpPr>
            <a:xfrm>
              <a:off x="507856" y="5927204"/>
              <a:ext cx="541172" cy="603726"/>
              <a:chOff x="1663090" y="1920528"/>
              <a:chExt cx="541172" cy="603726"/>
            </a:xfrm>
          </p:grpSpPr>
          <p:cxnSp>
            <p:nvCxnSpPr>
              <p:cNvPr id="104" name="Прямая соединительная линия 103"/>
              <p:cNvCxnSpPr/>
              <p:nvPr/>
            </p:nvCxnSpPr>
            <p:spPr>
              <a:xfrm>
                <a:off x="1663090" y="2524254"/>
                <a:ext cx="5326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Прямая соединительная линия 104"/>
              <p:cNvCxnSpPr/>
              <p:nvPr/>
            </p:nvCxnSpPr>
            <p:spPr>
              <a:xfrm>
                <a:off x="2019979" y="1920528"/>
                <a:ext cx="1842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3" name="Овал 102"/>
            <p:cNvSpPr/>
            <p:nvPr/>
          </p:nvSpPr>
          <p:spPr>
            <a:xfrm>
              <a:off x="1830046" y="6491436"/>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109" name="Соединительная линия уступом 108"/>
          <p:cNvCxnSpPr/>
          <p:nvPr/>
        </p:nvCxnSpPr>
        <p:spPr>
          <a:xfrm rot="16200000" flipH="1">
            <a:off x="3967488" y="1525768"/>
            <a:ext cx="395634" cy="358558"/>
          </a:xfrm>
          <a:prstGeom prst="bentConnector3">
            <a:avLst>
              <a:gd name="adj1" fmla="val 9895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Прямая соединительная линия 111"/>
          <p:cNvCxnSpPr/>
          <p:nvPr/>
        </p:nvCxnSpPr>
        <p:spPr>
          <a:xfrm flipV="1">
            <a:off x="3986026" y="2491750"/>
            <a:ext cx="1669" cy="4621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4537499" y="2028306"/>
            <a:ext cx="309700" cy="369332"/>
          </a:xfrm>
          <a:prstGeom prst="rect">
            <a:avLst/>
          </a:prstGeom>
          <a:noFill/>
        </p:spPr>
        <p:txBody>
          <a:bodyPr wrap="none" rtlCol="0">
            <a:spAutoFit/>
          </a:bodyPr>
          <a:lstStyle/>
          <a:p>
            <a:r>
              <a:rPr lang="en-US" dirty="0"/>
              <a:t>R</a:t>
            </a:r>
            <a:endParaRPr lang="ru-RU" dirty="0"/>
          </a:p>
        </p:txBody>
      </p:sp>
      <p:cxnSp>
        <p:nvCxnSpPr>
          <p:cNvPr id="117" name="Прямая соединительная линия 116"/>
          <p:cNvCxnSpPr/>
          <p:nvPr/>
        </p:nvCxnSpPr>
        <p:spPr>
          <a:xfrm>
            <a:off x="4631150" y="2122418"/>
            <a:ext cx="12239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Соединительная линия уступом 119"/>
          <p:cNvCxnSpPr>
            <a:stCxn id="96" idx="1"/>
          </p:cNvCxnSpPr>
          <p:nvPr/>
        </p:nvCxnSpPr>
        <p:spPr>
          <a:xfrm rot="10800000" flipV="1">
            <a:off x="4344585" y="2212971"/>
            <a:ext cx="160513" cy="2008117"/>
          </a:xfrm>
          <a:prstGeom prst="bentConnector2">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Прямая соединительная линия 122"/>
          <p:cNvCxnSpPr/>
          <p:nvPr/>
        </p:nvCxnSpPr>
        <p:spPr>
          <a:xfrm>
            <a:off x="4344584" y="4221089"/>
            <a:ext cx="27476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Прямая соединительная линия 124"/>
          <p:cNvCxnSpPr>
            <a:stCxn id="96" idx="2"/>
          </p:cNvCxnSpPr>
          <p:nvPr/>
        </p:nvCxnSpPr>
        <p:spPr>
          <a:xfrm>
            <a:off x="4937145" y="2717028"/>
            <a:ext cx="0" cy="12160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Прямая соединительная линия 126"/>
          <p:cNvCxnSpPr/>
          <p:nvPr/>
        </p:nvCxnSpPr>
        <p:spPr>
          <a:xfrm flipV="1">
            <a:off x="4956118" y="692696"/>
            <a:ext cx="0" cy="10162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Овал 127"/>
          <p:cNvSpPr/>
          <p:nvPr/>
        </p:nvSpPr>
        <p:spPr>
          <a:xfrm>
            <a:off x="3532138" y="388009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9" name="Овал 128"/>
          <p:cNvSpPr/>
          <p:nvPr/>
        </p:nvSpPr>
        <p:spPr>
          <a:xfrm>
            <a:off x="3595638" y="63973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0" name="Овал 129"/>
          <p:cNvSpPr/>
          <p:nvPr/>
        </p:nvSpPr>
        <p:spPr>
          <a:xfrm>
            <a:off x="4910832" y="64608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1" name="Овал 130"/>
          <p:cNvSpPr/>
          <p:nvPr/>
        </p:nvSpPr>
        <p:spPr>
          <a:xfrm>
            <a:off x="4910832" y="389495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33" name="Прямая соединительная линия 132"/>
          <p:cNvCxnSpPr/>
          <p:nvPr/>
        </p:nvCxnSpPr>
        <p:spPr>
          <a:xfrm>
            <a:off x="6012160" y="1801001"/>
            <a:ext cx="0" cy="2400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Прямая соединительная линия 134"/>
          <p:cNvCxnSpPr/>
          <p:nvPr/>
        </p:nvCxnSpPr>
        <p:spPr>
          <a:xfrm flipV="1">
            <a:off x="6012160" y="1727072"/>
            <a:ext cx="156066" cy="156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Прямая соединительная линия 136"/>
          <p:cNvCxnSpPr/>
          <p:nvPr/>
        </p:nvCxnSpPr>
        <p:spPr>
          <a:xfrm>
            <a:off x="6012160" y="1982125"/>
            <a:ext cx="158449" cy="158449"/>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8" name="Прямая соединительная линия 137"/>
          <p:cNvCxnSpPr/>
          <p:nvPr/>
        </p:nvCxnSpPr>
        <p:spPr>
          <a:xfrm>
            <a:off x="6012160" y="2423135"/>
            <a:ext cx="0" cy="2400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Прямая соединительная линия 138"/>
          <p:cNvCxnSpPr/>
          <p:nvPr/>
        </p:nvCxnSpPr>
        <p:spPr>
          <a:xfrm flipV="1">
            <a:off x="6012160" y="2349206"/>
            <a:ext cx="156066" cy="156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Прямая соединительная линия 139"/>
          <p:cNvCxnSpPr/>
          <p:nvPr/>
        </p:nvCxnSpPr>
        <p:spPr>
          <a:xfrm>
            <a:off x="6012160" y="2604259"/>
            <a:ext cx="158449" cy="158449"/>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4" name="Прямая соединительная линия 143"/>
          <p:cNvCxnSpPr/>
          <p:nvPr/>
        </p:nvCxnSpPr>
        <p:spPr>
          <a:xfrm>
            <a:off x="6170609" y="2140574"/>
            <a:ext cx="0" cy="2086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Прямая соединительная линия 145"/>
          <p:cNvCxnSpPr/>
          <p:nvPr/>
        </p:nvCxnSpPr>
        <p:spPr>
          <a:xfrm>
            <a:off x="6168226" y="2762708"/>
            <a:ext cx="0" cy="11625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Прямая соединительная линия 147"/>
          <p:cNvCxnSpPr/>
          <p:nvPr/>
        </p:nvCxnSpPr>
        <p:spPr>
          <a:xfrm flipV="1">
            <a:off x="6168226" y="675742"/>
            <a:ext cx="0" cy="10513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Прямая соединительная линия 149"/>
          <p:cNvCxnSpPr/>
          <p:nvPr/>
        </p:nvCxnSpPr>
        <p:spPr>
          <a:xfrm>
            <a:off x="6170609" y="2235193"/>
            <a:ext cx="92167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Прямая соединительная линия 150"/>
          <p:cNvCxnSpPr/>
          <p:nvPr/>
        </p:nvCxnSpPr>
        <p:spPr>
          <a:xfrm>
            <a:off x="6493829" y="3224105"/>
            <a:ext cx="0" cy="2400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Прямая соединительная линия 151"/>
          <p:cNvCxnSpPr/>
          <p:nvPr/>
        </p:nvCxnSpPr>
        <p:spPr>
          <a:xfrm flipV="1">
            <a:off x="6493829" y="3150176"/>
            <a:ext cx="156066" cy="156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Прямая соединительная линия 152"/>
          <p:cNvCxnSpPr/>
          <p:nvPr/>
        </p:nvCxnSpPr>
        <p:spPr>
          <a:xfrm>
            <a:off x="6493829" y="3405229"/>
            <a:ext cx="158449" cy="158449"/>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5" name="Прямая соединительная линия 154"/>
          <p:cNvCxnSpPr/>
          <p:nvPr/>
        </p:nvCxnSpPr>
        <p:spPr>
          <a:xfrm flipH="1">
            <a:off x="5796136" y="3344004"/>
            <a:ext cx="69769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Прямая соединительная линия 156"/>
          <p:cNvCxnSpPr/>
          <p:nvPr/>
        </p:nvCxnSpPr>
        <p:spPr>
          <a:xfrm flipV="1">
            <a:off x="5796136" y="2526898"/>
            <a:ext cx="0" cy="8172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Прямая соединительная линия 158"/>
          <p:cNvCxnSpPr/>
          <p:nvPr/>
        </p:nvCxnSpPr>
        <p:spPr>
          <a:xfrm>
            <a:off x="6652278" y="3569429"/>
            <a:ext cx="0" cy="3558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Прямая соединительная линия 160"/>
          <p:cNvCxnSpPr/>
          <p:nvPr/>
        </p:nvCxnSpPr>
        <p:spPr>
          <a:xfrm flipV="1">
            <a:off x="6652278" y="2924944"/>
            <a:ext cx="0" cy="2391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Прямая соединительная линия 162"/>
          <p:cNvCxnSpPr/>
          <p:nvPr/>
        </p:nvCxnSpPr>
        <p:spPr>
          <a:xfrm>
            <a:off x="6652278" y="2924944"/>
            <a:ext cx="4400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Овал 166"/>
          <p:cNvSpPr/>
          <p:nvPr/>
        </p:nvSpPr>
        <p:spPr>
          <a:xfrm>
            <a:off x="6132282" y="65230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8" name="Овал 167"/>
          <p:cNvSpPr/>
          <p:nvPr/>
        </p:nvSpPr>
        <p:spPr>
          <a:xfrm>
            <a:off x="5753844" y="249289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9" name="Овал 168"/>
          <p:cNvSpPr/>
          <p:nvPr/>
        </p:nvSpPr>
        <p:spPr>
          <a:xfrm>
            <a:off x="6607274" y="388644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1" name="Овал 170"/>
          <p:cNvSpPr/>
          <p:nvPr/>
        </p:nvSpPr>
        <p:spPr>
          <a:xfrm>
            <a:off x="7075388" y="3873748"/>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2" name="Овал 171"/>
          <p:cNvSpPr/>
          <p:nvPr/>
        </p:nvSpPr>
        <p:spPr>
          <a:xfrm>
            <a:off x="7032972" y="4170288"/>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3" name="Овал 172"/>
          <p:cNvSpPr/>
          <p:nvPr/>
        </p:nvSpPr>
        <p:spPr>
          <a:xfrm>
            <a:off x="7032972" y="289103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4" name="Овал 173"/>
          <p:cNvSpPr/>
          <p:nvPr/>
        </p:nvSpPr>
        <p:spPr>
          <a:xfrm>
            <a:off x="7109172" y="2204864"/>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5" name="Овал 174"/>
          <p:cNvSpPr/>
          <p:nvPr/>
        </p:nvSpPr>
        <p:spPr>
          <a:xfrm>
            <a:off x="7083772" y="66729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9" name="TextBox 178"/>
          <p:cNvSpPr txBox="1"/>
          <p:nvPr/>
        </p:nvSpPr>
        <p:spPr>
          <a:xfrm>
            <a:off x="7229641" y="3737786"/>
            <a:ext cx="883575" cy="369332"/>
          </a:xfrm>
          <a:prstGeom prst="rect">
            <a:avLst/>
          </a:prstGeom>
          <a:noFill/>
        </p:spPr>
        <p:txBody>
          <a:bodyPr wrap="none" rtlCol="0">
            <a:spAutoFit/>
          </a:bodyPr>
          <a:lstStyle/>
          <a:p>
            <a:r>
              <a:rPr lang="ru-RU" dirty="0" smtClean="0"/>
              <a:t>Общий</a:t>
            </a:r>
            <a:endParaRPr lang="ru-RU" dirty="0"/>
          </a:p>
        </p:txBody>
      </p:sp>
      <p:sp>
        <p:nvSpPr>
          <p:cNvPr id="180" name="TextBox 179"/>
          <p:cNvSpPr txBox="1"/>
          <p:nvPr/>
        </p:nvSpPr>
        <p:spPr>
          <a:xfrm>
            <a:off x="7155092" y="4057630"/>
            <a:ext cx="1335622" cy="369332"/>
          </a:xfrm>
          <a:prstGeom prst="rect">
            <a:avLst/>
          </a:prstGeom>
          <a:noFill/>
        </p:spPr>
        <p:txBody>
          <a:bodyPr wrap="none" rtlCol="0">
            <a:spAutoFit/>
          </a:bodyPr>
          <a:lstStyle/>
          <a:p>
            <a:r>
              <a:rPr lang="ru-RU" dirty="0" smtClean="0"/>
              <a:t>Сброс </a:t>
            </a:r>
            <a:r>
              <a:rPr lang="en-US" dirty="0" smtClean="0"/>
              <a:t>(U</a:t>
            </a:r>
            <a:r>
              <a:rPr lang="ru-RU" dirty="0" err="1" smtClean="0"/>
              <a:t>сб</a:t>
            </a:r>
            <a:r>
              <a:rPr lang="en-US" dirty="0" smtClean="0"/>
              <a:t>)</a:t>
            </a:r>
            <a:endParaRPr lang="ru-RU" dirty="0"/>
          </a:p>
        </p:txBody>
      </p:sp>
      <p:sp>
        <p:nvSpPr>
          <p:cNvPr id="181" name="TextBox 180"/>
          <p:cNvSpPr txBox="1"/>
          <p:nvPr/>
        </p:nvSpPr>
        <p:spPr>
          <a:xfrm>
            <a:off x="7229641" y="2020198"/>
            <a:ext cx="696024" cy="369332"/>
          </a:xfrm>
          <a:prstGeom prst="rect">
            <a:avLst/>
          </a:prstGeom>
          <a:noFill/>
        </p:spPr>
        <p:txBody>
          <a:bodyPr wrap="none" rtlCol="0">
            <a:spAutoFit/>
          </a:bodyPr>
          <a:lstStyle/>
          <a:p>
            <a:r>
              <a:rPr lang="en-US" dirty="0" smtClean="0"/>
              <a:t>U</a:t>
            </a:r>
            <a:r>
              <a:rPr lang="ru-RU" dirty="0" err="1" smtClean="0"/>
              <a:t>вых</a:t>
            </a:r>
            <a:endParaRPr lang="ru-RU" dirty="0"/>
          </a:p>
        </p:txBody>
      </p:sp>
      <p:sp>
        <p:nvSpPr>
          <p:cNvPr id="182" name="TextBox 181"/>
          <p:cNvSpPr txBox="1"/>
          <p:nvPr/>
        </p:nvSpPr>
        <p:spPr>
          <a:xfrm>
            <a:off x="7183648" y="455072"/>
            <a:ext cx="567784" cy="369332"/>
          </a:xfrm>
          <a:prstGeom prst="rect">
            <a:avLst/>
          </a:prstGeom>
          <a:noFill/>
        </p:spPr>
        <p:txBody>
          <a:bodyPr wrap="none" rtlCol="0">
            <a:spAutoFit/>
          </a:bodyPr>
          <a:lstStyle/>
          <a:p>
            <a:r>
              <a:rPr lang="ru-RU" dirty="0" smtClean="0"/>
              <a:t>+</a:t>
            </a:r>
            <a:r>
              <a:rPr lang="en-US" dirty="0" smtClean="0"/>
              <a:t>U</a:t>
            </a:r>
            <a:r>
              <a:rPr lang="ru-RU" dirty="0" smtClean="0"/>
              <a:t>п</a:t>
            </a:r>
            <a:endParaRPr lang="ru-RU" dirty="0"/>
          </a:p>
        </p:txBody>
      </p:sp>
      <p:sp>
        <p:nvSpPr>
          <p:cNvPr id="185" name="TextBox 184"/>
          <p:cNvSpPr txBox="1"/>
          <p:nvPr/>
        </p:nvSpPr>
        <p:spPr>
          <a:xfrm>
            <a:off x="123101" y="1248114"/>
            <a:ext cx="878767" cy="369332"/>
          </a:xfrm>
          <a:prstGeom prst="rect">
            <a:avLst/>
          </a:prstGeom>
          <a:noFill/>
        </p:spPr>
        <p:txBody>
          <a:bodyPr wrap="none" rtlCol="0">
            <a:spAutoFit/>
          </a:bodyPr>
          <a:lstStyle/>
          <a:p>
            <a:r>
              <a:rPr lang="en-US" dirty="0" smtClean="0"/>
              <a:t>U</a:t>
            </a:r>
            <a:r>
              <a:rPr lang="ru-RU" dirty="0" err="1" smtClean="0"/>
              <a:t>пор.В</a:t>
            </a:r>
            <a:endParaRPr lang="ru-RU" dirty="0"/>
          </a:p>
        </p:txBody>
      </p:sp>
      <p:sp>
        <p:nvSpPr>
          <p:cNvPr id="186" name="TextBox 185"/>
          <p:cNvSpPr txBox="1"/>
          <p:nvPr/>
        </p:nvSpPr>
        <p:spPr>
          <a:xfrm>
            <a:off x="-5130" y="2901891"/>
            <a:ext cx="1013419" cy="369332"/>
          </a:xfrm>
          <a:prstGeom prst="rect">
            <a:avLst/>
          </a:prstGeom>
          <a:noFill/>
        </p:spPr>
        <p:txBody>
          <a:bodyPr wrap="none" rtlCol="0">
            <a:spAutoFit/>
          </a:bodyPr>
          <a:lstStyle/>
          <a:p>
            <a:r>
              <a:rPr lang="ru-RU" dirty="0" smtClean="0"/>
              <a:t>+</a:t>
            </a:r>
            <a:r>
              <a:rPr lang="en-US" dirty="0" smtClean="0"/>
              <a:t>U</a:t>
            </a:r>
            <a:r>
              <a:rPr lang="ru-RU" dirty="0" err="1" smtClean="0"/>
              <a:t>пор.Н</a:t>
            </a:r>
            <a:endParaRPr lang="ru-RU" dirty="0"/>
          </a:p>
        </p:txBody>
      </p:sp>
      <p:sp>
        <p:nvSpPr>
          <p:cNvPr id="187" name="TextBox 186"/>
          <p:cNvSpPr txBox="1"/>
          <p:nvPr/>
        </p:nvSpPr>
        <p:spPr>
          <a:xfrm>
            <a:off x="179253" y="4579372"/>
            <a:ext cx="1141659" cy="369332"/>
          </a:xfrm>
          <a:prstGeom prst="rect">
            <a:avLst/>
          </a:prstGeom>
          <a:noFill/>
        </p:spPr>
        <p:txBody>
          <a:bodyPr wrap="none" rtlCol="0">
            <a:spAutoFit/>
          </a:bodyPr>
          <a:lstStyle/>
          <a:p>
            <a:r>
              <a:rPr lang="en-US" dirty="0" smtClean="0"/>
              <a:t>R1=R2=R3</a:t>
            </a:r>
            <a:endParaRPr lang="ru-RU" dirty="0"/>
          </a:p>
        </p:txBody>
      </p:sp>
      <p:sp>
        <p:nvSpPr>
          <p:cNvPr id="188" name="TextBox 187"/>
          <p:cNvSpPr txBox="1"/>
          <p:nvPr/>
        </p:nvSpPr>
        <p:spPr>
          <a:xfrm>
            <a:off x="179253" y="4960386"/>
            <a:ext cx="1585690" cy="369332"/>
          </a:xfrm>
          <a:prstGeom prst="rect">
            <a:avLst/>
          </a:prstGeom>
          <a:noFill/>
        </p:spPr>
        <p:txBody>
          <a:bodyPr wrap="none" rtlCol="0">
            <a:spAutoFit/>
          </a:bodyPr>
          <a:lstStyle/>
          <a:p>
            <a:r>
              <a:rPr lang="en-US" dirty="0" smtClean="0"/>
              <a:t>U</a:t>
            </a:r>
            <a:r>
              <a:rPr lang="ru-RU" dirty="0" err="1" smtClean="0"/>
              <a:t>пор.В</a:t>
            </a:r>
            <a:r>
              <a:rPr lang="en-US" dirty="0" smtClean="0"/>
              <a:t>=2/3U</a:t>
            </a:r>
            <a:r>
              <a:rPr lang="ru-RU" dirty="0" smtClean="0"/>
              <a:t>п</a:t>
            </a:r>
            <a:endParaRPr lang="ru-RU" dirty="0"/>
          </a:p>
        </p:txBody>
      </p:sp>
      <p:sp>
        <p:nvSpPr>
          <p:cNvPr id="189" name="TextBox 188"/>
          <p:cNvSpPr txBox="1"/>
          <p:nvPr/>
        </p:nvSpPr>
        <p:spPr>
          <a:xfrm>
            <a:off x="179253" y="5329718"/>
            <a:ext cx="1604927" cy="369332"/>
          </a:xfrm>
          <a:prstGeom prst="rect">
            <a:avLst/>
          </a:prstGeom>
          <a:noFill/>
        </p:spPr>
        <p:txBody>
          <a:bodyPr wrap="none" rtlCol="0">
            <a:spAutoFit/>
          </a:bodyPr>
          <a:lstStyle/>
          <a:p>
            <a:r>
              <a:rPr lang="en-US" dirty="0" smtClean="0"/>
              <a:t>U</a:t>
            </a:r>
            <a:r>
              <a:rPr lang="ru-RU" dirty="0" err="1" smtClean="0"/>
              <a:t>пор.Н</a:t>
            </a:r>
            <a:r>
              <a:rPr lang="en-US" dirty="0" smtClean="0"/>
              <a:t>=</a:t>
            </a:r>
            <a:r>
              <a:rPr lang="ru-RU" dirty="0" smtClean="0"/>
              <a:t>1</a:t>
            </a:r>
            <a:r>
              <a:rPr lang="en-US" dirty="0" smtClean="0"/>
              <a:t>/3U</a:t>
            </a:r>
            <a:r>
              <a:rPr lang="ru-RU" dirty="0" smtClean="0"/>
              <a:t>п</a:t>
            </a:r>
            <a:endParaRPr lang="ru-RU" dirty="0"/>
          </a:p>
        </p:txBody>
      </p:sp>
      <p:sp>
        <p:nvSpPr>
          <p:cNvPr id="190" name="TextBox 189"/>
          <p:cNvSpPr txBox="1"/>
          <p:nvPr/>
        </p:nvSpPr>
        <p:spPr>
          <a:xfrm>
            <a:off x="4493027" y="4328408"/>
            <a:ext cx="1777731" cy="369332"/>
          </a:xfrm>
          <a:prstGeom prst="rect">
            <a:avLst/>
          </a:prstGeom>
          <a:noFill/>
        </p:spPr>
        <p:txBody>
          <a:bodyPr wrap="none" rtlCol="0">
            <a:spAutoFit/>
          </a:bodyPr>
          <a:lstStyle/>
          <a:p>
            <a:r>
              <a:rPr lang="ru-RU" dirty="0" smtClean="0"/>
              <a:t>Режимы работы</a:t>
            </a:r>
            <a:endParaRPr lang="ru-RU" dirty="0"/>
          </a:p>
        </p:txBody>
      </p:sp>
      <p:graphicFrame>
        <p:nvGraphicFramePr>
          <p:cNvPr id="191" name="Таблица 190"/>
          <p:cNvGraphicFramePr>
            <a:graphicFrameLocks noGrp="1"/>
          </p:cNvGraphicFramePr>
          <p:nvPr>
            <p:extLst>
              <p:ext uri="{D42A27DB-BD31-4B8C-83A1-F6EECF244321}">
                <p14:modId xmlns:p14="http://schemas.microsoft.com/office/powerpoint/2010/main" val="392712723"/>
              </p:ext>
            </p:extLst>
          </p:nvPr>
        </p:nvGraphicFramePr>
        <p:xfrm>
          <a:off x="2379247" y="4637330"/>
          <a:ext cx="6678370" cy="2123440"/>
        </p:xfrm>
        <a:graphic>
          <a:graphicData uri="http://schemas.openxmlformats.org/drawingml/2006/table">
            <a:tbl>
              <a:tblPr firstRow="1" bandRow="1">
                <a:tableStyleId>{5C22544A-7EE6-4342-B048-85BDC9FD1C3A}</a:tableStyleId>
              </a:tblPr>
              <a:tblGrid>
                <a:gridCol w="773715"/>
                <a:gridCol w="1008112"/>
                <a:gridCol w="1152128"/>
                <a:gridCol w="2408741"/>
                <a:gridCol w="1335674"/>
              </a:tblGrid>
              <a:tr h="370840">
                <a:tc>
                  <a:txBody>
                    <a:bodyPr/>
                    <a:lstStyle/>
                    <a:p>
                      <a:r>
                        <a:rPr lang="en-US" dirty="0" smtClean="0"/>
                        <a:t>U</a:t>
                      </a:r>
                      <a:r>
                        <a:rPr lang="ru-RU" dirty="0" err="1" smtClean="0"/>
                        <a:t>сб</a:t>
                      </a:r>
                      <a:endParaRPr lang="ru-RU" dirty="0"/>
                    </a:p>
                  </a:txBody>
                  <a:tcPr/>
                </a:tc>
                <a:tc>
                  <a:txBody>
                    <a:bodyPr/>
                    <a:lstStyle/>
                    <a:p>
                      <a:r>
                        <a:rPr lang="en-US" dirty="0" smtClean="0"/>
                        <a:t>U</a:t>
                      </a:r>
                      <a:r>
                        <a:rPr lang="ru-RU" dirty="0" err="1" smtClean="0"/>
                        <a:t>пор.Н</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U</a:t>
                      </a:r>
                      <a:r>
                        <a:rPr lang="ru-RU" dirty="0" err="1" smtClean="0"/>
                        <a:t>пор.В</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U</a:t>
                      </a:r>
                      <a:r>
                        <a:rPr lang="ru-RU" dirty="0" err="1" smtClean="0"/>
                        <a:t>вых</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VT3</a:t>
                      </a:r>
                      <a:r>
                        <a:rPr lang="ru-RU" dirty="0" smtClean="0"/>
                        <a:t> (</a:t>
                      </a:r>
                      <a:r>
                        <a:rPr lang="en-US" dirty="0" smtClean="0"/>
                        <a:t>7</a:t>
                      </a:r>
                      <a:r>
                        <a:rPr lang="ru-RU" dirty="0" smtClean="0"/>
                        <a:t>)</a:t>
                      </a:r>
                      <a:endParaRPr lang="ru-RU" dirty="0"/>
                    </a:p>
                  </a:txBody>
                  <a:tcPr/>
                </a:tc>
              </a:tr>
              <a:tr h="370840">
                <a:tc>
                  <a:txBody>
                    <a:bodyPr/>
                    <a:lstStyle/>
                    <a:p>
                      <a:r>
                        <a:rPr lang="en-US" dirty="0" smtClean="0"/>
                        <a:t>0</a:t>
                      </a:r>
                      <a:endParaRPr lang="ru-RU" dirty="0"/>
                    </a:p>
                  </a:txBody>
                  <a:tcPr/>
                </a:tc>
                <a:tc>
                  <a:txBody>
                    <a:bodyPr/>
                    <a:lstStyle/>
                    <a:p>
                      <a:r>
                        <a:rPr lang="en-US" dirty="0" smtClean="0"/>
                        <a:t>x</a:t>
                      </a:r>
                      <a:endParaRPr lang="ru-RU" dirty="0"/>
                    </a:p>
                  </a:txBody>
                  <a:tcPr/>
                </a:tc>
                <a:tc>
                  <a:txBody>
                    <a:bodyPr/>
                    <a:lstStyle/>
                    <a:p>
                      <a:r>
                        <a:rPr lang="en-US" dirty="0" smtClean="0"/>
                        <a:t>x</a:t>
                      </a:r>
                      <a:endParaRPr lang="ru-RU" dirty="0"/>
                    </a:p>
                  </a:txBody>
                  <a:tcPr/>
                </a:tc>
                <a:tc>
                  <a:txBody>
                    <a:bodyPr/>
                    <a:lstStyle/>
                    <a:p>
                      <a:r>
                        <a:rPr lang="en-US" dirty="0" smtClean="0"/>
                        <a:t>0</a:t>
                      </a:r>
                      <a:endParaRPr lang="ru-RU" dirty="0"/>
                    </a:p>
                  </a:txBody>
                  <a:tcPr/>
                </a:tc>
                <a:tc>
                  <a:txBody>
                    <a:bodyPr/>
                    <a:lstStyle/>
                    <a:p>
                      <a:r>
                        <a:rPr lang="ru-RU" dirty="0" smtClean="0"/>
                        <a:t>Насыщен</a:t>
                      </a:r>
                      <a:endParaRPr lang="ru-RU" dirty="0"/>
                    </a:p>
                  </a:txBody>
                  <a:tcPr/>
                </a:tc>
              </a:tr>
              <a:tr h="370840">
                <a:tc>
                  <a:txBody>
                    <a:bodyPr/>
                    <a:lstStyle/>
                    <a:p>
                      <a:r>
                        <a:rPr lang="en-US" dirty="0" smtClean="0"/>
                        <a:t>1</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&lt;</a:t>
                      </a:r>
                      <a:r>
                        <a:rPr lang="ru-RU" dirty="0" smtClean="0"/>
                        <a:t>1</a:t>
                      </a:r>
                      <a:r>
                        <a:rPr lang="en-US" dirty="0" smtClean="0"/>
                        <a:t>/3U</a:t>
                      </a:r>
                      <a:r>
                        <a:rPr lang="ru-RU" dirty="0" smtClean="0"/>
                        <a:t>п</a:t>
                      </a:r>
                    </a:p>
                  </a:txBody>
                  <a:tcPr/>
                </a:tc>
                <a:tc>
                  <a:txBody>
                    <a:bodyPr/>
                    <a:lstStyle/>
                    <a:p>
                      <a:r>
                        <a:rPr lang="en-US" dirty="0" smtClean="0"/>
                        <a:t>&lt;2/3U</a:t>
                      </a:r>
                      <a:r>
                        <a:rPr lang="ru-RU" dirty="0" smtClean="0"/>
                        <a:t>п</a:t>
                      </a:r>
                      <a:endParaRPr lang="ru-RU" dirty="0"/>
                    </a:p>
                  </a:txBody>
                  <a:tcPr/>
                </a:tc>
                <a:tc>
                  <a:txBody>
                    <a:bodyPr/>
                    <a:lstStyle/>
                    <a:p>
                      <a:r>
                        <a:rPr lang="en-US" dirty="0" smtClean="0"/>
                        <a:t>1</a:t>
                      </a:r>
                      <a:endParaRPr lang="ru-RU" dirty="0"/>
                    </a:p>
                  </a:txBody>
                  <a:tcPr/>
                </a:tc>
                <a:tc>
                  <a:txBody>
                    <a:bodyPr/>
                    <a:lstStyle/>
                    <a:p>
                      <a:r>
                        <a:rPr lang="ru-RU" dirty="0" smtClean="0"/>
                        <a:t>Заперт</a:t>
                      </a:r>
                      <a:endParaRPr lang="ru-RU" dirty="0"/>
                    </a:p>
                  </a:txBody>
                  <a:tcPr/>
                </a:tc>
              </a:tr>
              <a:tr h="370840">
                <a:tc>
                  <a:txBody>
                    <a:bodyPr/>
                    <a:lstStyle/>
                    <a:p>
                      <a:r>
                        <a:rPr lang="en-US" dirty="0" smtClean="0"/>
                        <a:t>1</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&gt;</a:t>
                      </a:r>
                      <a:r>
                        <a:rPr lang="ru-RU" dirty="0" smtClean="0"/>
                        <a:t>1</a:t>
                      </a:r>
                      <a:r>
                        <a:rPr lang="en-US" dirty="0" smtClean="0"/>
                        <a:t>/3U</a:t>
                      </a:r>
                      <a:r>
                        <a:rPr lang="ru-RU" dirty="0" smtClean="0"/>
                        <a:t>п</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&gt;2/3U</a:t>
                      </a:r>
                      <a:r>
                        <a:rPr lang="ru-RU" dirty="0" smtClean="0"/>
                        <a:t>п</a:t>
                      </a:r>
                    </a:p>
                  </a:txBody>
                  <a:tcPr/>
                </a:tc>
                <a:tc>
                  <a:txBody>
                    <a:bodyPr/>
                    <a:lstStyle/>
                    <a:p>
                      <a:r>
                        <a:rPr lang="en-US" dirty="0" smtClean="0"/>
                        <a:t>0</a:t>
                      </a:r>
                      <a:endParaRPr lang="ru-RU" dirty="0"/>
                    </a:p>
                  </a:txBody>
                  <a:tcPr/>
                </a:tc>
                <a:tc>
                  <a:txBody>
                    <a:bodyPr/>
                    <a:lstStyle/>
                    <a:p>
                      <a:r>
                        <a:rPr lang="ru-RU" dirty="0" smtClean="0"/>
                        <a:t>Насыщен</a:t>
                      </a:r>
                      <a:endParaRPr lang="ru-RU" dirty="0"/>
                    </a:p>
                  </a:txBody>
                  <a:tcPr/>
                </a:tc>
              </a:tr>
              <a:tr h="370840">
                <a:tc>
                  <a:txBody>
                    <a:bodyPr/>
                    <a:lstStyle/>
                    <a:p>
                      <a:r>
                        <a:rPr lang="en-US" dirty="0" smtClean="0"/>
                        <a:t>1</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&gt;</a:t>
                      </a:r>
                      <a:r>
                        <a:rPr lang="ru-RU" dirty="0" smtClean="0"/>
                        <a:t>1</a:t>
                      </a:r>
                      <a:r>
                        <a:rPr lang="en-US" dirty="0" smtClean="0"/>
                        <a:t>/3U</a:t>
                      </a:r>
                      <a:r>
                        <a:rPr lang="ru-RU" dirty="0" smtClean="0"/>
                        <a:t>п</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&lt;2/3U</a:t>
                      </a:r>
                      <a:r>
                        <a:rPr lang="ru-RU" dirty="0" smtClean="0"/>
                        <a:t>п</a:t>
                      </a:r>
                    </a:p>
                  </a:txBody>
                  <a:tcPr/>
                </a:tc>
                <a:tc gridSpan="2">
                  <a:txBody>
                    <a:bodyPr/>
                    <a:lstStyle/>
                    <a:p>
                      <a:r>
                        <a:rPr lang="ru-RU" dirty="0" smtClean="0"/>
                        <a:t>Опр.</a:t>
                      </a:r>
                      <a:r>
                        <a:rPr lang="ru-RU" baseline="0" dirty="0" smtClean="0"/>
                        <a:t> пред. значениями</a:t>
                      </a:r>
                    </a:p>
                    <a:p>
                      <a:r>
                        <a:rPr lang="ru-RU" baseline="0" dirty="0" smtClean="0"/>
                        <a:t>пороговых напряжений</a:t>
                      </a:r>
                      <a:endParaRPr lang="ru-RU" dirty="0"/>
                    </a:p>
                  </a:txBody>
                  <a:tcPr/>
                </a:tc>
                <a:tc hMerge="1">
                  <a:txBody>
                    <a:bodyPr/>
                    <a:lstStyle/>
                    <a:p>
                      <a:endParaRPr lang="ru-RU" dirty="0"/>
                    </a:p>
                  </a:txBody>
                  <a:tcPr/>
                </a:tc>
              </a:tr>
            </a:tbl>
          </a:graphicData>
        </a:graphic>
      </p:graphicFrame>
      <p:sp>
        <p:nvSpPr>
          <p:cNvPr id="192" name="TextBox 191"/>
          <p:cNvSpPr txBox="1"/>
          <p:nvPr/>
        </p:nvSpPr>
        <p:spPr>
          <a:xfrm>
            <a:off x="6669631" y="3187854"/>
            <a:ext cx="545342" cy="369332"/>
          </a:xfrm>
          <a:prstGeom prst="rect">
            <a:avLst/>
          </a:prstGeom>
          <a:noFill/>
        </p:spPr>
        <p:txBody>
          <a:bodyPr wrap="none" rtlCol="0">
            <a:spAutoFit/>
          </a:bodyPr>
          <a:lstStyle/>
          <a:p>
            <a:r>
              <a:rPr lang="en-US" dirty="0" smtClean="0"/>
              <a:t>VT3</a:t>
            </a:r>
            <a:endParaRPr lang="ru-RU" dirty="0"/>
          </a:p>
        </p:txBody>
      </p:sp>
      <p:sp>
        <p:nvSpPr>
          <p:cNvPr id="193" name="TextBox 192"/>
          <p:cNvSpPr txBox="1"/>
          <p:nvPr/>
        </p:nvSpPr>
        <p:spPr>
          <a:xfrm>
            <a:off x="6163674" y="2389530"/>
            <a:ext cx="545342" cy="369332"/>
          </a:xfrm>
          <a:prstGeom prst="rect">
            <a:avLst/>
          </a:prstGeom>
          <a:noFill/>
        </p:spPr>
        <p:txBody>
          <a:bodyPr wrap="none" rtlCol="0">
            <a:spAutoFit/>
          </a:bodyPr>
          <a:lstStyle/>
          <a:p>
            <a:r>
              <a:rPr lang="en-US" dirty="0" smtClean="0"/>
              <a:t>VT2</a:t>
            </a:r>
            <a:endParaRPr lang="ru-RU" dirty="0"/>
          </a:p>
        </p:txBody>
      </p:sp>
      <p:sp>
        <p:nvSpPr>
          <p:cNvPr id="194" name="TextBox 193"/>
          <p:cNvSpPr txBox="1"/>
          <p:nvPr/>
        </p:nvSpPr>
        <p:spPr>
          <a:xfrm>
            <a:off x="6209787" y="1727877"/>
            <a:ext cx="545342" cy="369332"/>
          </a:xfrm>
          <a:prstGeom prst="rect">
            <a:avLst/>
          </a:prstGeom>
          <a:noFill/>
        </p:spPr>
        <p:txBody>
          <a:bodyPr wrap="none" rtlCol="0">
            <a:spAutoFit/>
          </a:bodyPr>
          <a:lstStyle/>
          <a:p>
            <a:r>
              <a:rPr lang="en-US" dirty="0" smtClean="0"/>
              <a:t>VT1</a:t>
            </a:r>
            <a:endParaRPr lang="ru-RU" dirty="0"/>
          </a:p>
        </p:txBody>
      </p:sp>
      <p:sp>
        <p:nvSpPr>
          <p:cNvPr id="195" name="TextBox 194"/>
          <p:cNvSpPr txBox="1"/>
          <p:nvPr/>
        </p:nvSpPr>
        <p:spPr>
          <a:xfrm>
            <a:off x="6782086" y="731392"/>
            <a:ext cx="301686" cy="369332"/>
          </a:xfrm>
          <a:prstGeom prst="rect">
            <a:avLst/>
          </a:prstGeom>
          <a:noFill/>
        </p:spPr>
        <p:txBody>
          <a:bodyPr wrap="none" rtlCol="0">
            <a:spAutoFit/>
          </a:bodyPr>
          <a:lstStyle/>
          <a:p>
            <a:r>
              <a:rPr lang="en-US" dirty="0"/>
              <a:t>8</a:t>
            </a:r>
            <a:endParaRPr lang="ru-RU" dirty="0"/>
          </a:p>
        </p:txBody>
      </p:sp>
      <p:sp>
        <p:nvSpPr>
          <p:cNvPr id="196" name="TextBox 195"/>
          <p:cNvSpPr txBox="1"/>
          <p:nvPr/>
        </p:nvSpPr>
        <p:spPr>
          <a:xfrm>
            <a:off x="6968933" y="1711411"/>
            <a:ext cx="301686" cy="369332"/>
          </a:xfrm>
          <a:prstGeom prst="rect">
            <a:avLst/>
          </a:prstGeom>
          <a:noFill/>
        </p:spPr>
        <p:txBody>
          <a:bodyPr wrap="none" rtlCol="0">
            <a:spAutoFit/>
          </a:bodyPr>
          <a:lstStyle/>
          <a:p>
            <a:r>
              <a:rPr lang="en-US" dirty="0" smtClean="0"/>
              <a:t>3</a:t>
            </a:r>
            <a:endParaRPr lang="ru-RU" dirty="0"/>
          </a:p>
        </p:txBody>
      </p:sp>
      <p:sp>
        <p:nvSpPr>
          <p:cNvPr id="197" name="TextBox 196"/>
          <p:cNvSpPr txBox="1"/>
          <p:nvPr/>
        </p:nvSpPr>
        <p:spPr>
          <a:xfrm>
            <a:off x="7181180" y="2740278"/>
            <a:ext cx="301686" cy="369332"/>
          </a:xfrm>
          <a:prstGeom prst="rect">
            <a:avLst/>
          </a:prstGeom>
          <a:noFill/>
        </p:spPr>
        <p:txBody>
          <a:bodyPr wrap="none" rtlCol="0">
            <a:spAutoFit/>
          </a:bodyPr>
          <a:lstStyle/>
          <a:p>
            <a:r>
              <a:rPr lang="en-US" dirty="0"/>
              <a:t>7</a:t>
            </a:r>
            <a:endParaRPr lang="ru-RU" dirty="0"/>
          </a:p>
        </p:txBody>
      </p:sp>
      <p:sp>
        <p:nvSpPr>
          <p:cNvPr id="198" name="TextBox 197"/>
          <p:cNvSpPr txBox="1"/>
          <p:nvPr/>
        </p:nvSpPr>
        <p:spPr>
          <a:xfrm>
            <a:off x="6914183" y="3484476"/>
            <a:ext cx="301686" cy="369332"/>
          </a:xfrm>
          <a:prstGeom prst="rect">
            <a:avLst/>
          </a:prstGeom>
          <a:noFill/>
        </p:spPr>
        <p:txBody>
          <a:bodyPr wrap="none" rtlCol="0">
            <a:spAutoFit/>
          </a:bodyPr>
          <a:lstStyle/>
          <a:p>
            <a:r>
              <a:rPr lang="en-US" dirty="0" smtClean="0"/>
              <a:t>1</a:t>
            </a:r>
            <a:endParaRPr lang="ru-RU" dirty="0"/>
          </a:p>
        </p:txBody>
      </p:sp>
      <p:sp>
        <p:nvSpPr>
          <p:cNvPr id="199" name="TextBox 198"/>
          <p:cNvSpPr txBox="1"/>
          <p:nvPr/>
        </p:nvSpPr>
        <p:spPr>
          <a:xfrm>
            <a:off x="6924545" y="4174748"/>
            <a:ext cx="301686" cy="369332"/>
          </a:xfrm>
          <a:prstGeom prst="rect">
            <a:avLst/>
          </a:prstGeom>
          <a:noFill/>
        </p:spPr>
        <p:txBody>
          <a:bodyPr wrap="none" rtlCol="0">
            <a:spAutoFit/>
          </a:bodyPr>
          <a:lstStyle/>
          <a:p>
            <a:r>
              <a:rPr lang="en-US" dirty="0" smtClean="0"/>
              <a:t>4</a:t>
            </a:r>
            <a:endParaRPr lang="ru-RU" dirty="0"/>
          </a:p>
        </p:txBody>
      </p:sp>
    </p:spTree>
    <p:extLst>
      <p:ext uri="{BB962C8B-B14F-4D97-AF65-F5344CB8AC3E}">
        <p14:creationId xmlns:p14="http://schemas.microsoft.com/office/powerpoint/2010/main" val="3480821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30035" y="249526"/>
            <a:ext cx="5031377" cy="369332"/>
          </a:xfrm>
          <a:prstGeom prst="rect">
            <a:avLst/>
          </a:prstGeom>
          <a:noFill/>
        </p:spPr>
        <p:txBody>
          <a:bodyPr wrap="none" rtlCol="0">
            <a:spAutoFit/>
          </a:bodyPr>
          <a:lstStyle/>
          <a:p>
            <a:r>
              <a:rPr lang="ru-RU" dirty="0" smtClean="0"/>
              <a:t>Автогенератор на основе интегрального таймера</a:t>
            </a:r>
            <a:endParaRPr lang="ru-RU" dirty="0"/>
          </a:p>
        </p:txBody>
      </p:sp>
      <p:sp>
        <p:nvSpPr>
          <p:cNvPr id="6" name="Прямоугольник 5"/>
          <p:cNvSpPr/>
          <p:nvPr/>
        </p:nvSpPr>
        <p:spPr>
          <a:xfrm>
            <a:off x="2031132" y="1616348"/>
            <a:ext cx="1944216" cy="223224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 name="Прямая соединительная линия 7"/>
          <p:cNvCxnSpPr/>
          <p:nvPr/>
        </p:nvCxnSpPr>
        <p:spPr>
          <a:xfrm>
            <a:off x="3975348" y="2204864"/>
            <a:ext cx="8846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3975348" y="3068960"/>
            <a:ext cx="5375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755576" y="4437112"/>
            <a:ext cx="44276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a:off x="1115616" y="1124744"/>
            <a:ext cx="38884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2627784" y="1124744"/>
            <a:ext cx="0" cy="4916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a:off x="3491880" y="1124744"/>
            <a:ext cx="0" cy="4916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971600" y="1916832"/>
            <a:ext cx="10595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a:endCxn id="6" idx="1"/>
          </p:cNvCxnSpPr>
          <p:nvPr/>
        </p:nvCxnSpPr>
        <p:spPr>
          <a:xfrm>
            <a:off x="1194958" y="2732472"/>
            <a:ext cx="83617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a:off x="899592" y="3284984"/>
            <a:ext cx="1131540" cy="20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Прямоугольник 24"/>
          <p:cNvSpPr/>
          <p:nvPr/>
        </p:nvSpPr>
        <p:spPr>
          <a:xfrm rot="10800000">
            <a:off x="1140952" y="2169662"/>
            <a:ext cx="108012" cy="3572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7" name="Прямая соединительная линия 26"/>
          <p:cNvCxnSpPr>
            <a:stCxn id="25" idx="0"/>
          </p:cNvCxnSpPr>
          <p:nvPr/>
        </p:nvCxnSpPr>
        <p:spPr>
          <a:xfrm flipH="1">
            <a:off x="1194957" y="2526898"/>
            <a:ext cx="1" cy="2055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a:stCxn id="25" idx="2"/>
          </p:cNvCxnSpPr>
          <p:nvPr/>
        </p:nvCxnSpPr>
        <p:spPr>
          <a:xfrm flipH="1" flipV="1">
            <a:off x="1194957" y="1916832"/>
            <a:ext cx="1" cy="2528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rot="16200000">
            <a:off x="1222824" y="3709796"/>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rot="16200000">
            <a:off x="1222824" y="3607662"/>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1222823" y="3861048"/>
            <a:ext cx="0" cy="5760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flipH="1">
            <a:off x="1222823" y="3293607"/>
            <a:ext cx="2" cy="4580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p:nvPr/>
        </p:nvCxnSpPr>
        <p:spPr>
          <a:xfrm flipV="1">
            <a:off x="1222825" y="2732472"/>
            <a:ext cx="0" cy="5525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a:stCxn id="6" idx="2"/>
          </p:cNvCxnSpPr>
          <p:nvPr/>
        </p:nvCxnSpPr>
        <p:spPr>
          <a:xfrm>
            <a:off x="3003240" y="3848596"/>
            <a:ext cx="0" cy="588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Овал 41"/>
          <p:cNvSpPr/>
          <p:nvPr/>
        </p:nvSpPr>
        <p:spPr>
          <a:xfrm>
            <a:off x="755576" y="4408537"/>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Овал 42"/>
          <p:cNvSpPr/>
          <p:nvPr/>
        </p:nvSpPr>
        <p:spPr>
          <a:xfrm>
            <a:off x="937692" y="1882924"/>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Овал 43"/>
          <p:cNvSpPr/>
          <p:nvPr/>
        </p:nvSpPr>
        <p:spPr>
          <a:xfrm>
            <a:off x="4802882" y="2166764"/>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Овал 44"/>
          <p:cNvSpPr/>
          <p:nvPr/>
        </p:nvSpPr>
        <p:spPr>
          <a:xfrm>
            <a:off x="4936232" y="109083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6" name="Прямая соединительная линия 45"/>
          <p:cNvCxnSpPr/>
          <p:nvPr/>
        </p:nvCxnSpPr>
        <p:spPr>
          <a:xfrm>
            <a:off x="5006315" y="4725144"/>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a:off x="5183262" y="4433514"/>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Овал 47"/>
          <p:cNvSpPr/>
          <p:nvPr/>
        </p:nvSpPr>
        <p:spPr>
          <a:xfrm>
            <a:off x="5136257" y="441272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TextBox 48"/>
          <p:cNvSpPr txBox="1"/>
          <p:nvPr/>
        </p:nvSpPr>
        <p:spPr>
          <a:xfrm>
            <a:off x="3203848" y="4077072"/>
            <a:ext cx="301686" cy="369332"/>
          </a:xfrm>
          <a:prstGeom prst="rect">
            <a:avLst/>
          </a:prstGeom>
          <a:noFill/>
        </p:spPr>
        <p:txBody>
          <a:bodyPr wrap="none" rtlCol="0">
            <a:spAutoFit/>
          </a:bodyPr>
          <a:lstStyle/>
          <a:p>
            <a:r>
              <a:rPr lang="ru-RU" dirty="0" smtClean="0"/>
              <a:t>1</a:t>
            </a:r>
            <a:endParaRPr lang="ru-RU" dirty="0"/>
          </a:p>
        </p:txBody>
      </p:sp>
      <p:sp>
        <p:nvSpPr>
          <p:cNvPr id="50" name="TextBox 49"/>
          <p:cNvSpPr txBox="1"/>
          <p:nvPr/>
        </p:nvSpPr>
        <p:spPr>
          <a:xfrm>
            <a:off x="4070270" y="3108941"/>
            <a:ext cx="301686" cy="369332"/>
          </a:xfrm>
          <a:prstGeom prst="rect">
            <a:avLst/>
          </a:prstGeom>
          <a:noFill/>
        </p:spPr>
        <p:txBody>
          <a:bodyPr wrap="none" rtlCol="0">
            <a:spAutoFit/>
          </a:bodyPr>
          <a:lstStyle/>
          <a:p>
            <a:r>
              <a:rPr lang="ru-RU" dirty="0"/>
              <a:t>5</a:t>
            </a:r>
          </a:p>
        </p:txBody>
      </p:sp>
      <p:sp>
        <p:nvSpPr>
          <p:cNvPr id="51" name="TextBox 50"/>
          <p:cNvSpPr txBox="1"/>
          <p:nvPr/>
        </p:nvSpPr>
        <p:spPr>
          <a:xfrm>
            <a:off x="4050867" y="1800330"/>
            <a:ext cx="301686" cy="369332"/>
          </a:xfrm>
          <a:prstGeom prst="rect">
            <a:avLst/>
          </a:prstGeom>
          <a:noFill/>
        </p:spPr>
        <p:txBody>
          <a:bodyPr wrap="none" rtlCol="0">
            <a:spAutoFit/>
          </a:bodyPr>
          <a:lstStyle/>
          <a:p>
            <a:r>
              <a:rPr lang="ru-RU" dirty="0" smtClean="0"/>
              <a:t>7</a:t>
            </a:r>
            <a:endParaRPr lang="ru-RU" dirty="0"/>
          </a:p>
        </p:txBody>
      </p:sp>
      <p:sp>
        <p:nvSpPr>
          <p:cNvPr id="52" name="TextBox 51"/>
          <p:cNvSpPr txBox="1"/>
          <p:nvPr/>
        </p:nvSpPr>
        <p:spPr>
          <a:xfrm>
            <a:off x="3563888" y="1162844"/>
            <a:ext cx="301686" cy="369332"/>
          </a:xfrm>
          <a:prstGeom prst="rect">
            <a:avLst/>
          </a:prstGeom>
          <a:noFill/>
        </p:spPr>
        <p:txBody>
          <a:bodyPr wrap="none" rtlCol="0">
            <a:spAutoFit/>
          </a:bodyPr>
          <a:lstStyle/>
          <a:p>
            <a:r>
              <a:rPr lang="ru-RU" dirty="0"/>
              <a:t>4</a:t>
            </a:r>
          </a:p>
        </p:txBody>
      </p:sp>
      <p:sp>
        <p:nvSpPr>
          <p:cNvPr id="53" name="TextBox 52"/>
          <p:cNvSpPr txBox="1"/>
          <p:nvPr/>
        </p:nvSpPr>
        <p:spPr>
          <a:xfrm>
            <a:off x="2627784" y="1185880"/>
            <a:ext cx="301686" cy="369332"/>
          </a:xfrm>
          <a:prstGeom prst="rect">
            <a:avLst/>
          </a:prstGeom>
          <a:noFill/>
        </p:spPr>
        <p:txBody>
          <a:bodyPr wrap="none" rtlCol="0">
            <a:spAutoFit/>
          </a:bodyPr>
          <a:lstStyle/>
          <a:p>
            <a:r>
              <a:rPr lang="ru-RU" dirty="0" smtClean="0"/>
              <a:t>8</a:t>
            </a:r>
            <a:endParaRPr lang="ru-RU" dirty="0"/>
          </a:p>
        </p:txBody>
      </p:sp>
      <p:sp>
        <p:nvSpPr>
          <p:cNvPr id="54" name="TextBox 53"/>
          <p:cNvSpPr txBox="1"/>
          <p:nvPr/>
        </p:nvSpPr>
        <p:spPr>
          <a:xfrm>
            <a:off x="1695538" y="1513592"/>
            <a:ext cx="301686" cy="369332"/>
          </a:xfrm>
          <a:prstGeom prst="rect">
            <a:avLst/>
          </a:prstGeom>
          <a:noFill/>
        </p:spPr>
        <p:txBody>
          <a:bodyPr wrap="none" rtlCol="0">
            <a:spAutoFit/>
          </a:bodyPr>
          <a:lstStyle/>
          <a:p>
            <a:r>
              <a:rPr lang="ru-RU" dirty="0"/>
              <a:t>3</a:t>
            </a:r>
          </a:p>
        </p:txBody>
      </p:sp>
      <p:sp>
        <p:nvSpPr>
          <p:cNvPr id="55" name="TextBox 54"/>
          <p:cNvSpPr txBox="1"/>
          <p:nvPr/>
        </p:nvSpPr>
        <p:spPr>
          <a:xfrm>
            <a:off x="1698403" y="2348280"/>
            <a:ext cx="301686" cy="369332"/>
          </a:xfrm>
          <a:prstGeom prst="rect">
            <a:avLst/>
          </a:prstGeom>
          <a:noFill/>
        </p:spPr>
        <p:txBody>
          <a:bodyPr wrap="none" rtlCol="0">
            <a:spAutoFit/>
          </a:bodyPr>
          <a:lstStyle/>
          <a:p>
            <a:r>
              <a:rPr lang="ru-RU" dirty="0"/>
              <a:t>2</a:t>
            </a:r>
          </a:p>
        </p:txBody>
      </p:sp>
      <p:sp>
        <p:nvSpPr>
          <p:cNvPr id="56" name="TextBox 55"/>
          <p:cNvSpPr txBox="1"/>
          <p:nvPr/>
        </p:nvSpPr>
        <p:spPr>
          <a:xfrm>
            <a:off x="1679192" y="2924275"/>
            <a:ext cx="301686" cy="369332"/>
          </a:xfrm>
          <a:prstGeom prst="rect">
            <a:avLst/>
          </a:prstGeom>
          <a:noFill/>
        </p:spPr>
        <p:txBody>
          <a:bodyPr wrap="none" rtlCol="0">
            <a:spAutoFit/>
          </a:bodyPr>
          <a:lstStyle/>
          <a:p>
            <a:r>
              <a:rPr lang="ru-RU" dirty="0" smtClean="0"/>
              <a:t>6</a:t>
            </a:r>
            <a:endParaRPr lang="ru-RU" dirty="0"/>
          </a:p>
        </p:txBody>
      </p:sp>
      <p:sp>
        <p:nvSpPr>
          <p:cNvPr id="57" name="Овал 56"/>
          <p:cNvSpPr/>
          <p:nvPr/>
        </p:nvSpPr>
        <p:spPr>
          <a:xfrm>
            <a:off x="1182291" y="269939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Овал 57"/>
          <p:cNvSpPr/>
          <p:nvPr/>
        </p:nvSpPr>
        <p:spPr>
          <a:xfrm>
            <a:off x="1183432" y="325107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Овал 58"/>
          <p:cNvSpPr/>
          <p:nvPr/>
        </p:nvSpPr>
        <p:spPr>
          <a:xfrm>
            <a:off x="1202482" y="440320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Овал 59"/>
          <p:cNvSpPr/>
          <p:nvPr/>
        </p:nvSpPr>
        <p:spPr>
          <a:xfrm>
            <a:off x="2987824" y="439367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Овал 60"/>
          <p:cNvSpPr/>
          <p:nvPr/>
        </p:nvSpPr>
        <p:spPr>
          <a:xfrm>
            <a:off x="3457972" y="109616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Овал 61"/>
          <p:cNvSpPr/>
          <p:nvPr/>
        </p:nvSpPr>
        <p:spPr>
          <a:xfrm>
            <a:off x="2604542" y="108664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Овал 62"/>
          <p:cNvSpPr/>
          <p:nvPr/>
        </p:nvSpPr>
        <p:spPr>
          <a:xfrm>
            <a:off x="871017" y="325107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5" name="Прямая со стрелкой 64"/>
          <p:cNvCxnSpPr/>
          <p:nvPr/>
        </p:nvCxnSpPr>
        <p:spPr>
          <a:xfrm>
            <a:off x="4838886" y="2348280"/>
            <a:ext cx="0" cy="204539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5208265" y="3100318"/>
            <a:ext cx="813043" cy="369332"/>
          </a:xfrm>
          <a:prstGeom prst="rect">
            <a:avLst/>
          </a:prstGeom>
          <a:noFill/>
        </p:spPr>
        <p:txBody>
          <a:bodyPr wrap="none" rtlCol="0">
            <a:spAutoFit/>
          </a:bodyPr>
          <a:lstStyle/>
          <a:p>
            <a:r>
              <a:rPr lang="en-US" dirty="0" smtClean="0"/>
              <a:t>U</a:t>
            </a:r>
            <a:r>
              <a:rPr lang="ru-RU" dirty="0" smtClean="0"/>
              <a:t>вых3</a:t>
            </a:r>
            <a:endParaRPr lang="ru-RU" dirty="0"/>
          </a:p>
        </p:txBody>
      </p:sp>
      <p:sp>
        <p:nvSpPr>
          <p:cNvPr id="67" name="TextBox 66"/>
          <p:cNvSpPr txBox="1"/>
          <p:nvPr/>
        </p:nvSpPr>
        <p:spPr>
          <a:xfrm>
            <a:off x="93978" y="1647473"/>
            <a:ext cx="813043" cy="369332"/>
          </a:xfrm>
          <a:prstGeom prst="rect">
            <a:avLst/>
          </a:prstGeom>
          <a:noFill/>
        </p:spPr>
        <p:txBody>
          <a:bodyPr wrap="none" rtlCol="0">
            <a:spAutoFit/>
          </a:bodyPr>
          <a:lstStyle/>
          <a:p>
            <a:r>
              <a:rPr lang="en-US" dirty="0" smtClean="0"/>
              <a:t>U</a:t>
            </a:r>
            <a:r>
              <a:rPr lang="ru-RU" dirty="0" smtClean="0"/>
              <a:t>вых1</a:t>
            </a:r>
            <a:endParaRPr lang="ru-RU" dirty="0"/>
          </a:p>
        </p:txBody>
      </p:sp>
      <p:sp>
        <p:nvSpPr>
          <p:cNvPr id="68" name="TextBox 67"/>
          <p:cNvSpPr txBox="1"/>
          <p:nvPr/>
        </p:nvSpPr>
        <p:spPr>
          <a:xfrm>
            <a:off x="327908" y="2775992"/>
            <a:ext cx="813043" cy="369332"/>
          </a:xfrm>
          <a:prstGeom prst="rect">
            <a:avLst/>
          </a:prstGeom>
          <a:noFill/>
        </p:spPr>
        <p:txBody>
          <a:bodyPr wrap="none" rtlCol="0">
            <a:spAutoFit/>
          </a:bodyPr>
          <a:lstStyle/>
          <a:p>
            <a:r>
              <a:rPr lang="en-US" dirty="0" smtClean="0"/>
              <a:t>U</a:t>
            </a:r>
            <a:r>
              <a:rPr lang="ru-RU" dirty="0" smtClean="0"/>
              <a:t>вых2</a:t>
            </a:r>
            <a:endParaRPr lang="ru-RU" dirty="0"/>
          </a:p>
        </p:txBody>
      </p:sp>
      <p:cxnSp>
        <p:nvCxnSpPr>
          <p:cNvPr id="70" name="Прямая со стрелкой 69"/>
          <p:cNvCxnSpPr>
            <a:stCxn id="63" idx="4"/>
          </p:cNvCxnSpPr>
          <p:nvPr/>
        </p:nvCxnSpPr>
        <p:spPr>
          <a:xfrm>
            <a:off x="907021" y="3323084"/>
            <a:ext cx="0" cy="110659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1" name="Прямая со стрелкой 70"/>
          <p:cNvCxnSpPr/>
          <p:nvPr/>
        </p:nvCxnSpPr>
        <p:spPr>
          <a:xfrm>
            <a:off x="327908" y="1984996"/>
            <a:ext cx="0" cy="24446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1303345" y="2153171"/>
            <a:ext cx="309700" cy="369332"/>
          </a:xfrm>
          <a:prstGeom prst="rect">
            <a:avLst/>
          </a:prstGeom>
          <a:noFill/>
        </p:spPr>
        <p:txBody>
          <a:bodyPr wrap="none" rtlCol="0">
            <a:spAutoFit/>
          </a:bodyPr>
          <a:lstStyle/>
          <a:p>
            <a:r>
              <a:rPr lang="en-US" dirty="0" smtClean="0"/>
              <a:t>R</a:t>
            </a:r>
            <a:endParaRPr lang="ru-RU" dirty="0"/>
          </a:p>
        </p:txBody>
      </p:sp>
      <p:sp>
        <p:nvSpPr>
          <p:cNvPr id="74" name="TextBox 73"/>
          <p:cNvSpPr txBox="1"/>
          <p:nvPr/>
        </p:nvSpPr>
        <p:spPr>
          <a:xfrm>
            <a:off x="5127476" y="937982"/>
            <a:ext cx="567784" cy="369332"/>
          </a:xfrm>
          <a:prstGeom prst="rect">
            <a:avLst/>
          </a:prstGeom>
          <a:noFill/>
        </p:spPr>
        <p:txBody>
          <a:bodyPr wrap="none" rtlCol="0">
            <a:spAutoFit/>
          </a:bodyPr>
          <a:lstStyle/>
          <a:p>
            <a:r>
              <a:rPr lang="ru-RU" dirty="0" smtClean="0"/>
              <a:t>+</a:t>
            </a:r>
            <a:r>
              <a:rPr lang="en-US" dirty="0" smtClean="0"/>
              <a:t>U</a:t>
            </a:r>
            <a:r>
              <a:rPr lang="ru-RU" dirty="0"/>
              <a:t>п</a:t>
            </a:r>
          </a:p>
        </p:txBody>
      </p:sp>
      <p:cxnSp>
        <p:nvCxnSpPr>
          <p:cNvPr id="76" name="Прямая соединительная линия 75"/>
          <p:cNvCxnSpPr/>
          <p:nvPr/>
        </p:nvCxnSpPr>
        <p:spPr>
          <a:xfrm>
            <a:off x="1501366" y="6525344"/>
            <a:ext cx="357881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Прямая соединительная линия 77"/>
          <p:cNvCxnSpPr>
            <a:stCxn id="82" idx="0"/>
          </p:cNvCxnSpPr>
          <p:nvPr/>
        </p:nvCxnSpPr>
        <p:spPr>
          <a:xfrm flipV="1">
            <a:off x="1514211" y="6309320"/>
            <a:ext cx="3458025" cy="13991"/>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cxnSp>
        <p:nvCxnSpPr>
          <p:cNvPr id="79" name="Прямая соединительная линия 78"/>
          <p:cNvCxnSpPr/>
          <p:nvPr/>
        </p:nvCxnSpPr>
        <p:spPr>
          <a:xfrm>
            <a:off x="1514211" y="5733256"/>
            <a:ext cx="3497135" cy="0"/>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cxnSp>
        <p:nvCxnSpPr>
          <p:cNvPr id="81" name="Прямая со стрелкой 80"/>
          <p:cNvCxnSpPr/>
          <p:nvPr/>
        </p:nvCxnSpPr>
        <p:spPr>
          <a:xfrm>
            <a:off x="1458195" y="5505199"/>
            <a:ext cx="3507597" cy="1203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2" name="Дуга 81"/>
          <p:cNvSpPr/>
          <p:nvPr/>
        </p:nvSpPr>
        <p:spPr>
          <a:xfrm rot="16200000">
            <a:off x="1540403" y="5723410"/>
            <a:ext cx="1147418" cy="1199802"/>
          </a:xfrm>
          <a:prstGeom prst="arc">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3" name="Дуга 82"/>
          <p:cNvSpPr/>
          <p:nvPr/>
        </p:nvSpPr>
        <p:spPr>
          <a:xfrm rot="10800000">
            <a:off x="2125034" y="5157192"/>
            <a:ext cx="1177957" cy="1152128"/>
          </a:xfrm>
          <a:prstGeom prst="arc">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4" name="Дуга 83"/>
          <p:cNvSpPr/>
          <p:nvPr/>
        </p:nvSpPr>
        <p:spPr>
          <a:xfrm rot="16200000">
            <a:off x="2718361" y="5697685"/>
            <a:ext cx="1147418" cy="1199802"/>
          </a:xfrm>
          <a:prstGeom prst="arc">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5" name="Дуга 84"/>
          <p:cNvSpPr/>
          <p:nvPr/>
        </p:nvSpPr>
        <p:spPr>
          <a:xfrm rot="10800000">
            <a:off x="3302992" y="5131467"/>
            <a:ext cx="1177957" cy="1152128"/>
          </a:xfrm>
          <a:prstGeom prst="arc">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cxnSp>
        <p:nvCxnSpPr>
          <p:cNvPr id="87" name="Прямая соединительная линия 86"/>
          <p:cNvCxnSpPr/>
          <p:nvPr/>
        </p:nvCxnSpPr>
        <p:spPr>
          <a:xfrm>
            <a:off x="2125034" y="4797152"/>
            <a:ext cx="0" cy="1800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87"/>
          <p:cNvCxnSpPr/>
          <p:nvPr/>
        </p:nvCxnSpPr>
        <p:spPr>
          <a:xfrm>
            <a:off x="2696559" y="4797152"/>
            <a:ext cx="0" cy="1800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88"/>
          <p:cNvCxnSpPr/>
          <p:nvPr/>
        </p:nvCxnSpPr>
        <p:spPr>
          <a:xfrm>
            <a:off x="3302992" y="4823776"/>
            <a:ext cx="0" cy="1800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Прямая соединительная линия 91"/>
          <p:cNvCxnSpPr/>
          <p:nvPr/>
        </p:nvCxnSpPr>
        <p:spPr>
          <a:xfrm>
            <a:off x="1515170" y="4807431"/>
            <a:ext cx="0" cy="1800200"/>
          </a:xfrm>
          <a:prstGeom prst="line">
            <a:avLst/>
          </a:prstGeom>
          <a:ln w="3810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Прямая соединительная линия 93"/>
          <p:cNvCxnSpPr/>
          <p:nvPr/>
        </p:nvCxnSpPr>
        <p:spPr>
          <a:xfrm>
            <a:off x="1514211" y="5131467"/>
            <a:ext cx="6108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Прямая соединительная линия 96"/>
          <p:cNvCxnSpPr/>
          <p:nvPr/>
        </p:nvCxnSpPr>
        <p:spPr>
          <a:xfrm>
            <a:off x="2103190" y="5505199"/>
            <a:ext cx="6108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Прямая соединительная линия 97"/>
          <p:cNvCxnSpPr/>
          <p:nvPr/>
        </p:nvCxnSpPr>
        <p:spPr>
          <a:xfrm>
            <a:off x="2706130" y="5131467"/>
            <a:ext cx="6108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Прямая соединительная линия 99"/>
          <p:cNvCxnSpPr/>
          <p:nvPr/>
        </p:nvCxnSpPr>
        <p:spPr>
          <a:xfrm>
            <a:off x="3302992" y="5131467"/>
            <a:ext cx="0" cy="3737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Прямая соединительная линия 101"/>
          <p:cNvCxnSpPr/>
          <p:nvPr/>
        </p:nvCxnSpPr>
        <p:spPr>
          <a:xfrm>
            <a:off x="2706130" y="5157192"/>
            <a:ext cx="0" cy="3737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Прямая соединительная линия 102"/>
          <p:cNvCxnSpPr/>
          <p:nvPr/>
        </p:nvCxnSpPr>
        <p:spPr>
          <a:xfrm>
            <a:off x="2125034" y="5143500"/>
            <a:ext cx="0" cy="3737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5183262" y="6464194"/>
            <a:ext cx="261610" cy="369332"/>
          </a:xfrm>
          <a:prstGeom prst="rect">
            <a:avLst/>
          </a:prstGeom>
          <a:noFill/>
        </p:spPr>
        <p:txBody>
          <a:bodyPr wrap="none" rtlCol="0">
            <a:spAutoFit/>
          </a:bodyPr>
          <a:lstStyle/>
          <a:p>
            <a:r>
              <a:rPr lang="en-US" dirty="0"/>
              <a:t>t</a:t>
            </a:r>
            <a:endParaRPr lang="ru-RU" dirty="0"/>
          </a:p>
        </p:txBody>
      </p:sp>
      <p:sp>
        <p:nvSpPr>
          <p:cNvPr id="105" name="TextBox 104"/>
          <p:cNvSpPr txBox="1"/>
          <p:nvPr/>
        </p:nvSpPr>
        <p:spPr>
          <a:xfrm>
            <a:off x="603178" y="4778757"/>
            <a:ext cx="813043" cy="369332"/>
          </a:xfrm>
          <a:prstGeom prst="rect">
            <a:avLst/>
          </a:prstGeom>
          <a:noFill/>
        </p:spPr>
        <p:txBody>
          <a:bodyPr wrap="none" rtlCol="0">
            <a:spAutoFit/>
          </a:bodyPr>
          <a:lstStyle/>
          <a:p>
            <a:r>
              <a:rPr lang="en-US" dirty="0" smtClean="0"/>
              <a:t>U</a:t>
            </a:r>
            <a:r>
              <a:rPr lang="ru-RU" dirty="0" smtClean="0"/>
              <a:t>вых1</a:t>
            </a:r>
            <a:endParaRPr lang="ru-RU" dirty="0"/>
          </a:p>
        </p:txBody>
      </p:sp>
      <p:sp>
        <p:nvSpPr>
          <p:cNvPr id="106" name="TextBox 105"/>
          <p:cNvSpPr txBox="1"/>
          <p:nvPr/>
        </p:nvSpPr>
        <p:spPr>
          <a:xfrm>
            <a:off x="567174" y="5681253"/>
            <a:ext cx="813043" cy="369332"/>
          </a:xfrm>
          <a:prstGeom prst="rect">
            <a:avLst/>
          </a:prstGeom>
          <a:noFill/>
        </p:spPr>
        <p:txBody>
          <a:bodyPr wrap="none" rtlCol="0">
            <a:spAutoFit/>
          </a:bodyPr>
          <a:lstStyle/>
          <a:p>
            <a:r>
              <a:rPr lang="en-US" dirty="0" smtClean="0"/>
              <a:t>U</a:t>
            </a:r>
            <a:r>
              <a:rPr lang="ru-RU" dirty="0" smtClean="0"/>
              <a:t>вых2</a:t>
            </a:r>
            <a:endParaRPr lang="ru-RU" dirty="0"/>
          </a:p>
        </p:txBody>
      </p:sp>
      <p:sp>
        <p:nvSpPr>
          <p:cNvPr id="107" name="TextBox 106"/>
          <p:cNvSpPr txBox="1"/>
          <p:nvPr/>
        </p:nvSpPr>
        <p:spPr>
          <a:xfrm>
            <a:off x="5097274" y="5341339"/>
            <a:ext cx="261610" cy="369332"/>
          </a:xfrm>
          <a:prstGeom prst="rect">
            <a:avLst/>
          </a:prstGeom>
          <a:noFill/>
        </p:spPr>
        <p:txBody>
          <a:bodyPr wrap="none" rtlCol="0">
            <a:spAutoFit/>
          </a:bodyPr>
          <a:lstStyle/>
          <a:p>
            <a:r>
              <a:rPr lang="en-US" dirty="0"/>
              <a:t>t</a:t>
            </a:r>
            <a:endParaRPr lang="ru-RU" dirty="0"/>
          </a:p>
        </p:txBody>
      </p:sp>
      <p:sp>
        <p:nvSpPr>
          <p:cNvPr id="108" name="TextBox 107"/>
          <p:cNvSpPr txBox="1"/>
          <p:nvPr/>
        </p:nvSpPr>
        <p:spPr>
          <a:xfrm>
            <a:off x="4937239" y="6050585"/>
            <a:ext cx="776175" cy="369332"/>
          </a:xfrm>
          <a:prstGeom prst="rect">
            <a:avLst/>
          </a:prstGeom>
          <a:noFill/>
        </p:spPr>
        <p:txBody>
          <a:bodyPr wrap="none" rtlCol="0">
            <a:spAutoFit/>
          </a:bodyPr>
          <a:lstStyle/>
          <a:p>
            <a:r>
              <a:rPr lang="ru-RU" dirty="0" smtClean="0"/>
              <a:t>1</a:t>
            </a:r>
            <a:r>
              <a:rPr lang="en-US" dirty="0" smtClean="0"/>
              <a:t>/3U</a:t>
            </a:r>
            <a:r>
              <a:rPr lang="ru-RU" dirty="0" smtClean="0"/>
              <a:t>п</a:t>
            </a:r>
            <a:endParaRPr lang="ru-RU" dirty="0"/>
          </a:p>
        </p:txBody>
      </p:sp>
      <p:sp>
        <p:nvSpPr>
          <p:cNvPr id="109" name="TextBox 108"/>
          <p:cNvSpPr txBox="1"/>
          <p:nvPr/>
        </p:nvSpPr>
        <p:spPr>
          <a:xfrm>
            <a:off x="5023280" y="5526005"/>
            <a:ext cx="776175" cy="369332"/>
          </a:xfrm>
          <a:prstGeom prst="rect">
            <a:avLst/>
          </a:prstGeom>
          <a:noFill/>
        </p:spPr>
        <p:txBody>
          <a:bodyPr wrap="none" rtlCol="0">
            <a:spAutoFit/>
          </a:bodyPr>
          <a:lstStyle/>
          <a:p>
            <a:r>
              <a:rPr lang="en-US" dirty="0"/>
              <a:t>2</a:t>
            </a:r>
            <a:r>
              <a:rPr lang="en-US" dirty="0" smtClean="0"/>
              <a:t>/3U</a:t>
            </a:r>
            <a:r>
              <a:rPr lang="ru-RU" dirty="0" smtClean="0"/>
              <a:t>п</a:t>
            </a:r>
            <a:endParaRPr lang="ru-RU" dirty="0"/>
          </a:p>
        </p:txBody>
      </p:sp>
      <p:sp>
        <p:nvSpPr>
          <p:cNvPr id="112" name="TextBox 111"/>
          <p:cNvSpPr txBox="1"/>
          <p:nvPr/>
        </p:nvSpPr>
        <p:spPr>
          <a:xfrm>
            <a:off x="1303345" y="6525344"/>
            <a:ext cx="301686" cy="369332"/>
          </a:xfrm>
          <a:prstGeom prst="rect">
            <a:avLst/>
          </a:prstGeom>
          <a:noFill/>
        </p:spPr>
        <p:txBody>
          <a:bodyPr wrap="none" rtlCol="0">
            <a:spAutoFit/>
          </a:bodyPr>
          <a:lstStyle/>
          <a:p>
            <a:r>
              <a:rPr lang="en-US" dirty="0" smtClean="0"/>
              <a:t>0</a:t>
            </a:r>
            <a:endParaRPr lang="ru-RU" dirty="0"/>
          </a:p>
        </p:txBody>
      </p:sp>
      <p:sp>
        <p:nvSpPr>
          <p:cNvPr id="113" name="TextBox 112"/>
          <p:cNvSpPr txBox="1"/>
          <p:nvPr/>
        </p:nvSpPr>
        <p:spPr>
          <a:xfrm>
            <a:off x="1152502" y="5281922"/>
            <a:ext cx="301686" cy="369332"/>
          </a:xfrm>
          <a:prstGeom prst="rect">
            <a:avLst/>
          </a:prstGeom>
          <a:noFill/>
        </p:spPr>
        <p:txBody>
          <a:bodyPr wrap="none" rtlCol="0">
            <a:spAutoFit/>
          </a:bodyPr>
          <a:lstStyle/>
          <a:p>
            <a:r>
              <a:rPr lang="en-US" dirty="0" smtClean="0"/>
              <a:t>0</a:t>
            </a:r>
            <a:endParaRPr lang="ru-RU" dirty="0"/>
          </a:p>
        </p:txBody>
      </p:sp>
      <p:sp>
        <p:nvSpPr>
          <p:cNvPr id="114" name="TextBox 113"/>
          <p:cNvSpPr txBox="1"/>
          <p:nvPr/>
        </p:nvSpPr>
        <p:spPr>
          <a:xfrm>
            <a:off x="2585266" y="1770266"/>
            <a:ext cx="908710" cy="369332"/>
          </a:xfrm>
          <a:prstGeom prst="rect">
            <a:avLst/>
          </a:prstGeom>
          <a:noFill/>
        </p:spPr>
        <p:txBody>
          <a:bodyPr wrap="none" rtlCol="0">
            <a:spAutoFit/>
          </a:bodyPr>
          <a:lstStyle/>
          <a:p>
            <a:r>
              <a:rPr lang="ru-RU" dirty="0" smtClean="0"/>
              <a:t>Таймер</a:t>
            </a:r>
            <a:endParaRPr lang="ru-RU" dirty="0"/>
          </a:p>
        </p:txBody>
      </p:sp>
      <p:sp>
        <p:nvSpPr>
          <p:cNvPr id="116" name="TextBox 115"/>
          <p:cNvSpPr txBox="1"/>
          <p:nvPr/>
        </p:nvSpPr>
        <p:spPr>
          <a:xfrm>
            <a:off x="1371094" y="3663930"/>
            <a:ext cx="308098" cy="369332"/>
          </a:xfrm>
          <a:prstGeom prst="rect">
            <a:avLst/>
          </a:prstGeom>
          <a:noFill/>
        </p:spPr>
        <p:txBody>
          <a:bodyPr wrap="none" rtlCol="0">
            <a:spAutoFit/>
          </a:bodyPr>
          <a:lstStyle/>
          <a:p>
            <a:r>
              <a:rPr lang="ru-RU" dirty="0" smtClean="0"/>
              <a:t>С</a:t>
            </a:r>
            <a:endParaRPr lang="ru-RU" dirty="0"/>
          </a:p>
        </p:txBody>
      </p:sp>
      <p:sp>
        <p:nvSpPr>
          <p:cNvPr id="118" name="TextBox 117"/>
          <p:cNvSpPr txBox="1"/>
          <p:nvPr/>
        </p:nvSpPr>
        <p:spPr>
          <a:xfrm>
            <a:off x="6660232" y="2348280"/>
            <a:ext cx="572593" cy="369332"/>
          </a:xfrm>
          <a:prstGeom prst="rect">
            <a:avLst/>
          </a:prstGeom>
          <a:noFill/>
        </p:spPr>
        <p:txBody>
          <a:bodyPr wrap="none" rtlCol="0">
            <a:spAutoFit/>
          </a:bodyPr>
          <a:lstStyle/>
          <a:p>
            <a:r>
              <a:rPr lang="en-US" dirty="0" smtClean="0"/>
              <a:t>Q≈2</a:t>
            </a:r>
            <a:endParaRPr lang="ru-RU" dirty="0"/>
          </a:p>
        </p:txBody>
      </p:sp>
      <p:sp>
        <p:nvSpPr>
          <p:cNvPr id="119" name="TextBox 118"/>
          <p:cNvSpPr txBox="1"/>
          <p:nvPr/>
        </p:nvSpPr>
        <p:spPr>
          <a:xfrm>
            <a:off x="6335976" y="1940238"/>
            <a:ext cx="1336520" cy="369332"/>
          </a:xfrm>
          <a:prstGeom prst="rect">
            <a:avLst/>
          </a:prstGeom>
          <a:noFill/>
        </p:spPr>
        <p:txBody>
          <a:bodyPr wrap="none" rtlCol="0">
            <a:spAutoFit/>
          </a:bodyPr>
          <a:lstStyle/>
          <a:p>
            <a:r>
              <a:rPr lang="ru-RU" dirty="0" smtClean="0"/>
              <a:t>Скважность</a:t>
            </a:r>
            <a:endParaRPr lang="ru-RU" dirty="0"/>
          </a:p>
        </p:txBody>
      </p:sp>
    </p:spTree>
    <p:extLst>
      <p:ext uri="{BB962C8B-B14F-4D97-AF65-F5344CB8AC3E}">
        <p14:creationId xmlns:p14="http://schemas.microsoft.com/office/powerpoint/2010/main" val="3232259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031132" y="1616348"/>
            <a:ext cx="1944216" cy="223224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 name="Прямая соединительная линия 4"/>
          <p:cNvCxnSpPr/>
          <p:nvPr/>
        </p:nvCxnSpPr>
        <p:spPr>
          <a:xfrm>
            <a:off x="3975348" y="2204864"/>
            <a:ext cx="8846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p:nvPr/>
        </p:nvCxnSpPr>
        <p:spPr>
          <a:xfrm>
            <a:off x="3975348" y="3068960"/>
            <a:ext cx="5375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p:nvPr/>
        </p:nvCxnSpPr>
        <p:spPr>
          <a:xfrm>
            <a:off x="755576" y="4437112"/>
            <a:ext cx="44276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a:off x="1202482" y="1124744"/>
            <a:ext cx="3801566"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2627784" y="1124744"/>
            <a:ext cx="0" cy="4916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3491880" y="1124744"/>
            <a:ext cx="0" cy="4916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a:off x="1225446" y="1916832"/>
            <a:ext cx="77711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endCxn id="4" idx="1"/>
          </p:cNvCxnSpPr>
          <p:nvPr/>
        </p:nvCxnSpPr>
        <p:spPr>
          <a:xfrm>
            <a:off x="1194958" y="2732472"/>
            <a:ext cx="83617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a:off x="899592" y="3284984"/>
            <a:ext cx="1131540" cy="20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a:endCxn id="61" idx="0"/>
          </p:cNvCxnSpPr>
          <p:nvPr/>
        </p:nvCxnSpPr>
        <p:spPr>
          <a:xfrm flipH="1" flipV="1">
            <a:off x="1222823" y="1698258"/>
            <a:ext cx="241" cy="10194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rot="16200000">
            <a:off x="1222824" y="3709796"/>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rot="16200000">
            <a:off x="1222824" y="3607662"/>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1222823" y="3861048"/>
            <a:ext cx="0" cy="5760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flipH="1">
            <a:off x="1222823" y="3293607"/>
            <a:ext cx="2" cy="4580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flipV="1">
            <a:off x="1222825" y="2732472"/>
            <a:ext cx="0" cy="5525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a:stCxn id="4" idx="2"/>
          </p:cNvCxnSpPr>
          <p:nvPr/>
        </p:nvCxnSpPr>
        <p:spPr>
          <a:xfrm>
            <a:off x="3003240" y="3848596"/>
            <a:ext cx="0" cy="588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Овал 22"/>
          <p:cNvSpPr/>
          <p:nvPr/>
        </p:nvSpPr>
        <p:spPr>
          <a:xfrm>
            <a:off x="755576" y="4408537"/>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Овал 24"/>
          <p:cNvSpPr/>
          <p:nvPr/>
        </p:nvSpPr>
        <p:spPr>
          <a:xfrm>
            <a:off x="4802882" y="2166764"/>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Овал 25"/>
          <p:cNvSpPr/>
          <p:nvPr/>
        </p:nvSpPr>
        <p:spPr>
          <a:xfrm>
            <a:off x="4936232" y="109083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7" name="Прямая соединительная линия 26"/>
          <p:cNvCxnSpPr/>
          <p:nvPr/>
        </p:nvCxnSpPr>
        <p:spPr>
          <a:xfrm>
            <a:off x="5006315" y="4725144"/>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5183262" y="4433514"/>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Овал 28"/>
          <p:cNvSpPr/>
          <p:nvPr/>
        </p:nvSpPr>
        <p:spPr>
          <a:xfrm>
            <a:off x="5136257" y="4412729"/>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Box 29"/>
          <p:cNvSpPr txBox="1"/>
          <p:nvPr/>
        </p:nvSpPr>
        <p:spPr>
          <a:xfrm>
            <a:off x="3203848" y="4077072"/>
            <a:ext cx="301686" cy="369332"/>
          </a:xfrm>
          <a:prstGeom prst="rect">
            <a:avLst/>
          </a:prstGeom>
          <a:noFill/>
        </p:spPr>
        <p:txBody>
          <a:bodyPr wrap="none" rtlCol="0">
            <a:spAutoFit/>
          </a:bodyPr>
          <a:lstStyle/>
          <a:p>
            <a:r>
              <a:rPr lang="ru-RU" dirty="0" smtClean="0"/>
              <a:t>1</a:t>
            </a:r>
            <a:endParaRPr lang="ru-RU" dirty="0"/>
          </a:p>
        </p:txBody>
      </p:sp>
      <p:sp>
        <p:nvSpPr>
          <p:cNvPr id="31" name="TextBox 30"/>
          <p:cNvSpPr txBox="1"/>
          <p:nvPr/>
        </p:nvSpPr>
        <p:spPr>
          <a:xfrm>
            <a:off x="4070270" y="3108941"/>
            <a:ext cx="301686" cy="369332"/>
          </a:xfrm>
          <a:prstGeom prst="rect">
            <a:avLst/>
          </a:prstGeom>
          <a:noFill/>
        </p:spPr>
        <p:txBody>
          <a:bodyPr wrap="none" rtlCol="0">
            <a:spAutoFit/>
          </a:bodyPr>
          <a:lstStyle/>
          <a:p>
            <a:r>
              <a:rPr lang="ru-RU" dirty="0"/>
              <a:t>5</a:t>
            </a:r>
          </a:p>
        </p:txBody>
      </p:sp>
      <p:sp>
        <p:nvSpPr>
          <p:cNvPr id="32" name="TextBox 31"/>
          <p:cNvSpPr txBox="1"/>
          <p:nvPr/>
        </p:nvSpPr>
        <p:spPr>
          <a:xfrm>
            <a:off x="4050867" y="1800330"/>
            <a:ext cx="301686" cy="369332"/>
          </a:xfrm>
          <a:prstGeom prst="rect">
            <a:avLst/>
          </a:prstGeom>
          <a:noFill/>
        </p:spPr>
        <p:txBody>
          <a:bodyPr wrap="none" rtlCol="0">
            <a:spAutoFit/>
          </a:bodyPr>
          <a:lstStyle/>
          <a:p>
            <a:r>
              <a:rPr lang="ru-RU" dirty="0"/>
              <a:t>3</a:t>
            </a:r>
          </a:p>
        </p:txBody>
      </p:sp>
      <p:sp>
        <p:nvSpPr>
          <p:cNvPr id="33" name="TextBox 32"/>
          <p:cNvSpPr txBox="1"/>
          <p:nvPr/>
        </p:nvSpPr>
        <p:spPr>
          <a:xfrm>
            <a:off x="3563888" y="1162844"/>
            <a:ext cx="301686" cy="369332"/>
          </a:xfrm>
          <a:prstGeom prst="rect">
            <a:avLst/>
          </a:prstGeom>
          <a:noFill/>
        </p:spPr>
        <p:txBody>
          <a:bodyPr wrap="none" rtlCol="0">
            <a:spAutoFit/>
          </a:bodyPr>
          <a:lstStyle/>
          <a:p>
            <a:r>
              <a:rPr lang="ru-RU" dirty="0"/>
              <a:t>4</a:t>
            </a:r>
          </a:p>
        </p:txBody>
      </p:sp>
      <p:sp>
        <p:nvSpPr>
          <p:cNvPr id="34" name="TextBox 33"/>
          <p:cNvSpPr txBox="1"/>
          <p:nvPr/>
        </p:nvSpPr>
        <p:spPr>
          <a:xfrm>
            <a:off x="2627784" y="1185880"/>
            <a:ext cx="301686" cy="369332"/>
          </a:xfrm>
          <a:prstGeom prst="rect">
            <a:avLst/>
          </a:prstGeom>
          <a:noFill/>
        </p:spPr>
        <p:txBody>
          <a:bodyPr wrap="none" rtlCol="0">
            <a:spAutoFit/>
          </a:bodyPr>
          <a:lstStyle/>
          <a:p>
            <a:r>
              <a:rPr lang="ru-RU" dirty="0" smtClean="0"/>
              <a:t>8</a:t>
            </a:r>
            <a:endParaRPr lang="ru-RU" dirty="0"/>
          </a:p>
        </p:txBody>
      </p:sp>
      <p:sp>
        <p:nvSpPr>
          <p:cNvPr id="35" name="TextBox 34"/>
          <p:cNvSpPr txBox="1"/>
          <p:nvPr/>
        </p:nvSpPr>
        <p:spPr>
          <a:xfrm>
            <a:off x="1695538" y="1513592"/>
            <a:ext cx="301686" cy="369332"/>
          </a:xfrm>
          <a:prstGeom prst="rect">
            <a:avLst/>
          </a:prstGeom>
          <a:noFill/>
        </p:spPr>
        <p:txBody>
          <a:bodyPr wrap="none" rtlCol="0">
            <a:spAutoFit/>
          </a:bodyPr>
          <a:lstStyle/>
          <a:p>
            <a:r>
              <a:rPr lang="ru-RU" dirty="0" smtClean="0"/>
              <a:t>2</a:t>
            </a:r>
            <a:endParaRPr lang="ru-RU" dirty="0"/>
          </a:p>
        </p:txBody>
      </p:sp>
      <p:sp>
        <p:nvSpPr>
          <p:cNvPr id="36" name="TextBox 35"/>
          <p:cNvSpPr txBox="1"/>
          <p:nvPr/>
        </p:nvSpPr>
        <p:spPr>
          <a:xfrm>
            <a:off x="1698403" y="2348280"/>
            <a:ext cx="301686" cy="369332"/>
          </a:xfrm>
          <a:prstGeom prst="rect">
            <a:avLst/>
          </a:prstGeom>
          <a:noFill/>
        </p:spPr>
        <p:txBody>
          <a:bodyPr wrap="none" rtlCol="0">
            <a:spAutoFit/>
          </a:bodyPr>
          <a:lstStyle/>
          <a:p>
            <a:r>
              <a:rPr lang="ru-RU" dirty="0" smtClean="0"/>
              <a:t>6</a:t>
            </a:r>
            <a:endParaRPr lang="ru-RU" dirty="0"/>
          </a:p>
        </p:txBody>
      </p:sp>
      <p:sp>
        <p:nvSpPr>
          <p:cNvPr id="37" name="TextBox 36"/>
          <p:cNvSpPr txBox="1"/>
          <p:nvPr/>
        </p:nvSpPr>
        <p:spPr>
          <a:xfrm>
            <a:off x="1222822" y="2877699"/>
            <a:ext cx="856325" cy="369332"/>
          </a:xfrm>
          <a:prstGeom prst="rect">
            <a:avLst/>
          </a:prstGeom>
          <a:noFill/>
        </p:spPr>
        <p:txBody>
          <a:bodyPr wrap="none" rtlCol="0">
            <a:spAutoFit/>
          </a:bodyPr>
          <a:lstStyle/>
          <a:p>
            <a:r>
              <a:rPr lang="ru-RU" dirty="0" smtClean="0"/>
              <a:t>7 (</a:t>
            </a:r>
            <a:r>
              <a:rPr lang="en-US" dirty="0" smtClean="0"/>
              <a:t>VT3)</a:t>
            </a:r>
            <a:endParaRPr lang="ru-RU" dirty="0"/>
          </a:p>
        </p:txBody>
      </p:sp>
      <p:sp>
        <p:nvSpPr>
          <p:cNvPr id="38" name="Овал 37"/>
          <p:cNvSpPr/>
          <p:nvPr/>
        </p:nvSpPr>
        <p:spPr>
          <a:xfrm>
            <a:off x="1182291" y="269939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Овал 38"/>
          <p:cNvSpPr/>
          <p:nvPr/>
        </p:nvSpPr>
        <p:spPr>
          <a:xfrm>
            <a:off x="1183432" y="325107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Овал 39"/>
          <p:cNvSpPr/>
          <p:nvPr/>
        </p:nvSpPr>
        <p:spPr>
          <a:xfrm>
            <a:off x="1202482" y="440320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Овал 40"/>
          <p:cNvSpPr/>
          <p:nvPr/>
        </p:nvSpPr>
        <p:spPr>
          <a:xfrm>
            <a:off x="2987824" y="439367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Овал 41"/>
          <p:cNvSpPr/>
          <p:nvPr/>
        </p:nvSpPr>
        <p:spPr>
          <a:xfrm>
            <a:off x="3457972" y="109616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Овал 42"/>
          <p:cNvSpPr/>
          <p:nvPr/>
        </p:nvSpPr>
        <p:spPr>
          <a:xfrm>
            <a:off x="2604542" y="108664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Овал 43"/>
          <p:cNvSpPr/>
          <p:nvPr/>
        </p:nvSpPr>
        <p:spPr>
          <a:xfrm>
            <a:off x="871017" y="325107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5" name="Прямая со стрелкой 44"/>
          <p:cNvCxnSpPr/>
          <p:nvPr/>
        </p:nvCxnSpPr>
        <p:spPr>
          <a:xfrm>
            <a:off x="4838886" y="2348280"/>
            <a:ext cx="0" cy="204539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211588" y="2406660"/>
            <a:ext cx="696024" cy="369332"/>
          </a:xfrm>
          <a:prstGeom prst="rect">
            <a:avLst/>
          </a:prstGeom>
          <a:noFill/>
        </p:spPr>
        <p:txBody>
          <a:bodyPr wrap="none" rtlCol="0">
            <a:spAutoFit/>
          </a:bodyPr>
          <a:lstStyle/>
          <a:p>
            <a:r>
              <a:rPr lang="en-US" dirty="0" smtClean="0"/>
              <a:t>U</a:t>
            </a:r>
            <a:r>
              <a:rPr lang="ru-RU" dirty="0" err="1" smtClean="0"/>
              <a:t>вых</a:t>
            </a:r>
            <a:endParaRPr lang="ru-RU" dirty="0"/>
          </a:p>
        </p:txBody>
      </p:sp>
      <p:sp>
        <p:nvSpPr>
          <p:cNvPr id="48" name="TextBox 47"/>
          <p:cNvSpPr txBox="1"/>
          <p:nvPr/>
        </p:nvSpPr>
        <p:spPr>
          <a:xfrm>
            <a:off x="397658" y="3663930"/>
            <a:ext cx="429926" cy="369332"/>
          </a:xfrm>
          <a:prstGeom prst="rect">
            <a:avLst/>
          </a:prstGeom>
          <a:noFill/>
        </p:spPr>
        <p:txBody>
          <a:bodyPr wrap="none" rtlCol="0">
            <a:spAutoFit/>
          </a:bodyPr>
          <a:lstStyle/>
          <a:p>
            <a:r>
              <a:rPr lang="en-US" dirty="0" smtClean="0"/>
              <a:t>U</a:t>
            </a:r>
            <a:r>
              <a:rPr lang="ru-RU" dirty="0"/>
              <a:t>с</a:t>
            </a:r>
          </a:p>
        </p:txBody>
      </p:sp>
      <p:cxnSp>
        <p:nvCxnSpPr>
          <p:cNvPr id="49" name="Прямая со стрелкой 48"/>
          <p:cNvCxnSpPr>
            <a:stCxn id="44" idx="4"/>
          </p:cNvCxnSpPr>
          <p:nvPr/>
        </p:nvCxnSpPr>
        <p:spPr>
          <a:xfrm>
            <a:off x="907021" y="3323084"/>
            <a:ext cx="0" cy="110659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824780" y="1342266"/>
            <a:ext cx="309700" cy="369332"/>
          </a:xfrm>
          <a:prstGeom prst="rect">
            <a:avLst/>
          </a:prstGeom>
          <a:noFill/>
        </p:spPr>
        <p:txBody>
          <a:bodyPr wrap="none" rtlCol="0">
            <a:spAutoFit/>
          </a:bodyPr>
          <a:lstStyle/>
          <a:p>
            <a:r>
              <a:rPr lang="en-US" dirty="0" smtClean="0"/>
              <a:t>R</a:t>
            </a:r>
            <a:endParaRPr lang="ru-RU" dirty="0"/>
          </a:p>
        </p:txBody>
      </p:sp>
      <p:sp>
        <p:nvSpPr>
          <p:cNvPr id="52" name="TextBox 51"/>
          <p:cNvSpPr txBox="1"/>
          <p:nvPr/>
        </p:nvSpPr>
        <p:spPr>
          <a:xfrm>
            <a:off x="5127476" y="937982"/>
            <a:ext cx="567784" cy="369332"/>
          </a:xfrm>
          <a:prstGeom prst="rect">
            <a:avLst/>
          </a:prstGeom>
          <a:noFill/>
        </p:spPr>
        <p:txBody>
          <a:bodyPr wrap="none" rtlCol="0">
            <a:spAutoFit/>
          </a:bodyPr>
          <a:lstStyle/>
          <a:p>
            <a:r>
              <a:rPr lang="ru-RU" dirty="0" smtClean="0"/>
              <a:t>+</a:t>
            </a:r>
            <a:r>
              <a:rPr lang="en-US" dirty="0" smtClean="0"/>
              <a:t>U</a:t>
            </a:r>
            <a:r>
              <a:rPr lang="ru-RU" dirty="0"/>
              <a:t>п</a:t>
            </a:r>
          </a:p>
        </p:txBody>
      </p:sp>
      <p:sp>
        <p:nvSpPr>
          <p:cNvPr id="53" name="TextBox 52"/>
          <p:cNvSpPr txBox="1"/>
          <p:nvPr/>
        </p:nvSpPr>
        <p:spPr>
          <a:xfrm>
            <a:off x="2585266" y="1770266"/>
            <a:ext cx="908710" cy="369332"/>
          </a:xfrm>
          <a:prstGeom prst="rect">
            <a:avLst/>
          </a:prstGeom>
          <a:noFill/>
        </p:spPr>
        <p:txBody>
          <a:bodyPr wrap="none" rtlCol="0">
            <a:spAutoFit/>
          </a:bodyPr>
          <a:lstStyle/>
          <a:p>
            <a:r>
              <a:rPr lang="ru-RU" dirty="0" smtClean="0"/>
              <a:t>Таймер</a:t>
            </a:r>
            <a:endParaRPr lang="ru-RU" dirty="0"/>
          </a:p>
        </p:txBody>
      </p:sp>
      <p:cxnSp>
        <p:nvCxnSpPr>
          <p:cNvPr id="55" name="Прямая со стрелкой 54"/>
          <p:cNvCxnSpPr/>
          <p:nvPr/>
        </p:nvCxnSpPr>
        <p:spPr>
          <a:xfrm>
            <a:off x="5208265" y="1307314"/>
            <a:ext cx="0" cy="2954424"/>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p:cNvCxnSpPr/>
          <p:nvPr/>
        </p:nvCxnSpPr>
        <p:spPr>
          <a:xfrm rot="16200000">
            <a:off x="4512913" y="3478554"/>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p:cNvCxnSpPr/>
          <p:nvPr/>
        </p:nvCxnSpPr>
        <p:spPr>
          <a:xfrm rot="16200000">
            <a:off x="4512913" y="3376420"/>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Прямая соединительная линия 57"/>
          <p:cNvCxnSpPr/>
          <p:nvPr/>
        </p:nvCxnSpPr>
        <p:spPr>
          <a:xfrm>
            <a:off x="4512912" y="3629806"/>
            <a:ext cx="2" cy="8094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Прямая соединительная линия 58"/>
          <p:cNvCxnSpPr/>
          <p:nvPr/>
        </p:nvCxnSpPr>
        <p:spPr>
          <a:xfrm flipH="1">
            <a:off x="4512912" y="3062365"/>
            <a:ext cx="2" cy="4580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Прямоугольник 60"/>
          <p:cNvSpPr/>
          <p:nvPr/>
        </p:nvSpPr>
        <p:spPr>
          <a:xfrm rot="10800000">
            <a:off x="1168817" y="1341022"/>
            <a:ext cx="108012" cy="3572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9" name="Прямая соединительная линия 68"/>
          <p:cNvCxnSpPr/>
          <p:nvPr/>
        </p:nvCxnSpPr>
        <p:spPr>
          <a:xfrm>
            <a:off x="1225446" y="1114460"/>
            <a:ext cx="0" cy="2111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Овал 71"/>
          <p:cNvSpPr/>
          <p:nvPr/>
        </p:nvSpPr>
        <p:spPr>
          <a:xfrm>
            <a:off x="1182291" y="188292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p:cNvSpPr txBox="1"/>
          <p:nvPr/>
        </p:nvSpPr>
        <p:spPr>
          <a:xfrm>
            <a:off x="1763688" y="5373216"/>
            <a:ext cx="2594236" cy="369332"/>
          </a:xfrm>
          <a:prstGeom prst="rect">
            <a:avLst/>
          </a:prstGeom>
          <a:noFill/>
        </p:spPr>
        <p:txBody>
          <a:bodyPr wrap="none" rtlCol="0">
            <a:spAutoFit/>
          </a:bodyPr>
          <a:lstStyle/>
          <a:p>
            <a:r>
              <a:rPr lang="ru-RU" dirty="0" smtClean="0"/>
              <a:t>Временная диаграмма </a:t>
            </a:r>
            <a:r>
              <a:rPr lang="ru-RU" dirty="0"/>
              <a:t>?</a:t>
            </a:r>
          </a:p>
        </p:txBody>
      </p:sp>
      <p:sp>
        <p:nvSpPr>
          <p:cNvPr id="76" name="TextBox 75"/>
          <p:cNvSpPr txBox="1"/>
          <p:nvPr/>
        </p:nvSpPr>
        <p:spPr>
          <a:xfrm>
            <a:off x="1371094" y="3663930"/>
            <a:ext cx="308098" cy="369332"/>
          </a:xfrm>
          <a:prstGeom prst="rect">
            <a:avLst/>
          </a:prstGeom>
          <a:noFill/>
        </p:spPr>
        <p:txBody>
          <a:bodyPr wrap="none" rtlCol="0">
            <a:spAutoFit/>
          </a:bodyPr>
          <a:lstStyle/>
          <a:p>
            <a:r>
              <a:rPr lang="ru-RU" dirty="0" smtClean="0"/>
              <a:t>С</a:t>
            </a:r>
            <a:endParaRPr lang="ru-RU" dirty="0"/>
          </a:p>
        </p:txBody>
      </p:sp>
      <p:sp>
        <p:nvSpPr>
          <p:cNvPr id="77" name="TextBox 76"/>
          <p:cNvSpPr txBox="1"/>
          <p:nvPr/>
        </p:nvSpPr>
        <p:spPr>
          <a:xfrm>
            <a:off x="6660232" y="2348280"/>
            <a:ext cx="688009" cy="369332"/>
          </a:xfrm>
          <a:prstGeom prst="rect">
            <a:avLst/>
          </a:prstGeom>
          <a:noFill/>
        </p:spPr>
        <p:txBody>
          <a:bodyPr wrap="none" rtlCol="0">
            <a:spAutoFit/>
          </a:bodyPr>
          <a:lstStyle/>
          <a:p>
            <a:r>
              <a:rPr lang="en-US" dirty="0" smtClean="0"/>
              <a:t>Q&lt;&lt;2</a:t>
            </a:r>
            <a:endParaRPr lang="ru-RU" dirty="0"/>
          </a:p>
        </p:txBody>
      </p:sp>
      <p:sp>
        <p:nvSpPr>
          <p:cNvPr id="78" name="TextBox 77"/>
          <p:cNvSpPr txBox="1"/>
          <p:nvPr/>
        </p:nvSpPr>
        <p:spPr>
          <a:xfrm>
            <a:off x="6335976" y="1940238"/>
            <a:ext cx="1336520" cy="369332"/>
          </a:xfrm>
          <a:prstGeom prst="rect">
            <a:avLst/>
          </a:prstGeom>
          <a:noFill/>
        </p:spPr>
        <p:txBody>
          <a:bodyPr wrap="none" rtlCol="0">
            <a:spAutoFit/>
          </a:bodyPr>
          <a:lstStyle/>
          <a:p>
            <a:r>
              <a:rPr lang="ru-RU" dirty="0" smtClean="0"/>
              <a:t>Скважность</a:t>
            </a:r>
            <a:endParaRPr lang="ru-RU" dirty="0"/>
          </a:p>
        </p:txBody>
      </p:sp>
      <p:sp>
        <p:nvSpPr>
          <p:cNvPr id="79" name="TextBox 78"/>
          <p:cNvSpPr txBox="1"/>
          <p:nvPr/>
        </p:nvSpPr>
        <p:spPr>
          <a:xfrm>
            <a:off x="1400013" y="231994"/>
            <a:ext cx="3811364" cy="369332"/>
          </a:xfrm>
          <a:prstGeom prst="rect">
            <a:avLst/>
          </a:prstGeom>
          <a:noFill/>
        </p:spPr>
        <p:txBody>
          <a:bodyPr wrap="none" rtlCol="0">
            <a:spAutoFit/>
          </a:bodyPr>
          <a:lstStyle/>
          <a:p>
            <a:r>
              <a:rPr lang="ru-RU" dirty="0" smtClean="0"/>
              <a:t>Автогенератор с малой скважностью</a:t>
            </a:r>
            <a:endParaRPr lang="ru-RU" dirty="0"/>
          </a:p>
        </p:txBody>
      </p:sp>
    </p:spTree>
    <p:extLst>
      <p:ext uri="{BB962C8B-B14F-4D97-AF65-F5344CB8AC3E}">
        <p14:creationId xmlns:p14="http://schemas.microsoft.com/office/powerpoint/2010/main" val="3841122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1953" y="116632"/>
            <a:ext cx="4111318" cy="369332"/>
          </a:xfrm>
          <a:prstGeom prst="rect">
            <a:avLst/>
          </a:prstGeom>
          <a:noFill/>
        </p:spPr>
        <p:txBody>
          <a:bodyPr wrap="none" rtlCol="0">
            <a:spAutoFit/>
          </a:bodyPr>
          <a:lstStyle/>
          <a:p>
            <a:r>
              <a:rPr lang="ru-RU" dirty="0" smtClean="0"/>
              <a:t>Преобразователь напряжения в частоту</a:t>
            </a:r>
            <a:endParaRPr lang="ru-RU" dirty="0"/>
          </a:p>
        </p:txBody>
      </p:sp>
      <p:sp>
        <p:nvSpPr>
          <p:cNvPr id="5" name="Прямоугольник 4"/>
          <p:cNvSpPr/>
          <p:nvPr/>
        </p:nvSpPr>
        <p:spPr>
          <a:xfrm>
            <a:off x="4839444" y="1900035"/>
            <a:ext cx="1944216" cy="223224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 name="Прямая соединительная линия 5"/>
          <p:cNvCxnSpPr/>
          <p:nvPr/>
        </p:nvCxnSpPr>
        <p:spPr>
          <a:xfrm>
            <a:off x="6783660" y="2488551"/>
            <a:ext cx="8846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p:nvPr/>
        </p:nvCxnSpPr>
        <p:spPr>
          <a:xfrm>
            <a:off x="6783660" y="3352647"/>
            <a:ext cx="5375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a:off x="3563888" y="4720799"/>
            <a:ext cx="44276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4010794" y="1408431"/>
            <a:ext cx="3801566"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5436096" y="1408431"/>
            <a:ext cx="0" cy="4916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a:off x="6300192" y="1408431"/>
            <a:ext cx="0" cy="4916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4033758" y="2200519"/>
            <a:ext cx="77711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endCxn id="5" idx="1"/>
          </p:cNvCxnSpPr>
          <p:nvPr/>
        </p:nvCxnSpPr>
        <p:spPr>
          <a:xfrm>
            <a:off x="4003270" y="3016159"/>
            <a:ext cx="83617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37" idx="2"/>
          </p:cNvCxnSpPr>
          <p:nvPr/>
        </p:nvCxnSpPr>
        <p:spPr>
          <a:xfrm>
            <a:off x="3991744" y="3570767"/>
            <a:ext cx="847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endCxn id="57" idx="0"/>
          </p:cNvCxnSpPr>
          <p:nvPr/>
        </p:nvCxnSpPr>
        <p:spPr>
          <a:xfrm flipH="1" flipV="1">
            <a:off x="4026607" y="2166611"/>
            <a:ext cx="4770" cy="8348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rot="16200000">
            <a:off x="4031136" y="3993483"/>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rot="16200000">
            <a:off x="4031136" y="3891349"/>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a:off x="4031135" y="4144735"/>
            <a:ext cx="0" cy="5760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flipH="1">
            <a:off x="4031135" y="3577294"/>
            <a:ext cx="2" cy="4580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flipV="1">
            <a:off x="4031137" y="3016159"/>
            <a:ext cx="0" cy="5525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a:stCxn id="5" idx="2"/>
          </p:cNvCxnSpPr>
          <p:nvPr/>
        </p:nvCxnSpPr>
        <p:spPr>
          <a:xfrm>
            <a:off x="5811552" y="4132283"/>
            <a:ext cx="0" cy="588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Овал 21"/>
          <p:cNvSpPr/>
          <p:nvPr/>
        </p:nvSpPr>
        <p:spPr>
          <a:xfrm>
            <a:off x="467544" y="219139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Овал 22"/>
          <p:cNvSpPr/>
          <p:nvPr/>
        </p:nvSpPr>
        <p:spPr>
          <a:xfrm>
            <a:off x="7611194" y="2450451"/>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Овал 23"/>
          <p:cNvSpPr/>
          <p:nvPr/>
        </p:nvSpPr>
        <p:spPr>
          <a:xfrm>
            <a:off x="7744544" y="1374523"/>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5" name="Прямая соединительная линия 24"/>
          <p:cNvCxnSpPr/>
          <p:nvPr/>
        </p:nvCxnSpPr>
        <p:spPr>
          <a:xfrm>
            <a:off x="7814627" y="5008831"/>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a:off x="7991574" y="4717201"/>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Овал 26"/>
          <p:cNvSpPr/>
          <p:nvPr/>
        </p:nvSpPr>
        <p:spPr>
          <a:xfrm>
            <a:off x="7944569" y="4696416"/>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TextBox 27"/>
          <p:cNvSpPr txBox="1"/>
          <p:nvPr/>
        </p:nvSpPr>
        <p:spPr>
          <a:xfrm>
            <a:off x="6012160" y="4360759"/>
            <a:ext cx="301686" cy="369332"/>
          </a:xfrm>
          <a:prstGeom prst="rect">
            <a:avLst/>
          </a:prstGeom>
          <a:noFill/>
        </p:spPr>
        <p:txBody>
          <a:bodyPr wrap="none" rtlCol="0">
            <a:spAutoFit/>
          </a:bodyPr>
          <a:lstStyle/>
          <a:p>
            <a:r>
              <a:rPr lang="ru-RU" dirty="0" smtClean="0"/>
              <a:t>1</a:t>
            </a:r>
            <a:endParaRPr lang="ru-RU" dirty="0"/>
          </a:p>
        </p:txBody>
      </p:sp>
      <p:sp>
        <p:nvSpPr>
          <p:cNvPr id="29" name="TextBox 28"/>
          <p:cNvSpPr txBox="1"/>
          <p:nvPr/>
        </p:nvSpPr>
        <p:spPr>
          <a:xfrm>
            <a:off x="6878582" y="3392628"/>
            <a:ext cx="301686" cy="369332"/>
          </a:xfrm>
          <a:prstGeom prst="rect">
            <a:avLst/>
          </a:prstGeom>
          <a:noFill/>
        </p:spPr>
        <p:txBody>
          <a:bodyPr wrap="none" rtlCol="0">
            <a:spAutoFit/>
          </a:bodyPr>
          <a:lstStyle/>
          <a:p>
            <a:r>
              <a:rPr lang="ru-RU" dirty="0"/>
              <a:t>5</a:t>
            </a:r>
          </a:p>
        </p:txBody>
      </p:sp>
      <p:sp>
        <p:nvSpPr>
          <p:cNvPr id="30" name="TextBox 29"/>
          <p:cNvSpPr txBox="1"/>
          <p:nvPr/>
        </p:nvSpPr>
        <p:spPr>
          <a:xfrm>
            <a:off x="6859179" y="2084017"/>
            <a:ext cx="301686" cy="369332"/>
          </a:xfrm>
          <a:prstGeom prst="rect">
            <a:avLst/>
          </a:prstGeom>
          <a:noFill/>
        </p:spPr>
        <p:txBody>
          <a:bodyPr wrap="none" rtlCol="0">
            <a:spAutoFit/>
          </a:bodyPr>
          <a:lstStyle/>
          <a:p>
            <a:r>
              <a:rPr lang="ru-RU" dirty="0"/>
              <a:t>3</a:t>
            </a:r>
          </a:p>
        </p:txBody>
      </p:sp>
      <p:sp>
        <p:nvSpPr>
          <p:cNvPr id="31" name="TextBox 30"/>
          <p:cNvSpPr txBox="1"/>
          <p:nvPr/>
        </p:nvSpPr>
        <p:spPr>
          <a:xfrm>
            <a:off x="6372200" y="1446531"/>
            <a:ext cx="301686" cy="369332"/>
          </a:xfrm>
          <a:prstGeom prst="rect">
            <a:avLst/>
          </a:prstGeom>
          <a:noFill/>
        </p:spPr>
        <p:txBody>
          <a:bodyPr wrap="none" rtlCol="0">
            <a:spAutoFit/>
          </a:bodyPr>
          <a:lstStyle/>
          <a:p>
            <a:r>
              <a:rPr lang="ru-RU" dirty="0"/>
              <a:t>4</a:t>
            </a:r>
          </a:p>
        </p:txBody>
      </p:sp>
      <p:sp>
        <p:nvSpPr>
          <p:cNvPr id="32" name="TextBox 31"/>
          <p:cNvSpPr txBox="1"/>
          <p:nvPr/>
        </p:nvSpPr>
        <p:spPr>
          <a:xfrm>
            <a:off x="5436096" y="1469567"/>
            <a:ext cx="301686" cy="369332"/>
          </a:xfrm>
          <a:prstGeom prst="rect">
            <a:avLst/>
          </a:prstGeom>
          <a:noFill/>
        </p:spPr>
        <p:txBody>
          <a:bodyPr wrap="none" rtlCol="0">
            <a:spAutoFit/>
          </a:bodyPr>
          <a:lstStyle/>
          <a:p>
            <a:r>
              <a:rPr lang="ru-RU" dirty="0" smtClean="0"/>
              <a:t>8</a:t>
            </a:r>
            <a:endParaRPr lang="ru-RU" dirty="0"/>
          </a:p>
        </p:txBody>
      </p:sp>
      <p:sp>
        <p:nvSpPr>
          <p:cNvPr id="33" name="TextBox 32"/>
          <p:cNvSpPr txBox="1"/>
          <p:nvPr/>
        </p:nvSpPr>
        <p:spPr>
          <a:xfrm>
            <a:off x="4503850" y="1797279"/>
            <a:ext cx="301686" cy="369332"/>
          </a:xfrm>
          <a:prstGeom prst="rect">
            <a:avLst/>
          </a:prstGeom>
          <a:noFill/>
        </p:spPr>
        <p:txBody>
          <a:bodyPr wrap="none" rtlCol="0">
            <a:spAutoFit/>
          </a:bodyPr>
          <a:lstStyle/>
          <a:p>
            <a:r>
              <a:rPr lang="ru-RU" dirty="0" smtClean="0"/>
              <a:t>2</a:t>
            </a:r>
            <a:endParaRPr lang="ru-RU" dirty="0"/>
          </a:p>
        </p:txBody>
      </p:sp>
      <p:sp>
        <p:nvSpPr>
          <p:cNvPr id="34" name="TextBox 33"/>
          <p:cNvSpPr txBox="1"/>
          <p:nvPr/>
        </p:nvSpPr>
        <p:spPr>
          <a:xfrm>
            <a:off x="4506715" y="2631967"/>
            <a:ext cx="301686" cy="369332"/>
          </a:xfrm>
          <a:prstGeom prst="rect">
            <a:avLst/>
          </a:prstGeom>
          <a:noFill/>
        </p:spPr>
        <p:txBody>
          <a:bodyPr wrap="none" rtlCol="0">
            <a:spAutoFit/>
          </a:bodyPr>
          <a:lstStyle/>
          <a:p>
            <a:r>
              <a:rPr lang="ru-RU" dirty="0" smtClean="0"/>
              <a:t>6</a:t>
            </a:r>
            <a:endParaRPr lang="ru-RU" dirty="0"/>
          </a:p>
        </p:txBody>
      </p:sp>
      <p:sp>
        <p:nvSpPr>
          <p:cNvPr id="35" name="TextBox 34"/>
          <p:cNvSpPr txBox="1"/>
          <p:nvPr/>
        </p:nvSpPr>
        <p:spPr>
          <a:xfrm>
            <a:off x="4031134" y="3161386"/>
            <a:ext cx="856325" cy="369332"/>
          </a:xfrm>
          <a:prstGeom prst="rect">
            <a:avLst/>
          </a:prstGeom>
          <a:noFill/>
        </p:spPr>
        <p:txBody>
          <a:bodyPr wrap="none" rtlCol="0">
            <a:spAutoFit/>
          </a:bodyPr>
          <a:lstStyle/>
          <a:p>
            <a:r>
              <a:rPr lang="ru-RU" dirty="0" smtClean="0"/>
              <a:t>7 (</a:t>
            </a:r>
            <a:r>
              <a:rPr lang="en-US" dirty="0" smtClean="0"/>
              <a:t>VT3)</a:t>
            </a:r>
            <a:endParaRPr lang="ru-RU" dirty="0"/>
          </a:p>
        </p:txBody>
      </p:sp>
      <p:sp>
        <p:nvSpPr>
          <p:cNvPr id="36" name="Овал 35"/>
          <p:cNvSpPr/>
          <p:nvPr/>
        </p:nvSpPr>
        <p:spPr>
          <a:xfrm>
            <a:off x="3990603" y="298308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Овал 36"/>
          <p:cNvSpPr/>
          <p:nvPr/>
        </p:nvSpPr>
        <p:spPr>
          <a:xfrm>
            <a:off x="3991744" y="353476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Овал 37"/>
          <p:cNvSpPr/>
          <p:nvPr/>
        </p:nvSpPr>
        <p:spPr>
          <a:xfrm>
            <a:off x="4010794" y="468689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Овал 38"/>
          <p:cNvSpPr/>
          <p:nvPr/>
        </p:nvSpPr>
        <p:spPr>
          <a:xfrm>
            <a:off x="5796136" y="467736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Овал 39"/>
          <p:cNvSpPr/>
          <p:nvPr/>
        </p:nvSpPr>
        <p:spPr>
          <a:xfrm>
            <a:off x="6266284" y="137985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Овал 40"/>
          <p:cNvSpPr/>
          <p:nvPr/>
        </p:nvSpPr>
        <p:spPr>
          <a:xfrm>
            <a:off x="5412854" y="137033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Овал 41"/>
          <p:cNvSpPr/>
          <p:nvPr/>
        </p:nvSpPr>
        <p:spPr>
          <a:xfrm>
            <a:off x="395536" y="4660412"/>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3" name="Прямая со стрелкой 42"/>
          <p:cNvCxnSpPr/>
          <p:nvPr/>
        </p:nvCxnSpPr>
        <p:spPr>
          <a:xfrm>
            <a:off x="7647198" y="2631967"/>
            <a:ext cx="0" cy="204539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7019900" y="2690347"/>
            <a:ext cx="696024" cy="369332"/>
          </a:xfrm>
          <a:prstGeom prst="rect">
            <a:avLst/>
          </a:prstGeom>
          <a:noFill/>
        </p:spPr>
        <p:txBody>
          <a:bodyPr wrap="none" rtlCol="0">
            <a:spAutoFit/>
          </a:bodyPr>
          <a:lstStyle/>
          <a:p>
            <a:r>
              <a:rPr lang="en-US" dirty="0" smtClean="0"/>
              <a:t>U</a:t>
            </a:r>
            <a:r>
              <a:rPr lang="ru-RU" dirty="0" err="1" smtClean="0"/>
              <a:t>вых</a:t>
            </a:r>
            <a:endParaRPr lang="ru-RU" dirty="0"/>
          </a:p>
        </p:txBody>
      </p:sp>
      <p:sp>
        <p:nvSpPr>
          <p:cNvPr id="45" name="TextBox 44"/>
          <p:cNvSpPr txBox="1"/>
          <p:nvPr/>
        </p:nvSpPr>
        <p:spPr>
          <a:xfrm>
            <a:off x="3363833" y="3947617"/>
            <a:ext cx="429926" cy="369332"/>
          </a:xfrm>
          <a:prstGeom prst="rect">
            <a:avLst/>
          </a:prstGeom>
          <a:noFill/>
        </p:spPr>
        <p:txBody>
          <a:bodyPr wrap="none" rtlCol="0">
            <a:spAutoFit/>
          </a:bodyPr>
          <a:lstStyle/>
          <a:p>
            <a:r>
              <a:rPr lang="en-US" dirty="0" smtClean="0"/>
              <a:t>U</a:t>
            </a:r>
            <a:r>
              <a:rPr lang="ru-RU" dirty="0"/>
              <a:t>с</a:t>
            </a:r>
          </a:p>
        </p:txBody>
      </p:sp>
      <p:cxnSp>
        <p:nvCxnSpPr>
          <p:cNvPr id="46" name="Прямая со стрелкой 45"/>
          <p:cNvCxnSpPr/>
          <p:nvPr/>
        </p:nvCxnSpPr>
        <p:spPr>
          <a:xfrm>
            <a:off x="323528" y="2238619"/>
            <a:ext cx="0" cy="242179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432768" y="3131344"/>
            <a:ext cx="426720" cy="369332"/>
          </a:xfrm>
          <a:prstGeom prst="rect">
            <a:avLst/>
          </a:prstGeom>
          <a:noFill/>
        </p:spPr>
        <p:txBody>
          <a:bodyPr wrap="none" rtlCol="0">
            <a:spAutoFit/>
          </a:bodyPr>
          <a:lstStyle/>
          <a:p>
            <a:r>
              <a:rPr lang="en-US" dirty="0" smtClean="0"/>
              <a:t>R</a:t>
            </a:r>
            <a:r>
              <a:rPr lang="ru-RU" dirty="0" smtClean="0"/>
              <a:t>1</a:t>
            </a:r>
            <a:endParaRPr lang="ru-RU" dirty="0"/>
          </a:p>
        </p:txBody>
      </p:sp>
      <p:sp>
        <p:nvSpPr>
          <p:cNvPr id="48" name="TextBox 47"/>
          <p:cNvSpPr txBox="1"/>
          <p:nvPr/>
        </p:nvSpPr>
        <p:spPr>
          <a:xfrm>
            <a:off x="7935788" y="1221669"/>
            <a:ext cx="567784" cy="369332"/>
          </a:xfrm>
          <a:prstGeom prst="rect">
            <a:avLst/>
          </a:prstGeom>
          <a:noFill/>
        </p:spPr>
        <p:txBody>
          <a:bodyPr wrap="none" rtlCol="0">
            <a:spAutoFit/>
          </a:bodyPr>
          <a:lstStyle/>
          <a:p>
            <a:r>
              <a:rPr lang="ru-RU" dirty="0" smtClean="0"/>
              <a:t>+</a:t>
            </a:r>
            <a:r>
              <a:rPr lang="en-US" dirty="0" smtClean="0"/>
              <a:t>U</a:t>
            </a:r>
            <a:r>
              <a:rPr lang="ru-RU" dirty="0"/>
              <a:t>п</a:t>
            </a:r>
          </a:p>
        </p:txBody>
      </p:sp>
      <p:sp>
        <p:nvSpPr>
          <p:cNvPr id="49" name="TextBox 48"/>
          <p:cNvSpPr txBox="1"/>
          <p:nvPr/>
        </p:nvSpPr>
        <p:spPr>
          <a:xfrm>
            <a:off x="5393578" y="2053953"/>
            <a:ext cx="908710" cy="369332"/>
          </a:xfrm>
          <a:prstGeom prst="rect">
            <a:avLst/>
          </a:prstGeom>
          <a:noFill/>
        </p:spPr>
        <p:txBody>
          <a:bodyPr wrap="none" rtlCol="0">
            <a:spAutoFit/>
          </a:bodyPr>
          <a:lstStyle/>
          <a:p>
            <a:r>
              <a:rPr lang="ru-RU" dirty="0" smtClean="0"/>
              <a:t>Таймер</a:t>
            </a:r>
            <a:endParaRPr lang="ru-RU" dirty="0"/>
          </a:p>
        </p:txBody>
      </p:sp>
      <p:cxnSp>
        <p:nvCxnSpPr>
          <p:cNvPr id="50" name="Прямая со стрелкой 49"/>
          <p:cNvCxnSpPr/>
          <p:nvPr/>
        </p:nvCxnSpPr>
        <p:spPr>
          <a:xfrm>
            <a:off x="8016577" y="1591001"/>
            <a:ext cx="0" cy="2954424"/>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p:cNvCxnSpPr/>
          <p:nvPr/>
        </p:nvCxnSpPr>
        <p:spPr>
          <a:xfrm rot="16200000">
            <a:off x="7321225" y="3762241"/>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p:nvPr/>
        </p:nvCxnSpPr>
        <p:spPr>
          <a:xfrm rot="16200000">
            <a:off x="7321225" y="366010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Прямая соединительная линия 52"/>
          <p:cNvCxnSpPr/>
          <p:nvPr/>
        </p:nvCxnSpPr>
        <p:spPr>
          <a:xfrm>
            <a:off x="7321224" y="3913493"/>
            <a:ext cx="2" cy="8094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Прямая соединительная линия 53"/>
          <p:cNvCxnSpPr/>
          <p:nvPr/>
        </p:nvCxnSpPr>
        <p:spPr>
          <a:xfrm flipH="1">
            <a:off x="7321224" y="3346052"/>
            <a:ext cx="2" cy="4580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Овал 56"/>
          <p:cNvSpPr/>
          <p:nvPr/>
        </p:nvSpPr>
        <p:spPr>
          <a:xfrm>
            <a:off x="3990603" y="216661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TextBox 57"/>
          <p:cNvSpPr txBox="1"/>
          <p:nvPr/>
        </p:nvSpPr>
        <p:spPr>
          <a:xfrm>
            <a:off x="4179406" y="3947617"/>
            <a:ext cx="425116" cy="369332"/>
          </a:xfrm>
          <a:prstGeom prst="rect">
            <a:avLst/>
          </a:prstGeom>
          <a:noFill/>
        </p:spPr>
        <p:txBody>
          <a:bodyPr wrap="none" rtlCol="0">
            <a:spAutoFit/>
          </a:bodyPr>
          <a:lstStyle/>
          <a:p>
            <a:r>
              <a:rPr lang="ru-RU" dirty="0" smtClean="0"/>
              <a:t>С1</a:t>
            </a:r>
            <a:endParaRPr lang="ru-RU" dirty="0"/>
          </a:p>
        </p:txBody>
      </p:sp>
      <p:sp>
        <p:nvSpPr>
          <p:cNvPr id="59" name="TextBox 58"/>
          <p:cNvSpPr txBox="1"/>
          <p:nvPr/>
        </p:nvSpPr>
        <p:spPr>
          <a:xfrm>
            <a:off x="6807342" y="3991427"/>
            <a:ext cx="425116" cy="369332"/>
          </a:xfrm>
          <a:prstGeom prst="rect">
            <a:avLst/>
          </a:prstGeom>
          <a:noFill/>
        </p:spPr>
        <p:txBody>
          <a:bodyPr wrap="none" rtlCol="0">
            <a:spAutoFit/>
          </a:bodyPr>
          <a:lstStyle/>
          <a:p>
            <a:r>
              <a:rPr lang="ru-RU" dirty="0" smtClean="0"/>
              <a:t>С2</a:t>
            </a:r>
            <a:endParaRPr lang="ru-RU" dirty="0"/>
          </a:p>
        </p:txBody>
      </p:sp>
      <p:cxnSp>
        <p:nvCxnSpPr>
          <p:cNvPr id="60" name="Прямая соединительная линия 59"/>
          <p:cNvCxnSpPr/>
          <p:nvPr/>
        </p:nvCxnSpPr>
        <p:spPr>
          <a:xfrm>
            <a:off x="3040095" y="2020876"/>
            <a:ext cx="0" cy="2400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p:cNvCxnSpPr/>
          <p:nvPr/>
        </p:nvCxnSpPr>
        <p:spPr>
          <a:xfrm flipV="1">
            <a:off x="3040095" y="1946947"/>
            <a:ext cx="156066" cy="156066"/>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a:off x="3040095" y="2202000"/>
            <a:ext cx="158449" cy="158449"/>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p:nvPr/>
        </p:nvCxnSpPr>
        <p:spPr>
          <a:xfrm flipH="1">
            <a:off x="2325240" y="2140775"/>
            <a:ext cx="714856" cy="1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Прямая соединительная линия 63"/>
          <p:cNvCxnSpPr/>
          <p:nvPr/>
        </p:nvCxnSpPr>
        <p:spPr>
          <a:xfrm>
            <a:off x="3198544" y="2366200"/>
            <a:ext cx="0" cy="3558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flipV="1">
            <a:off x="3198544" y="1721715"/>
            <a:ext cx="0" cy="2391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a:off x="3040095" y="1259957"/>
            <a:ext cx="0" cy="2400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flipV="1">
            <a:off x="3040095" y="1186028"/>
            <a:ext cx="156066" cy="156066"/>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p:cNvCxnSpPr/>
          <p:nvPr/>
        </p:nvCxnSpPr>
        <p:spPr>
          <a:xfrm>
            <a:off x="3040095" y="1441081"/>
            <a:ext cx="158449" cy="158449"/>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p:cNvCxnSpPr/>
          <p:nvPr/>
        </p:nvCxnSpPr>
        <p:spPr>
          <a:xfrm flipH="1">
            <a:off x="2691248" y="1379856"/>
            <a:ext cx="3488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p:cNvCxnSpPr/>
          <p:nvPr/>
        </p:nvCxnSpPr>
        <p:spPr>
          <a:xfrm>
            <a:off x="3198544" y="1605281"/>
            <a:ext cx="0" cy="3558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p:cNvCxnSpPr/>
          <p:nvPr/>
        </p:nvCxnSpPr>
        <p:spPr>
          <a:xfrm flipV="1">
            <a:off x="3198544" y="960796"/>
            <a:ext cx="0" cy="2391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Соединительная линия уступом 73"/>
          <p:cNvCxnSpPr>
            <a:endCxn id="57" idx="2"/>
          </p:cNvCxnSpPr>
          <p:nvPr/>
        </p:nvCxnSpPr>
        <p:spPr>
          <a:xfrm flipV="1">
            <a:off x="3205970" y="2202615"/>
            <a:ext cx="784633" cy="487732"/>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Соединительная линия уступом 75"/>
          <p:cNvCxnSpPr/>
          <p:nvPr/>
        </p:nvCxnSpPr>
        <p:spPr>
          <a:xfrm>
            <a:off x="3198544" y="960796"/>
            <a:ext cx="812250" cy="449731"/>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 name="Группа 88"/>
          <p:cNvGrpSpPr/>
          <p:nvPr/>
        </p:nvGrpSpPr>
        <p:grpSpPr>
          <a:xfrm flipH="1">
            <a:off x="2322857" y="844074"/>
            <a:ext cx="507296" cy="1296820"/>
            <a:chOff x="1763688" y="1324232"/>
            <a:chExt cx="507296" cy="1296820"/>
          </a:xfrm>
        </p:grpSpPr>
        <p:cxnSp>
          <p:nvCxnSpPr>
            <p:cNvPr id="83" name="Прямая соединительная линия 82"/>
            <p:cNvCxnSpPr/>
            <p:nvPr/>
          </p:nvCxnSpPr>
          <p:spPr>
            <a:xfrm>
              <a:off x="2112535" y="1739827"/>
              <a:ext cx="0" cy="2400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Прямая соединительная линия 83"/>
            <p:cNvCxnSpPr/>
            <p:nvPr/>
          </p:nvCxnSpPr>
          <p:spPr>
            <a:xfrm flipV="1">
              <a:off x="2112535" y="1665898"/>
              <a:ext cx="156066" cy="156066"/>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Прямая соединительная линия 84"/>
            <p:cNvCxnSpPr/>
            <p:nvPr/>
          </p:nvCxnSpPr>
          <p:spPr>
            <a:xfrm>
              <a:off x="2112535" y="1920951"/>
              <a:ext cx="158449" cy="158449"/>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85"/>
            <p:cNvCxnSpPr/>
            <p:nvPr/>
          </p:nvCxnSpPr>
          <p:spPr>
            <a:xfrm flipH="1">
              <a:off x="1763688" y="1859726"/>
              <a:ext cx="3488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p:cNvCxnSpPr/>
            <p:nvPr/>
          </p:nvCxnSpPr>
          <p:spPr>
            <a:xfrm flipH="1">
              <a:off x="2268601" y="2085151"/>
              <a:ext cx="2383" cy="5359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87"/>
            <p:cNvCxnSpPr/>
            <p:nvPr/>
          </p:nvCxnSpPr>
          <p:spPr>
            <a:xfrm>
              <a:off x="2270984" y="1324232"/>
              <a:ext cx="0" cy="3558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 name="Соединительная линия уступом 90"/>
          <p:cNvCxnSpPr/>
          <p:nvPr/>
        </p:nvCxnSpPr>
        <p:spPr>
          <a:xfrm>
            <a:off x="2691248" y="1379568"/>
            <a:ext cx="504913" cy="403360"/>
          </a:xfrm>
          <a:prstGeom prst="bentConnector3">
            <a:avLst>
              <a:gd name="adj1" fmla="val 2887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Овал 94"/>
          <p:cNvSpPr/>
          <p:nvPr/>
        </p:nvSpPr>
        <p:spPr>
          <a:xfrm>
            <a:off x="2798088" y="134838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6" name="Овал 95"/>
          <p:cNvSpPr/>
          <p:nvPr/>
        </p:nvSpPr>
        <p:spPr>
          <a:xfrm>
            <a:off x="3163848" y="174995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1" name="Прямая соединительная линия 100"/>
          <p:cNvCxnSpPr/>
          <p:nvPr/>
        </p:nvCxnSpPr>
        <p:spPr>
          <a:xfrm>
            <a:off x="2322857" y="844074"/>
            <a:ext cx="116902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Прямая соединительная линия 102"/>
          <p:cNvCxnSpPr/>
          <p:nvPr/>
        </p:nvCxnSpPr>
        <p:spPr>
          <a:xfrm>
            <a:off x="3491880" y="844074"/>
            <a:ext cx="0" cy="1167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Овал 103"/>
          <p:cNvSpPr/>
          <p:nvPr/>
        </p:nvSpPr>
        <p:spPr>
          <a:xfrm>
            <a:off x="3455876" y="92479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6" name="Прямая соединительная линия 105"/>
          <p:cNvCxnSpPr/>
          <p:nvPr/>
        </p:nvCxnSpPr>
        <p:spPr>
          <a:xfrm>
            <a:off x="2167119" y="2431143"/>
            <a:ext cx="0" cy="2400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Прямая соединительная линия 106"/>
          <p:cNvCxnSpPr/>
          <p:nvPr/>
        </p:nvCxnSpPr>
        <p:spPr>
          <a:xfrm flipV="1">
            <a:off x="2167119" y="2357214"/>
            <a:ext cx="156066" cy="156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Прямая соединительная линия 107"/>
          <p:cNvCxnSpPr/>
          <p:nvPr/>
        </p:nvCxnSpPr>
        <p:spPr>
          <a:xfrm>
            <a:off x="2167119" y="2612267"/>
            <a:ext cx="158449" cy="158449"/>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Прямая соединительная линия 108"/>
          <p:cNvCxnSpPr/>
          <p:nvPr/>
        </p:nvCxnSpPr>
        <p:spPr>
          <a:xfrm flipH="1">
            <a:off x="1469426" y="2551042"/>
            <a:ext cx="69769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Прямая соединительная линия 109"/>
          <p:cNvCxnSpPr/>
          <p:nvPr/>
        </p:nvCxnSpPr>
        <p:spPr>
          <a:xfrm>
            <a:off x="2325568" y="2776467"/>
            <a:ext cx="0" cy="3558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Прямая соединительная линия 110"/>
          <p:cNvCxnSpPr/>
          <p:nvPr/>
        </p:nvCxnSpPr>
        <p:spPr>
          <a:xfrm flipV="1">
            <a:off x="2325568" y="2131982"/>
            <a:ext cx="0" cy="2391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Прямоугольник 111"/>
          <p:cNvSpPr/>
          <p:nvPr/>
        </p:nvSpPr>
        <p:spPr>
          <a:xfrm rot="10800000">
            <a:off x="2271562" y="3132338"/>
            <a:ext cx="108012" cy="35723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15" name="Прямая соединительная линия 114"/>
          <p:cNvCxnSpPr/>
          <p:nvPr/>
        </p:nvCxnSpPr>
        <p:spPr>
          <a:xfrm flipH="1">
            <a:off x="431540" y="4717201"/>
            <a:ext cx="317313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Прямая соединительная линия 116"/>
          <p:cNvCxnSpPr>
            <a:stCxn id="112" idx="0"/>
          </p:cNvCxnSpPr>
          <p:nvPr/>
        </p:nvCxnSpPr>
        <p:spPr>
          <a:xfrm flipH="1">
            <a:off x="2324048" y="3489574"/>
            <a:ext cx="1520" cy="12333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Прямоугольник 120"/>
          <p:cNvSpPr/>
          <p:nvPr/>
        </p:nvSpPr>
        <p:spPr>
          <a:xfrm>
            <a:off x="899592" y="2020876"/>
            <a:ext cx="569834" cy="111046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3" name="Прямая соединительная линия 122"/>
          <p:cNvCxnSpPr/>
          <p:nvPr/>
        </p:nvCxnSpPr>
        <p:spPr>
          <a:xfrm flipH="1">
            <a:off x="467544" y="2816633"/>
            <a:ext cx="43204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Прямая соединительная линия 124"/>
          <p:cNvCxnSpPr/>
          <p:nvPr/>
        </p:nvCxnSpPr>
        <p:spPr>
          <a:xfrm>
            <a:off x="467544" y="2816633"/>
            <a:ext cx="0" cy="5759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Прямая соединительная линия 126"/>
          <p:cNvCxnSpPr/>
          <p:nvPr/>
        </p:nvCxnSpPr>
        <p:spPr>
          <a:xfrm>
            <a:off x="467544" y="3392628"/>
            <a:ext cx="12961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Прямая соединительная линия 128"/>
          <p:cNvCxnSpPr/>
          <p:nvPr/>
        </p:nvCxnSpPr>
        <p:spPr>
          <a:xfrm flipV="1">
            <a:off x="1763688" y="2954402"/>
            <a:ext cx="0" cy="4382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Прямая соединительная линия 130"/>
          <p:cNvCxnSpPr/>
          <p:nvPr/>
        </p:nvCxnSpPr>
        <p:spPr>
          <a:xfrm>
            <a:off x="1763688" y="2954402"/>
            <a:ext cx="5078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Овал 131"/>
          <p:cNvSpPr/>
          <p:nvPr/>
        </p:nvSpPr>
        <p:spPr>
          <a:xfrm>
            <a:off x="2290604" y="292494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34" name="Прямая соединительная линия 133"/>
          <p:cNvCxnSpPr>
            <a:endCxn id="22" idx="6"/>
          </p:cNvCxnSpPr>
          <p:nvPr/>
        </p:nvCxnSpPr>
        <p:spPr>
          <a:xfrm flipH="1">
            <a:off x="539552" y="2227400"/>
            <a:ext cx="3600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155536" y="1676786"/>
            <a:ext cx="540982" cy="369332"/>
          </a:xfrm>
          <a:prstGeom prst="rect">
            <a:avLst/>
          </a:prstGeom>
          <a:noFill/>
        </p:spPr>
        <p:txBody>
          <a:bodyPr wrap="none" rtlCol="0">
            <a:spAutoFit/>
          </a:bodyPr>
          <a:lstStyle/>
          <a:p>
            <a:r>
              <a:rPr lang="en-US" dirty="0" smtClean="0"/>
              <a:t>U</a:t>
            </a:r>
            <a:r>
              <a:rPr lang="ru-RU" dirty="0" err="1" smtClean="0"/>
              <a:t>вх</a:t>
            </a:r>
            <a:endParaRPr lang="ru-RU" dirty="0"/>
          </a:p>
        </p:txBody>
      </p:sp>
      <p:sp>
        <p:nvSpPr>
          <p:cNvPr id="138" name="Овал 137"/>
          <p:cNvSpPr/>
          <p:nvPr/>
        </p:nvSpPr>
        <p:spPr>
          <a:xfrm>
            <a:off x="2296319" y="467218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9" name="Равнобедренный треугольник 138"/>
          <p:cNvSpPr/>
          <p:nvPr/>
        </p:nvSpPr>
        <p:spPr>
          <a:xfrm rot="5400000">
            <a:off x="1130454" y="2062773"/>
            <a:ext cx="227570" cy="25724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0" name="TextBox 139"/>
          <p:cNvSpPr txBox="1"/>
          <p:nvPr/>
        </p:nvSpPr>
        <p:spPr>
          <a:xfrm>
            <a:off x="829036" y="1585095"/>
            <a:ext cx="574003" cy="369332"/>
          </a:xfrm>
          <a:prstGeom prst="rect">
            <a:avLst/>
          </a:prstGeom>
          <a:noFill/>
        </p:spPr>
        <p:txBody>
          <a:bodyPr wrap="none" rtlCol="0">
            <a:spAutoFit/>
          </a:bodyPr>
          <a:lstStyle/>
          <a:p>
            <a:r>
              <a:rPr lang="en-US" dirty="0" smtClean="0"/>
              <a:t>DA1</a:t>
            </a:r>
            <a:endParaRPr lang="ru-RU" dirty="0"/>
          </a:p>
        </p:txBody>
      </p:sp>
      <p:sp>
        <p:nvSpPr>
          <p:cNvPr id="141" name="TextBox 140"/>
          <p:cNvSpPr txBox="1"/>
          <p:nvPr/>
        </p:nvSpPr>
        <p:spPr>
          <a:xfrm>
            <a:off x="2183770" y="2375503"/>
            <a:ext cx="545342" cy="369332"/>
          </a:xfrm>
          <a:prstGeom prst="rect">
            <a:avLst/>
          </a:prstGeom>
          <a:noFill/>
        </p:spPr>
        <p:txBody>
          <a:bodyPr wrap="none" rtlCol="0">
            <a:spAutoFit/>
          </a:bodyPr>
          <a:lstStyle/>
          <a:p>
            <a:r>
              <a:rPr lang="en-US" dirty="0" smtClean="0"/>
              <a:t>VT1</a:t>
            </a:r>
            <a:endParaRPr lang="ru-RU" dirty="0"/>
          </a:p>
        </p:txBody>
      </p:sp>
      <p:sp>
        <p:nvSpPr>
          <p:cNvPr id="142" name="TextBox 141"/>
          <p:cNvSpPr txBox="1"/>
          <p:nvPr/>
        </p:nvSpPr>
        <p:spPr>
          <a:xfrm>
            <a:off x="1817270" y="1204809"/>
            <a:ext cx="545342" cy="369332"/>
          </a:xfrm>
          <a:prstGeom prst="rect">
            <a:avLst/>
          </a:prstGeom>
          <a:noFill/>
        </p:spPr>
        <p:txBody>
          <a:bodyPr wrap="none" rtlCol="0">
            <a:spAutoFit/>
          </a:bodyPr>
          <a:lstStyle/>
          <a:p>
            <a:r>
              <a:rPr lang="en-US" dirty="0" smtClean="0"/>
              <a:t>VT2</a:t>
            </a:r>
            <a:endParaRPr lang="ru-RU" dirty="0"/>
          </a:p>
        </p:txBody>
      </p:sp>
      <p:sp>
        <p:nvSpPr>
          <p:cNvPr id="143" name="TextBox 142"/>
          <p:cNvSpPr txBox="1"/>
          <p:nvPr/>
        </p:nvSpPr>
        <p:spPr>
          <a:xfrm>
            <a:off x="3119319" y="1214660"/>
            <a:ext cx="545342" cy="369332"/>
          </a:xfrm>
          <a:prstGeom prst="rect">
            <a:avLst/>
          </a:prstGeom>
          <a:noFill/>
        </p:spPr>
        <p:txBody>
          <a:bodyPr wrap="none" rtlCol="0">
            <a:spAutoFit/>
          </a:bodyPr>
          <a:lstStyle/>
          <a:p>
            <a:r>
              <a:rPr lang="en-US" dirty="0" smtClean="0"/>
              <a:t>VT3</a:t>
            </a:r>
            <a:endParaRPr lang="ru-RU" dirty="0"/>
          </a:p>
        </p:txBody>
      </p:sp>
      <p:sp>
        <p:nvSpPr>
          <p:cNvPr id="144" name="TextBox 143"/>
          <p:cNvSpPr txBox="1"/>
          <p:nvPr/>
        </p:nvSpPr>
        <p:spPr>
          <a:xfrm>
            <a:off x="3235856" y="1803400"/>
            <a:ext cx="545342" cy="369332"/>
          </a:xfrm>
          <a:prstGeom prst="rect">
            <a:avLst/>
          </a:prstGeom>
          <a:noFill/>
        </p:spPr>
        <p:txBody>
          <a:bodyPr wrap="none" rtlCol="0">
            <a:spAutoFit/>
          </a:bodyPr>
          <a:lstStyle/>
          <a:p>
            <a:r>
              <a:rPr lang="en-US" dirty="0" smtClean="0"/>
              <a:t>VT4</a:t>
            </a:r>
            <a:endParaRPr lang="ru-RU" dirty="0"/>
          </a:p>
        </p:txBody>
      </p:sp>
      <p:sp>
        <p:nvSpPr>
          <p:cNvPr id="145" name="TextBox 144"/>
          <p:cNvSpPr txBox="1"/>
          <p:nvPr/>
        </p:nvSpPr>
        <p:spPr>
          <a:xfrm>
            <a:off x="150253" y="5008831"/>
            <a:ext cx="1407565" cy="369332"/>
          </a:xfrm>
          <a:prstGeom prst="rect">
            <a:avLst/>
          </a:prstGeom>
          <a:noFill/>
        </p:spPr>
        <p:txBody>
          <a:bodyPr wrap="none" rtlCol="0">
            <a:spAutoFit/>
          </a:bodyPr>
          <a:lstStyle/>
          <a:p>
            <a:r>
              <a:rPr lang="en-US" dirty="0" smtClean="0"/>
              <a:t>DA1+VT1+R1</a:t>
            </a:r>
            <a:endParaRPr lang="ru-RU" dirty="0"/>
          </a:p>
        </p:txBody>
      </p:sp>
      <p:sp>
        <p:nvSpPr>
          <p:cNvPr id="146" name="TextBox 145"/>
          <p:cNvSpPr txBox="1"/>
          <p:nvPr/>
        </p:nvSpPr>
        <p:spPr>
          <a:xfrm>
            <a:off x="1888304" y="5008831"/>
            <a:ext cx="2531912" cy="369332"/>
          </a:xfrm>
          <a:prstGeom prst="rect">
            <a:avLst/>
          </a:prstGeom>
          <a:noFill/>
        </p:spPr>
        <p:txBody>
          <a:bodyPr wrap="none" rtlCol="0">
            <a:spAutoFit/>
          </a:bodyPr>
          <a:lstStyle/>
          <a:p>
            <a:r>
              <a:rPr lang="ru-RU" dirty="0" smtClean="0"/>
              <a:t>Преобразование </a:t>
            </a:r>
            <a:r>
              <a:rPr lang="en-US" dirty="0" smtClean="0"/>
              <a:t>U</a:t>
            </a:r>
            <a:r>
              <a:rPr lang="ru-RU" dirty="0" err="1" smtClean="0"/>
              <a:t>вх</a:t>
            </a:r>
            <a:r>
              <a:rPr lang="ru-RU" dirty="0" smtClean="0"/>
              <a:t> в </a:t>
            </a:r>
            <a:r>
              <a:rPr lang="en-US" dirty="0" smtClean="0"/>
              <a:t>I</a:t>
            </a:r>
            <a:endParaRPr lang="ru-RU" dirty="0"/>
          </a:p>
        </p:txBody>
      </p:sp>
      <p:sp>
        <p:nvSpPr>
          <p:cNvPr id="147" name="TextBox 146"/>
          <p:cNvSpPr txBox="1"/>
          <p:nvPr/>
        </p:nvSpPr>
        <p:spPr>
          <a:xfrm>
            <a:off x="195809" y="5378163"/>
            <a:ext cx="1497526" cy="369332"/>
          </a:xfrm>
          <a:prstGeom prst="rect">
            <a:avLst/>
          </a:prstGeom>
          <a:noFill/>
        </p:spPr>
        <p:txBody>
          <a:bodyPr wrap="none" rtlCol="0">
            <a:spAutoFit/>
          </a:bodyPr>
          <a:lstStyle/>
          <a:p>
            <a:r>
              <a:rPr lang="en-US" dirty="0" smtClean="0"/>
              <a:t>VT2+VT3+VT4</a:t>
            </a:r>
            <a:endParaRPr lang="ru-RU" dirty="0"/>
          </a:p>
        </p:txBody>
      </p:sp>
      <p:sp>
        <p:nvSpPr>
          <p:cNvPr id="148" name="TextBox 147"/>
          <p:cNvSpPr txBox="1"/>
          <p:nvPr/>
        </p:nvSpPr>
        <p:spPr>
          <a:xfrm>
            <a:off x="1858768" y="5359342"/>
            <a:ext cx="2533963" cy="369332"/>
          </a:xfrm>
          <a:prstGeom prst="rect">
            <a:avLst/>
          </a:prstGeom>
          <a:noFill/>
        </p:spPr>
        <p:txBody>
          <a:bodyPr wrap="none" rtlCol="0">
            <a:spAutoFit/>
          </a:bodyPr>
          <a:lstStyle/>
          <a:p>
            <a:r>
              <a:rPr lang="ru-RU" dirty="0" smtClean="0"/>
              <a:t>Схема токового зеркала</a:t>
            </a:r>
            <a:endParaRPr lang="ru-RU" dirty="0"/>
          </a:p>
        </p:txBody>
      </p:sp>
      <p:sp>
        <p:nvSpPr>
          <p:cNvPr id="149" name="TextBox 148"/>
          <p:cNvSpPr txBox="1"/>
          <p:nvPr/>
        </p:nvSpPr>
        <p:spPr>
          <a:xfrm>
            <a:off x="179335" y="5764614"/>
            <a:ext cx="1508746" cy="369332"/>
          </a:xfrm>
          <a:prstGeom prst="rect">
            <a:avLst/>
          </a:prstGeom>
          <a:noFill/>
        </p:spPr>
        <p:txBody>
          <a:bodyPr wrap="none" rtlCol="0">
            <a:spAutoFit/>
          </a:bodyPr>
          <a:lstStyle/>
          <a:p>
            <a:r>
              <a:rPr lang="en-US" dirty="0" smtClean="0"/>
              <a:t>U</a:t>
            </a:r>
            <a:r>
              <a:rPr lang="ru-RU" dirty="0" smtClean="0"/>
              <a:t>с=</a:t>
            </a:r>
            <a:r>
              <a:rPr lang="en-US" dirty="0"/>
              <a:t>I</a:t>
            </a:r>
            <a:r>
              <a:rPr lang="en-US" dirty="0" smtClean="0"/>
              <a:t>*t/(R1C1)</a:t>
            </a:r>
            <a:endParaRPr lang="ru-RU" dirty="0"/>
          </a:p>
        </p:txBody>
      </p:sp>
      <p:sp>
        <p:nvSpPr>
          <p:cNvPr id="151" name="TextBox 150"/>
          <p:cNvSpPr txBox="1"/>
          <p:nvPr/>
        </p:nvSpPr>
        <p:spPr>
          <a:xfrm>
            <a:off x="1859858" y="5728520"/>
            <a:ext cx="2426818" cy="369332"/>
          </a:xfrm>
          <a:prstGeom prst="rect">
            <a:avLst/>
          </a:prstGeom>
          <a:noFill/>
        </p:spPr>
        <p:txBody>
          <a:bodyPr wrap="none" rtlCol="0">
            <a:spAutoFit/>
          </a:bodyPr>
          <a:lstStyle/>
          <a:p>
            <a:r>
              <a:rPr lang="ru-RU" dirty="0" smtClean="0"/>
              <a:t>На интервале заряда </a:t>
            </a:r>
            <a:r>
              <a:rPr lang="en-US" dirty="0" smtClean="0"/>
              <a:t>C</a:t>
            </a:r>
            <a:endParaRPr lang="ru-RU" dirty="0"/>
          </a:p>
        </p:txBody>
      </p:sp>
      <p:cxnSp>
        <p:nvCxnSpPr>
          <p:cNvPr id="153" name="Прямая со стрелкой 152"/>
          <p:cNvCxnSpPr/>
          <p:nvPr/>
        </p:nvCxnSpPr>
        <p:spPr>
          <a:xfrm>
            <a:off x="5220072" y="5378163"/>
            <a:ext cx="1563588"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5" name="Прямая со стрелкой 154"/>
          <p:cNvCxnSpPr/>
          <p:nvPr/>
        </p:nvCxnSpPr>
        <p:spPr>
          <a:xfrm flipV="1">
            <a:off x="5220072" y="4863016"/>
            <a:ext cx="0" cy="51514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7" name="Прямая со стрелкой 156"/>
          <p:cNvCxnSpPr/>
          <p:nvPr/>
        </p:nvCxnSpPr>
        <p:spPr>
          <a:xfrm>
            <a:off x="5220072" y="5949280"/>
            <a:ext cx="1563588"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9" name="Прямая со стрелкой 158"/>
          <p:cNvCxnSpPr/>
          <p:nvPr/>
        </p:nvCxnSpPr>
        <p:spPr>
          <a:xfrm>
            <a:off x="5220072" y="6597352"/>
            <a:ext cx="158727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1" name="Прямая соединительная линия 160"/>
          <p:cNvCxnSpPr/>
          <p:nvPr/>
        </p:nvCxnSpPr>
        <p:spPr>
          <a:xfrm flipV="1">
            <a:off x="5220072" y="4863016"/>
            <a:ext cx="1494607" cy="4963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Прямая соединительная линия 162"/>
          <p:cNvCxnSpPr/>
          <p:nvPr/>
        </p:nvCxnSpPr>
        <p:spPr>
          <a:xfrm flipV="1">
            <a:off x="5220072" y="5544008"/>
            <a:ext cx="517710" cy="2017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Прямая соединительная линия 164"/>
          <p:cNvCxnSpPr/>
          <p:nvPr/>
        </p:nvCxnSpPr>
        <p:spPr>
          <a:xfrm flipV="1">
            <a:off x="5832468" y="5544008"/>
            <a:ext cx="330535" cy="1846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Прямая соединительная линия 166"/>
          <p:cNvCxnSpPr/>
          <p:nvPr/>
        </p:nvCxnSpPr>
        <p:spPr>
          <a:xfrm flipV="1">
            <a:off x="6302288" y="5544008"/>
            <a:ext cx="141920" cy="220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Прямая соединительная линия 168"/>
          <p:cNvCxnSpPr/>
          <p:nvPr/>
        </p:nvCxnSpPr>
        <p:spPr>
          <a:xfrm flipV="1">
            <a:off x="6588224" y="5544008"/>
            <a:ext cx="85662" cy="2206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Прямая соединительная линия 170"/>
          <p:cNvCxnSpPr/>
          <p:nvPr/>
        </p:nvCxnSpPr>
        <p:spPr>
          <a:xfrm>
            <a:off x="5731989" y="5138890"/>
            <a:ext cx="0" cy="1620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Прямая соединительная линия 171"/>
          <p:cNvCxnSpPr/>
          <p:nvPr/>
        </p:nvCxnSpPr>
        <p:spPr>
          <a:xfrm>
            <a:off x="6163003" y="5008831"/>
            <a:ext cx="0" cy="17147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Прямая соединительная линия 172"/>
          <p:cNvCxnSpPr/>
          <p:nvPr/>
        </p:nvCxnSpPr>
        <p:spPr>
          <a:xfrm flipH="1">
            <a:off x="6300192" y="4941168"/>
            <a:ext cx="2096" cy="1873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Прямая соединительная линия 173"/>
          <p:cNvCxnSpPr/>
          <p:nvPr/>
        </p:nvCxnSpPr>
        <p:spPr>
          <a:xfrm>
            <a:off x="6444208" y="4941168"/>
            <a:ext cx="3732" cy="1863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Прямая соединительная линия 174"/>
          <p:cNvCxnSpPr/>
          <p:nvPr/>
        </p:nvCxnSpPr>
        <p:spPr>
          <a:xfrm>
            <a:off x="6576638" y="4863016"/>
            <a:ext cx="11586" cy="1951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Прямая соединительная линия 175"/>
          <p:cNvCxnSpPr/>
          <p:nvPr/>
        </p:nvCxnSpPr>
        <p:spPr>
          <a:xfrm>
            <a:off x="6673886" y="4863016"/>
            <a:ext cx="0" cy="17665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Прямая соединительная линия 177"/>
          <p:cNvCxnSpPr/>
          <p:nvPr/>
        </p:nvCxnSpPr>
        <p:spPr>
          <a:xfrm>
            <a:off x="5220072" y="6216699"/>
            <a:ext cx="51191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Прямая соединительная линия 178"/>
          <p:cNvCxnSpPr/>
          <p:nvPr/>
        </p:nvCxnSpPr>
        <p:spPr>
          <a:xfrm>
            <a:off x="5832140" y="6216699"/>
            <a:ext cx="3503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Прямая соединительная линия 180"/>
          <p:cNvCxnSpPr/>
          <p:nvPr/>
        </p:nvCxnSpPr>
        <p:spPr>
          <a:xfrm flipH="1">
            <a:off x="5832468" y="5085184"/>
            <a:ext cx="15465" cy="17318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Прямая соединительная линия 181"/>
          <p:cNvCxnSpPr/>
          <p:nvPr/>
        </p:nvCxnSpPr>
        <p:spPr>
          <a:xfrm>
            <a:off x="6280691" y="6216699"/>
            <a:ext cx="1672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Прямая соединительная линия 183"/>
          <p:cNvCxnSpPr/>
          <p:nvPr/>
        </p:nvCxnSpPr>
        <p:spPr>
          <a:xfrm>
            <a:off x="6547430" y="6216699"/>
            <a:ext cx="1672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Прямая соединительная линия 185"/>
          <p:cNvCxnSpPr/>
          <p:nvPr/>
        </p:nvCxnSpPr>
        <p:spPr>
          <a:xfrm>
            <a:off x="5731989" y="6216699"/>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Прямая соединительная линия 186"/>
          <p:cNvCxnSpPr/>
          <p:nvPr/>
        </p:nvCxnSpPr>
        <p:spPr>
          <a:xfrm>
            <a:off x="5836347" y="6216698"/>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Прямая соединительная линия 187"/>
          <p:cNvCxnSpPr/>
          <p:nvPr/>
        </p:nvCxnSpPr>
        <p:spPr>
          <a:xfrm>
            <a:off x="6163003" y="6216699"/>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Прямая соединительная линия 188"/>
          <p:cNvCxnSpPr/>
          <p:nvPr/>
        </p:nvCxnSpPr>
        <p:spPr>
          <a:xfrm>
            <a:off x="6292735" y="6216699"/>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Прямая соединительная линия 189"/>
          <p:cNvCxnSpPr/>
          <p:nvPr/>
        </p:nvCxnSpPr>
        <p:spPr>
          <a:xfrm>
            <a:off x="6445879" y="6216699"/>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Прямая соединительная линия 190"/>
          <p:cNvCxnSpPr/>
          <p:nvPr/>
        </p:nvCxnSpPr>
        <p:spPr>
          <a:xfrm>
            <a:off x="6576638" y="6216699"/>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Прямая соединительная линия 191"/>
          <p:cNvCxnSpPr/>
          <p:nvPr/>
        </p:nvCxnSpPr>
        <p:spPr>
          <a:xfrm>
            <a:off x="6703093" y="6216699"/>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Прямая соединительная линия 193"/>
          <p:cNvCxnSpPr/>
          <p:nvPr/>
        </p:nvCxnSpPr>
        <p:spPr>
          <a:xfrm>
            <a:off x="5739453" y="5558631"/>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Прямая соединительная линия 194"/>
          <p:cNvCxnSpPr/>
          <p:nvPr/>
        </p:nvCxnSpPr>
        <p:spPr>
          <a:xfrm>
            <a:off x="6163003" y="5574287"/>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Прямая соединительная линия 195"/>
          <p:cNvCxnSpPr/>
          <p:nvPr/>
        </p:nvCxnSpPr>
        <p:spPr>
          <a:xfrm>
            <a:off x="6447940" y="5558631"/>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Прямая соединительная линия 196"/>
          <p:cNvCxnSpPr/>
          <p:nvPr/>
        </p:nvCxnSpPr>
        <p:spPr>
          <a:xfrm>
            <a:off x="6673886" y="5560093"/>
            <a:ext cx="0" cy="3806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Прямая соединительная линия 197"/>
          <p:cNvCxnSpPr/>
          <p:nvPr/>
        </p:nvCxnSpPr>
        <p:spPr>
          <a:xfrm>
            <a:off x="5220072" y="5728674"/>
            <a:ext cx="0" cy="2324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Прямая соединительная линия 199"/>
          <p:cNvCxnSpPr/>
          <p:nvPr/>
        </p:nvCxnSpPr>
        <p:spPr>
          <a:xfrm>
            <a:off x="5832140" y="5722448"/>
            <a:ext cx="0" cy="2324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Прямая соединительная линия 200"/>
          <p:cNvCxnSpPr/>
          <p:nvPr/>
        </p:nvCxnSpPr>
        <p:spPr>
          <a:xfrm>
            <a:off x="6300192" y="5734769"/>
            <a:ext cx="0" cy="2324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Прямая соединительная линия 201"/>
          <p:cNvCxnSpPr/>
          <p:nvPr/>
        </p:nvCxnSpPr>
        <p:spPr>
          <a:xfrm>
            <a:off x="6588224" y="5734769"/>
            <a:ext cx="0" cy="2324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TextBox 209"/>
          <p:cNvSpPr txBox="1"/>
          <p:nvPr/>
        </p:nvSpPr>
        <p:spPr>
          <a:xfrm>
            <a:off x="4672701" y="4954224"/>
            <a:ext cx="540982" cy="369332"/>
          </a:xfrm>
          <a:prstGeom prst="rect">
            <a:avLst/>
          </a:prstGeom>
          <a:noFill/>
        </p:spPr>
        <p:txBody>
          <a:bodyPr wrap="none" rtlCol="0">
            <a:spAutoFit/>
          </a:bodyPr>
          <a:lstStyle/>
          <a:p>
            <a:r>
              <a:rPr lang="en-US" dirty="0" smtClean="0"/>
              <a:t>U</a:t>
            </a:r>
            <a:r>
              <a:rPr lang="ru-RU" dirty="0" err="1" smtClean="0"/>
              <a:t>вх</a:t>
            </a:r>
            <a:endParaRPr lang="ru-RU" dirty="0"/>
          </a:p>
        </p:txBody>
      </p:sp>
      <p:sp>
        <p:nvSpPr>
          <p:cNvPr id="211" name="TextBox 210"/>
          <p:cNvSpPr txBox="1"/>
          <p:nvPr/>
        </p:nvSpPr>
        <p:spPr>
          <a:xfrm>
            <a:off x="4604522" y="6228019"/>
            <a:ext cx="696024" cy="369332"/>
          </a:xfrm>
          <a:prstGeom prst="rect">
            <a:avLst/>
          </a:prstGeom>
          <a:noFill/>
        </p:spPr>
        <p:txBody>
          <a:bodyPr wrap="none" rtlCol="0">
            <a:spAutoFit/>
          </a:bodyPr>
          <a:lstStyle/>
          <a:p>
            <a:r>
              <a:rPr lang="en-US" dirty="0" smtClean="0"/>
              <a:t>U</a:t>
            </a:r>
            <a:r>
              <a:rPr lang="ru-RU" dirty="0" err="1" smtClean="0"/>
              <a:t>вых</a:t>
            </a:r>
            <a:endParaRPr lang="ru-RU" dirty="0"/>
          </a:p>
        </p:txBody>
      </p:sp>
      <p:sp>
        <p:nvSpPr>
          <p:cNvPr id="212" name="TextBox 211"/>
          <p:cNvSpPr txBox="1"/>
          <p:nvPr/>
        </p:nvSpPr>
        <p:spPr>
          <a:xfrm>
            <a:off x="4616968" y="5571658"/>
            <a:ext cx="429926" cy="369332"/>
          </a:xfrm>
          <a:prstGeom prst="rect">
            <a:avLst/>
          </a:prstGeom>
          <a:noFill/>
        </p:spPr>
        <p:txBody>
          <a:bodyPr wrap="none" rtlCol="0">
            <a:spAutoFit/>
          </a:bodyPr>
          <a:lstStyle/>
          <a:p>
            <a:r>
              <a:rPr lang="en-US" dirty="0" smtClean="0"/>
              <a:t>U</a:t>
            </a:r>
            <a:r>
              <a:rPr lang="ru-RU" dirty="0"/>
              <a:t>с</a:t>
            </a:r>
          </a:p>
        </p:txBody>
      </p:sp>
      <p:sp>
        <p:nvSpPr>
          <p:cNvPr id="213" name="TextBox 212"/>
          <p:cNvSpPr txBox="1"/>
          <p:nvPr/>
        </p:nvSpPr>
        <p:spPr>
          <a:xfrm>
            <a:off x="6859179" y="6383152"/>
            <a:ext cx="261610" cy="369332"/>
          </a:xfrm>
          <a:prstGeom prst="rect">
            <a:avLst/>
          </a:prstGeom>
          <a:noFill/>
        </p:spPr>
        <p:txBody>
          <a:bodyPr wrap="none" rtlCol="0">
            <a:spAutoFit/>
          </a:bodyPr>
          <a:lstStyle/>
          <a:p>
            <a:r>
              <a:rPr lang="en-US" dirty="0"/>
              <a:t>t</a:t>
            </a:r>
            <a:endParaRPr lang="ru-RU" dirty="0"/>
          </a:p>
        </p:txBody>
      </p:sp>
      <p:sp>
        <p:nvSpPr>
          <p:cNvPr id="214" name="TextBox 213"/>
          <p:cNvSpPr txBox="1"/>
          <p:nvPr/>
        </p:nvSpPr>
        <p:spPr>
          <a:xfrm>
            <a:off x="6838547" y="5776500"/>
            <a:ext cx="261610" cy="369332"/>
          </a:xfrm>
          <a:prstGeom prst="rect">
            <a:avLst/>
          </a:prstGeom>
          <a:noFill/>
        </p:spPr>
        <p:txBody>
          <a:bodyPr wrap="none" rtlCol="0">
            <a:spAutoFit/>
          </a:bodyPr>
          <a:lstStyle/>
          <a:p>
            <a:r>
              <a:rPr lang="en-US" dirty="0"/>
              <a:t>t</a:t>
            </a:r>
            <a:endParaRPr lang="ru-RU" dirty="0"/>
          </a:p>
        </p:txBody>
      </p:sp>
      <p:sp>
        <p:nvSpPr>
          <p:cNvPr id="215" name="TextBox 214"/>
          <p:cNvSpPr txBox="1"/>
          <p:nvPr/>
        </p:nvSpPr>
        <p:spPr>
          <a:xfrm>
            <a:off x="6817915" y="5185603"/>
            <a:ext cx="261610" cy="369332"/>
          </a:xfrm>
          <a:prstGeom prst="rect">
            <a:avLst/>
          </a:prstGeom>
          <a:noFill/>
        </p:spPr>
        <p:txBody>
          <a:bodyPr wrap="none" rtlCol="0">
            <a:spAutoFit/>
          </a:bodyPr>
          <a:lstStyle/>
          <a:p>
            <a:r>
              <a:rPr lang="en-US" dirty="0"/>
              <a:t>t</a:t>
            </a:r>
            <a:endParaRPr lang="ru-RU" dirty="0"/>
          </a:p>
        </p:txBody>
      </p:sp>
    </p:spTree>
    <p:extLst>
      <p:ext uri="{BB962C8B-B14F-4D97-AF65-F5344CB8AC3E}">
        <p14:creationId xmlns:p14="http://schemas.microsoft.com/office/powerpoint/2010/main" val="3539964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7704" y="179348"/>
            <a:ext cx="5078570" cy="369332"/>
          </a:xfrm>
          <a:prstGeom prst="rect">
            <a:avLst/>
          </a:prstGeom>
          <a:noFill/>
        </p:spPr>
        <p:txBody>
          <a:bodyPr wrap="none" rtlCol="0">
            <a:spAutoFit/>
          </a:bodyPr>
          <a:lstStyle/>
          <a:p>
            <a:r>
              <a:rPr lang="ru-RU" b="1" dirty="0" smtClean="0"/>
              <a:t>Цифро-аналоговые преобразователи (ЦАП, </a:t>
            </a:r>
            <a:r>
              <a:rPr lang="en-US" b="1" dirty="0" smtClean="0"/>
              <a:t>DAC)</a:t>
            </a:r>
            <a:endParaRPr lang="ru-RU" b="1" dirty="0"/>
          </a:p>
        </p:txBody>
      </p:sp>
      <p:sp>
        <p:nvSpPr>
          <p:cNvPr id="5" name="TextBox 4"/>
          <p:cNvSpPr txBox="1"/>
          <p:nvPr/>
        </p:nvSpPr>
        <p:spPr>
          <a:xfrm>
            <a:off x="2160778" y="551626"/>
            <a:ext cx="4468467" cy="369332"/>
          </a:xfrm>
          <a:prstGeom prst="rect">
            <a:avLst/>
          </a:prstGeom>
          <a:noFill/>
        </p:spPr>
        <p:txBody>
          <a:bodyPr wrap="none" rtlCol="0">
            <a:spAutoFit/>
          </a:bodyPr>
          <a:lstStyle/>
          <a:p>
            <a:r>
              <a:rPr lang="ru-RU" i="1" dirty="0" smtClean="0"/>
              <a:t>Общая схема ЦАП с суммированием токов</a:t>
            </a:r>
            <a:endParaRPr lang="ru-RU" i="1" dirty="0"/>
          </a:p>
        </p:txBody>
      </p:sp>
      <p:sp>
        <p:nvSpPr>
          <p:cNvPr id="103" name="TextBox 102"/>
          <p:cNvSpPr txBox="1"/>
          <p:nvPr/>
        </p:nvSpPr>
        <p:spPr>
          <a:xfrm>
            <a:off x="5606434" y="1348430"/>
            <a:ext cx="3532890" cy="646331"/>
          </a:xfrm>
          <a:prstGeom prst="rect">
            <a:avLst/>
          </a:prstGeom>
          <a:noFill/>
        </p:spPr>
        <p:txBody>
          <a:bodyPr wrap="none" rtlCol="0">
            <a:spAutoFit/>
          </a:bodyPr>
          <a:lstStyle/>
          <a:p>
            <a:r>
              <a:rPr lang="en-US" dirty="0" smtClean="0"/>
              <a:t>S- </a:t>
            </a:r>
            <a:r>
              <a:rPr lang="ru-RU" dirty="0" smtClean="0"/>
              <a:t>ключи (полевые транзисторы в </a:t>
            </a:r>
          </a:p>
          <a:p>
            <a:r>
              <a:rPr lang="ru-RU" dirty="0" smtClean="0"/>
              <a:t>ключевом режиме)</a:t>
            </a:r>
            <a:endParaRPr lang="ru-RU" dirty="0"/>
          </a:p>
        </p:txBody>
      </p:sp>
      <p:grpSp>
        <p:nvGrpSpPr>
          <p:cNvPr id="11" name="Группа 10"/>
          <p:cNvGrpSpPr/>
          <p:nvPr/>
        </p:nvGrpSpPr>
        <p:grpSpPr>
          <a:xfrm>
            <a:off x="138386" y="1541866"/>
            <a:ext cx="5904656" cy="2684125"/>
            <a:chOff x="1115616" y="1662708"/>
            <a:chExt cx="5904656" cy="2684125"/>
          </a:xfrm>
        </p:grpSpPr>
        <p:sp>
          <p:nvSpPr>
            <p:cNvPr id="6" name="Овал 5"/>
            <p:cNvSpPr/>
            <p:nvPr/>
          </p:nvSpPr>
          <p:spPr>
            <a:xfrm>
              <a:off x="3631385" y="2069232"/>
              <a:ext cx="504056" cy="50405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Овал 6"/>
            <p:cNvSpPr/>
            <p:nvPr/>
          </p:nvSpPr>
          <p:spPr>
            <a:xfrm>
              <a:off x="4809584" y="2069232"/>
              <a:ext cx="504056" cy="50405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Овал 7"/>
            <p:cNvSpPr/>
            <p:nvPr/>
          </p:nvSpPr>
          <p:spPr>
            <a:xfrm>
              <a:off x="2453186" y="2069232"/>
              <a:ext cx="504056" cy="50405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 name="Прямая соединительная линия 9"/>
            <p:cNvCxnSpPr/>
            <p:nvPr/>
          </p:nvCxnSpPr>
          <p:spPr>
            <a:xfrm>
              <a:off x="1835696" y="1700808"/>
              <a:ext cx="32259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7" idx="0"/>
            </p:cNvCxnSpPr>
            <p:nvPr/>
          </p:nvCxnSpPr>
          <p:spPr>
            <a:xfrm flipV="1">
              <a:off x="5061612" y="170080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flipV="1">
              <a:off x="3883413" y="170080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flipV="1">
              <a:off x="2699526" y="170080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flipH="1">
              <a:off x="1115616" y="1700808"/>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flipV="1">
              <a:off x="5087400" y="257328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flipV="1">
              <a:off x="3909201" y="257328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flipV="1">
              <a:off x="2725314" y="257328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flipV="1">
              <a:off x="2565324" y="2926110"/>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flipV="1">
              <a:off x="3755841" y="2943436"/>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flipV="1">
              <a:off x="4942183" y="2926110"/>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flipV="1">
              <a:off x="5110401" y="3159460"/>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V="1">
              <a:off x="3932202" y="3159460"/>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V="1">
              <a:off x="2748315" y="3159460"/>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1979712" y="3527884"/>
              <a:ext cx="310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flipH="1">
              <a:off x="1259632" y="3527884"/>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2077541" y="3861048"/>
              <a:ext cx="310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flipV="1">
              <a:off x="2557073" y="3159460"/>
              <a:ext cx="0" cy="70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flipV="1">
              <a:off x="3755841" y="3159460"/>
              <a:ext cx="0" cy="70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flipV="1">
              <a:off x="4942183" y="3159460"/>
              <a:ext cx="0" cy="70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Овал 36"/>
            <p:cNvSpPr/>
            <p:nvPr/>
          </p:nvSpPr>
          <p:spPr>
            <a:xfrm>
              <a:off x="2521868" y="382714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Овал 37"/>
            <p:cNvSpPr/>
            <p:nvPr/>
          </p:nvSpPr>
          <p:spPr>
            <a:xfrm>
              <a:off x="3712096" y="382294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Овал 38"/>
            <p:cNvSpPr/>
            <p:nvPr/>
          </p:nvSpPr>
          <p:spPr>
            <a:xfrm>
              <a:off x="4907657" y="382714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Овал 39"/>
            <p:cNvSpPr/>
            <p:nvPr/>
          </p:nvSpPr>
          <p:spPr>
            <a:xfrm>
              <a:off x="5060057" y="35010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Овал 40"/>
            <p:cNvSpPr/>
            <p:nvPr/>
          </p:nvSpPr>
          <p:spPr>
            <a:xfrm>
              <a:off x="3904878" y="348615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Овал 41"/>
            <p:cNvSpPr/>
            <p:nvPr/>
          </p:nvSpPr>
          <p:spPr>
            <a:xfrm>
              <a:off x="2729508" y="35010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Овал 42"/>
            <p:cNvSpPr/>
            <p:nvPr/>
          </p:nvSpPr>
          <p:spPr>
            <a:xfrm>
              <a:off x="2661692" y="167642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Овал 43"/>
            <p:cNvSpPr/>
            <p:nvPr/>
          </p:nvSpPr>
          <p:spPr>
            <a:xfrm>
              <a:off x="3851920" y="168175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Овал 44"/>
            <p:cNvSpPr/>
            <p:nvPr/>
          </p:nvSpPr>
          <p:spPr>
            <a:xfrm>
              <a:off x="5013573" y="16627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Box 45"/>
            <p:cNvSpPr txBox="1"/>
            <p:nvPr/>
          </p:nvSpPr>
          <p:spPr>
            <a:xfrm>
              <a:off x="3304612" y="2950468"/>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1</a:t>
              </a:r>
              <a:endParaRPr lang="ru-RU" i="1" baseline="-25000" dirty="0">
                <a:latin typeface="Times New Roman" pitchFamily="18" charset="0"/>
                <a:cs typeface="Times New Roman" pitchFamily="18" charset="0"/>
              </a:endParaRPr>
            </a:p>
          </p:txBody>
        </p:sp>
        <p:sp>
          <p:nvSpPr>
            <p:cNvPr id="47" name="TextBox 46"/>
            <p:cNvSpPr txBox="1"/>
            <p:nvPr/>
          </p:nvSpPr>
          <p:spPr>
            <a:xfrm>
              <a:off x="4406018" y="2950468"/>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0</a:t>
              </a:r>
              <a:endParaRPr lang="ru-RU" i="1" baseline="-25000" dirty="0">
                <a:latin typeface="Times New Roman" pitchFamily="18" charset="0"/>
                <a:cs typeface="Times New Roman" pitchFamily="18" charset="0"/>
              </a:endParaRPr>
            </a:p>
          </p:txBody>
        </p:sp>
        <p:sp>
          <p:nvSpPr>
            <p:cNvPr id="48" name="TextBox 47"/>
            <p:cNvSpPr txBox="1"/>
            <p:nvPr/>
          </p:nvSpPr>
          <p:spPr>
            <a:xfrm>
              <a:off x="2111270" y="2950468"/>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2</a:t>
              </a:r>
              <a:endParaRPr lang="ru-RU" i="1" baseline="-25000" dirty="0">
                <a:latin typeface="Times New Roman" pitchFamily="18" charset="0"/>
                <a:cs typeface="Times New Roman" pitchFamily="18" charset="0"/>
              </a:endParaRPr>
            </a:p>
          </p:txBody>
        </p:sp>
        <p:grpSp>
          <p:nvGrpSpPr>
            <p:cNvPr id="61" name="Группа 60"/>
            <p:cNvGrpSpPr/>
            <p:nvPr/>
          </p:nvGrpSpPr>
          <p:grpSpPr>
            <a:xfrm>
              <a:off x="4958222" y="2135063"/>
              <a:ext cx="347685" cy="432048"/>
              <a:chOff x="6372200" y="2177244"/>
              <a:chExt cx="347685" cy="432048"/>
            </a:xfrm>
          </p:grpSpPr>
          <p:grpSp>
            <p:nvGrpSpPr>
              <p:cNvPr id="57" name="Группа 56"/>
              <p:cNvGrpSpPr/>
              <p:nvPr/>
            </p:nvGrpSpPr>
            <p:grpSpPr>
              <a:xfrm>
                <a:off x="6372200" y="2177244"/>
                <a:ext cx="347685" cy="288032"/>
                <a:chOff x="6372200" y="2177244"/>
                <a:chExt cx="347685" cy="288032"/>
              </a:xfrm>
            </p:grpSpPr>
            <p:cxnSp>
              <p:nvCxnSpPr>
                <p:cNvPr id="55" name="Прямая соединительная линия 54"/>
                <p:cNvCxnSpPr/>
                <p:nvPr/>
              </p:nvCxnSpPr>
              <p:spPr>
                <a:xfrm rot="2700000">
                  <a:off x="6228184"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p:cNvCxnSpPr/>
                <p:nvPr/>
              </p:nvCxnSpPr>
              <p:spPr>
                <a:xfrm rot="18900000" flipV="1">
                  <a:off x="6431853"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Группа 57"/>
              <p:cNvGrpSpPr/>
              <p:nvPr/>
            </p:nvGrpSpPr>
            <p:grpSpPr>
              <a:xfrm>
                <a:off x="6372200" y="2321260"/>
                <a:ext cx="347685" cy="288032"/>
                <a:chOff x="6372200" y="2177244"/>
                <a:chExt cx="347685" cy="288032"/>
              </a:xfrm>
            </p:grpSpPr>
            <p:cxnSp>
              <p:nvCxnSpPr>
                <p:cNvPr id="59" name="Прямая соединительная линия 58"/>
                <p:cNvCxnSpPr/>
                <p:nvPr/>
              </p:nvCxnSpPr>
              <p:spPr>
                <a:xfrm rot="2700000">
                  <a:off x="6228184"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Прямая соединительная линия 59"/>
                <p:cNvCxnSpPr/>
                <p:nvPr/>
              </p:nvCxnSpPr>
              <p:spPr>
                <a:xfrm rot="18900000" flipV="1">
                  <a:off x="6431853"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2" name="Группа 61"/>
            <p:cNvGrpSpPr/>
            <p:nvPr/>
          </p:nvGrpSpPr>
          <p:grpSpPr>
            <a:xfrm>
              <a:off x="3784104" y="2141240"/>
              <a:ext cx="347685" cy="432048"/>
              <a:chOff x="6372200" y="2177244"/>
              <a:chExt cx="347685" cy="432048"/>
            </a:xfrm>
          </p:grpSpPr>
          <p:grpSp>
            <p:nvGrpSpPr>
              <p:cNvPr id="63" name="Группа 62"/>
              <p:cNvGrpSpPr/>
              <p:nvPr/>
            </p:nvGrpSpPr>
            <p:grpSpPr>
              <a:xfrm>
                <a:off x="6372200" y="2177244"/>
                <a:ext cx="347685" cy="288032"/>
                <a:chOff x="6372200" y="2177244"/>
                <a:chExt cx="347685" cy="288032"/>
              </a:xfrm>
            </p:grpSpPr>
            <p:cxnSp>
              <p:nvCxnSpPr>
                <p:cNvPr id="67" name="Прямая соединительная линия 66"/>
                <p:cNvCxnSpPr/>
                <p:nvPr/>
              </p:nvCxnSpPr>
              <p:spPr>
                <a:xfrm rot="2700000">
                  <a:off x="6228184"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rot="18900000" flipV="1">
                  <a:off x="6431853"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4" name="Группа 63"/>
              <p:cNvGrpSpPr/>
              <p:nvPr/>
            </p:nvGrpSpPr>
            <p:grpSpPr>
              <a:xfrm>
                <a:off x="6372200" y="2321260"/>
                <a:ext cx="347685" cy="288032"/>
                <a:chOff x="6372200" y="2177244"/>
                <a:chExt cx="347685" cy="288032"/>
              </a:xfrm>
            </p:grpSpPr>
            <p:cxnSp>
              <p:nvCxnSpPr>
                <p:cNvPr id="65" name="Прямая соединительная линия 64"/>
                <p:cNvCxnSpPr/>
                <p:nvPr/>
              </p:nvCxnSpPr>
              <p:spPr>
                <a:xfrm rot="2700000">
                  <a:off x="6228184"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rot="18900000" flipV="1">
                  <a:off x="6431853"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9" name="Группа 68"/>
            <p:cNvGrpSpPr/>
            <p:nvPr/>
          </p:nvGrpSpPr>
          <p:grpSpPr>
            <a:xfrm>
              <a:off x="2627673" y="2141240"/>
              <a:ext cx="347685" cy="432048"/>
              <a:chOff x="6372200" y="2177244"/>
              <a:chExt cx="347685" cy="432048"/>
            </a:xfrm>
          </p:grpSpPr>
          <p:grpSp>
            <p:nvGrpSpPr>
              <p:cNvPr id="70" name="Группа 69"/>
              <p:cNvGrpSpPr/>
              <p:nvPr/>
            </p:nvGrpSpPr>
            <p:grpSpPr>
              <a:xfrm>
                <a:off x="6372200" y="2177244"/>
                <a:ext cx="347685" cy="288032"/>
                <a:chOff x="6372200" y="2177244"/>
                <a:chExt cx="347685" cy="288032"/>
              </a:xfrm>
            </p:grpSpPr>
            <p:cxnSp>
              <p:nvCxnSpPr>
                <p:cNvPr id="74" name="Прямая соединительная линия 73"/>
                <p:cNvCxnSpPr/>
                <p:nvPr/>
              </p:nvCxnSpPr>
              <p:spPr>
                <a:xfrm rot="2700000">
                  <a:off x="6228184"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Прямая соединительная линия 74"/>
                <p:cNvCxnSpPr/>
                <p:nvPr/>
              </p:nvCxnSpPr>
              <p:spPr>
                <a:xfrm rot="18900000" flipV="1">
                  <a:off x="6431853"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1" name="Группа 70"/>
              <p:cNvGrpSpPr/>
              <p:nvPr/>
            </p:nvGrpSpPr>
            <p:grpSpPr>
              <a:xfrm>
                <a:off x="6372200" y="2321260"/>
                <a:ext cx="347685" cy="288032"/>
                <a:chOff x="6372200" y="2177244"/>
                <a:chExt cx="347685" cy="288032"/>
              </a:xfrm>
            </p:grpSpPr>
            <p:cxnSp>
              <p:nvCxnSpPr>
                <p:cNvPr id="72" name="Прямая соединительная линия 71"/>
                <p:cNvCxnSpPr/>
                <p:nvPr/>
              </p:nvCxnSpPr>
              <p:spPr>
                <a:xfrm rot="2700000">
                  <a:off x="6228184"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Прямая соединительная линия 72"/>
                <p:cNvCxnSpPr/>
                <p:nvPr/>
              </p:nvCxnSpPr>
              <p:spPr>
                <a:xfrm rot="18900000" flipV="1">
                  <a:off x="6431853" y="2321260"/>
                  <a:ext cx="2880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76" name="TextBox 75"/>
            <p:cNvSpPr txBox="1"/>
            <p:nvPr/>
          </p:nvSpPr>
          <p:spPr>
            <a:xfrm>
              <a:off x="5340977" y="2136594"/>
              <a:ext cx="530915"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I</a:t>
              </a:r>
              <a:r>
                <a:rPr lang="en-US" i="1" baseline="-25000" dirty="0" smtClean="0">
                  <a:latin typeface="Times New Roman" pitchFamily="18" charset="0"/>
                  <a:cs typeface="Times New Roman" pitchFamily="18" charset="0"/>
                </a:rPr>
                <a:t>0</a:t>
              </a:r>
              <a:r>
                <a:rPr lang="en-US" i="1" dirty="0" smtClean="0">
                  <a:latin typeface="Times New Roman" pitchFamily="18" charset="0"/>
                  <a:cs typeface="Times New Roman" pitchFamily="18" charset="0"/>
                </a:rPr>
                <a:t>2</a:t>
              </a:r>
              <a:r>
                <a:rPr lang="en-US" i="1" baseline="30000" dirty="0" smtClean="0">
                  <a:latin typeface="Times New Roman" pitchFamily="18" charset="0"/>
                  <a:cs typeface="Times New Roman" pitchFamily="18" charset="0"/>
                </a:rPr>
                <a:t>0</a:t>
              </a:r>
              <a:endParaRPr lang="ru-RU" i="1" baseline="30000" dirty="0">
                <a:latin typeface="Times New Roman" pitchFamily="18" charset="0"/>
                <a:cs typeface="Times New Roman" pitchFamily="18" charset="0"/>
              </a:endParaRPr>
            </a:p>
          </p:txBody>
        </p:sp>
        <p:sp>
          <p:nvSpPr>
            <p:cNvPr id="77" name="TextBox 76"/>
            <p:cNvSpPr txBox="1"/>
            <p:nvPr/>
          </p:nvSpPr>
          <p:spPr>
            <a:xfrm>
              <a:off x="4135173" y="2136594"/>
              <a:ext cx="530915"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I</a:t>
              </a:r>
              <a:r>
                <a:rPr lang="en-US" i="1" baseline="-25000" dirty="0" smtClean="0">
                  <a:latin typeface="Times New Roman" pitchFamily="18" charset="0"/>
                  <a:cs typeface="Times New Roman" pitchFamily="18" charset="0"/>
                </a:rPr>
                <a:t>0</a:t>
              </a:r>
              <a:r>
                <a:rPr lang="en-US" i="1" dirty="0" smtClean="0">
                  <a:latin typeface="Times New Roman" pitchFamily="18" charset="0"/>
                  <a:cs typeface="Times New Roman" pitchFamily="18" charset="0"/>
                </a:rPr>
                <a:t>2</a:t>
              </a:r>
              <a:r>
                <a:rPr lang="en-US" i="1" baseline="30000" dirty="0" smtClean="0">
                  <a:latin typeface="Times New Roman" pitchFamily="18" charset="0"/>
                  <a:cs typeface="Times New Roman" pitchFamily="18" charset="0"/>
                </a:rPr>
                <a:t>1</a:t>
              </a:r>
              <a:endParaRPr lang="ru-RU" i="1" baseline="30000" dirty="0">
                <a:latin typeface="Times New Roman" pitchFamily="18" charset="0"/>
                <a:cs typeface="Times New Roman" pitchFamily="18" charset="0"/>
              </a:endParaRPr>
            </a:p>
          </p:txBody>
        </p:sp>
        <p:sp>
          <p:nvSpPr>
            <p:cNvPr id="78" name="TextBox 77"/>
            <p:cNvSpPr txBox="1"/>
            <p:nvPr/>
          </p:nvSpPr>
          <p:spPr>
            <a:xfrm>
              <a:off x="2978684" y="2136594"/>
              <a:ext cx="530915"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I</a:t>
              </a:r>
              <a:r>
                <a:rPr lang="en-US" i="1" baseline="-25000" dirty="0" smtClean="0">
                  <a:latin typeface="Times New Roman" pitchFamily="18" charset="0"/>
                  <a:cs typeface="Times New Roman" pitchFamily="18" charset="0"/>
                </a:rPr>
                <a:t>0</a:t>
              </a:r>
              <a:r>
                <a:rPr lang="en-US" i="1" dirty="0" smtClean="0">
                  <a:latin typeface="Times New Roman" pitchFamily="18" charset="0"/>
                  <a:cs typeface="Times New Roman" pitchFamily="18" charset="0"/>
                </a:rPr>
                <a:t>2</a:t>
              </a:r>
              <a:r>
                <a:rPr lang="en-US" i="1" baseline="30000" dirty="0">
                  <a:latin typeface="Times New Roman" pitchFamily="18" charset="0"/>
                  <a:cs typeface="Times New Roman" pitchFamily="18" charset="0"/>
                </a:rPr>
                <a:t>2</a:t>
              </a:r>
              <a:endParaRPr lang="ru-RU" i="1" baseline="30000" dirty="0">
                <a:latin typeface="Times New Roman" pitchFamily="18" charset="0"/>
                <a:cs typeface="Times New Roman" pitchFamily="18" charset="0"/>
              </a:endParaRPr>
            </a:p>
          </p:txBody>
        </p:sp>
        <p:cxnSp>
          <p:nvCxnSpPr>
            <p:cNvPr id="80" name="Прямая со стрелкой 79"/>
            <p:cNvCxnSpPr/>
            <p:nvPr/>
          </p:nvCxnSpPr>
          <p:spPr>
            <a:xfrm>
              <a:off x="3090714" y="2531107"/>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Прямая со стрелкой 80"/>
            <p:cNvCxnSpPr/>
            <p:nvPr/>
          </p:nvCxnSpPr>
          <p:spPr>
            <a:xfrm>
              <a:off x="4211960" y="2531107"/>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Прямая со стрелкой 81"/>
            <p:cNvCxnSpPr/>
            <p:nvPr/>
          </p:nvCxnSpPr>
          <p:spPr>
            <a:xfrm>
              <a:off x="5340977" y="2581089"/>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4" name="Прямая соединительная линия 83"/>
            <p:cNvCxnSpPr>
              <a:stCxn id="40" idx="6"/>
            </p:cNvCxnSpPr>
            <p:nvPr/>
          </p:nvCxnSpPr>
          <p:spPr>
            <a:xfrm>
              <a:off x="5132065" y="3537012"/>
              <a:ext cx="3760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85"/>
            <p:cNvCxnSpPr/>
            <p:nvPr/>
          </p:nvCxnSpPr>
          <p:spPr>
            <a:xfrm>
              <a:off x="5161891" y="3858952"/>
              <a:ext cx="3760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Овал 86"/>
            <p:cNvSpPr/>
            <p:nvPr/>
          </p:nvSpPr>
          <p:spPr>
            <a:xfrm>
              <a:off x="5508104" y="380618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8" name="Овал 87"/>
            <p:cNvSpPr/>
            <p:nvPr/>
          </p:nvSpPr>
          <p:spPr>
            <a:xfrm>
              <a:off x="5508104" y="35010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9" name="Прямоугольник 88"/>
            <p:cNvSpPr/>
            <p:nvPr/>
          </p:nvSpPr>
          <p:spPr>
            <a:xfrm rot="5400000">
              <a:off x="6370103" y="3273362"/>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3" name="Прямая соединительная линия 92"/>
            <p:cNvCxnSpPr/>
            <p:nvPr/>
          </p:nvCxnSpPr>
          <p:spPr>
            <a:xfrm flipV="1">
              <a:off x="5569567" y="3538829"/>
              <a:ext cx="586609" cy="12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Прямая соединительная линия 93"/>
            <p:cNvCxnSpPr/>
            <p:nvPr/>
          </p:nvCxnSpPr>
          <p:spPr>
            <a:xfrm flipV="1">
              <a:off x="5560042" y="3841998"/>
              <a:ext cx="1460230"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Прямая соединительная линия 96"/>
            <p:cNvCxnSpPr/>
            <p:nvPr/>
          </p:nvCxnSpPr>
          <p:spPr>
            <a:xfrm flipV="1">
              <a:off x="7020272" y="3558158"/>
              <a:ext cx="0" cy="2840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Прямая соединительная линия 98"/>
            <p:cNvCxnSpPr>
              <a:stCxn id="89" idx="0"/>
            </p:cNvCxnSpPr>
            <p:nvPr/>
          </p:nvCxnSpPr>
          <p:spPr>
            <a:xfrm>
              <a:off x="6703664" y="3541774"/>
              <a:ext cx="31660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6218686" y="2974794"/>
              <a:ext cx="439544"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a:t>
              </a:r>
              <a:r>
                <a:rPr lang="ru-RU" i="1" dirty="0" smtClean="0">
                  <a:latin typeface="Times New Roman" pitchFamily="18" charset="0"/>
                  <a:cs typeface="Times New Roman" pitchFamily="18" charset="0"/>
                </a:rPr>
                <a:t>н</a:t>
              </a:r>
              <a:endParaRPr lang="ru-RU" i="1" dirty="0">
                <a:latin typeface="Times New Roman" pitchFamily="18" charset="0"/>
                <a:cs typeface="Times New Roman" pitchFamily="18" charset="0"/>
              </a:endParaRPr>
            </a:p>
          </p:txBody>
        </p:sp>
        <p:sp>
          <p:nvSpPr>
            <p:cNvPr id="101" name="TextBox 100"/>
            <p:cNvSpPr txBox="1"/>
            <p:nvPr/>
          </p:nvSpPr>
          <p:spPr>
            <a:xfrm>
              <a:off x="5514323" y="3070497"/>
              <a:ext cx="45719" cy="369332"/>
            </a:xfrm>
            <a:prstGeom prst="rect">
              <a:avLst/>
            </a:prstGeom>
            <a:noFill/>
          </p:spPr>
          <p:txBody>
            <a:bodyPr wrap="square" rtlCol="0">
              <a:spAutoFit/>
            </a:bodyPr>
            <a:lstStyle/>
            <a:p>
              <a:r>
                <a:rPr lang="en-US" dirty="0" smtClean="0"/>
                <a:t>a</a:t>
              </a:r>
              <a:endParaRPr lang="ru-RU" dirty="0"/>
            </a:p>
          </p:txBody>
        </p:sp>
        <p:sp>
          <p:nvSpPr>
            <p:cNvPr id="102" name="TextBox 101"/>
            <p:cNvSpPr txBox="1"/>
            <p:nvPr/>
          </p:nvSpPr>
          <p:spPr>
            <a:xfrm>
              <a:off x="5518921" y="3878188"/>
              <a:ext cx="72008" cy="369332"/>
            </a:xfrm>
            <a:prstGeom prst="rect">
              <a:avLst/>
            </a:prstGeom>
            <a:noFill/>
          </p:spPr>
          <p:txBody>
            <a:bodyPr wrap="square" rtlCol="0">
              <a:spAutoFit/>
            </a:bodyPr>
            <a:lstStyle/>
            <a:p>
              <a:r>
                <a:rPr lang="en-US" dirty="0" smtClean="0"/>
                <a:t>b</a:t>
              </a:r>
              <a:endParaRPr lang="ru-RU" dirty="0"/>
            </a:p>
          </p:txBody>
        </p:sp>
        <p:cxnSp>
          <p:nvCxnSpPr>
            <p:cNvPr id="105" name="Прямая со стрелкой 104"/>
            <p:cNvCxnSpPr/>
            <p:nvPr/>
          </p:nvCxnSpPr>
          <p:spPr>
            <a:xfrm flipH="1">
              <a:off x="6235848" y="3964414"/>
              <a:ext cx="643282"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6546028" y="3977501"/>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endParaRPr lang="ru-RU" i="1" dirty="0">
                <a:latin typeface="Times New Roman" pitchFamily="18" charset="0"/>
                <a:cs typeface="Times New Roman" pitchFamily="18" charset="0"/>
              </a:endParaRPr>
            </a:p>
          </p:txBody>
        </p:sp>
        <p:sp>
          <p:nvSpPr>
            <p:cNvPr id="107" name="TextBox 106"/>
            <p:cNvSpPr txBox="1"/>
            <p:nvPr/>
          </p:nvSpPr>
          <p:spPr>
            <a:xfrm>
              <a:off x="5095446" y="3863144"/>
              <a:ext cx="474810"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smtClean="0">
                  <a:latin typeface="Times New Roman" pitchFamily="18" charset="0"/>
                  <a:cs typeface="Times New Roman" pitchFamily="18" charset="0"/>
                </a:rPr>
                <a:t>н</a:t>
              </a:r>
              <a:endParaRPr lang="ru-RU" i="1" dirty="0">
                <a:latin typeface="Times New Roman" pitchFamily="18" charset="0"/>
                <a:cs typeface="Times New Roman" pitchFamily="18" charset="0"/>
              </a:endParaRPr>
            </a:p>
          </p:txBody>
        </p:sp>
        <p:cxnSp>
          <p:nvCxnSpPr>
            <p:cNvPr id="109" name="Прямая со стрелкой 108"/>
            <p:cNvCxnSpPr>
              <a:stCxn id="88" idx="4"/>
              <a:endCxn id="87" idx="0"/>
            </p:cNvCxnSpPr>
            <p:nvPr/>
          </p:nvCxnSpPr>
          <p:spPr>
            <a:xfrm>
              <a:off x="5544108" y="3573016"/>
              <a:ext cx="0" cy="233164"/>
            </a:xfrm>
            <a:prstGeom prst="straightConnector1">
              <a:avLst/>
            </a:prstGeom>
            <a:ln w="190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10" name="Прямая соединительная линия 109"/>
            <p:cNvCxnSpPr/>
            <p:nvPr/>
          </p:nvCxnSpPr>
          <p:spPr>
            <a:xfrm>
              <a:off x="2394420" y="4132015"/>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Прямая соединительная линия 110"/>
            <p:cNvCxnSpPr/>
            <p:nvPr/>
          </p:nvCxnSpPr>
          <p:spPr>
            <a:xfrm>
              <a:off x="2571367" y="3840385"/>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113" name="Объект 112"/>
          <p:cNvGraphicFramePr>
            <a:graphicFrameLocks noChangeAspect="1"/>
          </p:cNvGraphicFramePr>
          <p:nvPr>
            <p:extLst>
              <p:ext uri="{D42A27DB-BD31-4B8C-83A1-F6EECF244321}">
                <p14:modId xmlns:p14="http://schemas.microsoft.com/office/powerpoint/2010/main" val="1543966469"/>
              </p:ext>
            </p:extLst>
          </p:nvPr>
        </p:nvGraphicFramePr>
        <p:xfrm>
          <a:off x="794332" y="4653136"/>
          <a:ext cx="2185978" cy="1851652"/>
        </p:xfrm>
        <a:graphic>
          <a:graphicData uri="http://schemas.openxmlformats.org/presentationml/2006/ole">
            <mc:AlternateContent xmlns:mc="http://schemas.openxmlformats.org/markup-compatibility/2006">
              <mc:Choice xmlns:v="urn:schemas-microsoft-com:vml" Requires="v">
                <p:oleObj spid="_x0000_s8401" name="Equation" r:id="rId3" imgW="1079280" imgH="914400" progId="Equation.DSMT4">
                  <p:embed/>
                </p:oleObj>
              </mc:Choice>
              <mc:Fallback>
                <p:oleObj name="Equation" r:id="rId3" imgW="1079280" imgH="914400" progId="Equation.DSMT4">
                  <p:embed/>
                  <p:pic>
                    <p:nvPicPr>
                      <p:cNvPr id="0" name=""/>
                      <p:cNvPicPr/>
                      <p:nvPr/>
                    </p:nvPicPr>
                    <p:blipFill>
                      <a:blip r:embed="rId4"/>
                      <a:stretch>
                        <a:fillRect/>
                      </a:stretch>
                    </p:blipFill>
                    <p:spPr>
                      <a:xfrm>
                        <a:off x="794332" y="4653136"/>
                        <a:ext cx="2185978" cy="1851652"/>
                      </a:xfrm>
                      <a:prstGeom prst="rect">
                        <a:avLst/>
                      </a:prstGeom>
                    </p:spPr>
                  </p:pic>
                </p:oleObj>
              </mc:Fallback>
            </mc:AlternateContent>
          </a:graphicData>
        </a:graphic>
      </p:graphicFrame>
      <p:sp>
        <p:nvSpPr>
          <p:cNvPr id="2" name="TextBox 1"/>
          <p:cNvSpPr txBox="1"/>
          <p:nvPr/>
        </p:nvSpPr>
        <p:spPr>
          <a:xfrm>
            <a:off x="5606434" y="2136594"/>
            <a:ext cx="2148345" cy="369332"/>
          </a:xfrm>
          <a:prstGeom prst="rect">
            <a:avLst/>
          </a:prstGeom>
          <a:noFill/>
        </p:spPr>
        <p:txBody>
          <a:bodyPr wrap="none" rtlCol="0">
            <a:spAutoFit/>
          </a:bodyPr>
          <a:lstStyle/>
          <a:p>
            <a:r>
              <a:rPr lang="en-US" dirty="0" smtClean="0"/>
              <a:t>m-</a:t>
            </a:r>
            <a:r>
              <a:rPr lang="ru-RU" dirty="0" smtClean="0"/>
              <a:t>разрядность ЦАП</a:t>
            </a:r>
            <a:endParaRPr lang="ru-RU" dirty="0"/>
          </a:p>
        </p:txBody>
      </p:sp>
      <p:sp>
        <p:nvSpPr>
          <p:cNvPr id="3" name="TextBox 2"/>
          <p:cNvSpPr txBox="1"/>
          <p:nvPr/>
        </p:nvSpPr>
        <p:spPr>
          <a:xfrm>
            <a:off x="3220080" y="4929019"/>
            <a:ext cx="2622193" cy="369332"/>
          </a:xfrm>
          <a:prstGeom prst="rect">
            <a:avLst/>
          </a:prstGeom>
          <a:noFill/>
        </p:spPr>
        <p:txBody>
          <a:bodyPr wrap="none" rtlCol="0">
            <a:spAutoFit/>
          </a:bodyPr>
          <a:lstStyle/>
          <a:p>
            <a:r>
              <a:rPr lang="ru-RU" dirty="0" smtClean="0"/>
              <a:t>Напряжение на нагрузке</a:t>
            </a:r>
            <a:endParaRPr lang="ru-RU" dirty="0"/>
          </a:p>
        </p:txBody>
      </p:sp>
      <p:grpSp>
        <p:nvGrpSpPr>
          <p:cNvPr id="90" name="Группа 89"/>
          <p:cNvGrpSpPr/>
          <p:nvPr/>
        </p:nvGrpSpPr>
        <p:grpSpPr>
          <a:xfrm>
            <a:off x="6323136" y="2675737"/>
            <a:ext cx="2424639" cy="2206997"/>
            <a:chOff x="-317046" y="497561"/>
            <a:chExt cx="4540130" cy="4947663"/>
          </a:xfrm>
        </p:grpSpPr>
        <p:pic>
          <p:nvPicPr>
            <p:cNvPr id="91"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15940" t="10687" r="10961"/>
            <a:stretch/>
          </p:blipFill>
          <p:spPr bwMode="auto">
            <a:xfrm>
              <a:off x="962525" y="830179"/>
              <a:ext cx="3260559" cy="46150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5" name="TextBox 94"/>
            <p:cNvSpPr txBox="1"/>
            <p:nvPr/>
          </p:nvSpPr>
          <p:spPr>
            <a:xfrm>
              <a:off x="119156" y="3177414"/>
              <a:ext cx="739000" cy="689977"/>
            </a:xfrm>
            <a:prstGeom prst="rect">
              <a:avLst/>
            </a:prstGeom>
            <a:noFill/>
          </p:spPr>
          <p:txBody>
            <a:bodyPr wrap="none" rtlCol="0">
              <a:spAutoFit/>
            </a:bodyPr>
            <a:lstStyle/>
            <a:p>
              <a:r>
                <a:rPr lang="en-US" sz="1400" b="1" i="1" dirty="0" smtClean="0">
                  <a:latin typeface="Times New Roman" panose="02020603050405020304" pitchFamily="18" charset="0"/>
                  <a:cs typeface="Times New Roman" panose="02020603050405020304" pitchFamily="18" charset="0"/>
                </a:rPr>
                <a:t>U</a:t>
              </a:r>
              <a:r>
                <a:rPr lang="ru-RU" sz="1400" b="1" i="1" baseline="-25000" dirty="0">
                  <a:latin typeface="Times New Roman" panose="02020603050405020304" pitchFamily="18" charset="0"/>
                  <a:cs typeface="Times New Roman" panose="02020603050405020304" pitchFamily="18" charset="0"/>
                </a:rPr>
                <a:t>В</a:t>
              </a:r>
            </a:p>
          </p:txBody>
        </p:sp>
        <p:sp>
          <p:nvSpPr>
            <p:cNvPr id="96" name="TextBox 95"/>
            <p:cNvSpPr txBox="1"/>
            <p:nvPr/>
          </p:nvSpPr>
          <p:spPr>
            <a:xfrm>
              <a:off x="98044" y="4347373"/>
              <a:ext cx="757009" cy="689977"/>
            </a:xfrm>
            <a:prstGeom prst="rect">
              <a:avLst/>
            </a:prstGeom>
            <a:noFill/>
          </p:spPr>
          <p:txBody>
            <a:bodyPr wrap="none" rtlCol="0">
              <a:spAutoFit/>
            </a:bodyPr>
            <a:lstStyle/>
            <a:p>
              <a:r>
                <a:rPr lang="en-US" sz="1400" b="1" i="1" dirty="0" err="1" smtClean="0">
                  <a:latin typeface="Times New Roman" panose="02020603050405020304" pitchFamily="18" charset="0"/>
                  <a:cs typeface="Times New Roman" panose="02020603050405020304" pitchFamily="18" charset="0"/>
                </a:rPr>
                <a:t>Ua</a:t>
              </a:r>
              <a:endParaRPr lang="ru-RU" sz="1400" b="1" i="1" dirty="0">
                <a:latin typeface="Times New Roman" panose="02020603050405020304" pitchFamily="18" charset="0"/>
                <a:cs typeface="Times New Roman" panose="02020603050405020304" pitchFamily="18" charset="0"/>
              </a:endParaRPr>
            </a:p>
          </p:txBody>
        </p:sp>
        <p:sp>
          <p:nvSpPr>
            <p:cNvPr id="98" name="TextBox 97"/>
            <p:cNvSpPr txBox="1"/>
            <p:nvPr/>
          </p:nvSpPr>
          <p:spPr>
            <a:xfrm>
              <a:off x="-317046" y="1546142"/>
              <a:ext cx="1513418" cy="689977"/>
            </a:xfrm>
            <a:prstGeom prst="rect">
              <a:avLst/>
            </a:prstGeom>
            <a:noFill/>
          </p:spPr>
          <p:txBody>
            <a:bodyPr wrap="none" rtlCol="0">
              <a:spAutoFit/>
            </a:bodyPr>
            <a:lstStyle/>
            <a:p>
              <a:r>
                <a:rPr lang="en-US" sz="1400" b="1" i="1" dirty="0" smtClean="0">
                  <a:latin typeface="Times New Roman" panose="02020603050405020304" pitchFamily="18" charset="0"/>
                  <a:cs typeface="Times New Roman" panose="02020603050405020304" pitchFamily="18" charset="0"/>
                </a:rPr>
                <a:t>U</a:t>
              </a:r>
              <a:r>
                <a:rPr lang="ru-RU" sz="1400" b="1" i="1" dirty="0" err="1" smtClean="0">
                  <a:latin typeface="Times New Roman" panose="02020603050405020304" pitchFamily="18" charset="0"/>
                  <a:cs typeface="Times New Roman" panose="02020603050405020304" pitchFamily="18" charset="0"/>
                </a:rPr>
                <a:t>зи.пор</a:t>
              </a:r>
              <a:endParaRPr lang="ru-RU" sz="1400" b="1" i="1" dirty="0">
                <a:latin typeface="Times New Roman" panose="02020603050405020304" pitchFamily="18" charset="0"/>
                <a:cs typeface="Times New Roman" panose="02020603050405020304" pitchFamily="18" charset="0"/>
              </a:endParaRPr>
            </a:p>
          </p:txBody>
        </p:sp>
        <p:sp>
          <p:nvSpPr>
            <p:cNvPr id="104" name="TextBox 103"/>
            <p:cNvSpPr txBox="1"/>
            <p:nvPr/>
          </p:nvSpPr>
          <p:spPr>
            <a:xfrm>
              <a:off x="-10014" y="2376550"/>
              <a:ext cx="955116" cy="689977"/>
            </a:xfrm>
            <a:prstGeom prst="rect">
              <a:avLst/>
            </a:prstGeom>
            <a:noFill/>
          </p:spPr>
          <p:txBody>
            <a:bodyPr wrap="none" rtlCol="0">
              <a:spAutoFit/>
            </a:bodyPr>
            <a:lstStyle/>
            <a:p>
              <a:r>
                <a:rPr lang="en-US" sz="1400" b="1" i="1" dirty="0" smtClean="0">
                  <a:latin typeface="Times New Roman" panose="02020603050405020304" pitchFamily="18" charset="0"/>
                  <a:cs typeface="Times New Roman" panose="02020603050405020304" pitchFamily="18" charset="0"/>
                </a:rPr>
                <a:t>U</a:t>
              </a:r>
              <a:r>
                <a:rPr lang="ru-RU" sz="1400" b="1" i="1" baseline="-25000" dirty="0" err="1" smtClean="0">
                  <a:latin typeface="Times New Roman" panose="02020603050405020304" pitchFamily="18" charset="0"/>
                  <a:cs typeface="Times New Roman" panose="02020603050405020304" pitchFamily="18" charset="0"/>
                </a:rPr>
                <a:t>вых</a:t>
              </a:r>
              <a:endParaRPr lang="ru-RU" sz="1400" b="1" i="1" baseline="-25000" dirty="0">
                <a:latin typeface="Times New Roman" panose="02020603050405020304" pitchFamily="18" charset="0"/>
                <a:cs typeface="Times New Roman" panose="02020603050405020304" pitchFamily="18" charset="0"/>
              </a:endParaRPr>
            </a:p>
          </p:txBody>
        </p:sp>
        <p:sp>
          <p:nvSpPr>
            <p:cNvPr id="108" name="TextBox 107"/>
            <p:cNvSpPr txBox="1"/>
            <p:nvPr/>
          </p:nvSpPr>
          <p:spPr>
            <a:xfrm>
              <a:off x="-2176" y="497561"/>
              <a:ext cx="799032" cy="689977"/>
            </a:xfrm>
            <a:prstGeom prst="rect">
              <a:avLst/>
            </a:prstGeom>
            <a:noFill/>
          </p:spPr>
          <p:txBody>
            <a:bodyPr wrap="none" rtlCol="0">
              <a:spAutoFit/>
            </a:bodyPr>
            <a:lstStyle/>
            <a:p>
              <a:r>
                <a:rPr lang="en-US" sz="1400" b="1" i="1" dirty="0" smtClean="0">
                  <a:latin typeface="Times New Roman" panose="02020603050405020304" pitchFamily="18" charset="0"/>
                  <a:cs typeface="Times New Roman" panose="02020603050405020304" pitchFamily="18" charset="0"/>
                </a:rPr>
                <a:t>U</a:t>
              </a:r>
              <a:r>
                <a:rPr lang="ru-RU" sz="1400" b="1" i="1" baseline="-25000" dirty="0" err="1" smtClean="0">
                  <a:latin typeface="Times New Roman" panose="02020603050405020304" pitchFamily="18" charset="0"/>
                  <a:cs typeface="Times New Roman" panose="02020603050405020304" pitchFamily="18" charset="0"/>
                </a:rPr>
                <a:t>вх</a:t>
              </a:r>
              <a:endParaRPr lang="ru-RU" sz="1400" b="1" i="1" baseline="-25000" dirty="0">
                <a:latin typeface="Times New Roman" panose="02020603050405020304" pitchFamily="18" charset="0"/>
                <a:cs typeface="Times New Roman" panose="02020603050405020304" pitchFamily="18" charset="0"/>
              </a:endParaRPr>
            </a:p>
          </p:txBody>
        </p:sp>
        <p:cxnSp>
          <p:nvCxnSpPr>
            <p:cNvPr id="112" name="Прямая соединительная линия 111"/>
            <p:cNvCxnSpPr/>
            <p:nvPr/>
          </p:nvCxnSpPr>
          <p:spPr>
            <a:xfrm flipH="1">
              <a:off x="1008543" y="3385084"/>
              <a:ext cx="1331209" cy="0"/>
            </a:xfrm>
            <a:prstGeom prst="line">
              <a:avLst/>
            </a:prstGeom>
            <a:ln w="38100">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114" name="Прямая соединительная линия 113"/>
            <p:cNvCxnSpPr/>
            <p:nvPr/>
          </p:nvCxnSpPr>
          <p:spPr>
            <a:xfrm flipH="1">
              <a:off x="1008543" y="2029490"/>
              <a:ext cx="827153" cy="0"/>
            </a:xfrm>
            <a:prstGeom prst="line">
              <a:avLst/>
            </a:prstGeom>
            <a:ln w="38100">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3966530" y="1556792"/>
              <a:ext cx="248786" cy="369332"/>
            </a:xfrm>
            <a:prstGeom prst="rect">
              <a:avLst/>
            </a:prstGeom>
            <a:noFill/>
          </p:spPr>
          <p:txBody>
            <a:bodyPr wrap="none" rtlCol="0">
              <a:spAutoFit/>
            </a:bodyPr>
            <a:lstStyle/>
            <a:p>
              <a:r>
                <a:rPr lang="en-US" b="1" i="1" dirty="0" smtClean="0">
                  <a:latin typeface="Times New Roman" panose="02020603050405020304" pitchFamily="18" charset="0"/>
                  <a:cs typeface="Times New Roman" panose="02020603050405020304" pitchFamily="18" charset="0"/>
                </a:rPr>
                <a:t>t</a:t>
              </a:r>
              <a:endParaRPr lang="ru-RU" b="1" i="1" baseline="-25000" dirty="0">
                <a:latin typeface="Times New Roman" panose="02020603050405020304" pitchFamily="18" charset="0"/>
                <a:cs typeface="Times New Roman" panose="02020603050405020304" pitchFamily="18" charset="0"/>
              </a:endParaRPr>
            </a:p>
          </p:txBody>
        </p:sp>
        <p:sp>
          <p:nvSpPr>
            <p:cNvPr id="116" name="TextBox 115"/>
            <p:cNvSpPr txBox="1"/>
            <p:nvPr/>
          </p:nvSpPr>
          <p:spPr>
            <a:xfrm>
              <a:off x="3814183" y="3075131"/>
              <a:ext cx="248786" cy="369332"/>
            </a:xfrm>
            <a:prstGeom prst="rect">
              <a:avLst/>
            </a:prstGeom>
            <a:noFill/>
          </p:spPr>
          <p:txBody>
            <a:bodyPr wrap="none" rtlCol="0">
              <a:spAutoFit/>
            </a:bodyPr>
            <a:lstStyle/>
            <a:p>
              <a:r>
                <a:rPr lang="en-US" b="1" i="1" dirty="0" smtClean="0">
                  <a:latin typeface="Times New Roman" panose="02020603050405020304" pitchFamily="18" charset="0"/>
                  <a:cs typeface="Times New Roman" panose="02020603050405020304" pitchFamily="18" charset="0"/>
                </a:rPr>
                <a:t>t</a:t>
              </a:r>
              <a:endParaRPr lang="ru-RU" b="1" i="1" baseline="-25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06094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Прямая соединительная линия 6"/>
          <p:cNvCxnSpPr/>
          <p:nvPr/>
        </p:nvCxnSpPr>
        <p:spPr>
          <a:xfrm>
            <a:off x="1774745" y="902886"/>
            <a:ext cx="32259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flipV="1">
            <a:off x="5004061" y="919840"/>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flipV="1">
            <a:off x="3822462" y="902886"/>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flipV="1">
            <a:off x="2638575" y="902886"/>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flipH="1">
            <a:off x="1054665" y="902886"/>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flipV="1">
            <a:off x="5026449" y="1775366"/>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flipV="1">
            <a:off x="3848250" y="1775366"/>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flipV="1">
            <a:off x="2664363" y="1775366"/>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flipV="1">
            <a:off x="2504373" y="2128188"/>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flipV="1">
            <a:off x="3694890" y="2145514"/>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flipV="1">
            <a:off x="4881232" y="2128188"/>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flipV="1">
            <a:off x="5049450" y="236153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flipV="1">
            <a:off x="3871251" y="236153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flipV="1">
            <a:off x="2687364" y="2361538"/>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1918761" y="2729962"/>
            <a:ext cx="310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flipH="1">
            <a:off x="1146867" y="3132676"/>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1774745" y="3135134"/>
            <a:ext cx="37361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Овал 26"/>
          <p:cNvSpPr/>
          <p:nvPr/>
        </p:nvSpPr>
        <p:spPr>
          <a:xfrm>
            <a:off x="2861045" y="311206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Овал 27"/>
          <p:cNvSpPr/>
          <p:nvPr/>
        </p:nvSpPr>
        <p:spPr>
          <a:xfrm>
            <a:off x="6039216" y="288101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Овал 28"/>
          <p:cNvSpPr/>
          <p:nvPr/>
        </p:nvSpPr>
        <p:spPr>
          <a:xfrm>
            <a:off x="5235321" y="270308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Овал 29"/>
          <p:cNvSpPr/>
          <p:nvPr/>
        </p:nvSpPr>
        <p:spPr>
          <a:xfrm>
            <a:off x="4999106" y="270308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Овал 30"/>
          <p:cNvSpPr/>
          <p:nvPr/>
        </p:nvSpPr>
        <p:spPr>
          <a:xfrm>
            <a:off x="3843927" y="268822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Овал 31"/>
          <p:cNvSpPr/>
          <p:nvPr/>
        </p:nvSpPr>
        <p:spPr>
          <a:xfrm>
            <a:off x="2668557" y="270308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Овал 32"/>
          <p:cNvSpPr/>
          <p:nvPr/>
        </p:nvSpPr>
        <p:spPr>
          <a:xfrm>
            <a:off x="2600741" y="87850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Овал 33"/>
          <p:cNvSpPr/>
          <p:nvPr/>
        </p:nvSpPr>
        <p:spPr>
          <a:xfrm>
            <a:off x="3790969" y="88383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Овал 34"/>
          <p:cNvSpPr/>
          <p:nvPr/>
        </p:nvSpPr>
        <p:spPr>
          <a:xfrm>
            <a:off x="4952622" y="86478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TextBox 35"/>
          <p:cNvSpPr txBox="1"/>
          <p:nvPr/>
        </p:nvSpPr>
        <p:spPr>
          <a:xfrm>
            <a:off x="3243661" y="2152546"/>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1</a:t>
            </a:r>
            <a:endParaRPr lang="ru-RU" i="1" baseline="-25000" dirty="0">
              <a:latin typeface="Times New Roman" pitchFamily="18" charset="0"/>
              <a:cs typeface="Times New Roman" pitchFamily="18" charset="0"/>
            </a:endParaRPr>
          </a:p>
        </p:txBody>
      </p:sp>
      <p:sp>
        <p:nvSpPr>
          <p:cNvPr id="37" name="TextBox 36"/>
          <p:cNvSpPr txBox="1"/>
          <p:nvPr/>
        </p:nvSpPr>
        <p:spPr>
          <a:xfrm>
            <a:off x="4345067" y="2152546"/>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0</a:t>
            </a:r>
            <a:endParaRPr lang="ru-RU" i="1" baseline="-25000" dirty="0">
              <a:latin typeface="Times New Roman" pitchFamily="18" charset="0"/>
              <a:cs typeface="Times New Roman" pitchFamily="18" charset="0"/>
            </a:endParaRPr>
          </a:p>
        </p:txBody>
      </p:sp>
      <p:sp>
        <p:nvSpPr>
          <p:cNvPr id="38" name="TextBox 37"/>
          <p:cNvSpPr txBox="1"/>
          <p:nvPr/>
        </p:nvSpPr>
        <p:spPr>
          <a:xfrm>
            <a:off x="2050319" y="2152546"/>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2</a:t>
            </a:r>
            <a:endParaRPr lang="ru-RU" i="1" baseline="-25000" dirty="0">
              <a:latin typeface="Times New Roman" pitchFamily="18" charset="0"/>
              <a:cs typeface="Times New Roman" pitchFamily="18" charset="0"/>
            </a:endParaRPr>
          </a:p>
        </p:txBody>
      </p:sp>
      <p:sp>
        <p:nvSpPr>
          <p:cNvPr id="60" name="TextBox 59"/>
          <p:cNvSpPr txBox="1"/>
          <p:nvPr/>
        </p:nvSpPr>
        <p:spPr>
          <a:xfrm>
            <a:off x="2759580" y="1330288"/>
            <a:ext cx="582211"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R/2</a:t>
            </a:r>
            <a:r>
              <a:rPr lang="en-US" i="1" baseline="30000" dirty="0">
                <a:latin typeface="Times New Roman" pitchFamily="18" charset="0"/>
                <a:cs typeface="Times New Roman" pitchFamily="18" charset="0"/>
              </a:rPr>
              <a:t>2</a:t>
            </a:r>
            <a:endParaRPr lang="ru-RU" i="1" baseline="30000" dirty="0">
              <a:latin typeface="Times New Roman" pitchFamily="18" charset="0"/>
              <a:cs typeface="Times New Roman" pitchFamily="18" charset="0"/>
            </a:endParaRPr>
          </a:p>
        </p:txBody>
      </p:sp>
      <p:cxnSp>
        <p:nvCxnSpPr>
          <p:cNvPr id="63" name="Прямая со стрелкой 62"/>
          <p:cNvCxnSpPr/>
          <p:nvPr/>
        </p:nvCxnSpPr>
        <p:spPr>
          <a:xfrm>
            <a:off x="2504373" y="1766982"/>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4" name="Прямая со стрелкой 63"/>
          <p:cNvCxnSpPr/>
          <p:nvPr/>
        </p:nvCxnSpPr>
        <p:spPr>
          <a:xfrm>
            <a:off x="3642828" y="1733185"/>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5" name="Прямая со стрелкой 64"/>
          <p:cNvCxnSpPr/>
          <p:nvPr/>
        </p:nvCxnSpPr>
        <p:spPr>
          <a:xfrm>
            <a:off x="4769212" y="1766982"/>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a:stCxn id="30" idx="6"/>
          </p:cNvCxnSpPr>
          <p:nvPr/>
        </p:nvCxnSpPr>
        <p:spPr>
          <a:xfrm>
            <a:off x="5071114" y="2739090"/>
            <a:ext cx="3760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Овал 67"/>
          <p:cNvSpPr/>
          <p:nvPr/>
        </p:nvSpPr>
        <p:spPr>
          <a:xfrm>
            <a:off x="5244022" y="307846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1" name="Прямая соединительная линия 70"/>
          <p:cNvCxnSpPr/>
          <p:nvPr/>
        </p:nvCxnSpPr>
        <p:spPr>
          <a:xfrm flipV="1">
            <a:off x="5855558" y="2927765"/>
            <a:ext cx="586609" cy="12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5403814" y="1859761"/>
            <a:ext cx="659155"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a:t>
            </a:r>
            <a:r>
              <a:rPr lang="ru-RU" i="1" dirty="0" err="1" smtClean="0">
                <a:latin typeface="Times New Roman" pitchFamily="18" charset="0"/>
                <a:cs typeface="Times New Roman" pitchFamily="18" charset="0"/>
              </a:rPr>
              <a:t>оос</a:t>
            </a:r>
            <a:endParaRPr lang="ru-RU" i="1" dirty="0">
              <a:latin typeface="Times New Roman" pitchFamily="18" charset="0"/>
              <a:cs typeface="Times New Roman" pitchFamily="18" charset="0"/>
            </a:endParaRPr>
          </a:p>
        </p:txBody>
      </p:sp>
      <p:sp>
        <p:nvSpPr>
          <p:cNvPr id="76" name="TextBox 75"/>
          <p:cNvSpPr txBox="1"/>
          <p:nvPr/>
        </p:nvSpPr>
        <p:spPr>
          <a:xfrm>
            <a:off x="5333902" y="2369758"/>
            <a:ext cx="45719" cy="369332"/>
          </a:xfrm>
          <a:prstGeom prst="rect">
            <a:avLst/>
          </a:prstGeom>
          <a:noFill/>
        </p:spPr>
        <p:txBody>
          <a:bodyPr wrap="square" rtlCol="0">
            <a:spAutoFit/>
          </a:bodyPr>
          <a:lstStyle/>
          <a:p>
            <a:r>
              <a:rPr lang="en-US" dirty="0" smtClean="0"/>
              <a:t>a</a:t>
            </a:r>
            <a:endParaRPr lang="ru-RU" dirty="0"/>
          </a:p>
        </p:txBody>
      </p:sp>
      <p:cxnSp>
        <p:nvCxnSpPr>
          <p:cNvPr id="83" name="Прямая соединительная линия 82"/>
          <p:cNvCxnSpPr/>
          <p:nvPr/>
        </p:nvCxnSpPr>
        <p:spPr>
          <a:xfrm>
            <a:off x="2720102" y="3406101"/>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Прямая соединительная линия 83"/>
          <p:cNvCxnSpPr/>
          <p:nvPr/>
        </p:nvCxnSpPr>
        <p:spPr>
          <a:xfrm>
            <a:off x="2897049" y="3114471"/>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Прямоугольник 84"/>
          <p:cNvSpPr/>
          <p:nvPr/>
        </p:nvSpPr>
        <p:spPr>
          <a:xfrm>
            <a:off x="2561523" y="1271310"/>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6" name="Прямоугольник 85"/>
          <p:cNvSpPr/>
          <p:nvPr/>
        </p:nvSpPr>
        <p:spPr>
          <a:xfrm>
            <a:off x="3737136" y="1262926"/>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Прямоугольник 86"/>
          <p:cNvSpPr/>
          <p:nvPr/>
        </p:nvSpPr>
        <p:spPr>
          <a:xfrm>
            <a:off x="4932697" y="1262926"/>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8" name="TextBox 87"/>
          <p:cNvSpPr txBox="1"/>
          <p:nvPr/>
        </p:nvSpPr>
        <p:spPr>
          <a:xfrm>
            <a:off x="5158855" y="1330288"/>
            <a:ext cx="582211"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R/2</a:t>
            </a:r>
            <a:r>
              <a:rPr lang="en-US" i="1" baseline="30000" dirty="0" smtClean="0">
                <a:latin typeface="Times New Roman" pitchFamily="18" charset="0"/>
                <a:cs typeface="Times New Roman" pitchFamily="18" charset="0"/>
              </a:rPr>
              <a:t>0</a:t>
            </a:r>
            <a:endParaRPr lang="ru-RU" i="1" baseline="30000" dirty="0">
              <a:latin typeface="Times New Roman" pitchFamily="18" charset="0"/>
              <a:cs typeface="Times New Roman" pitchFamily="18" charset="0"/>
            </a:endParaRPr>
          </a:p>
        </p:txBody>
      </p:sp>
      <p:sp>
        <p:nvSpPr>
          <p:cNvPr id="89" name="TextBox 88"/>
          <p:cNvSpPr txBox="1"/>
          <p:nvPr/>
        </p:nvSpPr>
        <p:spPr>
          <a:xfrm>
            <a:off x="3951369" y="1330288"/>
            <a:ext cx="582211"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R/2</a:t>
            </a:r>
            <a:r>
              <a:rPr lang="en-US" i="1" baseline="30000" dirty="0">
                <a:latin typeface="Times New Roman" pitchFamily="18" charset="0"/>
                <a:cs typeface="Times New Roman" pitchFamily="18" charset="0"/>
              </a:rPr>
              <a:t>1</a:t>
            </a:r>
            <a:endParaRPr lang="ru-RU" i="1" baseline="30000" dirty="0">
              <a:latin typeface="Times New Roman" pitchFamily="18" charset="0"/>
              <a:cs typeface="Times New Roman" pitchFamily="18" charset="0"/>
            </a:endParaRPr>
          </a:p>
        </p:txBody>
      </p:sp>
      <p:sp>
        <p:nvSpPr>
          <p:cNvPr id="90" name="Овал 89"/>
          <p:cNvSpPr/>
          <p:nvPr/>
        </p:nvSpPr>
        <p:spPr>
          <a:xfrm>
            <a:off x="910649" y="799520"/>
            <a:ext cx="184666" cy="18466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4" name="Группа 93"/>
          <p:cNvGrpSpPr/>
          <p:nvPr/>
        </p:nvGrpSpPr>
        <p:grpSpPr>
          <a:xfrm>
            <a:off x="5447153" y="2603354"/>
            <a:ext cx="408405" cy="667680"/>
            <a:chOff x="7532578" y="3159460"/>
            <a:chExt cx="408405" cy="667680"/>
          </a:xfrm>
        </p:grpSpPr>
        <p:sp>
          <p:nvSpPr>
            <p:cNvPr id="91" name="Прямоугольник 90"/>
            <p:cNvSpPr/>
            <p:nvPr/>
          </p:nvSpPr>
          <p:spPr>
            <a:xfrm>
              <a:off x="7596336" y="3159460"/>
              <a:ext cx="344647" cy="66768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Равнобедренный треугольник 91"/>
            <p:cNvSpPr/>
            <p:nvPr/>
          </p:nvSpPr>
          <p:spPr>
            <a:xfrm rot="5400000">
              <a:off x="7769005" y="3215849"/>
              <a:ext cx="127931" cy="12862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Овал 92"/>
            <p:cNvSpPr/>
            <p:nvPr/>
          </p:nvSpPr>
          <p:spPr>
            <a:xfrm>
              <a:off x="7532578" y="3216195"/>
              <a:ext cx="127931" cy="12793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97" name="Овал 96"/>
          <p:cNvSpPr/>
          <p:nvPr/>
        </p:nvSpPr>
        <p:spPr>
          <a:xfrm>
            <a:off x="981065" y="3040343"/>
            <a:ext cx="184666" cy="18466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8" name="Прямоугольник 97"/>
          <p:cNvSpPr/>
          <p:nvPr/>
        </p:nvSpPr>
        <p:spPr>
          <a:xfrm rot="5400000">
            <a:off x="5618084" y="2027977"/>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0" name="Соединительная линия уступом 99"/>
          <p:cNvCxnSpPr>
            <a:stCxn id="98" idx="0"/>
          </p:cNvCxnSpPr>
          <p:nvPr/>
        </p:nvCxnSpPr>
        <p:spPr>
          <a:xfrm>
            <a:off x="5951645" y="2296389"/>
            <a:ext cx="111324" cy="64080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Соединительная линия уступом 101"/>
          <p:cNvCxnSpPr>
            <a:stCxn id="98" idx="2"/>
          </p:cNvCxnSpPr>
          <p:nvPr/>
        </p:nvCxnSpPr>
        <p:spPr>
          <a:xfrm rot="10800000" flipV="1">
            <a:off x="5259134" y="2296388"/>
            <a:ext cx="155689" cy="427843"/>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5255340" y="3114471"/>
            <a:ext cx="306494" cy="369332"/>
          </a:xfrm>
          <a:prstGeom prst="rect">
            <a:avLst/>
          </a:prstGeom>
          <a:noFill/>
        </p:spPr>
        <p:txBody>
          <a:bodyPr wrap="none" rtlCol="0">
            <a:spAutoFit/>
          </a:bodyPr>
          <a:lstStyle/>
          <a:p>
            <a:r>
              <a:rPr lang="en-US" dirty="0" smtClean="0"/>
              <a:t>b</a:t>
            </a:r>
            <a:endParaRPr lang="ru-RU" dirty="0"/>
          </a:p>
        </p:txBody>
      </p:sp>
      <p:sp>
        <p:nvSpPr>
          <p:cNvPr id="104" name="TextBox 103"/>
          <p:cNvSpPr txBox="1"/>
          <p:nvPr/>
        </p:nvSpPr>
        <p:spPr>
          <a:xfrm>
            <a:off x="4357141" y="2737887"/>
            <a:ext cx="853119" cy="369332"/>
          </a:xfrm>
          <a:prstGeom prst="rect">
            <a:avLst/>
          </a:prstGeom>
          <a:noFill/>
          <a:ln>
            <a:noFill/>
          </a:ln>
        </p:spPr>
        <p:txBody>
          <a:bodyPr wrap="none" rtlCol="0">
            <a:spAutoFit/>
          </a:bodyPr>
          <a:lstStyle/>
          <a:p>
            <a:r>
              <a:rPr lang="en-US" i="1" dirty="0" err="1" smtClean="0">
                <a:latin typeface="Times New Roman" pitchFamily="18" charset="0"/>
                <a:cs typeface="Times New Roman" pitchFamily="18" charset="0"/>
              </a:rPr>
              <a:t>Uab</a:t>
            </a:r>
            <a:r>
              <a:rPr lang="en-US" i="1" dirty="0" smtClean="0">
                <a:latin typeface="Times New Roman" pitchFamily="18" charset="0"/>
                <a:cs typeface="Times New Roman" pitchFamily="18" charset="0"/>
              </a:rPr>
              <a:t>=0</a:t>
            </a:r>
            <a:endParaRPr lang="ru-RU" i="1" dirty="0">
              <a:latin typeface="Times New Roman" pitchFamily="18" charset="0"/>
              <a:cs typeface="Times New Roman" pitchFamily="18" charset="0"/>
            </a:endParaRPr>
          </a:p>
        </p:txBody>
      </p:sp>
      <p:sp>
        <p:nvSpPr>
          <p:cNvPr id="106" name="TextBox 105"/>
          <p:cNvSpPr txBox="1"/>
          <p:nvPr/>
        </p:nvSpPr>
        <p:spPr>
          <a:xfrm>
            <a:off x="5124535" y="1943393"/>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endParaRPr lang="ru-RU" i="1" dirty="0">
              <a:latin typeface="Times New Roman" pitchFamily="18" charset="0"/>
              <a:cs typeface="Times New Roman" pitchFamily="18" charset="0"/>
            </a:endParaRPr>
          </a:p>
        </p:txBody>
      </p:sp>
      <p:cxnSp>
        <p:nvCxnSpPr>
          <p:cNvPr id="111" name="Прямая со стрелкой 110"/>
          <p:cNvCxnSpPr/>
          <p:nvPr/>
        </p:nvCxnSpPr>
        <p:spPr>
          <a:xfrm flipV="1">
            <a:off x="5200296" y="2201602"/>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12" name="Объект 111"/>
          <p:cNvGraphicFramePr>
            <a:graphicFrameLocks noChangeAspect="1"/>
          </p:cNvGraphicFramePr>
          <p:nvPr>
            <p:extLst>
              <p:ext uri="{D42A27DB-BD31-4B8C-83A1-F6EECF244321}">
                <p14:modId xmlns:p14="http://schemas.microsoft.com/office/powerpoint/2010/main" val="519758499"/>
              </p:ext>
            </p:extLst>
          </p:nvPr>
        </p:nvGraphicFramePr>
        <p:xfrm>
          <a:off x="113253" y="1642408"/>
          <a:ext cx="797396" cy="688660"/>
        </p:xfrm>
        <a:graphic>
          <a:graphicData uri="http://schemas.openxmlformats.org/presentationml/2006/ole">
            <mc:AlternateContent xmlns:mc="http://schemas.openxmlformats.org/markup-compatibility/2006">
              <mc:Choice xmlns:v="urn:schemas-microsoft-com:vml" Requires="v">
                <p:oleObj spid="_x0000_s46480" name="Equation" r:id="rId3" imgW="279360" imgH="241200" progId="Equation.DSMT4">
                  <p:embed/>
                </p:oleObj>
              </mc:Choice>
              <mc:Fallback>
                <p:oleObj name="Equation" r:id="rId3" imgW="279360" imgH="241200" progId="Equation.DSMT4">
                  <p:embed/>
                  <p:pic>
                    <p:nvPicPr>
                      <p:cNvPr id="0" name=""/>
                      <p:cNvPicPr/>
                      <p:nvPr/>
                    </p:nvPicPr>
                    <p:blipFill>
                      <a:blip r:embed="rId4"/>
                      <a:stretch>
                        <a:fillRect/>
                      </a:stretch>
                    </p:blipFill>
                    <p:spPr>
                      <a:xfrm>
                        <a:off x="113253" y="1642408"/>
                        <a:ext cx="797396" cy="688660"/>
                      </a:xfrm>
                      <a:prstGeom prst="rect">
                        <a:avLst/>
                      </a:prstGeom>
                    </p:spPr>
                  </p:pic>
                </p:oleObj>
              </mc:Fallback>
            </mc:AlternateContent>
          </a:graphicData>
        </a:graphic>
      </p:graphicFrame>
      <p:cxnSp>
        <p:nvCxnSpPr>
          <p:cNvPr id="114" name="Прямая со стрелкой 113"/>
          <p:cNvCxnSpPr/>
          <p:nvPr/>
        </p:nvCxnSpPr>
        <p:spPr>
          <a:xfrm>
            <a:off x="1054665" y="1105297"/>
            <a:ext cx="0" cy="1840667"/>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16" name="Прямая со стрелкой 115"/>
          <p:cNvCxnSpPr>
            <a:stCxn id="29" idx="4"/>
            <a:endCxn id="68" idx="0"/>
          </p:cNvCxnSpPr>
          <p:nvPr/>
        </p:nvCxnSpPr>
        <p:spPr>
          <a:xfrm>
            <a:off x="5271325" y="2775094"/>
            <a:ext cx="8701" cy="303373"/>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18" name="Прямая соединительная линия 117"/>
          <p:cNvCxnSpPr/>
          <p:nvPr/>
        </p:nvCxnSpPr>
        <p:spPr>
          <a:xfrm flipH="1">
            <a:off x="1299267" y="2724054"/>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19" name="Объект 118"/>
          <p:cNvGraphicFramePr>
            <a:graphicFrameLocks noChangeAspect="1"/>
          </p:cNvGraphicFramePr>
          <p:nvPr>
            <p:extLst>
              <p:ext uri="{D42A27DB-BD31-4B8C-83A1-F6EECF244321}">
                <p14:modId xmlns:p14="http://schemas.microsoft.com/office/powerpoint/2010/main" val="25958080"/>
              </p:ext>
            </p:extLst>
          </p:nvPr>
        </p:nvGraphicFramePr>
        <p:xfrm>
          <a:off x="1910301" y="1657881"/>
          <a:ext cx="594072" cy="470307"/>
        </p:xfrm>
        <a:graphic>
          <a:graphicData uri="http://schemas.openxmlformats.org/presentationml/2006/ole">
            <mc:AlternateContent xmlns:mc="http://schemas.openxmlformats.org/markup-compatibility/2006">
              <mc:Choice xmlns:v="urn:schemas-microsoft-com:vml" Requires="v">
                <p:oleObj spid="_x0000_s46481" name="Equation" r:id="rId5" imgW="304560" imgH="241200" progId="Equation.DSMT4">
                  <p:embed/>
                </p:oleObj>
              </mc:Choice>
              <mc:Fallback>
                <p:oleObj name="Equation" r:id="rId5" imgW="304560" imgH="241200" progId="Equation.DSMT4">
                  <p:embed/>
                  <p:pic>
                    <p:nvPicPr>
                      <p:cNvPr id="0" name=""/>
                      <p:cNvPicPr/>
                      <p:nvPr/>
                    </p:nvPicPr>
                    <p:blipFill>
                      <a:blip r:embed="rId6"/>
                      <a:stretch>
                        <a:fillRect/>
                      </a:stretch>
                    </p:blipFill>
                    <p:spPr>
                      <a:xfrm>
                        <a:off x="1910301" y="1657881"/>
                        <a:ext cx="594072" cy="470307"/>
                      </a:xfrm>
                      <a:prstGeom prst="rect">
                        <a:avLst/>
                      </a:prstGeom>
                    </p:spPr>
                  </p:pic>
                </p:oleObj>
              </mc:Fallback>
            </mc:AlternateContent>
          </a:graphicData>
        </a:graphic>
      </p:graphicFrame>
      <p:graphicFrame>
        <p:nvGraphicFramePr>
          <p:cNvPr id="120" name="Объект 119"/>
          <p:cNvGraphicFramePr>
            <a:graphicFrameLocks noChangeAspect="1"/>
          </p:cNvGraphicFramePr>
          <p:nvPr>
            <p:extLst>
              <p:ext uri="{D42A27DB-BD31-4B8C-83A1-F6EECF244321}">
                <p14:modId xmlns:p14="http://schemas.microsoft.com/office/powerpoint/2010/main" val="3011306933"/>
              </p:ext>
            </p:extLst>
          </p:nvPr>
        </p:nvGraphicFramePr>
        <p:xfrm>
          <a:off x="3068012" y="1670641"/>
          <a:ext cx="544512" cy="469900"/>
        </p:xfrm>
        <a:graphic>
          <a:graphicData uri="http://schemas.openxmlformats.org/presentationml/2006/ole">
            <mc:AlternateContent xmlns:mc="http://schemas.openxmlformats.org/markup-compatibility/2006">
              <mc:Choice xmlns:v="urn:schemas-microsoft-com:vml" Requires="v">
                <p:oleObj spid="_x0000_s46482" name="Equation" r:id="rId7" imgW="279360" imgH="241200" progId="Equation.DSMT4">
                  <p:embed/>
                </p:oleObj>
              </mc:Choice>
              <mc:Fallback>
                <p:oleObj name="Equation" r:id="rId7" imgW="279360" imgH="241200" progId="Equation.DSMT4">
                  <p:embed/>
                  <p:pic>
                    <p:nvPicPr>
                      <p:cNvPr id="0" name="Объект 118"/>
                      <p:cNvPicPr>
                        <a:picLocks noChangeAspect="1" noChangeArrowheads="1"/>
                      </p:cNvPicPr>
                      <p:nvPr/>
                    </p:nvPicPr>
                    <p:blipFill>
                      <a:blip r:embed="rId8"/>
                      <a:srcRect/>
                      <a:stretch>
                        <a:fillRect/>
                      </a:stretch>
                    </p:blipFill>
                    <p:spPr bwMode="auto">
                      <a:xfrm>
                        <a:off x="3068012" y="1670641"/>
                        <a:ext cx="5445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 name="Объект 120"/>
          <p:cNvGraphicFramePr>
            <a:graphicFrameLocks noChangeAspect="1"/>
          </p:cNvGraphicFramePr>
          <p:nvPr>
            <p:extLst>
              <p:ext uri="{D42A27DB-BD31-4B8C-83A1-F6EECF244321}">
                <p14:modId xmlns:p14="http://schemas.microsoft.com/office/powerpoint/2010/main" val="425507572"/>
              </p:ext>
            </p:extLst>
          </p:nvPr>
        </p:nvGraphicFramePr>
        <p:xfrm>
          <a:off x="4191962" y="1683341"/>
          <a:ext cx="593725" cy="469900"/>
        </p:xfrm>
        <a:graphic>
          <a:graphicData uri="http://schemas.openxmlformats.org/presentationml/2006/ole">
            <mc:AlternateContent xmlns:mc="http://schemas.openxmlformats.org/markup-compatibility/2006">
              <mc:Choice xmlns:v="urn:schemas-microsoft-com:vml" Requires="v">
                <p:oleObj spid="_x0000_s46483" name="Equation" r:id="rId9" imgW="304560" imgH="241200" progId="Equation.DSMT4">
                  <p:embed/>
                </p:oleObj>
              </mc:Choice>
              <mc:Fallback>
                <p:oleObj name="Equation" r:id="rId9" imgW="304560" imgH="241200" progId="Equation.DSMT4">
                  <p:embed/>
                  <p:pic>
                    <p:nvPicPr>
                      <p:cNvPr id="0" name="Объект 119"/>
                      <p:cNvPicPr>
                        <a:picLocks noChangeAspect="1" noChangeArrowheads="1"/>
                      </p:cNvPicPr>
                      <p:nvPr/>
                    </p:nvPicPr>
                    <p:blipFill>
                      <a:blip r:embed="rId10"/>
                      <a:srcRect/>
                      <a:stretch>
                        <a:fillRect/>
                      </a:stretch>
                    </p:blipFill>
                    <p:spPr bwMode="auto">
                      <a:xfrm>
                        <a:off x="4191962" y="1683341"/>
                        <a:ext cx="5937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 name="Объект 121"/>
          <p:cNvGraphicFramePr>
            <a:graphicFrameLocks noChangeAspect="1"/>
          </p:cNvGraphicFramePr>
          <p:nvPr>
            <p:extLst>
              <p:ext uri="{D42A27DB-BD31-4B8C-83A1-F6EECF244321}">
                <p14:modId xmlns:p14="http://schemas.microsoft.com/office/powerpoint/2010/main" val="3718082081"/>
              </p:ext>
            </p:extLst>
          </p:nvPr>
        </p:nvGraphicFramePr>
        <p:xfrm>
          <a:off x="7456938" y="1779116"/>
          <a:ext cx="949796" cy="681375"/>
        </p:xfrm>
        <a:graphic>
          <a:graphicData uri="http://schemas.openxmlformats.org/presentationml/2006/ole">
            <mc:AlternateContent xmlns:mc="http://schemas.openxmlformats.org/markup-compatibility/2006">
              <mc:Choice xmlns:v="urn:schemas-microsoft-com:vml" Requires="v">
                <p:oleObj spid="_x0000_s46484" name="Equation" r:id="rId11" imgW="583920" imgH="419040" progId="Equation.DSMT4">
                  <p:embed/>
                </p:oleObj>
              </mc:Choice>
              <mc:Fallback>
                <p:oleObj name="Equation" r:id="rId11" imgW="583920" imgH="419040" progId="Equation.DSMT4">
                  <p:embed/>
                  <p:pic>
                    <p:nvPicPr>
                      <p:cNvPr id="0" name=""/>
                      <p:cNvPicPr/>
                      <p:nvPr/>
                    </p:nvPicPr>
                    <p:blipFill>
                      <a:blip r:embed="rId12"/>
                      <a:stretch>
                        <a:fillRect/>
                      </a:stretch>
                    </p:blipFill>
                    <p:spPr>
                      <a:xfrm>
                        <a:off x="7456938" y="1779116"/>
                        <a:ext cx="949796" cy="681375"/>
                      </a:xfrm>
                      <a:prstGeom prst="rect">
                        <a:avLst/>
                      </a:prstGeom>
                    </p:spPr>
                  </p:pic>
                </p:oleObj>
              </mc:Fallback>
            </mc:AlternateContent>
          </a:graphicData>
        </a:graphic>
      </p:graphicFrame>
      <p:cxnSp>
        <p:nvCxnSpPr>
          <p:cNvPr id="123" name="Прямая соединительная линия 122"/>
          <p:cNvCxnSpPr/>
          <p:nvPr/>
        </p:nvCxnSpPr>
        <p:spPr>
          <a:xfrm>
            <a:off x="6289526" y="3553403"/>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Прямая соединительная линия 123"/>
          <p:cNvCxnSpPr/>
          <p:nvPr/>
        </p:nvCxnSpPr>
        <p:spPr>
          <a:xfrm>
            <a:off x="6466473" y="3261773"/>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Овал 124"/>
          <p:cNvSpPr/>
          <p:nvPr/>
        </p:nvSpPr>
        <p:spPr>
          <a:xfrm>
            <a:off x="6404205" y="3148067"/>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6" name="Овал 125"/>
          <p:cNvSpPr/>
          <p:nvPr/>
        </p:nvSpPr>
        <p:spPr>
          <a:xfrm>
            <a:off x="6364207" y="2875677"/>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7" name="Прямая со стрелкой 126"/>
          <p:cNvCxnSpPr/>
          <p:nvPr/>
        </p:nvCxnSpPr>
        <p:spPr>
          <a:xfrm>
            <a:off x="6634720" y="2891456"/>
            <a:ext cx="8701" cy="303373"/>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6607307" y="2853079"/>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graphicFrame>
        <p:nvGraphicFramePr>
          <p:cNvPr id="129" name="Объект 128"/>
          <p:cNvGraphicFramePr>
            <a:graphicFrameLocks noChangeAspect="1"/>
          </p:cNvGraphicFramePr>
          <p:nvPr>
            <p:extLst>
              <p:ext uri="{D42A27DB-BD31-4B8C-83A1-F6EECF244321}">
                <p14:modId xmlns:p14="http://schemas.microsoft.com/office/powerpoint/2010/main" val="570407931"/>
              </p:ext>
            </p:extLst>
          </p:nvPr>
        </p:nvGraphicFramePr>
        <p:xfrm>
          <a:off x="1171202" y="4653136"/>
          <a:ext cx="5921375" cy="903288"/>
        </p:xfrm>
        <a:graphic>
          <a:graphicData uri="http://schemas.openxmlformats.org/presentationml/2006/ole">
            <mc:AlternateContent xmlns:mc="http://schemas.openxmlformats.org/markup-compatibility/2006">
              <mc:Choice xmlns:v="urn:schemas-microsoft-com:vml" Requires="v">
                <p:oleObj spid="_x0000_s46485" name="Equation" r:id="rId13" imgW="2908080" imgH="444240" progId="Equation.DSMT4">
                  <p:embed/>
                </p:oleObj>
              </mc:Choice>
              <mc:Fallback>
                <p:oleObj name="Equation" r:id="rId13" imgW="2908080" imgH="444240" progId="Equation.DSMT4">
                  <p:embed/>
                  <p:pic>
                    <p:nvPicPr>
                      <p:cNvPr id="0" name=""/>
                      <p:cNvPicPr/>
                      <p:nvPr/>
                    </p:nvPicPr>
                    <p:blipFill>
                      <a:blip r:embed="rId14"/>
                      <a:stretch>
                        <a:fillRect/>
                      </a:stretch>
                    </p:blipFill>
                    <p:spPr>
                      <a:xfrm>
                        <a:off x="1171202" y="4653136"/>
                        <a:ext cx="5921375" cy="903288"/>
                      </a:xfrm>
                      <a:prstGeom prst="rect">
                        <a:avLst/>
                      </a:prstGeom>
                    </p:spPr>
                  </p:pic>
                </p:oleObj>
              </mc:Fallback>
            </mc:AlternateContent>
          </a:graphicData>
        </a:graphic>
      </p:graphicFrame>
      <p:sp>
        <p:nvSpPr>
          <p:cNvPr id="130" name="TextBox 129"/>
          <p:cNvSpPr txBox="1"/>
          <p:nvPr/>
        </p:nvSpPr>
        <p:spPr>
          <a:xfrm>
            <a:off x="2910861" y="243496"/>
            <a:ext cx="3674660" cy="369332"/>
          </a:xfrm>
          <a:prstGeom prst="rect">
            <a:avLst/>
          </a:prstGeom>
          <a:noFill/>
        </p:spPr>
        <p:txBody>
          <a:bodyPr wrap="none" rtlCol="0">
            <a:spAutoFit/>
          </a:bodyPr>
          <a:lstStyle/>
          <a:p>
            <a:r>
              <a:rPr lang="ru-RU" i="1" dirty="0" smtClean="0"/>
              <a:t>Матрица взвешенных резисторов</a:t>
            </a:r>
            <a:endParaRPr lang="ru-RU" i="1" dirty="0"/>
          </a:p>
        </p:txBody>
      </p:sp>
      <p:sp>
        <p:nvSpPr>
          <p:cNvPr id="131" name="TextBox 130"/>
          <p:cNvSpPr txBox="1"/>
          <p:nvPr/>
        </p:nvSpPr>
        <p:spPr>
          <a:xfrm>
            <a:off x="764952" y="5620598"/>
            <a:ext cx="7914282" cy="369332"/>
          </a:xfrm>
          <a:prstGeom prst="rect">
            <a:avLst/>
          </a:prstGeom>
          <a:noFill/>
        </p:spPr>
        <p:txBody>
          <a:bodyPr wrap="none" rtlCol="0">
            <a:spAutoFit/>
          </a:bodyPr>
          <a:lstStyle/>
          <a:p>
            <a:r>
              <a:rPr lang="ru-RU" dirty="0" smtClean="0"/>
              <a:t>Какой основной недостаток ЦАП на основе матрицы взвешенных резисторов?</a:t>
            </a:r>
            <a:endParaRPr lang="ru-RU" dirty="0"/>
          </a:p>
        </p:txBody>
      </p:sp>
      <p:graphicFrame>
        <p:nvGraphicFramePr>
          <p:cNvPr id="3" name="Объект 2"/>
          <p:cNvGraphicFramePr>
            <a:graphicFrameLocks noChangeAspect="1"/>
          </p:cNvGraphicFramePr>
          <p:nvPr>
            <p:extLst>
              <p:ext uri="{D42A27DB-BD31-4B8C-83A1-F6EECF244321}">
                <p14:modId xmlns:p14="http://schemas.microsoft.com/office/powerpoint/2010/main" val="4028497284"/>
              </p:ext>
            </p:extLst>
          </p:nvPr>
        </p:nvGraphicFramePr>
        <p:xfrm>
          <a:off x="7327812" y="760215"/>
          <a:ext cx="1033033" cy="380591"/>
        </p:xfrm>
        <a:graphic>
          <a:graphicData uri="http://schemas.openxmlformats.org/presentationml/2006/ole">
            <mc:AlternateContent xmlns:mc="http://schemas.openxmlformats.org/markup-compatibility/2006">
              <mc:Choice xmlns:v="urn:schemas-microsoft-com:vml" Requires="v">
                <p:oleObj spid="_x0000_s46486" name="Equation" r:id="rId15" imgW="482400" imgH="177480" progId="Equation.DSMT4">
                  <p:embed/>
                </p:oleObj>
              </mc:Choice>
              <mc:Fallback>
                <p:oleObj name="Equation" r:id="rId15" imgW="482400" imgH="177480" progId="Equation.DSMT4">
                  <p:embed/>
                  <p:pic>
                    <p:nvPicPr>
                      <p:cNvPr id="0" name=""/>
                      <p:cNvPicPr/>
                      <p:nvPr/>
                    </p:nvPicPr>
                    <p:blipFill>
                      <a:blip r:embed="rId16"/>
                      <a:stretch>
                        <a:fillRect/>
                      </a:stretch>
                    </p:blipFill>
                    <p:spPr>
                      <a:xfrm>
                        <a:off x="7327812" y="760215"/>
                        <a:ext cx="1033033" cy="380591"/>
                      </a:xfrm>
                      <a:prstGeom prst="rect">
                        <a:avLst/>
                      </a:prstGeom>
                      <a:ln w="28575">
                        <a:solidFill>
                          <a:srgbClr val="FF0000"/>
                        </a:solidFill>
                      </a:ln>
                    </p:spPr>
                  </p:pic>
                </p:oleObj>
              </mc:Fallback>
            </mc:AlternateContent>
          </a:graphicData>
        </a:graphic>
      </p:graphicFrame>
      <p:sp>
        <p:nvSpPr>
          <p:cNvPr id="4" name="TextBox 3"/>
          <p:cNvSpPr txBox="1"/>
          <p:nvPr/>
        </p:nvSpPr>
        <p:spPr>
          <a:xfrm>
            <a:off x="7319361" y="1271310"/>
            <a:ext cx="1224951" cy="369332"/>
          </a:xfrm>
          <a:prstGeom prst="rect">
            <a:avLst/>
          </a:prstGeom>
          <a:noFill/>
        </p:spPr>
        <p:txBody>
          <a:bodyPr wrap="none" rtlCol="0">
            <a:spAutoFit/>
          </a:bodyPr>
          <a:lstStyle/>
          <a:p>
            <a:r>
              <a:rPr lang="ru-RU" dirty="0" smtClean="0"/>
              <a:t>Закон Ома</a:t>
            </a:r>
            <a:endParaRPr lang="ru-RU" dirty="0"/>
          </a:p>
        </p:txBody>
      </p:sp>
    </p:spTree>
    <p:extLst>
      <p:ext uri="{BB962C8B-B14F-4D97-AF65-F5344CB8AC3E}">
        <p14:creationId xmlns:p14="http://schemas.microsoft.com/office/powerpoint/2010/main" val="1811460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39752" y="301219"/>
            <a:ext cx="4512774" cy="369332"/>
          </a:xfrm>
          <a:prstGeom prst="rect">
            <a:avLst/>
          </a:prstGeom>
          <a:noFill/>
        </p:spPr>
        <p:txBody>
          <a:bodyPr wrap="none" rtlCol="0">
            <a:spAutoFit/>
          </a:bodyPr>
          <a:lstStyle/>
          <a:p>
            <a:r>
              <a:rPr lang="ru-RU" i="1" dirty="0" smtClean="0"/>
              <a:t>ЦАП на основе резистивной матрицы </a:t>
            </a:r>
            <a:r>
              <a:rPr lang="en-US" i="1" dirty="0" smtClean="0"/>
              <a:t>R-2R</a:t>
            </a:r>
            <a:endParaRPr lang="ru-RU" i="1" dirty="0"/>
          </a:p>
        </p:txBody>
      </p:sp>
      <p:graphicFrame>
        <p:nvGraphicFramePr>
          <p:cNvPr id="99" name="Объект 98"/>
          <p:cNvGraphicFramePr>
            <a:graphicFrameLocks noChangeAspect="1"/>
          </p:cNvGraphicFramePr>
          <p:nvPr>
            <p:extLst>
              <p:ext uri="{D42A27DB-BD31-4B8C-83A1-F6EECF244321}">
                <p14:modId xmlns:p14="http://schemas.microsoft.com/office/powerpoint/2010/main" val="3838786257"/>
              </p:ext>
            </p:extLst>
          </p:nvPr>
        </p:nvGraphicFramePr>
        <p:xfrm>
          <a:off x="7732682" y="67969"/>
          <a:ext cx="1003394" cy="1321543"/>
        </p:xfrm>
        <a:graphic>
          <a:graphicData uri="http://schemas.openxmlformats.org/presentationml/2006/ole">
            <mc:AlternateContent xmlns:mc="http://schemas.openxmlformats.org/markup-compatibility/2006">
              <mc:Choice xmlns:v="urn:schemas-microsoft-com:vml" Requires="v">
                <p:oleObj spid="_x0000_s57969" name="Equation" r:id="rId3" imgW="520560" imgH="685800" progId="Equation.DSMT4">
                  <p:embed/>
                </p:oleObj>
              </mc:Choice>
              <mc:Fallback>
                <p:oleObj name="Equation" r:id="rId3" imgW="520560" imgH="685800" progId="Equation.DSMT4">
                  <p:embed/>
                  <p:pic>
                    <p:nvPicPr>
                      <p:cNvPr id="0" name=""/>
                      <p:cNvPicPr/>
                      <p:nvPr/>
                    </p:nvPicPr>
                    <p:blipFill>
                      <a:blip r:embed="rId4"/>
                      <a:stretch>
                        <a:fillRect/>
                      </a:stretch>
                    </p:blipFill>
                    <p:spPr>
                      <a:xfrm>
                        <a:off x="7732682" y="67969"/>
                        <a:ext cx="1003394" cy="1321543"/>
                      </a:xfrm>
                      <a:prstGeom prst="rect">
                        <a:avLst/>
                      </a:prstGeom>
                      <a:ln>
                        <a:solidFill>
                          <a:srgbClr val="FF0000"/>
                        </a:solidFill>
                      </a:ln>
                    </p:spPr>
                  </p:pic>
                </p:oleObj>
              </mc:Fallback>
            </mc:AlternateContent>
          </a:graphicData>
        </a:graphic>
      </p:graphicFrame>
      <p:graphicFrame>
        <p:nvGraphicFramePr>
          <p:cNvPr id="102" name="Объект 101"/>
          <p:cNvGraphicFramePr>
            <a:graphicFrameLocks noChangeAspect="1"/>
          </p:cNvGraphicFramePr>
          <p:nvPr>
            <p:extLst>
              <p:ext uri="{D42A27DB-BD31-4B8C-83A1-F6EECF244321}">
                <p14:modId xmlns:p14="http://schemas.microsoft.com/office/powerpoint/2010/main" val="3835929605"/>
              </p:ext>
            </p:extLst>
          </p:nvPr>
        </p:nvGraphicFramePr>
        <p:xfrm>
          <a:off x="7403457" y="1754788"/>
          <a:ext cx="1669527" cy="1956214"/>
        </p:xfrm>
        <a:graphic>
          <a:graphicData uri="http://schemas.openxmlformats.org/presentationml/2006/ole">
            <mc:AlternateContent xmlns:mc="http://schemas.openxmlformats.org/markup-compatibility/2006">
              <mc:Choice xmlns:v="urn:schemas-microsoft-com:vml" Requires="v">
                <p:oleObj spid="_x0000_s57970" name="Equation" r:id="rId5" imgW="1257120" imgH="1473120" progId="Equation.DSMT4">
                  <p:embed/>
                </p:oleObj>
              </mc:Choice>
              <mc:Fallback>
                <p:oleObj name="Equation" r:id="rId5" imgW="1257120" imgH="1473120" progId="Equation.DSMT4">
                  <p:embed/>
                  <p:pic>
                    <p:nvPicPr>
                      <p:cNvPr id="0" name=""/>
                      <p:cNvPicPr/>
                      <p:nvPr/>
                    </p:nvPicPr>
                    <p:blipFill>
                      <a:blip r:embed="rId6"/>
                      <a:stretch>
                        <a:fillRect/>
                      </a:stretch>
                    </p:blipFill>
                    <p:spPr>
                      <a:xfrm>
                        <a:off x="7403457" y="1754788"/>
                        <a:ext cx="1669527" cy="1956214"/>
                      </a:xfrm>
                      <a:prstGeom prst="rect">
                        <a:avLst/>
                      </a:prstGeom>
                      <a:ln>
                        <a:solidFill>
                          <a:srgbClr val="FF0000"/>
                        </a:solidFill>
                      </a:ln>
                    </p:spPr>
                  </p:pic>
                </p:oleObj>
              </mc:Fallback>
            </mc:AlternateContent>
          </a:graphicData>
        </a:graphic>
      </p:graphicFrame>
      <p:graphicFrame>
        <p:nvGraphicFramePr>
          <p:cNvPr id="103" name="Объект 102"/>
          <p:cNvGraphicFramePr>
            <a:graphicFrameLocks noChangeAspect="1"/>
          </p:cNvGraphicFramePr>
          <p:nvPr>
            <p:extLst>
              <p:ext uri="{D42A27DB-BD31-4B8C-83A1-F6EECF244321}">
                <p14:modId xmlns:p14="http://schemas.microsoft.com/office/powerpoint/2010/main" val="988247866"/>
              </p:ext>
            </p:extLst>
          </p:nvPr>
        </p:nvGraphicFramePr>
        <p:xfrm>
          <a:off x="7524328" y="3932041"/>
          <a:ext cx="1440160" cy="1800200"/>
        </p:xfrm>
        <a:graphic>
          <a:graphicData uri="http://schemas.openxmlformats.org/presentationml/2006/ole">
            <mc:AlternateContent xmlns:mc="http://schemas.openxmlformats.org/markup-compatibility/2006">
              <mc:Choice xmlns:v="urn:schemas-microsoft-com:vml" Requires="v">
                <p:oleObj spid="_x0000_s57971" name="Equation" r:id="rId7" imgW="1015920" imgH="1269720" progId="Equation.DSMT4">
                  <p:embed/>
                </p:oleObj>
              </mc:Choice>
              <mc:Fallback>
                <p:oleObj name="Equation" r:id="rId7" imgW="1015920" imgH="1269720" progId="Equation.DSMT4">
                  <p:embed/>
                  <p:pic>
                    <p:nvPicPr>
                      <p:cNvPr id="0" name=""/>
                      <p:cNvPicPr/>
                      <p:nvPr/>
                    </p:nvPicPr>
                    <p:blipFill>
                      <a:blip r:embed="rId8"/>
                      <a:stretch>
                        <a:fillRect/>
                      </a:stretch>
                    </p:blipFill>
                    <p:spPr>
                      <a:xfrm>
                        <a:off x="7524328" y="3932041"/>
                        <a:ext cx="1440160" cy="1800200"/>
                      </a:xfrm>
                      <a:prstGeom prst="rect">
                        <a:avLst/>
                      </a:prstGeom>
                      <a:ln>
                        <a:solidFill>
                          <a:srgbClr val="FF0000"/>
                        </a:solidFill>
                      </a:ln>
                    </p:spPr>
                  </p:pic>
                </p:oleObj>
              </mc:Fallback>
            </mc:AlternateContent>
          </a:graphicData>
        </a:graphic>
      </p:graphicFrame>
      <p:grpSp>
        <p:nvGrpSpPr>
          <p:cNvPr id="2" name="Группа 1"/>
          <p:cNvGrpSpPr/>
          <p:nvPr/>
        </p:nvGrpSpPr>
        <p:grpSpPr>
          <a:xfrm>
            <a:off x="-10806" y="748539"/>
            <a:ext cx="6839191" cy="3554865"/>
            <a:chOff x="49438" y="1444677"/>
            <a:chExt cx="6839191" cy="3554865"/>
          </a:xfrm>
        </p:grpSpPr>
        <p:cxnSp>
          <p:nvCxnSpPr>
            <p:cNvPr id="5" name="Прямая соединительная линия 4"/>
            <p:cNvCxnSpPr/>
            <p:nvPr/>
          </p:nvCxnSpPr>
          <p:spPr>
            <a:xfrm>
              <a:off x="1710930" y="2349025"/>
              <a:ext cx="32259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p:nvPr/>
          </p:nvCxnSpPr>
          <p:spPr>
            <a:xfrm flipV="1">
              <a:off x="4940246" y="2365979"/>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p:nvPr/>
          </p:nvCxnSpPr>
          <p:spPr>
            <a:xfrm flipV="1">
              <a:off x="3758647" y="2349025"/>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flipV="1">
              <a:off x="2574760" y="2349025"/>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flipH="1">
              <a:off x="990850" y="2349025"/>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flipV="1">
              <a:off x="4962634" y="3221505"/>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flipV="1">
              <a:off x="3784435" y="3221505"/>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flipV="1">
              <a:off x="2600548" y="3221505"/>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flipV="1">
              <a:off x="2440558" y="3574327"/>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flipV="1">
              <a:off x="3631075" y="3591653"/>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flipV="1">
              <a:off x="4817417" y="3574327"/>
              <a:ext cx="144016" cy="216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flipV="1">
              <a:off x="4985635" y="3807677"/>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flipV="1">
              <a:off x="3807436" y="3807677"/>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flipV="1">
              <a:off x="2623549" y="3807677"/>
              <a:ext cx="0" cy="368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1854946" y="4176101"/>
              <a:ext cx="310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flipH="1">
              <a:off x="1083052" y="4578815"/>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1710930" y="4581273"/>
              <a:ext cx="37361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Овал 21"/>
            <p:cNvSpPr/>
            <p:nvPr/>
          </p:nvSpPr>
          <p:spPr>
            <a:xfrm>
              <a:off x="2797230" y="455820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Овал 22"/>
            <p:cNvSpPr/>
            <p:nvPr/>
          </p:nvSpPr>
          <p:spPr>
            <a:xfrm>
              <a:off x="5975401" y="432714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Овал 23"/>
            <p:cNvSpPr/>
            <p:nvPr/>
          </p:nvSpPr>
          <p:spPr>
            <a:xfrm>
              <a:off x="5171506" y="414922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Овал 24"/>
            <p:cNvSpPr/>
            <p:nvPr/>
          </p:nvSpPr>
          <p:spPr>
            <a:xfrm>
              <a:off x="4935291" y="414922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Овал 25"/>
            <p:cNvSpPr/>
            <p:nvPr/>
          </p:nvSpPr>
          <p:spPr>
            <a:xfrm>
              <a:off x="3780112" y="413436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Овал 26"/>
            <p:cNvSpPr/>
            <p:nvPr/>
          </p:nvSpPr>
          <p:spPr>
            <a:xfrm>
              <a:off x="2604742" y="414922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Овал 27"/>
            <p:cNvSpPr/>
            <p:nvPr/>
          </p:nvSpPr>
          <p:spPr>
            <a:xfrm>
              <a:off x="2536926" y="232464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Овал 28"/>
            <p:cNvSpPr/>
            <p:nvPr/>
          </p:nvSpPr>
          <p:spPr>
            <a:xfrm>
              <a:off x="3727154" y="232997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Овал 29"/>
            <p:cNvSpPr/>
            <p:nvPr/>
          </p:nvSpPr>
          <p:spPr>
            <a:xfrm>
              <a:off x="4888807" y="231092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p:cNvSpPr txBox="1"/>
            <p:nvPr/>
          </p:nvSpPr>
          <p:spPr>
            <a:xfrm>
              <a:off x="3179846" y="3598685"/>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1</a:t>
              </a:r>
              <a:endParaRPr lang="ru-RU" i="1" baseline="-25000" dirty="0">
                <a:latin typeface="Times New Roman" pitchFamily="18" charset="0"/>
                <a:cs typeface="Times New Roman" pitchFamily="18" charset="0"/>
              </a:endParaRPr>
            </a:p>
          </p:txBody>
        </p:sp>
        <p:sp>
          <p:nvSpPr>
            <p:cNvPr id="32" name="TextBox 31"/>
            <p:cNvSpPr txBox="1"/>
            <p:nvPr/>
          </p:nvSpPr>
          <p:spPr>
            <a:xfrm>
              <a:off x="4281252" y="3598685"/>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0</a:t>
              </a:r>
              <a:endParaRPr lang="ru-RU" i="1" baseline="-25000" dirty="0">
                <a:latin typeface="Times New Roman" pitchFamily="18" charset="0"/>
                <a:cs typeface="Times New Roman" pitchFamily="18" charset="0"/>
              </a:endParaRPr>
            </a:p>
          </p:txBody>
        </p:sp>
        <p:sp>
          <p:nvSpPr>
            <p:cNvPr id="33" name="TextBox 32"/>
            <p:cNvSpPr txBox="1"/>
            <p:nvPr/>
          </p:nvSpPr>
          <p:spPr>
            <a:xfrm>
              <a:off x="1986504" y="3598685"/>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2</a:t>
              </a:r>
              <a:endParaRPr lang="ru-RU" i="1" baseline="-25000" dirty="0">
                <a:latin typeface="Times New Roman" pitchFamily="18" charset="0"/>
                <a:cs typeface="Times New Roman" pitchFamily="18" charset="0"/>
              </a:endParaRPr>
            </a:p>
          </p:txBody>
        </p:sp>
        <p:cxnSp>
          <p:nvCxnSpPr>
            <p:cNvPr id="35" name="Прямая со стрелкой 34"/>
            <p:cNvCxnSpPr/>
            <p:nvPr/>
          </p:nvCxnSpPr>
          <p:spPr>
            <a:xfrm>
              <a:off x="2440558" y="3213121"/>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p:cNvCxnSpPr/>
            <p:nvPr/>
          </p:nvCxnSpPr>
          <p:spPr>
            <a:xfrm>
              <a:off x="3579013" y="3179324"/>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Прямая со стрелкой 36"/>
            <p:cNvCxnSpPr/>
            <p:nvPr/>
          </p:nvCxnSpPr>
          <p:spPr>
            <a:xfrm>
              <a:off x="4705397" y="3213121"/>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a:stCxn id="25" idx="6"/>
            </p:cNvCxnSpPr>
            <p:nvPr/>
          </p:nvCxnSpPr>
          <p:spPr>
            <a:xfrm>
              <a:off x="5007299" y="4185229"/>
              <a:ext cx="3760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Овал 38"/>
            <p:cNvSpPr/>
            <p:nvPr/>
          </p:nvSpPr>
          <p:spPr>
            <a:xfrm>
              <a:off x="5180207" y="452460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0" name="Прямая соединительная линия 39"/>
            <p:cNvCxnSpPr/>
            <p:nvPr/>
          </p:nvCxnSpPr>
          <p:spPr>
            <a:xfrm flipV="1">
              <a:off x="5791743" y="4373904"/>
              <a:ext cx="586609" cy="12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5339999" y="3305900"/>
              <a:ext cx="659155"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a:t>
              </a:r>
              <a:r>
                <a:rPr lang="ru-RU" i="1" dirty="0" err="1" smtClean="0">
                  <a:latin typeface="Times New Roman" pitchFamily="18" charset="0"/>
                  <a:cs typeface="Times New Roman" pitchFamily="18" charset="0"/>
                </a:rPr>
                <a:t>оос</a:t>
              </a:r>
              <a:endParaRPr lang="ru-RU" i="1" dirty="0">
                <a:latin typeface="Times New Roman" pitchFamily="18" charset="0"/>
                <a:cs typeface="Times New Roman" pitchFamily="18" charset="0"/>
              </a:endParaRPr>
            </a:p>
          </p:txBody>
        </p:sp>
        <p:cxnSp>
          <p:nvCxnSpPr>
            <p:cNvPr id="43" name="Прямая соединительная линия 42"/>
            <p:cNvCxnSpPr/>
            <p:nvPr/>
          </p:nvCxnSpPr>
          <p:spPr>
            <a:xfrm>
              <a:off x="2656287" y="4852240"/>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2833234" y="4560610"/>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Прямоугольник 44"/>
            <p:cNvSpPr/>
            <p:nvPr/>
          </p:nvSpPr>
          <p:spPr>
            <a:xfrm>
              <a:off x="2497708" y="2717449"/>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45"/>
            <p:cNvSpPr/>
            <p:nvPr/>
          </p:nvSpPr>
          <p:spPr>
            <a:xfrm>
              <a:off x="3673321" y="2709065"/>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Прямоугольник 46"/>
            <p:cNvSpPr/>
            <p:nvPr/>
          </p:nvSpPr>
          <p:spPr>
            <a:xfrm>
              <a:off x="4868882" y="2709065"/>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Овал 49"/>
            <p:cNvSpPr/>
            <p:nvPr/>
          </p:nvSpPr>
          <p:spPr>
            <a:xfrm>
              <a:off x="846834" y="2245659"/>
              <a:ext cx="184666" cy="18466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51" name="Группа 50"/>
            <p:cNvGrpSpPr/>
            <p:nvPr/>
          </p:nvGrpSpPr>
          <p:grpSpPr>
            <a:xfrm>
              <a:off x="5383338" y="4049493"/>
              <a:ext cx="408405" cy="667680"/>
              <a:chOff x="7532578" y="3159460"/>
              <a:chExt cx="408405" cy="667680"/>
            </a:xfrm>
          </p:grpSpPr>
          <p:sp>
            <p:nvSpPr>
              <p:cNvPr id="52" name="Прямоугольник 51"/>
              <p:cNvSpPr/>
              <p:nvPr/>
            </p:nvSpPr>
            <p:spPr>
              <a:xfrm>
                <a:off x="7596336" y="3159460"/>
                <a:ext cx="344647" cy="66768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Равнобедренный треугольник 52"/>
              <p:cNvSpPr/>
              <p:nvPr/>
            </p:nvSpPr>
            <p:spPr>
              <a:xfrm rot="5400000">
                <a:off x="7769005" y="3215849"/>
                <a:ext cx="127931" cy="12862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Овал 53"/>
              <p:cNvSpPr/>
              <p:nvPr/>
            </p:nvSpPr>
            <p:spPr>
              <a:xfrm>
                <a:off x="7532578" y="3216195"/>
                <a:ext cx="127931" cy="12793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55" name="Овал 54"/>
            <p:cNvSpPr/>
            <p:nvPr/>
          </p:nvSpPr>
          <p:spPr>
            <a:xfrm>
              <a:off x="917250" y="4486482"/>
              <a:ext cx="184666" cy="18466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Прямоугольник 55"/>
            <p:cNvSpPr/>
            <p:nvPr/>
          </p:nvSpPr>
          <p:spPr>
            <a:xfrm rot="5400000">
              <a:off x="5554269" y="3474116"/>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7" name="Соединительная линия уступом 56"/>
            <p:cNvCxnSpPr>
              <a:stCxn id="56" idx="0"/>
            </p:cNvCxnSpPr>
            <p:nvPr/>
          </p:nvCxnSpPr>
          <p:spPr>
            <a:xfrm>
              <a:off x="5887830" y="3742528"/>
              <a:ext cx="111324" cy="64080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Соединительная линия уступом 57"/>
            <p:cNvCxnSpPr>
              <a:stCxn id="56" idx="2"/>
            </p:cNvCxnSpPr>
            <p:nvPr/>
          </p:nvCxnSpPr>
          <p:spPr>
            <a:xfrm rot="10800000" flipV="1">
              <a:off x="5195319" y="3742527"/>
              <a:ext cx="155689" cy="427843"/>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581060" y="1900984"/>
              <a:ext cx="306494" cy="369332"/>
            </a:xfrm>
            <a:prstGeom prst="rect">
              <a:avLst/>
            </a:prstGeom>
            <a:noFill/>
          </p:spPr>
          <p:txBody>
            <a:bodyPr wrap="none" rtlCol="0">
              <a:spAutoFit/>
            </a:bodyPr>
            <a:lstStyle/>
            <a:p>
              <a:r>
                <a:rPr lang="en-US" dirty="0" smtClean="0"/>
                <a:t>b</a:t>
              </a:r>
              <a:endParaRPr lang="ru-RU" dirty="0"/>
            </a:p>
          </p:txBody>
        </p:sp>
        <p:sp>
          <p:nvSpPr>
            <p:cNvPr id="60" name="TextBox 59"/>
            <p:cNvSpPr txBox="1"/>
            <p:nvPr/>
          </p:nvSpPr>
          <p:spPr>
            <a:xfrm>
              <a:off x="4293326" y="4184026"/>
              <a:ext cx="853119" cy="369332"/>
            </a:xfrm>
            <a:prstGeom prst="rect">
              <a:avLst/>
            </a:prstGeom>
            <a:noFill/>
            <a:ln>
              <a:noFill/>
            </a:ln>
          </p:spPr>
          <p:txBody>
            <a:bodyPr wrap="none" rtlCol="0">
              <a:spAutoFit/>
            </a:bodyPr>
            <a:lstStyle/>
            <a:p>
              <a:r>
                <a:rPr lang="en-US" i="1" dirty="0" err="1" smtClean="0">
                  <a:latin typeface="Times New Roman" pitchFamily="18" charset="0"/>
                  <a:cs typeface="Times New Roman" pitchFamily="18" charset="0"/>
                </a:rPr>
                <a:t>Uab</a:t>
              </a:r>
              <a:r>
                <a:rPr lang="en-US" i="1" dirty="0" smtClean="0">
                  <a:latin typeface="Times New Roman" pitchFamily="18" charset="0"/>
                  <a:cs typeface="Times New Roman" pitchFamily="18" charset="0"/>
                </a:rPr>
                <a:t>=0</a:t>
              </a:r>
              <a:endParaRPr lang="ru-RU" i="1" dirty="0">
                <a:latin typeface="Times New Roman" pitchFamily="18" charset="0"/>
                <a:cs typeface="Times New Roman" pitchFamily="18" charset="0"/>
              </a:endParaRPr>
            </a:p>
          </p:txBody>
        </p:sp>
        <p:sp>
          <p:nvSpPr>
            <p:cNvPr id="61" name="TextBox 60"/>
            <p:cNvSpPr txBox="1"/>
            <p:nvPr/>
          </p:nvSpPr>
          <p:spPr>
            <a:xfrm>
              <a:off x="5060720" y="3389532"/>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endParaRPr lang="ru-RU" i="1" dirty="0">
                <a:latin typeface="Times New Roman" pitchFamily="18" charset="0"/>
                <a:cs typeface="Times New Roman" pitchFamily="18" charset="0"/>
              </a:endParaRPr>
            </a:p>
          </p:txBody>
        </p:sp>
        <p:cxnSp>
          <p:nvCxnSpPr>
            <p:cNvPr id="62" name="Прямая со стрелкой 61"/>
            <p:cNvCxnSpPr/>
            <p:nvPr/>
          </p:nvCxnSpPr>
          <p:spPr>
            <a:xfrm flipV="1">
              <a:off x="5136481" y="3647741"/>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3" name="Объект 62"/>
            <p:cNvGraphicFramePr>
              <a:graphicFrameLocks noChangeAspect="1"/>
            </p:cNvGraphicFramePr>
            <p:nvPr>
              <p:extLst>
                <p:ext uri="{D42A27DB-BD31-4B8C-83A1-F6EECF244321}">
                  <p14:modId xmlns:p14="http://schemas.microsoft.com/office/powerpoint/2010/main" val="406070142"/>
                </p:ext>
              </p:extLst>
            </p:nvPr>
          </p:nvGraphicFramePr>
          <p:xfrm>
            <a:off x="49438" y="3088547"/>
            <a:ext cx="797396" cy="688660"/>
          </p:xfrm>
          <a:graphic>
            <a:graphicData uri="http://schemas.openxmlformats.org/presentationml/2006/ole">
              <mc:AlternateContent xmlns:mc="http://schemas.openxmlformats.org/markup-compatibility/2006">
                <mc:Choice xmlns:v="urn:schemas-microsoft-com:vml" Requires="v">
                  <p:oleObj spid="_x0000_s57972" name="Equation" r:id="rId9" imgW="279360" imgH="241200" progId="Equation.DSMT4">
                    <p:embed/>
                  </p:oleObj>
                </mc:Choice>
                <mc:Fallback>
                  <p:oleObj name="Equation" r:id="rId9" imgW="279360" imgH="241200" progId="Equation.DSMT4">
                    <p:embed/>
                    <p:pic>
                      <p:nvPicPr>
                        <p:cNvPr id="0" name=""/>
                        <p:cNvPicPr/>
                        <p:nvPr/>
                      </p:nvPicPr>
                      <p:blipFill>
                        <a:blip r:embed="rId10"/>
                        <a:stretch>
                          <a:fillRect/>
                        </a:stretch>
                      </p:blipFill>
                      <p:spPr>
                        <a:xfrm>
                          <a:off x="49438" y="3088547"/>
                          <a:ext cx="797396" cy="688660"/>
                        </a:xfrm>
                        <a:prstGeom prst="rect">
                          <a:avLst/>
                        </a:prstGeom>
                      </p:spPr>
                    </p:pic>
                  </p:oleObj>
                </mc:Fallback>
              </mc:AlternateContent>
            </a:graphicData>
          </a:graphic>
        </p:graphicFrame>
        <p:cxnSp>
          <p:nvCxnSpPr>
            <p:cNvPr id="64" name="Прямая со стрелкой 63"/>
            <p:cNvCxnSpPr/>
            <p:nvPr/>
          </p:nvCxnSpPr>
          <p:spPr>
            <a:xfrm>
              <a:off x="990850" y="2551436"/>
              <a:ext cx="0" cy="1840667"/>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Прямая со стрелкой 64"/>
            <p:cNvCxnSpPr>
              <a:stCxn id="24" idx="4"/>
              <a:endCxn id="39" idx="0"/>
            </p:cNvCxnSpPr>
            <p:nvPr/>
          </p:nvCxnSpPr>
          <p:spPr>
            <a:xfrm>
              <a:off x="5207510" y="4221233"/>
              <a:ext cx="8701" cy="303373"/>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flipH="1">
              <a:off x="1235452" y="4170193"/>
              <a:ext cx="64807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67" name="Объект 66"/>
            <p:cNvGraphicFramePr>
              <a:graphicFrameLocks noChangeAspect="1"/>
            </p:cNvGraphicFramePr>
            <p:nvPr>
              <p:extLst>
                <p:ext uri="{D42A27DB-BD31-4B8C-83A1-F6EECF244321}">
                  <p14:modId xmlns:p14="http://schemas.microsoft.com/office/powerpoint/2010/main" val="223105248"/>
                </p:ext>
              </p:extLst>
            </p:nvPr>
          </p:nvGraphicFramePr>
          <p:xfrm>
            <a:off x="1994547" y="3116780"/>
            <a:ext cx="296862" cy="444500"/>
          </p:xfrm>
          <a:graphic>
            <a:graphicData uri="http://schemas.openxmlformats.org/presentationml/2006/ole">
              <mc:AlternateContent xmlns:mc="http://schemas.openxmlformats.org/markup-compatibility/2006">
                <mc:Choice xmlns:v="urn:schemas-microsoft-com:vml" Requires="v">
                  <p:oleObj spid="_x0000_s57973" name="Equation" r:id="rId11" imgW="152280" imgH="228600" progId="Equation.DSMT4">
                    <p:embed/>
                  </p:oleObj>
                </mc:Choice>
                <mc:Fallback>
                  <p:oleObj name="Equation" r:id="rId11" imgW="152280" imgH="228600" progId="Equation.DSMT4">
                    <p:embed/>
                    <p:pic>
                      <p:nvPicPr>
                        <p:cNvPr id="0" name=""/>
                        <p:cNvPicPr/>
                        <p:nvPr/>
                      </p:nvPicPr>
                      <p:blipFill>
                        <a:blip r:embed="rId12"/>
                        <a:stretch>
                          <a:fillRect/>
                        </a:stretch>
                      </p:blipFill>
                      <p:spPr>
                        <a:xfrm>
                          <a:off x="1994547" y="3116780"/>
                          <a:ext cx="296862" cy="444500"/>
                        </a:xfrm>
                        <a:prstGeom prst="rect">
                          <a:avLst/>
                        </a:prstGeom>
                      </p:spPr>
                    </p:pic>
                  </p:oleObj>
                </mc:Fallback>
              </mc:AlternateContent>
            </a:graphicData>
          </a:graphic>
        </p:graphicFrame>
        <p:graphicFrame>
          <p:nvGraphicFramePr>
            <p:cNvPr id="68" name="Объект 67"/>
            <p:cNvGraphicFramePr>
              <a:graphicFrameLocks noChangeAspect="1"/>
            </p:cNvGraphicFramePr>
            <p:nvPr>
              <p:extLst>
                <p:ext uri="{D42A27DB-BD31-4B8C-83A1-F6EECF244321}">
                  <p14:modId xmlns:p14="http://schemas.microsoft.com/office/powerpoint/2010/main" val="3936187152"/>
                </p:ext>
              </p:extLst>
            </p:nvPr>
          </p:nvGraphicFramePr>
          <p:xfrm>
            <a:off x="3140722" y="3127892"/>
            <a:ext cx="271462" cy="446088"/>
          </p:xfrm>
          <a:graphic>
            <a:graphicData uri="http://schemas.openxmlformats.org/presentationml/2006/ole">
              <mc:AlternateContent xmlns:mc="http://schemas.openxmlformats.org/markup-compatibility/2006">
                <mc:Choice xmlns:v="urn:schemas-microsoft-com:vml" Requires="v">
                  <p:oleObj spid="_x0000_s57974" name="Equation" r:id="rId13" imgW="139680" imgH="228600" progId="Equation.DSMT4">
                    <p:embed/>
                  </p:oleObj>
                </mc:Choice>
                <mc:Fallback>
                  <p:oleObj name="Equation" r:id="rId13" imgW="139680" imgH="228600" progId="Equation.DSMT4">
                    <p:embed/>
                    <p:pic>
                      <p:nvPicPr>
                        <p:cNvPr id="0" name=""/>
                        <p:cNvPicPr>
                          <a:picLocks noChangeAspect="1" noChangeArrowheads="1"/>
                        </p:cNvPicPr>
                        <p:nvPr/>
                      </p:nvPicPr>
                      <p:blipFill>
                        <a:blip r:embed="rId14"/>
                        <a:srcRect/>
                        <a:stretch>
                          <a:fillRect/>
                        </a:stretch>
                      </p:blipFill>
                      <p:spPr bwMode="auto">
                        <a:xfrm>
                          <a:off x="3140722" y="3127892"/>
                          <a:ext cx="27146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 name="Объект 68"/>
            <p:cNvGraphicFramePr>
              <a:graphicFrameLocks noChangeAspect="1"/>
            </p:cNvGraphicFramePr>
            <p:nvPr>
              <p:extLst>
                <p:ext uri="{D42A27DB-BD31-4B8C-83A1-F6EECF244321}">
                  <p14:modId xmlns:p14="http://schemas.microsoft.com/office/powerpoint/2010/main" val="3886995434"/>
                </p:ext>
              </p:extLst>
            </p:nvPr>
          </p:nvGraphicFramePr>
          <p:xfrm>
            <a:off x="4275784" y="3142180"/>
            <a:ext cx="296863" cy="444500"/>
          </p:xfrm>
          <a:graphic>
            <a:graphicData uri="http://schemas.openxmlformats.org/presentationml/2006/ole">
              <mc:AlternateContent xmlns:mc="http://schemas.openxmlformats.org/markup-compatibility/2006">
                <mc:Choice xmlns:v="urn:schemas-microsoft-com:vml" Requires="v">
                  <p:oleObj spid="_x0000_s57975" name="Equation" r:id="rId15" imgW="152280" imgH="228600" progId="Equation.DSMT4">
                    <p:embed/>
                  </p:oleObj>
                </mc:Choice>
                <mc:Fallback>
                  <p:oleObj name="Equation" r:id="rId15" imgW="152280" imgH="228600" progId="Equation.DSMT4">
                    <p:embed/>
                    <p:pic>
                      <p:nvPicPr>
                        <p:cNvPr id="0" name=""/>
                        <p:cNvPicPr>
                          <a:picLocks noChangeAspect="1" noChangeArrowheads="1"/>
                        </p:cNvPicPr>
                        <p:nvPr/>
                      </p:nvPicPr>
                      <p:blipFill>
                        <a:blip r:embed="rId16"/>
                        <a:srcRect/>
                        <a:stretch>
                          <a:fillRect/>
                        </a:stretch>
                      </p:blipFill>
                      <p:spPr bwMode="auto">
                        <a:xfrm>
                          <a:off x="4275784" y="3142180"/>
                          <a:ext cx="29686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1" name="Прямая соединительная линия 70"/>
            <p:cNvCxnSpPr/>
            <p:nvPr/>
          </p:nvCxnSpPr>
          <p:spPr>
            <a:xfrm>
              <a:off x="6220455" y="4999542"/>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p:cNvCxnSpPr/>
            <p:nvPr/>
          </p:nvCxnSpPr>
          <p:spPr>
            <a:xfrm>
              <a:off x="6397402" y="4707912"/>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Овал 72"/>
            <p:cNvSpPr/>
            <p:nvPr/>
          </p:nvSpPr>
          <p:spPr>
            <a:xfrm>
              <a:off x="6340390" y="4594206"/>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Овал 73"/>
            <p:cNvSpPr/>
            <p:nvPr/>
          </p:nvSpPr>
          <p:spPr>
            <a:xfrm>
              <a:off x="6300392" y="4321816"/>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5" name="Прямая со стрелкой 74"/>
            <p:cNvCxnSpPr/>
            <p:nvPr/>
          </p:nvCxnSpPr>
          <p:spPr>
            <a:xfrm>
              <a:off x="6570905" y="4337595"/>
              <a:ext cx="8701" cy="303373"/>
            </a:xfrm>
            <a:prstGeom prst="straightConnector1">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6176575" y="3837043"/>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grpSp>
          <p:nvGrpSpPr>
            <p:cNvPr id="79" name="Группа 78"/>
            <p:cNvGrpSpPr/>
            <p:nvPr/>
          </p:nvGrpSpPr>
          <p:grpSpPr>
            <a:xfrm rot="16200000">
              <a:off x="5760611" y="2203209"/>
              <a:ext cx="353895" cy="291630"/>
              <a:chOff x="6497621" y="4212095"/>
              <a:chExt cx="353895" cy="291630"/>
            </a:xfrm>
          </p:grpSpPr>
          <p:cxnSp>
            <p:nvCxnSpPr>
              <p:cNvPr id="77" name="Прямая соединительная линия 76"/>
              <p:cNvCxnSpPr/>
              <p:nvPr/>
            </p:nvCxnSpPr>
            <p:spPr>
              <a:xfrm>
                <a:off x="6497621" y="4503725"/>
                <a:ext cx="35389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Прямая соединительная линия 77"/>
              <p:cNvCxnSpPr/>
              <p:nvPr/>
            </p:nvCxnSpPr>
            <p:spPr>
              <a:xfrm>
                <a:off x="6674568" y="4212095"/>
                <a:ext cx="0" cy="291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Прямоугольник 79"/>
            <p:cNvSpPr/>
            <p:nvPr/>
          </p:nvSpPr>
          <p:spPr>
            <a:xfrm rot="16200000">
              <a:off x="5438824" y="2113951"/>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2" name="Прямая соединительная линия 81"/>
            <p:cNvCxnSpPr/>
            <p:nvPr/>
          </p:nvCxnSpPr>
          <p:spPr>
            <a:xfrm>
              <a:off x="4950270" y="2350045"/>
              <a:ext cx="328021" cy="31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5344772" y="1907685"/>
              <a:ext cx="44114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2R</a:t>
              </a:r>
              <a:endParaRPr lang="ru-RU" i="1" dirty="0">
                <a:latin typeface="Times New Roman" pitchFamily="18" charset="0"/>
                <a:cs typeface="Times New Roman" pitchFamily="18" charset="0"/>
              </a:endParaRPr>
            </a:p>
          </p:txBody>
        </p:sp>
        <p:sp>
          <p:nvSpPr>
            <p:cNvPr id="84" name="TextBox 83"/>
            <p:cNvSpPr txBox="1"/>
            <p:nvPr/>
          </p:nvSpPr>
          <p:spPr>
            <a:xfrm>
              <a:off x="5081731" y="2808640"/>
              <a:ext cx="44114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2R</a:t>
              </a:r>
              <a:endParaRPr lang="ru-RU" i="1" dirty="0">
                <a:latin typeface="Times New Roman" pitchFamily="18" charset="0"/>
                <a:cs typeface="Times New Roman" pitchFamily="18" charset="0"/>
              </a:endParaRPr>
            </a:p>
          </p:txBody>
        </p:sp>
        <p:sp>
          <p:nvSpPr>
            <p:cNvPr id="85" name="Прямоугольник 84"/>
            <p:cNvSpPr/>
            <p:nvPr/>
          </p:nvSpPr>
          <p:spPr>
            <a:xfrm rot="16200000">
              <a:off x="4319735" y="2116485"/>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6" name="Прямоугольник 85"/>
            <p:cNvSpPr/>
            <p:nvPr/>
          </p:nvSpPr>
          <p:spPr>
            <a:xfrm rot="16200000">
              <a:off x="3167606" y="2116485"/>
              <a:ext cx="182991" cy="504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TextBox 86"/>
            <p:cNvSpPr txBox="1"/>
            <p:nvPr/>
          </p:nvSpPr>
          <p:spPr>
            <a:xfrm>
              <a:off x="4178659" y="1907685"/>
              <a:ext cx="325730"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a:t>
              </a:r>
              <a:endParaRPr lang="ru-RU" i="1" dirty="0">
                <a:latin typeface="Times New Roman" pitchFamily="18" charset="0"/>
                <a:cs typeface="Times New Roman" pitchFamily="18" charset="0"/>
              </a:endParaRPr>
            </a:p>
          </p:txBody>
        </p:sp>
        <p:sp>
          <p:nvSpPr>
            <p:cNvPr id="88" name="TextBox 87"/>
            <p:cNvSpPr txBox="1"/>
            <p:nvPr/>
          </p:nvSpPr>
          <p:spPr>
            <a:xfrm>
              <a:off x="3115111" y="1907685"/>
              <a:ext cx="325730"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R</a:t>
              </a:r>
              <a:endParaRPr lang="ru-RU" i="1" dirty="0">
                <a:latin typeface="Times New Roman" pitchFamily="18" charset="0"/>
                <a:cs typeface="Times New Roman" pitchFamily="18" charset="0"/>
              </a:endParaRPr>
            </a:p>
          </p:txBody>
        </p:sp>
        <p:sp>
          <p:nvSpPr>
            <p:cNvPr id="89" name="TextBox 88"/>
            <p:cNvSpPr txBox="1"/>
            <p:nvPr/>
          </p:nvSpPr>
          <p:spPr>
            <a:xfrm>
              <a:off x="4786999" y="1900984"/>
              <a:ext cx="295274" cy="369332"/>
            </a:xfrm>
            <a:prstGeom prst="rect">
              <a:avLst/>
            </a:prstGeom>
            <a:noFill/>
          </p:spPr>
          <p:txBody>
            <a:bodyPr wrap="none" rtlCol="0">
              <a:spAutoFit/>
            </a:bodyPr>
            <a:lstStyle/>
            <a:p>
              <a:r>
                <a:rPr lang="en-US" dirty="0"/>
                <a:t>a</a:t>
              </a:r>
              <a:endParaRPr lang="ru-RU" dirty="0"/>
            </a:p>
          </p:txBody>
        </p:sp>
        <p:sp>
          <p:nvSpPr>
            <p:cNvPr id="90" name="TextBox 89"/>
            <p:cNvSpPr txBox="1"/>
            <p:nvPr/>
          </p:nvSpPr>
          <p:spPr>
            <a:xfrm>
              <a:off x="3900378" y="2808640"/>
              <a:ext cx="44114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2R</a:t>
              </a:r>
              <a:endParaRPr lang="ru-RU" i="1" dirty="0">
                <a:latin typeface="Times New Roman" pitchFamily="18" charset="0"/>
                <a:cs typeface="Times New Roman" pitchFamily="18" charset="0"/>
              </a:endParaRPr>
            </a:p>
          </p:txBody>
        </p:sp>
        <p:sp>
          <p:nvSpPr>
            <p:cNvPr id="91" name="TextBox 90"/>
            <p:cNvSpPr txBox="1"/>
            <p:nvPr/>
          </p:nvSpPr>
          <p:spPr>
            <a:xfrm>
              <a:off x="2693481" y="2808640"/>
              <a:ext cx="44114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2R</a:t>
              </a:r>
              <a:endParaRPr lang="ru-RU" i="1" dirty="0">
                <a:latin typeface="Times New Roman" pitchFamily="18" charset="0"/>
                <a:cs typeface="Times New Roman" pitchFamily="18" charset="0"/>
              </a:endParaRPr>
            </a:p>
          </p:txBody>
        </p:sp>
        <p:sp>
          <p:nvSpPr>
            <p:cNvPr id="92" name="TextBox 91"/>
            <p:cNvSpPr txBox="1"/>
            <p:nvPr/>
          </p:nvSpPr>
          <p:spPr>
            <a:xfrm>
              <a:off x="2383679" y="1900984"/>
              <a:ext cx="282450" cy="369332"/>
            </a:xfrm>
            <a:prstGeom prst="rect">
              <a:avLst/>
            </a:prstGeom>
            <a:noFill/>
          </p:spPr>
          <p:txBody>
            <a:bodyPr wrap="none" rtlCol="0">
              <a:spAutoFit/>
            </a:bodyPr>
            <a:lstStyle/>
            <a:p>
              <a:r>
                <a:rPr lang="en-US" dirty="0"/>
                <a:t>c</a:t>
              </a:r>
              <a:endParaRPr lang="ru-RU" dirty="0"/>
            </a:p>
          </p:txBody>
        </p:sp>
        <p:cxnSp>
          <p:nvCxnSpPr>
            <p:cNvPr id="93" name="Прямая со стрелкой 92"/>
            <p:cNvCxnSpPr/>
            <p:nvPr/>
          </p:nvCxnSpPr>
          <p:spPr>
            <a:xfrm rot="16200000">
              <a:off x="5565345" y="1724573"/>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94" name="Объект 93"/>
            <p:cNvGraphicFramePr>
              <a:graphicFrameLocks noChangeAspect="1"/>
            </p:cNvGraphicFramePr>
            <p:nvPr>
              <p:extLst>
                <p:ext uri="{D42A27DB-BD31-4B8C-83A1-F6EECF244321}">
                  <p14:modId xmlns:p14="http://schemas.microsoft.com/office/powerpoint/2010/main" val="1173697474"/>
                </p:ext>
              </p:extLst>
            </p:nvPr>
          </p:nvGraphicFramePr>
          <p:xfrm>
            <a:off x="5397271" y="1444677"/>
            <a:ext cx="296863" cy="444500"/>
          </p:xfrm>
          <a:graphic>
            <a:graphicData uri="http://schemas.openxmlformats.org/presentationml/2006/ole">
              <mc:AlternateContent xmlns:mc="http://schemas.openxmlformats.org/markup-compatibility/2006">
                <mc:Choice xmlns:v="urn:schemas-microsoft-com:vml" Requires="v">
                  <p:oleObj spid="_x0000_s57976" name="Equation" r:id="rId17" imgW="152280" imgH="228600" progId="Equation.DSMT4">
                    <p:embed/>
                  </p:oleObj>
                </mc:Choice>
                <mc:Fallback>
                  <p:oleObj name="Equation" r:id="rId17" imgW="152280" imgH="228600" progId="Equation.DSMT4">
                    <p:embed/>
                    <p:pic>
                      <p:nvPicPr>
                        <p:cNvPr id="0" name="Объект 6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97271" y="1444677"/>
                          <a:ext cx="29686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95" name="Прямая со стрелкой 94"/>
            <p:cNvCxnSpPr/>
            <p:nvPr/>
          </p:nvCxnSpPr>
          <p:spPr>
            <a:xfrm rot="16200000">
              <a:off x="4361166" y="1769946"/>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96" name="Объект 95"/>
            <p:cNvGraphicFramePr>
              <a:graphicFrameLocks noChangeAspect="1"/>
            </p:cNvGraphicFramePr>
            <p:nvPr>
              <p:extLst>
                <p:ext uri="{D42A27DB-BD31-4B8C-83A1-F6EECF244321}">
                  <p14:modId xmlns:p14="http://schemas.microsoft.com/office/powerpoint/2010/main" val="1013297087"/>
                </p:ext>
              </p:extLst>
            </p:nvPr>
          </p:nvGraphicFramePr>
          <p:xfrm>
            <a:off x="4204347" y="1489592"/>
            <a:ext cx="273050" cy="444500"/>
          </p:xfrm>
          <a:graphic>
            <a:graphicData uri="http://schemas.openxmlformats.org/presentationml/2006/ole">
              <mc:AlternateContent xmlns:mc="http://schemas.openxmlformats.org/markup-compatibility/2006">
                <mc:Choice xmlns:v="urn:schemas-microsoft-com:vml" Requires="v">
                  <p:oleObj spid="_x0000_s57977" name="Equation" r:id="rId19" imgW="139680" imgH="228600" progId="Equation.DSMT4">
                    <p:embed/>
                  </p:oleObj>
                </mc:Choice>
                <mc:Fallback>
                  <p:oleObj name="Equation" r:id="rId19" imgW="139680" imgH="228600" progId="Equation.DSMT4">
                    <p:embed/>
                    <p:pic>
                      <p:nvPicPr>
                        <p:cNvPr id="0" name=""/>
                        <p:cNvPicPr>
                          <a:picLocks noChangeAspect="1" noChangeArrowheads="1"/>
                        </p:cNvPicPr>
                        <p:nvPr/>
                      </p:nvPicPr>
                      <p:blipFill>
                        <a:blip r:embed="rId20"/>
                        <a:srcRect/>
                        <a:stretch>
                          <a:fillRect/>
                        </a:stretch>
                      </p:blipFill>
                      <p:spPr bwMode="auto">
                        <a:xfrm>
                          <a:off x="4204347" y="1489592"/>
                          <a:ext cx="2730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97" name="Прямая со стрелкой 96"/>
            <p:cNvCxnSpPr/>
            <p:nvPr/>
          </p:nvCxnSpPr>
          <p:spPr>
            <a:xfrm rot="16200000">
              <a:off x="3270422" y="1736837"/>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98" name="Объект 97"/>
            <p:cNvGraphicFramePr>
              <a:graphicFrameLocks noChangeAspect="1"/>
            </p:cNvGraphicFramePr>
            <p:nvPr>
              <p:extLst>
                <p:ext uri="{D42A27DB-BD31-4B8C-83A1-F6EECF244321}">
                  <p14:modId xmlns:p14="http://schemas.microsoft.com/office/powerpoint/2010/main" val="1976005978"/>
                </p:ext>
              </p:extLst>
            </p:nvPr>
          </p:nvGraphicFramePr>
          <p:xfrm>
            <a:off x="3101034" y="1456255"/>
            <a:ext cx="298450" cy="444500"/>
          </p:xfrm>
          <a:graphic>
            <a:graphicData uri="http://schemas.openxmlformats.org/presentationml/2006/ole">
              <mc:AlternateContent xmlns:mc="http://schemas.openxmlformats.org/markup-compatibility/2006">
                <mc:Choice xmlns:v="urn:schemas-microsoft-com:vml" Requires="v">
                  <p:oleObj spid="_x0000_s57978" name="Equation" r:id="rId21" imgW="152280" imgH="228600" progId="Equation.DSMT4">
                    <p:embed/>
                  </p:oleObj>
                </mc:Choice>
                <mc:Fallback>
                  <p:oleObj name="Equation" r:id="rId21" imgW="152280" imgH="228600" progId="Equation.DSMT4">
                    <p:embed/>
                    <p:pic>
                      <p:nvPicPr>
                        <p:cNvPr id="0" name=""/>
                        <p:cNvPicPr>
                          <a:picLocks noChangeAspect="1" noChangeArrowheads="1"/>
                        </p:cNvPicPr>
                        <p:nvPr/>
                      </p:nvPicPr>
                      <p:blipFill>
                        <a:blip r:embed="rId22"/>
                        <a:srcRect/>
                        <a:stretch>
                          <a:fillRect/>
                        </a:stretch>
                      </p:blipFill>
                      <p:spPr bwMode="auto">
                        <a:xfrm>
                          <a:off x="3101034" y="1456255"/>
                          <a:ext cx="2984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00" name="Прямая со стрелкой 99"/>
            <p:cNvCxnSpPr/>
            <p:nvPr/>
          </p:nvCxnSpPr>
          <p:spPr>
            <a:xfrm rot="16200000">
              <a:off x="1998606" y="2013438"/>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1" name="Объект 100"/>
            <p:cNvGraphicFramePr>
              <a:graphicFrameLocks noChangeAspect="1"/>
            </p:cNvGraphicFramePr>
            <p:nvPr>
              <p:extLst>
                <p:ext uri="{D42A27DB-BD31-4B8C-83A1-F6EECF244321}">
                  <p14:modId xmlns:p14="http://schemas.microsoft.com/office/powerpoint/2010/main" val="155480656"/>
                </p:ext>
              </p:extLst>
            </p:nvPr>
          </p:nvGraphicFramePr>
          <p:xfrm>
            <a:off x="1822195" y="1662884"/>
            <a:ext cx="322262" cy="444500"/>
          </p:xfrm>
          <a:graphic>
            <a:graphicData uri="http://schemas.openxmlformats.org/presentationml/2006/ole">
              <mc:AlternateContent xmlns:mc="http://schemas.openxmlformats.org/markup-compatibility/2006">
                <mc:Choice xmlns:v="urn:schemas-microsoft-com:vml" Requires="v">
                  <p:oleObj spid="_x0000_s57979" name="Equation" r:id="rId23" imgW="164880" imgH="228600" progId="Equation.DSMT4">
                    <p:embed/>
                  </p:oleObj>
                </mc:Choice>
                <mc:Fallback>
                  <p:oleObj name="Equation" r:id="rId23" imgW="164880" imgH="228600" progId="Equation.DSMT4">
                    <p:embed/>
                    <p:pic>
                      <p:nvPicPr>
                        <p:cNvPr id="0" name=""/>
                        <p:cNvPicPr>
                          <a:picLocks noChangeAspect="1" noChangeArrowheads="1"/>
                        </p:cNvPicPr>
                        <p:nvPr/>
                      </p:nvPicPr>
                      <p:blipFill>
                        <a:blip r:embed="rId24"/>
                        <a:srcRect/>
                        <a:stretch>
                          <a:fillRect/>
                        </a:stretch>
                      </p:blipFill>
                      <p:spPr bwMode="auto">
                        <a:xfrm>
                          <a:off x="1822195" y="1662884"/>
                          <a:ext cx="32226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 name="Объект 103"/>
            <p:cNvGraphicFramePr>
              <a:graphicFrameLocks noChangeAspect="1"/>
            </p:cNvGraphicFramePr>
            <p:nvPr>
              <p:extLst>
                <p:ext uri="{D42A27DB-BD31-4B8C-83A1-F6EECF244321}">
                  <p14:modId xmlns:p14="http://schemas.microsoft.com/office/powerpoint/2010/main" val="226161361"/>
                </p:ext>
              </p:extLst>
            </p:nvPr>
          </p:nvGraphicFramePr>
          <p:xfrm>
            <a:off x="6521450" y="3324225"/>
            <a:ext cx="114300" cy="177800"/>
          </p:xfrm>
          <a:graphic>
            <a:graphicData uri="http://schemas.openxmlformats.org/presentationml/2006/ole">
              <mc:AlternateContent xmlns:mc="http://schemas.openxmlformats.org/markup-compatibility/2006">
                <mc:Choice xmlns:v="urn:schemas-microsoft-com:vml" Requires="v">
                  <p:oleObj spid="_x0000_s57980" name="Equation" r:id="rId25" imgW="114120" imgH="177480" progId="Equation.DSMT4">
                    <p:embed/>
                  </p:oleObj>
                </mc:Choice>
                <mc:Fallback>
                  <p:oleObj name="Equation" r:id="rId25" imgW="114120" imgH="177480" progId="Equation.DSMT4">
                    <p:embed/>
                    <p:pic>
                      <p:nvPicPr>
                        <p:cNvPr id="0" name=""/>
                        <p:cNvPicPr/>
                        <p:nvPr/>
                      </p:nvPicPr>
                      <p:blipFill>
                        <a:blip r:embed="rId26"/>
                        <a:stretch>
                          <a:fillRect/>
                        </a:stretch>
                      </p:blipFill>
                      <p:spPr>
                        <a:xfrm>
                          <a:off x="6521450" y="3324225"/>
                          <a:ext cx="114300" cy="177800"/>
                        </a:xfrm>
                        <a:prstGeom prst="rect">
                          <a:avLst/>
                        </a:prstGeom>
                      </p:spPr>
                    </p:pic>
                  </p:oleObj>
                </mc:Fallback>
              </mc:AlternateContent>
            </a:graphicData>
          </a:graphic>
        </p:graphicFrame>
      </p:grpSp>
      <p:graphicFrame>
        <p:nvGraphicFramePr>
          <p:cNvPr id="105" name="Объект 104"/>
          <p:cNvGraphicFramePr>
            <a:graphicFrameLocks noChangeAspect="1"/>
          </p:cNvGraphicFramePr>
          <p:nvPr>
            <p:extLst>
              <p:ext uri="{D42A27DB-BD31-4B8C-83A1-F6EECF244321}">
                <p14:modId xmlns:p14="http://schemas.microsoft.com/office/powerpoint/2010/main" val="3158826920"/>
              </p:ext>
            </p:extLst>
          </p:nvPr>
        </p:nvGraphicFramePr>
        <p:xfrm>
          <a:off x="269641" y="5517232"/>
          <a:ext cx="7235825" cy="1050925"/>
        </p:xfrm>
        <a:graphic>
          <a:graphicData uri="http://schemas.openxmlformats.org/presentationml/2006/ole">
            <mc:AlternateContent xmlns:mc="http://schemas.openxmlformats.org/markup-compatibility/2006">
              <mc:Choice xmlns:v="urn:schemas-microsoft-com:vml" Requires="v">
                <p:oleObj spid="_x0000_s57981" name="Equation" r:id="rId27" imgW="3060360" imgH="444240" progId="Equation.DSMT4">
                  <p:embed/>
                </p:oleObj>
              </mc:Choice>
              <mc:Fallback>
                <p:oleObj name="Equation" r:id="rId27" imgW="3060360" imgH="444240" progId="Equation.DSMT4">
                  <p:embed/>
                  <p:pic>
                    <p:nvPicPr>
                      <p:cNvPr id="0" name=""/>
                      <p:cNvPicPr/>
                      <p:nvPr/>
                    </p:nvPicPr>
                    <p:blipFill>
                      <a:blip r:embed="rId28"/>
                      <a:stretch>
                        <a:fillRect/>
                      </a:stretch>
                    </p:blipFill>
                    <p:spPr>
                      <a:xfrm>
                        <a:off x="269641" y="5517232"/>
                        <a:ext cx="7235825" cy="1050925"/>
                      </a:xfrm>
                      <a:prstGeom prst="rect">
                        <a:avLst/>
                      </a:prstGeom>
                    </p:spPr>
                  </p:pic>
                </p:oleObj>
              </mc:Fallback>
            </mc:AlternateContent>
          </a:graphicData>
        </a:graphic>
      </p:graphicFrame>
      <p:sp>
        <p:nvSpPr>
          <p:cNvPr id="106" name="Стрелка вправо 105"/>
          <p:cNvSpPr/>
          <p:nvPr/>
        </p:nvSpPr>
        <p:spPr>
          <a:xfrm flipH="1">
            <a:off x="7465987" y="5914950"/>
            <a:ext cx="1296144"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8" name="Стрелка вниз 107"/>
          <p:cNvSpPr/>
          <p:nvPr/>
        </p:nvSpPr>
        <p:spPr>
          <a:xfrm>
            <a:off x="8172400" y="1464618"/>
            <a:ext cx="131643"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Стрелка вниз 108"/>
          <p:cNvSpPr/>
          <p:nvPr/>
        </p:nvSpPr>
        <p:spPr>
          <a:xfrm>
            <a:off x="8210450" y="3646335"/>
            <a:ext cx="131643"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252496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563888" y="1397814"/>
            <a:ext cx="1656184"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p:cNvSpPr/>
          <p:nvPr/>
        </p:nvSpPr>
        <p:spPr>
          <a:xfrm>
            <a:off x="4139952" y="1397814"/>
            <a:ext cx="504056"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 name="Прямая соединительная линия 6"/>
          <p:cNvCxnSpPr/>
          <p:nvPr/>
        </p:nvCxnSpPr>
        <p:spPr>
          <a:xfrm>
            <a:off x="3059832" y="1613838"/>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a:off x="3059832" y="1901870"/>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3059832" y="2189902"/>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3059832" y="2549942"/>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a:off x="3062722" y="2838582"/>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651584" y="1366456"/>
            <a:ext cx="405880" cy="369332"/>
          </a:xfrm>
          <a:prstGeom prst="rect">
            <a:avLst/>
          </a:prstGeom>
          <a:noFill/>
        </p:spPr>
        <p:txBody>
          <a:bodyPr wrap="none" rtlCol="0">
            <a:spAutoFit/>
          </a:bodyPr>
          <a:lstStyle/>
          <a:p>
            <a:r>
              <a:rPr lang="en-US" dirty="0" smtClean="0"/>
              <a:t>D</a:t>
            </a:r>
            <a:r>
              <a:rPr lang="en-US" baseline="-25000" dirty="0" smtClean="0"/>
              <a:t>0</a:t>
            </a:r>
            <a:endParaRPr lang="ru-RU" baseline="-25000" dirty="0"/>
          </a:p>
        </p:txBody>
      </p:sp>
      <p:sp>
        <p:nvSpPr>
          <p:cNvPr id="13" name="TextBox 12"/>
          <p:cNvSpPr txBox="1"/>
          <p:nvPr/>
        </p:nvSpPr>
        <p:spPr>
          <a:xfrm>
            <a:off x="2510968" y="2549942"/>
            <a:ext cx="551754" cy="369332"/>
          </a:xfrm>
          <a:prstGeom prst="rect">
            <a:avLst/>
          </a:prstGeom>
          <a:noFill/>
        </p:spPr>
        <p:txBody>
          <a:bodyPr wrap="none" rtlCol="0">
            <a:spAutoFit/>
          </a:bodyPr>
          <a:lstStyle/>
          <a:p>
            <a:r>
              <a:rPr lang="en-US" dirty="0" smtClean="0"/>
              <a:t>D</a:t>
            </a:r>
            <a:r>
              <a:rPr lang="en-US" baseline="-25000" dirty="0" smtClean="0"/>
              <a:t>N-1</a:t>
            </a:r>
            <a:endParaRPr lang="ru-RU" baseline="-25000" dirty="0"/>
          </a:p>
        </p:txBody>
      </p:sp>
      <p:sp>
        <p:nvSpPr>
          <p:cNvPr id="14" name="Левая фигурная скобка 13"/>
          <p:cNvSpPr/>
          <p:nvPr/>
        </p:nvSpPr>
        <p:spPr>
          <a:xfrm>
            <a:off x="2339752" y="1366456"/>
            <a:ext cx="311832" cy="15528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5" name="TextBox 14"/>
          <p:cNvSpPr txBox="1"/>
          <p:nvPr/>
        </p:nvSpPr>
        <p:spPr>
          <a:xfrm>
            <a:off x="1015046" y="1819699"/>
            <a:ext cx="1495922" cy="646331"/>
          </a:xfrm>
          <a:prstGeom prst="rect">
            <a:avLst/>
          </a:prstGeom>
          <a:noFill/>
        </p:spPr>
        <p:txBody>
          <a:bodyPr wrap="none" rtlCol="0">
            <a:spAutoFit/>
          </a:bodyPr>
          <a:lstStyle/>
          <a:p>
            <a:r>
              <a:rPr lang="en-US" dirty="0" smtClean="0"/>
              <a:t>N-</a:t>
            </a:r>
            <a:r>
              <a:rPr lang="ru-RU" dirty="0" smtClean="0"/>
              <a:t>разрядный</a:t>
            </a:r>
          </a:p>
          <a:p>
            <a:r>
              <a:rPr lang="ru-RU" dirty="0" smtClean="0"/>
              <a:t> входной код</a:t>
            </a:r>
            <a:endParaRPr lang="ru-RU" dirty="0"/>
          </a:p>
        </p:txBody>
      </p:sp>
      <p:cxnSp>
        <p:nvCxnSpPr>
          <p:cNvPr id="17" name="Прямая соединительная линия 16"/>
          <p:cNvCxnSpPr/>
          <p:nvPr/>
        </p:nvCxnSpPr>
        <p:spPr>
          <a:xfrm>
            <a:off x="3563888" y="3630062"/>
            <a:ext cx="5760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a:off x="3057464" y="3918094"/>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9" name="Объект 18"/>
          <p:cNvGraphicFramePr>
            <a:graphicFrameLocks noChangeAspect="1"/>
          </p:cNvGraphicFramePr>
          <p:nvPr>
            <p:extLst>
              <p:ext uri="{D42A27DB-BD31-4B8C-83A1-F6EECF244321}">
                <p14:modId xmlns:p14="http://schemas.microsoft.com/office/powerpoint/2010/main" val="2561685213"/>
              </p:ext>
            </p:extLst>
          </p:nvPr>
        </p:nvGraphicFramePr>
        <p:xfrm>
          <a:off x="2567125" y="3706623"/>
          <a:ext cx="490339" cy="422942"/>
        </p:xfrm>
        <a:graphic>
          <a:graphicData uri="http://schemas.openxmlformats.org/presentationml/2006/ole">
            <mc:AlternateContent xmlns:mc="http://schemas.openxmlformats.org/markup-compatibility/2006">
              <mc:Choice xmlns:v="urn:schemas-microsoft-com:vml" Requires="v">
                <p:oleObj spid="_x0000_s11470" name="Equation" r:id="rId3" imgW="279360" imgH="241200" progId="Equation.DSMT4">
                  <p:embed/>
                </p:oleObj>
              </mc:Choice>
              <mc:Fallback>
                <p:oleObj name="Equation" r:id="rId3" imgW="279360" imgH="241200" progId="Equation.DSMT4">
                  <p:embed/>
                  <p:pic>
                    <p:nvPicPr>
                      <p:cNvPr id="0" name="Объект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7125" y="3706623"/>
                        <a:ext cx="490339" cy="422942"/>
                      </a:xfrm>
                      <a:prstGeom prst="rect">
                        <a:avLst/>
                      </a:prstGeom>
                      <a:noFill/>
                      <a:ln>
                        <a:noFill/>
                      </a:ln>
                    </p:spPr>
                  </p:pic>
                </p:oleObj>
              </mc:Fallback>
            </mc:AlternateContent>
          </a:graphicData>
        </a:graphic>
      </p:graphicFrame>
      <p:sp>
        <p:nvSpPr>
          <p:cNvPr id="20" name="TextBox 19"/>
          <p:cNvSpPr txBox="1"/>
          <p:nvPr/>
        </p:nvSpPr>
        <p:spPr>
          <a:xfrm>
            <a:off x="4065260" y="1397814"/>
            <a:ext cx="578748" cy="369332"/>
          </a:xfrm>
          <a:prstGeom prst="rect">
            <a:avLst/>
          </a:prstGeom>
          <a:noFill/>
        </p:spPr>
        <p:txBody>
          <a:bodyPr wrap="none" rtlCol="0">
            <a:spAutoFit/>
          </a:bodyPr>
          <a:lstStyle/>
          <a:p>
            <a:r>
              <a:rPr lang="en-US" dirty="0" smtClean="0"/>
              <a:t>DAC</a:t>
            </a:r>
            <a:endParaRPr lang="ru-RU" dirty="0"/>
          </a:p>
        </p:txBody>
      </p:sp>
      <p:cxnSp>
        <p:nvCxnSpPr>
          <p:cNvPr id="21" name="Прямая соединительная линия 20"/>
          <p:cNvCxnSpPr/>
          <p:nvPr/>
        </p:nvCxnSpPr>
        <p:spPr>
          <a:xfrm flipV="1">
            <a:off x="6389216" y="3718841"/>
            <a:ext cx="586609" cy="12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Группа 21"/>
          <p:cNvGrpSpPr/>
          <p:nvPr/>
        </p:nvGrpSpPr>
        <p:grpSpPr>
          <a:xfrm>
            <a:off x="5980811" y="3394430"/>
            <a:ext cx="408405" cy="667680"/>
            <a:chOff x="7532578" y="3159460"/>
            <a:chExt cx="408405" cy="667680"/>
          </a:xfrm>
        </p:grpSpPr>
        <p:sp>
          <p:nvSpPr>
            <p:cNvPr id="23" name="Прямоугольник 22"/>
            <p:cNvSpPr/>
            <p:nvPr/>
          </p:nvSpPr>
          <p:spPr>
            <a:xfrm>
              <a:off x="7596336" y="3159460"/>
              <a:ext cx="344647" cy="66768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Равнобедренный треугольник 23"/>
            <p:cNvSpPr/>
            <p:nvPr/>
          </p:nvSpPr>
          <p:spPr>
            <a:xfrm rot="5400000">
              <a:off x="7769005" y="3215849"/>
              <a:ext cx="127931" cy="12862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Овал 24"/>
            <p:cNvSpPr/>
            <p:nvPr/>
          </p:nvSpPr>
          <p:spPr>
            <a:xfrm>
              <a:off x="7532578" y="3216195"/>
              <a:ext cx="127931" cy="12793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26" name="Прямоугольник 25"/>
          <p:cNvSpPr/>
          <p:nvPr/>
        </p:nvSpPr>
        <p:spPr>
          <a:xfrm rot="5400000">
            <a:off x="6151742" y="2819053"/>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7" name="Соединительная линия уступом 26"/>
          <p:cNvCxnSpPr>
            <a:stCxn id="26" idx="0"/>
          </p:cNvCxnSpPr>
          <p:nvPr/>
        </p:nvCxnSpPr>
        <p:spPr>
          <a:xfrm>
            <a:off x="6485303" y="3087465"/>
            <a:ext cx="111324" cy="64080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5771532" y="3973567"/>
            <a:ext cx="0" cy="2916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5594585" y="4265197"/>
            <a:ext cx="3538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5771532" y="3973567"/>
            <a:ext cx="273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flipV="1">
            <a:off x="5220072" y="3087464"/>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flipV="1">
            <a:off x="5230381" y="3515129"/>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Овал 35"/>
          <p:cNvSpPr/>
          <p:nvPr/>
        </p:nvSpPr>
        <p:spPr>
          <a:xfrm>
            <a:off x="6566528" y="369254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TextBox 36"/>
          <p:cNvSpPr txBox="1"/>
          <p:nvPr/>
        </p:nvSpPr>
        <p:spPr>
          <a:xfrm>
            <a:off x="5309721" y="2617304"/>
            <a:ext cx="612668" cy="369332"/>
          </a:xfrm>
          <a:prstGeom prst="rect">
            <a:avLst/>
          </a:prstGeom>
          <a:noFill/>
        </p:spPr>
        <p:txBody>
          <a:bodyPr wrap="none" rtlCol="0">
            <a:spAutoFit/>
          </a:bodyPr>
          <a:lstStyle/>
          <a:p>
            <a:r>
              <a:rPr lang="ru-RU" dirty="0" smtClean="0"/>
              <a:t>ООС</a:t>
            </a:r>
            <a:endParaRPr lang="ru-RU" dirty="0"/>
          </a:p>
        </p:txBody>
      </p:sp>
      <p:sp>
        <p:nvSpPr>
          <p:cNvPr id="38" name="TextBox 37"/>
          <p:cNvSpPr txBox="1"/>
          <p:nvPr/>
        </p:nvSpPr>
        <p:spPr>
          <a:xfrm>
            <a:off x="5309721" y="3515130"/>
            <a:ext cx="62228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I</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cxnSp>
        <p:nvCxnSpPr>
          <p:cNvPr id="39" name="Прямая со стрелкой 38"/>
          <p:cNvCxnSpPr/>
          <p:nvPr/>
        </p:nvCxnSpPr>
        <p:spPr>
          <a:xfrm rot="16200000">
            <a:off x="5548921" y="3204478"/>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975825" y="3534175"/>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sp>
        <p:nvSpPr>
          <p:cNvPr id="41" name="TextBox 40"/>
          <p:cNvSpPr txBox="1"/>
          <p:nvPr/>
        </p:nvSpPr>
        <p:spPr>
          <a:xfrm>
            <a:off x="2555776" y="116632"/>
            <a:ext cx="3817648" cy="369332"/>
          </a:xfrm>
          <a:prstGeom prst="rect">
            <a:avLst/>
          </a:prstGeom>
          <a:noFill/>
        </p:spPr>
        <p:txBody>
          <a:bodyPr wrap="none" rtlCol="0">
            <a:spAutoFit/>
          </a:bodyPr>
          <a:lstStyle/>
          <a:p>
            <a:r>
              <a:rPr lang="ru-RU" i="1" dirty="0" smtClean="0"/>
              <a:t>Графическое обозначение ЦАП (</a:t>
            </a:r>
            <a:r>
              <a:rPr lang="en-US" i="1" dirty="0" smtClean="0"/>
              <a:t>DAC</a:t>
            </a:r>
            <a:r>
              <a:rPr lang="ru-RU" i="1" dirty="0" smtClean="0"/>
              <a:t>)</a:t>
            </a:r>
            <a:endParaRPr lang="ru-RU" i="1" dirty="0"/>
          </a:p>
        </p:txBody>
      </p:sp>
      <p:sp>
        <p:nvSpPr>
          <p:cNvPr id="42" name="Прямоугольник 41"/>
          <p:cNvSpPr/>
          <p:nvPr/>
        </p:nvSpPr>
        <p:spPr>
          <a:xfrm>
            <a:off x="5372510" y="2405926"/>
            <a:ext cx="2315369" cy="216024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777360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23728" y="292006"/>
            <a:ext cx="5071709" cy="369332"/>
          </a:xfrm>
          <a:prstGeom prst="rect">
            <a:avLst/>
          </a:prstGeom>
          <a:noFill/>
        </p:spPr>
        <p:txBody>
          <a:bodyPr wrap="none" rtlCol="0">
            <a:spAutoFit/>
          </a:bodyPr>
          <a:lstStyle/>
          <a:p>
            <a:r>
              <a:rPr lang="ru-RU" i="1" dirty="0" smtClean="0"/>
              <a:t>Аналого-цифровые преобразователи (АЦП, </a:t>
            </a:r>
            <a:r>
              <a:rPr lang="en-US" i="1" dirty="0" smtClean="0"/>
              <a:t>ADC)</a:t>
            </a:r>
            <a:endParaRPr lang="ru-RU" i="1" dirty="0"/>
          </a:p>
        </p:txBody>
      </p:sp>
      <p:sp>
        <p:nvSpPr>
          <p:cNvPr id="5" name="TextBox 4"/>
          <p:cNvSpPr txBox="1"/>
          <p:nvPr/>
        </p:nvSpPr>
        <p:spPr>
          <a:xfrm>
            <a:off x="3039779" y="725756"/>
            <a:ext cx="3144387" cy="369332"/>
          </a:xfrm>
          <a:prstGeom prst="rect">
            <a:avLst/>
          </a:prstGeom>
          <a:noFill/>
        </p:spPr>
        <p:txBody>
          <a:bodyPr wrap="none" rtlCol="0">
            <a:spAutoFit/>
          </a:bodyPr>
          <a:lstStyle/>
          <a:p>
            <a:r>
              <a:rPr lang="ru-RU" dirty="0" smtClean="0"/>
              <a:t>А</a:t>
            </a:r>
            <a:r>
              <a:rPr lang="ru-RU" dirty="0"/>
              <a:t>Ц</a:t>
            </a:r>
            <a:r>
              <a:rPr lang="ru-RU" dirty="0" smtClean="0"/>
              <a:t>П последовательного счета</a:t>
            </a:r>
            <a:endParaRPr lang="ru-RU" dirty="0"/>
          </a:p>
        </p:txBody>
      </p:sp>
      <p:sp>
        <p:nvSpPr>
          <p:cNvPr id="6" name="Прямоугольник 5"/>
          <p:cNvSpPr/>
          <p:nvPr/>
        </p:nvSpPr>
        <p:spPr>
          <a:xfrm>
            <a:off x="120850" y="1579404"/>
            <a:ext cx="792088" cy="7920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Группа 7"/>
          <p:cNvGrpSpPr/>
          <p:nvPr/>
        </p:nvGrpSpPr>
        <p:grpSpPr>
          <a:xfrm>
            <a:off x="1988136" y="1866108"/>
            <a:ext cx="416917" cy="650728"/>
            <a:chOff x="4040351" y="3227621"/>
            <a:chExt cx="416917" cy="650728"/>
          </a:xfrm>
        </p:grpSpPr>
        <p:sp>
          <p:nvSpPr>
            <p:cNvPr id="10" name="Прямоугольник 9"/>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grpSp>
        <p:nvGrpSpPr>
          <p:cNvPr id="12" name="Группа 11"/>
          <p:cNvGrpSpPr/>
          <p:nvPr/>
        </p:nvGrpSpPr>
        <p:grpSpPr>
          <a:xfrm>
            <a:off x="2405053" y="1927990"/>
            <a:ext cx="2582254" cy="1036712"/>
            <a:chOff x="-74747" y="5704656"/>
            <a:chExt cx="2582254" cy="1036712"/>
          </a:xfrm>
        </p:grpSpPr>
        <p:sp>
          <p:nvSpPr>
            <p:cNvPr id="13" name="Прямоугольник 12"/>
            <p:cNvSpPr/>
            <p:nvPr/>
          </p:nvSpPr>
          <p:spPr>
            <a:xfrm>
              <a:off x="1025258" y="5733256"/>
              <a:ext cx="864096"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4" name="Прямая соединительная линия 13"/>
            <p:cNvCxnSpPr>
              <a:stCxn id="13" idx="0"/>
              <a:endCxn id="13" idx="2"/>
            </p:cNvCxnSpPr>
            <p:nvPr/>
          </p:nvCxnSpPr>
          <p:spPr>
            <a:xfrm>
              <a:off x="1457306" y="5733256"/>
              <a:ext cx="0" cy="1008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121678" y="6372036"/>
              <a:ext cx="309700" cy="369332"/>
            </a:xfrm>
            <a:prstGeom prst="rect">
              <a:avLst/>
            </a:prstGeom>
            <a:noFill/>
          </p:spPr>
          <p:txBody>
            <a:bodyPr wrap="none" rtlCol="0">
              <a:spAutoFit/>
            </a:bodyPr>
            <a:lstStyle/>
            <a:p>
              <a:r>
                <a:rPr lang="en-US" dirty="0"/>
                <a:t>R</a:t>
              </a:r>
              <a:endParaRPr lang="ru-RU" dirty="0"/>
            </a:p>
          </p:txBody>
        </p:sp>
        <p:sp>
          <p:nvSpPr>
            <p:cNvPr id="16" name="TextBox 15"/>
            <p:cNvSpPr txBox="1"/>
            <p:nvPr/>
          </p:nvSpPr>
          <p:spPr>
            <a:xfrm>
              <a:off x="1025258" y="5742538"/>
              <a:ext cx="308098" cy="369332"/>
            </a:xfrm>
            <a:prstGeom prst="rect">
              <a:avLst/>
            </a:prstGeom>
            <a:noFill/>
          </p:spPr>
          <p:txBody>
            <a:bodyPr wrap="none" rtlCol="0">
              <a:spAutoFit/>
            </a:bodyPr>
            <a:lstStyle/>
            <a:p>
              <a:r>
                <a:rPr lang="en-US" dirty="0"/>
                <a:t>C</a:t>
              </a:r>
              <a:endParaRPr lang="ru-RU" dirty="0"/>
            </a:p>
          </p:txBody>
        </p:sp>
        <p:sp>
          <p:nvSpPr>
            <p:cNvPr id="17" name="TextBox 16"/>
            <p:cNvSpPr txBox="1"/>
            <p:nvPr/>
          </p:nvSpPr>
          <p:spPr>
            <a:xfrm>
              <a:off x="1485610" y="5704656"/>
              <a:ext cx="421462" cy="369332"/>
            </a:xfrm>
            <a:prstGeom prst="rect">
              <a:avLst/>
            </a:prstGeom>
            <a:noFill/>
          </p:spPr>
          <p:txBody>
            <a:bodyPr wrap="none" rtlCol="0">
              <a:spAutoFit/>
            </a:bodyPr>
            <a:lstStyle/>
            <a:p>
              <a:r>
                <a:rPr lang="en-US" dirty="0" smtClean="0"/>
                <a:t>CT</a:t>
              </a:r>
              <a:endParaRPr lang="ru-RU" dirty="0"/>
            </a:p>
          </p:txBody>
        </p:sp>
        <p:cxnSp>
          <p:nvCxnSpPr>
            <p:cNvPr id="18" name="Прямая соединительная линия 17"/>
            <p:cNvCxnSpPr/>
            <p:nvPr/>
          </p:nvCxnSpPr>
          <p:spPr>
            <a:xfrm>
              <a:off x="1889354" y="5952976"/>
              <a:ext cx="6181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Группа 18"/>
            <p:cNvGrpSpPr/>
            <p:nvPr/>
          </p:nvGrpSpPr>
          <p:grpSpPr>
            <a:xfrm>
              <a:off x="-74747" y="5927204"/>
              <a:ext cx="1123775" cy="603726"/>
              <a:chOff x="1080487" y="1920528"/>
              <a:chExt cx="1123775" cy="603726"/>
            </a:xfrm>
          </p:grpSpPr>
          <p:cxnSp>
            <p:nvCxnSpPr>
              <p:cNvPr id="20" name="Прямая соединительная линия 19"/>
              <p:cNvCxnSpPr/>
              <p:nvPr/>
            </p:nvCxnSpPr>
            <p:spPr>
              <a:xfrm>
                <a:off x="1663090" y="2524254"/>
                <a:ext cx="532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1080487" y="1920528"/>
                <a:ext cx="11237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3" name="Овал 22"/>
          <p:cNvSpPr/>
          <p:nvPr/>
        </p:nvSpPr>
        <p:spPr>
          <a:xfrm>
            <a:off x="4906114" y="2134618"/>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4" name="Прямая соединительная линия 23"/>
          <p:cNvCxnSpPr/>
          <p:nvPr/>
        </p:nvCxnSpPr>
        <p:spPr>
          <a:xfrm flipV="1">
            <a:off x="3445442" y="2079722"/>
            <a:ext cx="144016" cy="1376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a:off x="4378304" y="2589371"/>
            <a:ext cx="6181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Овал 26"/>
          <p:cNvSpPr/>
          <p:nvPr/>
        </p:nvSpPr>
        <p:spPr>
          <a:xfrm>
            <a:off x="4940979" y="2548558"/>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TextBox 28"/>
          <p:cNvSpPr txBox="1"/>
          <p:nvPr/>
        </p:nvSpPr>
        <p:spPr>
          <a:xfrm>
            <a:off x="4575534" y="1743324"/>
            <a:ext cx="418704" cy="369332"/>
          </a:xfrm>
          <a:prstGeom prst="rect">
            <a:avLst/>
          </a:prstGeom>
          <a:noFill/>
        </p:spPr>
        <p:txBody>
          <a:bodyPr wrap="none" rtlCol="0">
            <a:spAutoFit/>
          </a:bodyPr>
          <a:lstStyle/>
          <a:p>
            <a:r>
              <a:rPr lang="en-US" dirty="0" smtClean="0"/>
              <a:t>Q</a:t>
            </a:r>
            <a:r>
              <a:rPr lang="en-US" baseline="-25000" dirty="0" smtClean="0"/>
              <a:t>0</a:t>
            </a:r>
            <a:endParaRPr lang="ru-RU" baseline="-25000" dirty="0"/>
          </a:p>
        </p:txBody>
      </p:sp>
      <p:sp>
        <p:nvSpPr>
          <p:cNvPr id="30" name="TextBox 29"/>
          <p:cNvSpPr txBox="1"/>
          <p:nvPr/>
        </p:nvSpPr>
        <p:spPr>
          <a:xfrm>
            <a:off x="4586944" y="2620566"/>
            <a:ext cx="564578" cy="369332"/>
          </a:xfrm>
          <a:prstGeom prst="rect">
            <a:avLst/>
          </a:prstGeom>
          <a:noFill/>
        </p:spPr>
        <p:txBody>
          <a:bodyPr wrap="none" rtlCol="0">
            <a:spAutoFit/>
          </a:bodyPr>
          <a:lstStyle/>
          <a:p>
            <a:r>
              <a:rPr lang="en-US" dirty="0" smtClean="0"/>
              <a:t>Q</a:t>
            </a:r>
            <a:r>
              <a:rPr lang="en-US" baseline="-25000" dirty="0"/>
              <a:t>N</a:t>
            </a:r>
            <a:r>
              <a:rPr lang="en-US" baseline="-25000" dirty="0" smtClean="0"/>
              <a:t>-1</a:t>
            </a:r>
            <a:endParaRPr lang="ru-RU" baseline="-25000" dirty="0"/>
          </a:p>
        </p:txBody>
      </p:sp>
      <p:cxnSp>
        <p:nvCxnSpPr>
          <p:cNvPr id="31" name="Прямая соединительная линия 30"/>
          <p:cNvCxnSpPr/>
          <p:nvPr/>
        </p:nvCxnSpPr>
        <p:spPr>
          <a:xfrm>
            <a:off x="4369154" y="2335204"/>
            <a:ext cx="618153"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3" name="Овал 32"/>
          <p:cNvSpPr/>
          <p:nvPr/>
        </p:nvSpPr>
        <p:spPr>
          <a:xfrm>
            <a:off x="4934689" y="2306068"/>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4" name="Прямая соединительная линия 33"/>
          <p:cNvCxnSpPr/>
          <p:nvPr/>
        </p:nvCxnSpPr>
        <p:spPr>
          <a:xfrm>
            <a:off x="3528828" y="2620566"/>
            <a:ext cx="40827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Овал 36"/>
          <p:cNvSpPr/>
          <p:nvPr/>
        </p:nvSpPr>
        <p:spPr>
          <a:xfrm>
            <a:off x="3467126" y="2707149"/>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Овал 37"/>
          <p:cNvSpPr/>
          <p:nvPr/>
        </p:nvSpPr>
        <p:spPr>
          <a:xfrm>
            <a:off x="2869725" y="2708097"/>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TextBox 38"/>
          <p:cNvSpPr txBox="1"/>
          <p:nvPr/>
        </p:nvSpPr>
        <p:spPr>
          <a:xfrm>
            <a:off x="2621521" y="2834898"/>
            <a:ext cx="637419" cy="369332"/>
          </a:xfrm>
          <a:prstGeom prst="rect">
            <a:avLst/>
          </a:prstGeom>
          <a:noFill/>
        </p:spPr>
        <p:txBody>
          <a:bodyPr wrap="none" rtlCol="0">
            <a:spAutoFit/>
          </a:bodyPr>
          <a:lstStyle/>
          <a:p>
            <a:r>
              <a:rPr lang="ru-RU" dirty="0" smtClean="0"/>
              <a:t>Пуск</a:t>
            </a:r>
            <a:endParaRPr lang="ru-RU" dirty="0"/>
          </a:p>
        </p:txBody>
      </p:sp>
      <p:cxnSp>
        <p:nvCxnSpPr>
          <p:cNvPr id="41" name="Прямая соединительная линия 40"/>
          <p:cNvCxnSpPr>
            <a:stCxn id="23" idx="6"/>
          </p:cNvCxnSpPr>
          <p:nvPr/>
        </p:nvCxnSpPr>
        <p:spPr>
          <a:xfrm>
            <a:off x="4978122" y="2170622"/>
            <a:ext cx="7593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5012987" y="2589371"/>
            <a:ext cx="7593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Овал 42"/>
          <p:cNvSpPr/>
          <p:nvPr/>
        </p:nvSpPr>
        <p:spPr>
          <a:xfrm>
            <a:off x="5415534" y="25536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Овал 43"/>
          <p:cNvSpPr/>
          <p:nvPr/>
        </p:nvSpPr>
        <p:spPr>
          <a:xfrm>
            <a:off x="5161410" y="214594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5" name="Прямая соединительная линия 44"/>
          <p:cNvCxnSpPr/>
          <p:nvPr/>
        </p:nvCxnSpPr>
        <p:spPr>
          <a:xfrm>
            <a:off x="5006697" y="2332495"/>
            <a:ext cx="75935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flipV="1">
            <a:off x="5197414" y="1579404"/>
            <a:ext cx="0" cy="596906"/>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Прямая соединительная линия 48"/>
          <p:cNvCxnSpPr/>
          <p:nvPr/>
        </p:nvCxnSpPr>
        <p:spPr>
          <a:xfrm flipV="1">
            <a:off x="5451538" y="1987656"/>
            <a:ext cx="0" cy="596906"/>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4963009" y="1187114"/>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0</a:t>
            </a:r>
            <a:endParaRPr lang="ru-RU" i="1" baseline="-25000" dirty="0">
              <a:latin typeface="Times New Roman" pitchFamily="18" charset="0"/>
              <a:cs typeface="Times New Roman" pitchFamily="18" charset="0"/>
            </a:endParaRPr>
          </a:p>
        </p:txBody>
      </p:sp>
      <p:sp>
        <p:nvSpPr>
          <p:cNvPr id="52" name="TextBox 51"/>
          <p:cNvSpPr txBox="1"/>
          <p:nvPr/>
        </p:nvSpPr>
        <p:spPr>
          <a:xfrm>
            <a:off x="5263025" y="1587258"/>
            <a:ext cx="530915"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a:latin typeface="Times New Roman" pitchFamily="18" charset="0"/>
                <a:cs typeface="Times New Roman" pitchFamily="18" charset="0"/>
              </a:rPr>
              <a:t>N</a:t>
            </a:r>
            <a:r>
              <a:rPr lang="ru-RU" i="1" baseline="-25000" dirty="0" smtClean="0">
                <a:latin typeface="Times New Roman" pitchFamily="18" charset="0"/>
                <a:cs typeface="Times New Roman" pitchFamily="18" charset="0"/>
              </a:rPr>
              <a:t>-1</a:t>
            </a:r>
            <a:endParaRPr lang="ru-RU" i="1" baseline="-25000" dirty="0">
              <a:latin typeface="Times New Roman" pitchFamily="18" charset="0"/>
              <a:cs typeface="Times New Roman" pitchFamily="18" charset="0"/>
            </a:endParaRPr>
          </a:p>
        </p:txBody>
      </p:sp>
      <p:sp>
        <p:nvSpPr>
          <p:cNvPr id="53" name="Прямоугольник 52"/>
          <p:cNvSpPr/>
          <p:nvPr/>
        </p:nvSpPr>
        <p:spPr>
          <a:xfrm>
            <a:off x="5756524" y="1881153"/>
            <a:ext cx="879638" cy="136815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5" name="Прямая соединительная линия 54"/>
          <p:cNvCxnSpPr/>
          <p:nvPr/>
        </p:nvCxnSpPr>
        <p:spPr>
          <a:xfrm>
            <a:off x="5528482" y="2964702"/>
            <a:ext cx="2654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6" name="Объект 55"/>
          <p:cNvGraphicFramePr>
            <a:graphicFrameLocks noChangeAspect="1"/>
          </p:cNvGraphicFramePr>
          <p:nvPr>
            <p:extLst>
              <p:ext uri="{D42A27DB-BD31-4B8C-83A1-F6EECF244321}">
                <p14:modId xmlns:p14="http://schemas.microsoft.com/office/powerpoint/2010/main" val="544380266"/>
              </p:ext>
            </p:extLst>
          </p:nvPr>
        </p:nvGraphicFramePr>
        <p:xfrm>
          <a:off x="5298069" y="2915936"/>
          <a:ext cx="490537" cy="423862"/>
        </p:xfrm>
        <a:graphic>
          <a:graphicData uri="http://schemas.openxmlformats.org/presentationml/2006/ole">
            <mc:AlternateContent xmlns:mc="http://schemas.openxmlformats.org/markup-compatibility/2006">
              <mc:Choice xmlns:v="urn:schemas-microsoft-com:vml" Requires="v">
                <p:oleObj spid="_x0000_s12490" name="Equation" r:id="rId3" imgW="279279" imgH="241195" progId="Equation.DSMT4">
                  <p:embed/>
                </p:oleObj>
              </mc:Choice>
              <mc:Fallback>
                <p:oleObj name="Equation" r:id="rId3" imgW="279279" imgH="241195" progId="Equation.DSMT4">
                  <p:embed/>
                  <p:pic>
                    <p:nvPicPr>
                      <p:cNvPr id="0" name="Объект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8069" y="2915936"/>
                        <a:ext cx="49053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TextBox 56"/>
          <p:cNvSpPr txBox="1"/>
          <p:nvPr/>
        </p:nvSpPr>
        <p:spPr>
          <a:xfrm>
            <a:off x="6020618" y="1895056"/>
            <a:ext cx="578748" cy="369332"/>
          </a:xfrm>
          <a:prstGeom prst="rect">
            <a:avLst/>
          </a:prstGeom>
          <a:noFill/>
        </p:spPr>
        <p:txBody>
          <a:bodyPr wrap="none" rtlCol="0">
            <a:spAutoFit/>
          </a:bodyPr>
          <a:lstStyle/>
          <a:p>
            <a:r>
              <a:rPr lang="en-US" dirty="0" smtClean="0"/>
              <a:t>DAC</a:t>
            </a:r>
            <a:endParaRPr lang="ru-RU" dirty="0"/>
          </a:p>
        </p:txBody>
      </p:sp>
      <p:cxnSp>
        <p:nvCxnSpPr>
          <p:cNvPr id="59" name="Соединительная линия уступом 58"/>
          <p:cNvCxnSpPr>
            <a:stCxn id="53" idx="3"/>
          </p:cNvCxnSpPr>
          <p:nvPr/>
        </p:nvCxnSpPr>
        <p:spPr>
          <a:xfrm>
            <a:off x="6636162" y="2565229"/>
            <a:ext cx="541472" cy="117441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 name="Группа 59"/>
          <p:cNvGrpSpPr/>
          <p:nvPr/>
        </p:nvGrpSpPr>
        <p:grpSpPr>
          <a:xfrm flipH="1" flipV="1">
            <a:off x="4295181" y="3502263"/>
            <a:ext cx="2884586" cy="913479"/>
            <a:chOff x="1399382" y="3898431"/>
            <a:chExt cx="2884586" cy="913479"/>
          </a:xfrm>
        </p:grpSpPr>
        <p:cxnSp>
          <p:nvCxnSpPr>
            <p:cNvPr id="61" name="Прямая соединительная линия 60"/>
            <p:cNvCxnSpPr/>
            <p:nvPr/>
          </p:nvCxnSpPr>
          <p:spPr>
            <a:xfrm>
              <a:off x="2010114" y="4090892"/>
              <a:ext cx="1248123" cy="104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Прямоугольник 61"/>
            <p:cNvSpPr/>
            <p:nvPr/>
          </p:nvSpPr>
          <p:spPr>
            <a:xfrm>
              <a:off x="3258237" y="3898431"/>
              <a:ext cx="504056" cy="91347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Овал 62"/>
            <p:cNvSpPr/>
            <p:nvPr/>
          </p:nvSpPr>
          <p:spPr>
            <a:xfrm>
              <a:off x="3186229" y="4493238"/>
              <a:ext cx="144016" cy="144016"/>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4" name="Прямая соединительная линия 63"/>
            <p:cNvCxnSpPr>
              <a:endCxn id="63" idx="2"/>
            </p:cNvCxnSpPr>
            <p:nvPr/>
          </p:nvCxnSpPr>
          <p:spPr>
            <a:xfrm>
              <a:off x="1399382" y="4565246"/>
              <a:ext cx="17868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a:stCxn id="62" idx="3"/>
            </p:cNvCxnSpPr>
            <p:nvPr/>
          </p:nvCxnSpPr>
          <p:spPr>
            <a:xfrm>
              <a:off x="3762293" y="4355171"/>
              <a:ext cx="5216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flipV="1">
              <a:off x="3520256" y="4384021"/>
              <a:ext cx="0" cy="3624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a:off x="3496721" y="4384021"/>
              <a:ext cx="1800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flipH="1">
              <a:off x="3316701" y="4746471"/>
              <a:ext cx="2035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Овал 68"/>
          <p:cNvSpPr/>
          <p:nvPr/>
        </p:nvSpPr>
        <p:spPr>
          <a:xfrm>
            <a:off x="6563336" y="4171692"/>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TextBox 69"/>
          <p:cNvSpPr txBox="1"/>
          <p:nvPr/>
        </p:nvSpPr>
        <p:spPr>
          <a:xfrm>
            <a:off x="6465493" y="4266264"/>
            <a:ext cx="554960"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вх</a:t>
            </a:r>
            <a:endParaRPr lang="ru-RU" i="1" dirty="0">
              <a:latin typeface="Times New Roman" pitchFamily="18" charset="0"/>
              <a:cs typeface="Times New Roman" pitchFamily="18" charset="0"/>
            </a:endParaRPr>
          </a:p>
        </p:txBody>
      </p:sp>
      <p:cxnSp>
        <p:nvCxnSpPr>
          <p:cNvPr id="72" name="Соединительная линия уступом 71"/>
          <p:cNvCxnSpPr/>
          <p:nvPr/>
        </p:nvCxnSpPr>
        <p:spPr>
          <a:xfrm rot="10800000">
            <a:off x="1995191" y="2378076"/>
            <a:ext cx="2374131" cy="1580926"/>
          </a:xfrm>
          <a:prstGeom prst="bentConnector3">
            <a:avLst>
              <a:gd name="adj1" fmla="val 121414"/>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Прямая соединительная линия 74"/>
          <p:cNvCxnSpPr/>
          <p:nvPr/>
        </p:nvCxnSpPr>
        <p:spPr>
          <a:xfrm>
            <a:off x="912938" y="1965872"/>
            <a:ext cx="107519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211003" y="1796040"/>
            <a:ext cx="543739" cy="369332"/>
          </a:xfrm>
          <a:prstGeom prst="rect">
            <a:avLst/>
          </a:prstGeom>
          <a:noFill/>
        </p:spPr>
        <p:txBody>
          <a:bodyPr wrap="none" rtlCol="0">
            <a:spAutoFit/>
          </a:bodyPr>
          <a:lstStyle/>
          <a:p>
            <a:r>
              <a:rPr lang="ru-RU" dirty="0" smtClean="0"/>
              <a:t>ГТИ</a:t>
            </a:r>
            <a:endParaRPr lang="ru-RU" dirty="0"/>
          </a:p>
        </p:txBody>
      </p:sp>
      <p:grpSp>
        <p:nvGrpSpPr>
          <p:cNvPr id="84" name="Группа 83"/>
          <p:cNvGrpSpPr/>
          <p:nvPr/>
        </p:nvGrpSpPr>
        <p:grpSpPr>
          <a:xfrm>
            <a:off x="674813" y="1011973"/>
            <a:ext cx="951846" cy="369332"/>
            <a:chOff x="6120230" y="6147879"/>
            <a:chExt cx="951846" cy="369332"/>
          </a:xfrm>
        </p:grpSpPr>
        <p:cxnSp>
          <p:nvCxnSpPr>
            <p:cNvPr id="78" name="Прямая соединительная линия 77"/>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Прямая соединительная линия 78"/>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Прямая соединительная линия 79"/>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Прямая соединительная линия 80"/>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Прямая соединительная линия 81"/>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Группа 84"/>
          <p:cNvGrpSpPr/>
          <p:nvPr/>
        </p:nvGrpSpPr>
        <p:grpSpPr>
          <a:xfrm>
            <a:off x="1428856" y="1014564"/>
            <a:ext cx="951846" cy="369332"/>
            <a:chOff x="6120230" y="6147879"/>
            <a:chExt cx="951846" cy="369332"/>
          </a:xfrm>
        </p:grpSpPr>
        <p:cxnSp>
          <p:nvCxnSpPr>
            <p:cNvPr id="86" name="Прямая соединительная линия 85"/>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87"/>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88"/>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Прямая соединительная линия 89"/>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1" name="Группа 90"/>
          <p:cNvGrpSpPr/>
          <p:nvPr/>
        </p:nvGrpSpPr>
        <p:grpSpPr>
          <a:xfrm>
            <a:off x="2580172" y="3168539"/>
            <a:ext cx="579106" cy="369332"/>
            <a:chOff x="6120230" y="6147879"/>
            <a:chExt cx="579106" cy="369332"/>
          </a:xfrm>
        </p:grpSpPr>
        <p:cxnSp>
          <p:nvCxnSpPr>
            <p:cNvPr id="92" name="Прямая соединительная линия 91"/>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Прямая соединительная линия 92"/>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Прямая соединительная линия 93"/>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TextBox 96"/>
          <p:cNvSpPr txBox="1"/>
          <p:nvPr/>
        </p:nvSpPr>
        <p:spPr>
          <a:xfrm>
            <a:off x="4830400" y="4415742"/>
            <a:ext cx="456985" cy="369332"/>
          </a:xfrm>
          <a:prstGeom prst="rect">
            <a:avLst/>
          </a:prstGeom>
          <a:noFill/>
        </p:spPr>
        <p:txBody>
          <a:bodyPr wrap="none" rtlCol="0">
            <a:spAutoFit/>
          </a:bodyPr>
          <a:lstStyle/>
          <a:p>
            <a:r>
              <a:rPr lang="en-US" dirty="0" smtClean="0"/>
              <a:t>DA</a:t>
            </a:r>
            <a:endParaRPr lang="ru-RU" dirty="0"/>
          </a:p>
        </p:txBody>
      </p:sp>
      <p:sp>
        <p:nvSpPr>
          <p:cNvPr id="98" name="TextBox 97"/>
          <p:cNvSpPr txBox="1"/>
          <p:nvPr/>
        </p:nvSpPr>
        <p:spPr>
          <a:xfrm>
            <a:off x="6629418" y="2143475"/>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a:t>
            </a:r>
            <a:r>
              <a:rPr lang="ru-RU" i="1" dirty="0" err="1">
                <a:latin typeface="Times New Roman" pitchFamily="18" charset="0"/>
                <a:cs typeface="Times New Roman" pitchFamily="18" charset="0"/>
              </a:rPr>
              <a:t>ы</a:t>
            </a:r>
            <a:r>
              <a:rPr lang="ru-RU" i="1" dirty="0" err="1" smtClean="0">
                <a:latin typeface="Times New Roman" pitchFamily="18" charset="0"/>
                <a:cs typeface="Times New Roman" pitchFamily="18" charset="0"/>
              </a:rPr>
              <a:t>х</a:t>
            </a:r>
            <a:endParaRPr lang="ru-RU" i="1" dirty="0">
              <a:latin typeface="Times New Roman" pitchFamily="18" charset="0"/>
              <a:cs typeface="Times New Roman" pitchFamily="18" charset="0"/>
            </a:endParaRPr>
          </a:p>
        </p:txBody>
      </p:sp>
      <p:sp>
        <p:nvSpPr>
          <p:cNvPr id="101" name="TextBox 100"/>
          <p:cNvSpPr txBox="1"/>
          <p:nvPr/>
        </p:nvSpPr>
        <p:spPr>
          <a:xfrm>
            <a:off x="1191" y="4483472"/>
            <a:ext cx="2216825" cy="369332"/>
          </a:xfrm>
          <a:prstGeom prst="rect">
            <a:avLst/>
          </a:prstGeom>
          <a:noFill/>
        </p:spPr>
        <p:txBody>
          <a:bodyPr wrap="none" rtlCol="0">
            <a:spAutoFit/>
          </a:bodyPr>
          <a:lstStyle/>
          <a:p>
            <a:r>
              <a:rPr lang="ru-RU" b="1" dirty="0" smtClean="0"/>
              <a:t>Исходное состояние</a:t>
            </a:r>
            <a:endParaRPr lang="ru-RU" b="1" dirty="0"/>
          </a:p>
        </p:txBody>
      </p:sp>
      <p:sp>
        <p:nvSpPr>
          <p:cNvPr id="103" name="TextBox 102"/>
          <p:cNvSpPr txBox="1"/>
          <p:nvPr/>
        </p:nvSpPr>
        <p:spPr>
          <a:xfrm>
            <a:off x="235360" y="4997658"/>
            <a:ext cx="2330190" cy="369332"/>
          </a:xfrm>
          <a:prstGeom prst="rect">
            <a:avLst/>
          </a:prstGeom>
          <a:noFill/>
        </p:spPr>
        <p:txBody>
          <a:bodyPr wrap="none" rtlCol="0">
            <a:spAutoFit/>
          </a:bodyPr>
          <a:lstStyle/>
          <a:p>
            <a:r>
              <a:rPr lang="en-US" dirty="0" smtClean="0"/>
              <a:t>R</a:t>
            </a:r>
            <a:r>
              <a:rPr lang="ru-RU" dirty="0" smtClean="0"/>
              <a:t>=1, счетчик сброшен</a:t>
            </a:r>
            <a:endParaRPr lang="ru-RU" dirty="0"/>
          </a:p>
        </p:txBody>
      </p:sp>
      <p:sp>
        <p:nvSpPr>
          <p:cNvPr id="104" name="TextBox 103"/>
          <p:cNvSpPr txBox="1"/>
          <p:nvPr/>
        </p:nvSpPr>
        <p:spPr>
          <a:xfrm>
            <a:off x="2920410" y="4997658"/>
            <a:ext cx="1302151" cy="369332"/>
          </a:xfrm>
          <a:prstGeom prst="rect">
            <a:avLst/>
          </a:prstGeom>
          <a:noFill/>
        </p:spPr>
        <p:txBody>
          <a:bodyPr wrap="none" rtlCol="0">
            <a:spAutoFit/>
          </a:bodyPr>
          <a:lstStyle/>
          <a:p>
            <a:r>
              <a:rPr lang="en-US" dirty="0" smtClean="0"/>
              <a:t>{Q}=</a:t>
            </a:r>
            <a:r>
              <a:rPr lang="en-US" dirty="0"/>
              <a:t> {S} </a:t>
            </a:r>
            <a:r>
              <a:rPr lang="en-US" dirty="0" smtClean="0"/>
              <a:t>=0, </a:t>
            </a:r>
            <a:endParaRPr lang="ru-RU" baseline="-25000" dirty="0"/>
          </a:p>
        </p:txBody>
      </p:sp>
      <p:sp>
        <p:nvSpPr>
          <p:cNvPr id="105" name="TextBox 104"/>
          <p:cNvSpPr txBox="1"/>
          <p:nvPr/>
        </p:nvSpPr>
        <p:spPr>
          <a:xfrm>
            <a:off x="4228465" y="4997658"/>
            <a:ext cx="982961"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r>
              <a:rPr lang="en-US" i="1" dirty="0" smtClean="0">
                <a:latin typeface="Times New Roman" pitchFamily="18" charset="0"/>
                <a:cs typeface="Times New Roman" pitchFamily="18" charset="0"/>
              </a:rPr>
              <a:t>=0</a:t>
            </a:r>
            <a:endParaRPr lang="ru-RU" i="1" dirty="0">
              <a:latin typeface="Times New Roman" pitchFamily="18" charset="0"/>
              <a:cs typeface="Times New Roman" pitchFamily="18" charset="0"/>
            </a:endParaRPr>
          </a:p>
        </p:txBody>
      </p:sp>
      <p:sp>
        <p:nvSpPr>
          <p:cNvPr id="106" name="TextBox 105"/>
          <p:cNvSpPr txBox="1"/>
          <p:nvPr/>
        </p:nvSpPr>
        <p:spPr>
          <a:xfrm>
            <a:off x="5161410" y="4997658"/>
            <a:ext cx="1928730" cy="369332"/>
          </a:xfrm>
          <a:prstGeom prst="rect">
            <a:avLst/>
          </a:prstGeom>
          <a:noFill/>
          <a:ln>
            <a:noFill/>
          </a:ln>
        </p:spPr>
        <p:txBody>
          <a:bodyPr wrap="square" rtlCol="0">
            <a:spAutoFit/>
          </a:bodyPr>
          <a:lstStyle/>
          <a:p>
            <a:r>
              <a:rPr lang="en-US" i="1" dirty="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r>
              <a:rPr lang="en-US" i="1" dirty="0">
                <a:latin typeface="Times New Roman" pitchFamily="18" charset="0"/>
                <a:cs typeface="Times New Roman" pitchFamily="18" charset="0"/>
              </a:rPr>
              <a:t>&lt;</a:t>
            </a:r>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вх</a:t>
            </a:r>
            <a:r>
              <a:rPr lang="en-US" i="1" dirty="0" smtClean="0">
                <a:latin typeface="Times New Roman" pitchFamily="18" charset="0"/>
                <a:cs typeface="Times New Roman" pitchFamily="18" charset="0"/>
              </a:rPr>
              <a:t>=</a:t>
            </a:r>
            <a:r>
              <a:rPr lang="en-US" i="1" dirty="0" err="1" smtClean="0">
                <a:latin typeface="Times New Roman" pitchFamily="18" charset="0"/>
                <a:cs typeface="Times New Roman" pitchFamily="18" charset="0"/>
              </a:rPr>
              <a:t>Const</a:t>
            </a:r>
            <a:endParaRPr lang="ru-RU" i="1" dirty="0">
              <a:latin typeface="Times New Roman" pitchFamily="18" charset="0"/>
              <a:cs typeface="Times New Roman" pitchFamily="18" charset="0"/>
            </a:endParaRPr>
          </a:p>
        </p:txBody>
      </p:sp>
      <p:sp>
        <p:nvSpPr>
          <p:cNvPr id="107" name="TextBox 106"/>
          <p:cNvSpPr txBox="1"/>
          <p:nvPr/>
        </p:nvSpPr>
        <p:spPr>
          <a:xfrm>
            <a:off x="7668344" y="4997658"/>
            <a:ext cx="1413592" cy="369332"/>
          </a:xfrm>
          <a:prstGeom prst="rect">
            <a:avLst/>
          </a:prstGeom>
          <a:noFill/>
        </p:spPr>
        <p:txBody>
          <a:bodyPr wrap="none" rtlCol="0">
            <a:spAutoFit/>
          </a:bodyPr>
          <a:lstStyle/>
          <a:p>
            <a:r>
              <a:rPr lang="ru-RU" dirty="0" smtClean="0"/>
              <a:t>Выход </a:t>
            </a:r>
            <a:r>
              <a:rPr lang="en-US" dirty="0" smtClean="0"/>
              <a:t>DA =1</a:t>
            </a:r>
            <a:endParaRPr lang="ru-RU" dirty="0"/>
          </a:p>
        </p:txBody>
      </p:sp>
      <p:sp>
        <p:nvSpPr>
          <p:cNvPr id="108" name="TextBox 107"/>
          <p:cNvSpPr txBox="1"/>
          <p:nvPr/>
        </p:nvSpPr>
        <p:spPr>
          <a:xfrm>
            <a:off x="235360" y="5404585"/>
            <a:ext cx="3390480" cy="369332"/>
          </a:xfrm>
          <a:prstGeom prst="rect">
            <a:avLst/>
          </a:prstGeom>
          <a:noFill/>
        </p:spPr>
        <p:txBody>
          <a:bodyPr wrap="none" rtlCol="0">
            <a:spAutoFit/>
          </a:bodyPr>
          <a:lstStyle/>
          <a:p>
            <a:r>
              <a:rPr lang="ru-RU" dirty="0"/>
              <a:t>С</a:t>
            </a:r>
            <a:r>
              <a:rPr lang="ru-RU" dirty="0" smtClean="0"/>
              <a:t>игнал ГТИ поступает на счетчик</a:t>
            </a:r>
            <a:endParaRPr lang="ru-RU" dirty="0"/>
          </a:p>
        </p:txBody>
      </p:sp>
      <p:sp>
        <p:nvSpPr>
          <p:cNvPr id="109" name="TextBox 108"/>
          <p:cNvSpPr txBox="1"/>
          <p:nvPr/>
        </p:nvSpPr>
        <p:spPr>
          <a:xfrm>
            <a:off x="2380702" y="5949280"/>
            <a:ext cx="3807485" cy="646331"/>
          </a:xfrm>
          <a:prstGeom prst="rect">
            <a:avLst/>
          </a:prstGeom>
          <a:noFill/>
        </p:spPr>
        <p:txBody>
          <a:bodyPr wrap="square" rtlCol="0">
            <a:spAutoFit/>
          </a:bodyPr>
          <a:lstStyle/>
          <a:p>
            <a:r>
              <a:rPr lang="ru-RU" b="1" dirty="0" smtClean="0">
                <a:solidFill>
                  <a:srgbClr val="FF0000"/>
                </a:solidFill>
              </a:rPr>
              <a:t>Временная диаграмма</a:t>
            </a:r>
            <a:r>
              <a:rPr lang="en-US" b="1" dirty="0" smtClean="0">
                <a:solidFill>
                  <a:srgbClr val="FF0000"/>
                </a:solidFill>
              </a:rPr>
              <a:t> </a:t>
            </a:r>
            <a:r>
              <a:rPr lang="en-US" b="1" i="1" dirty="0">
                <a:solidFill>
                  <a:srgbClr val="FF0000"/>
                </a:solidFill>
                <a:latin typeface="Times New Roman" pitchFamily="18" charset="0"/>
                <a:cs typeface="Times New Roman" pitchFamily="18" charset="0"/>
              </a:rPr>
              <a:t>U</a:t>
            </a:r>
            <a:r>
              <a:rPr lang="ru-RU" b="1" i="1" dirty="0" err="1" smtClean="0">
                <a:solidFill>
                  <a:srgbClr val="FF0000"/>
                </a:solidFill>
                <a:latin typeface="Times New Roman" pitchFamily="18" charset="0"/>
                <a:cs typeface="Times New Roman" pitchFamily="18" charset="0"/>
              </a:rPr>
              <a:t>вых</a:t>
            </a:r>
            <a:r>
              <a:rPr lang="en-US" b="1" i="1" dirty="0" smtClean="0">
                <a:solidFill>
                  <a:srgbClr val="FF0000"/>
                </a:solidFill>
                <a:latin typeface="Times New Roman" pitchFamily="18" charset="0"/>
                <a:cs typeface="Times New Roman" pitchFamily="18" charset="0"/>
              </a:rPr>
              <a:t>(t)</a:t>
            </a:r>
            <a:r>
              <a:rPr lang="ru-RU" b="1" i="1" dirty="0" smtClean="0">
                <a:solidFill>
                  <a:srgbClr val="FF0000"/>
                </a:solidFill>
                <a:latin typeface="Times New Roman" pitchFamily="18" charset="0"/>
                <a:cs typeface="Times New Roman" pitchFamily="18" charset="0"/>
              </a:rPr>
              <a:t> </a:t>
            </a:r>
            <a:r>
              <a:rPr lang="ru-RU" b="1" dirty="0" smtClean="0">
                <a:solidFill>
                  <a:srgbClr val="FF0000"/>
                </a:solidFill>
                <a:latin typeface="Times New Roman" pitchFamily="18" charset="0"/>
                <a:cs typeface="Times New Roman" pitchFamily="18" charset="0"/>
              </a:rPr>
              <a:t>при запуске счетчика (</a:t>
            </a:r>
            <a:r>
              <a:rPr lang="en-US" b="1" dirty="0" smtClean="0">
                <a:solidFill>
                  <a:srgbClr val="FF0000"/>
                </a:solidFill>
                <a:latin typeface="Times New Roman" pitchFamily="18" charset="0"/>
                <a:cs typeface="Times New Roman" pitchFamily="18" charset="0"/>
              </a:rPr>
              <a:t>R=0)</a:t>
            </a:r>
            <a:r>
              <a:rPr lang="ru-RU" b="1" dirty="0" smtClean="0">
                <a:solidFill>
                  <a:srgbClr val="FF0000"/>
                </a:solidFill>
                <a:latin typeface="Times New Roman" pitchFamily="18" charset="0"/>
                <a:cs typeface="Times New Roman" pitchFamily="18" charset="0"/>
              </a:rPr>
              <a:t>?</a:t>
            </a:r>
            <a:endParaRPr lang="ru-RU" b="1" dirty="0">
              <a:solidFill>
                <a:srgbClr val="FF0000"/>
              </a:solidFill>
              <a:latin typeface="Times New Roman" pitchFamily="18" charset="0"/>
              <a:cs typeface="Times New Roman" pitchFamily="18" charset="0"/>
            </a:endParaRPr>
          </a:p>
        </p:txBody>
      </p:sp>
      <p:sp>
        <p:nvSpPr>
          <p:cNvPr id="110" name="Правая фигурная скобка 109"/>
          <p:cNvSpPr/>
          <p:nvPr/>
        </p:nvSpPr>
        <p:spPr>
          <a:xfrm rot="16200000">
            <a:off x="5140475" y="966986"/>
            <a:ext cx="341370" cy="6089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11" name="TextBox 110"/>
          <p:cNvSpPr txBox="1"/>
          <p:nvPr/>
        </p:nvSpPr>
        <p:spPr>
          <a:xfrm>
            <a:off x="5562214" y="1072802"/>
            <a:ext cx="1750351" cy="369332"/>
          </a:xfrm>
          <a:prstGeom prst="rect">
            <a:avLst/>
          </a:prstGeom>
          <a:noFill/>
        </p:spPr>
        <p:txBody>
          <a:bodyPr wrap="none" rtlCol="0">
            <a:spAutoFit/>
          </a:bodyPr>
          <a:lstStyle/>
          <a:p>
            <a:r>
              <a:rPr lang="ru-RU" dirty="0" smtClean="0"/>
              <a:t>Выходные коды</a:t>
            </a:r>
            <a:endParaRPr lang="ru-RU" dirty="0"/>
          </a:p>
        </p:txBody>
      </p:sp>
    </p:spTree>
    <p:extLst>
      <p:ext uri="{BB962C8B-B14F-4D97-AF65-F5344CB8AC3E}">
        <p14:creationId xmlns:p14="http://schemas.microsoft.com/office/powerpoint/2010/main" val="2820072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43808" y="188640"/>
            <a:ext cx="4257063" cy="369332"/>
          </a:xfrm>
          <a:prstGeom prst="rect">
            <a:avLst/>
          </a:prstGeom>
          <a:noFill/>
        </p:spPr>
        <p:txBody>
          <a:bodyPr wrap="none" rtlCol="0">
            <a:spAutoFit/>
          </a:bodyPr>
          <a:lstStyle/>
          <a:p>
            <a:r>
              <a:rPr lang="ru-RU" i="1" dirty="0" smtClean="0"/>
              <a:t>А</a:t>
            </a:r>
            <a:r>
              <a:rPr lang="ru-RU" i="1" dirty="0"/>
              <a:t>Ц</a:t>
            </a:r>
            <a:r>
              <a:rPr lang="ru-RU" i="1" dirty="0" smtClean="0"/>
              <a:t>П на основе нециклического счетчика</a:t>
            </a:r>
            <a:endParaRPr lang="ru-RU" i="1" dirty="0"/>
          </a:p>
        </p:txBody>
      </p:sp>
      <p:sp>
        <p:nvSpPr>
          <p:cNvPr id="105" name="TextBox 104"/>
          <p:cNvSpPr txBox="1"/>
          <p:nvPr/>
        </p:nvSpPr>
        <p:spPr>
          <a:xfrm>
            <a:off x="193358" y="5661248"/>
            <a:ext cx="8395269" cy="369332"/>
          </a:xfrm>
          <a:prstGeom prst="rect">
            <a:avLst/>
          </a:prstGeom>
          <a:noFill/>
        </p:spPr>
        <p:txBody>
          <a:bodyPr wrap="square" rtlCol="0">
            <a:spAutoFit/>
          </a:bodyPr>
          <a:lstStyle/>
          <a:p>
            <a:r>
              <a:rPr lang="ru-RU" b="1" dirty="0" smtClean="0">
                <a:solidFill>
                  <a:srgbClr val="FF0000"/>
                </a:solidFill>
              </a:rPr>
              <a:t>Временная диаграмма</a:t>
            </a:r>
            <a:r>
              <a:rPr lang="en-US" b="1" dirty="0" smtClean="0">
                <a:solidFill>
                  <a:srgbClr val="FF0000"/>
                </a:solidFill>
              </a:rPr>
              <a:t> </a:t>
            </a:r>
            <a:r>
              <a:rPr lang="en-US" b="1" i="1" dirty="0">
                <a:solidFill>
                  <a:srgbClr val="FF0000"/>
                </a:solidFill>
                <a:latin typeface="Times New Roman" pitchFamily="18" charset="0"/>
                <a:cs typeface="Times New Roman" pitchFamily="18" charset="0"/>
              </a:rPr>
              <a:t>U</a:t>
            </a:r>
            <a:r>
              <a:rPr lang="ru-RU" b="1" i="1" dirty="0" err="1" smtClean="0">
                <a:solidFill>
                  <a:srgbClr val="FF0000"/>
                </a:solidFill>
                <a:latin typeface="Times New Roman" pitchFamily="18" charset="0"/>
                <a:cs typeface="Times New Roman" pitchFamily="18" charset="0"/>
              </a:rPr>
              <a:t>вых</a:t>
            </a:r>
            <a:r>
              <a:rPr lang="en-US" b="1" i="1" dirty="0" smtClean="0">
                <a:solidFill>
                  <a:srgbClr val="FF0000"/>
                </a:solidFill>
                <a:latin typeface="Times New Roman" pitchFamily="18" charset="0"/>
                <a:cs typeface="Times New Roman" pitchFamily="18" charset="0"/>
              </a:rPr>
              <a:t>(t)</a:t>
            </a:r>
            <a:r>
              <a:rPr lang="ru-RU" b="1" i="1" dirty="0" smtClean="0">
                <a:solidFill>
                  <a:srgbClr val="FF0000"/>
                </a:solidFill>
                <a:latin typeface="Times New Roman" pitchFamily="18" charset="0"/>
                <a:cs typeface="Times New Roman" pitchFamily="18" charset="0"/>
              </a:rPr>
              <a:t> </a:t>
            </a:r>
            <a:r>
              <a:rPr lang="ru-RU" b="1" dirty="0" smtClean="0">
                <a:solidFill>
                  <a:srgbClr val="FF0000"/>
                </a:solidFill>
                <a:latin typeface="Times New Roman" pitchFamily="18" charset="0"/>
                <a:cs typeface="Times New Roman" pitchFamily="18" charset="0"/>
              </a:rPr>
              <a:t>при запуске счетчика </a:t>
            </a:r>
            <a:r>
              <a:rPr lang="en-US" b="1" dirty="0" smtClean="0">
                <a:solidFill>
                  <a:srgbClr val="FF0000"/>
                </a:solidFill>
                <a:latin typeface="Times New Roman" pitchFamily="18" charset="0"/>
                <a:cs typeface="Times New Roman" pitchFamily="18" charset="0"/>
              </a:rPr>
              <a:t>(R=0)</a:t>
            </a:r>
            <a:r>
              <a:rPr lang="ru-RU" b="1" dirty="0" smtClean="0">
                <a:solidFill>
                  <a:srgbClr val="FF0000"/>
                </a:solidFill>
                <a:latin typeface="Times New Roman" pitchFamily="18" charset="0"/>
                <a:cs typeface="Times New Roman" pitchFamily="18" charset="0"/>
              </a:rPr>
              <a:t>?</a:t>
            </a:r>
            <a:endParaRPr lang="ru-RU" b="1" dirty="0">
              <a:solidFill>
                <a:srgbClr val="FF0000"/>
              </a:solidFill>
              <a:latin typeface="Times New Roman" pitchFamily="18" charset="0"/>
              <a:cs typeface="Times New Roman" pitchFamily="18" charset="0"/>
            </a:endParaRPr>
          </a:p>
        </p:txBody>
      </p:sp>
      <p:sp>
        <p:nvSpPr>
          <p:cNvPr id="111" name="TextBox 110"/>
          <p:cNvSpPr txBox="1"/>
          <p:nvPr/>
        </p:nvSpPr>
        <p:spPr>
          <a:xfrm>
            <a:off x="372939" y="5032750"/>
            <a:ext cx="2330190" cy="369332"/>
          </a:xfrm>
          <a:prstGeom prst="rect">
            <a:avLst/>
          </a:prstGeom>
          <a:noFill/>
        </p:spPr>
        <p:txBody>
          <a:bodyPr wrap="none" rtlCol="0">
            <a:spAutoFit/>
          </a:bodyPr>
          <a:lstStyle/>
          <a:p>
            <a:r>
              <a:rPr lang="en-US" dirty="0" smtClean="0"/>
              <a:t>R</a:t>
            </a:r>
            <a:r>
              <a:rPr lang="ru-RU" dirty="0" smtClean="0"/>
              <a:t>=1, счетчик сброшен</a:t>
            </a:r>
            <a:endParaRPr lang="ru-RU" dirty="0"/>
          </a:p>
        </p:txBody>
      </p:sp>
      <p:sp>
        <p:nvSpPr>
          <p:cNvPr id="112" name="TextBox 111"/>
          <p:cNvSpPr txBox="1"/>
          <p:nvPr/>
        </p:nvSpPr>
        <p:spPr>
          <a:xfrm>
            <a:off x="4124502" y="5032750"/>
            <a:ext cx="1114408"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вх</a:t>
            </a:r>
            <a:r>
              <a:rPr lang="ru-RU" i="1"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t</a:t>
            </a:r>
            <a:r>
              <a:rPr lang="ru-RU" i="1"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a:t>
            </a:r>
            <a:r>
              <a:rPr lang="el-GR" i="1" dirty="0" smtClean="0">
                <a:latin typeface="Times New Roman" pitchFamily="18" charset="0"/>
                <a:cs typeface="Times New Roman" pitchFamily="18" charset="0"/>
              </a:rPr>
              <a:t>α</a:t>
            </a:r>
            <a:r>
              <a:rPr lang="en-US" i="1" dirty="0" smtClean="0">
                <a:latin typeface="Times New Roman" pitchFamily="18" charset="0"/>
                <a:cs typeface="Times New Roman" pitchFamily="18" charset="0"/>
              </a:rPr>
              <a:t>t</a:t>
            </a:r>
            <a:endParaRPr lang="ru-RU" i="1" dirty="0">
              <a:latin typeface="Times New Roman" pitchFamily="18" charset="0"/>
              <a:cs typeface="Times New Roman" pitchFamily="18" charset="0"/>
            </a:endParaRPr>
          </a:p>
        </p:txBody>
      </p:sp>
      <p:sp>
        <p:nvSpPr>
          <p:cNvPr id="113" name="TextBox 112"/>
          <p:cNvSpPr txBox="1"/>
          <p:nvPr/>
        </p:nvSpPr>
        <p:spPr>
          <a:xfrm>
            <a:off x="5272696" y="5032750"/>
            <a:ext cx="3089820" cy="369332"/>
          </a:xfrm>
          <a:prstGeom prst="rect">
            <a:avLst/>
          </a:prstGeom>
          <a:noFill/>
        </p:spPr>
        <p:txBody>
          <a:bodyPr wrap="none" rtlCol="0">
            <a:spAutoFit/>
          </a:bodyPr>
          <a:lstStyle/>
          <a:p>
            <a:r>
              <a:rPr lang="en-US" dirty="0" smtClean="0"/>
              <a:t>- </a:t>
            </a:r>
            <a:r>
              <a:rPr lang="ru-RU" dirty="0" smtClean="0"/>
              <a:t>Линейная функция времени</a:t>
            </a:r>
            <a:endParaRPr lang="ru-RU" dirty="0"/>
          </a:p>
        </p:txBody>
      </p:sp>
      <p:grpSp>
        <p:nvGrpSpPr>
          <p:cNvPr id="2" name="Группа 1"/>
          <p:cNvGrpSpPr/>
          <p:nvPr/>
        </p:nvGrpSpPr>
        <p:grpSpPr>
          <a:xfrm>
            <a:off x="354718" y="535839"/>
            <a:ext cx="8060161" cy="4492218"/>
            <a:chOff x="395536" y="1160177"/>
            <a:chExt cx="8060161" cy="4492218"/>
          </a:xfrm>
        </p:grpSpPr>
        <p:grpSp>
          <p:nvGrpSpPr>
            <p:cNvPr id="106" name="Группа 105"/>
            <p:cNvGrpSpPr/>
            <p:nvPr/>
          </p:nvGrpSpPr>
          <p:grpSpPr>
            <a:xfrm>
              <a:off x="963018" y="1160177"/>
              <a:ext cx="7322814" cy="4492218"/>
              <a:chOff x="236280" y="1986249"/>
              <a:chExt cx="7322814" cy="4492218"/>
            </a:xfrm>
          </p:grpSpPr>
          <p:sp>
            <p:nvSpPr>
              <p:cNvPr id="6" name="Прямоугольник 5"/>
              <p:cNvSpPr/>
              <p:nvPr/>
            </p:nvSpPr>
            <p:spPr>
              <a:xfrm>
                <a:off x="368952" y="2446026"/>
                <a:ext cx="792088" cy="7920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7" name="Группа 6"/>
              <p:cNvGrpSpPr/>
              <p:nvPr/>
            </p:nvGrpSpPr>
            <p:grpSpPr>
              <a:xfrm>
                <a:off x="2241607" y="2555143"/>
                <a:ext cx="416917" cy="650728"/>
                <a:chOff x="4040351" y="3227621"/>
                <a:chExt cx="416917" cy="650728"/>
              </a:xfrm>
            </p:grpSpPr>
            <p:sp>
              <p:nvSpPr>
                <p:cNvPr id="8" name="Прямоугольник 7"/>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grpSp>
            <p:nvGrpSpPr>
              <p:cNvPr id="10" name="Группа 9"/>
              <p:cNvGrpSpPr/>
              <p:nvPr/>
            </p:nvGrpSpPr>
            <p:grpSpPr>
              <a:xfrm>
                <a:off x="3205278" y="3621383"/>
                <a:ext cx="1999651" cy="1036712"/>
                <a:chOff x="507856" y="5704656"/>
                <a:chExt cx="1999651" cy="1036712"/>
              </a:xfrm>
            </p:grpSpPr>
            <p:sp>
              <p:nvSpPr>
                <p:cNvPr id="11" name="Прямоугольник 10"/>
                <p:cNvSpPr/>
                <p:nvPr/>
              </p:nvSpPr>
              <p:spPr>
                <a:xfrm>
                  <a:off x="1025258" y="5733256"/>
                  <a:ext cx="864096" cy="10081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 name="Прямая соединительная линия 11"/>
                <p:cNvCxnSpPr>
                  <a:stCxn id="11" idx="0"/>
                  <a:endCxn id="11" idx="2"/>
                </p:cNvCxnSpPr>
                <p:nvPr/>
              </p:nvCxnSpPr>
              <p:spPr>
                <a:xfrm>
                  <a:off x="1457306" y="5733256"/>
                  <a:ext cx="0" cy="1008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21678" y="6372036"/>
                  <a:ext cx="309700" cy="369332"/>
                </a:xfrm>
                <a:prstGeom prst="rect">
                  <a:avLst/>
                </a:prstGeom>
                <a:noFill/>
              </p:spPr>
              <p:txBody>
                <a:bodyPr wrap="none" rtlCol="0">
                  <a:spAutoFit/>
                </a:bodyPr>
                <a:lstStyle/>
                <a:p>
                  <a:r>
                    <a:rPr lang="en-US" dirty="0"/>
                    <a:t>R</a:t>
                  </a:r>
                  <a:endParaRPr lang="ru-RU" dirty="0"/>
                </a:p>
              </p:txBody>
            </p:sp>
            <p:sp>
              <p:nvSpPr>
                <p:cNvPr id="14" name="TextBox 13"/>
                <p:cNvSpPr txBox="1"/>
                <p:nvPr/>
              </p:nvSpPr>
              <p:spPr>
                <a:xfrm>
                  <a:off x="1025258" y="5742538"/>
                  <a:ext cx="372218" cy="369332"/>
                </a:xfrm>
                <a:prstGeom prst="rect">
                  <a:avLst/>
                </a:prstGeom>
                <a:noFill/>
              </p:spPr>
              <p:txBody>
                <a:bodyPr wrap="none" rtlCol="0">
                  <a:spAutoFit/>
                </a:bodyPr>
                <a:lstStyle/>
                <a:p>
                  <a:r>
                    <a:rPr lang="ru-RU" dirty="0" smtClean="0"/>
                    <a:t>-1</a:t>
                  </a:r>
                  <a:endParaRPr lang="ru-RU" dirty="0"/>
                </a:p>
              </p:txBody>
            </p:sp>
            <p:sp>
              <p:nvSpPr>
                <p:cNvPr id="15" name="TextBox 14"/>
                <p:cNvSpPr txBox="1"/>
                <p:nvPr/>
              </p:nvSpPr>
              <p:spPr>
                <a:xfrm>
                  <a:off x="1485610" y="5704656"/>
                  <a:ext cx="421462" cy="369332"/>
                </a:xfrm>
                <a:prstGeom prst="rect">
                  <a:avLst/>
                </a:prstGeom>
                <a:noFill/>
              </p:spPr>
              <p:txBody>
                <a:bodyPr wrap="none" rtlCol="0">
                  <a:spAutoFit/>
                </a:bodyPr>
                <a:lstStyle/>
                <a:p>
                  <a:r>
                    <a:rPr lang="en-US" dirty="0" smtClean="0"/>
                    <a:t>CT</a:t>
                  </a:r>
                  <a:endParaRPr lang="ru-RU" dirty="0"/>
                </a:p>
              </p:txBody>
            </p:sp>
            <p:cxnSp>
              <p:nvCxnSpPr>
                <p:cNvPr id="16" name="Прямая соединительная линия 15"/>
                <p:cNvCxnSpPr/>
                <p:nvPr/>
              </p:nvCxnSpPr>
              <p:spPr>
                <a:xfrm>
                  <a:off x="1889354" y="5952976"/>
                  <a:ext cx="6181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Группа 16"/>
                <p:cNvGrpSpPr/>
                <p:nvPr/>
              </p:nvGrpSpPr>
              <p:grpSpPr>
                <a:xfrm>
                  <a:off x="507856" y="5922609"/>
                  <a:ext cx="541172" cy="608321"/>
                  <a:chOff x="1663090" y="1915933"/>
                  <a:chExt cx="541172" cy="608321"/>
                </a:xfrm>
              </p:grpSpPr>
              <p:cxnSp>
                <p:nvCxnSpPr>
                  <p:cNvPr id="18" name="Прямая соединительная линия 17"/>
                  <p:cNvCxnSpPr/>
                  <p:nvPr/>
                </p:nvCxnSpPr>
                <p:spPr>
                  <a:xfrm>
                    <a:off x="1663090" y="2524254"/>
                    <a:ext cx="532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1733668" y="1915933"/>
                    <a:ext cx="470594" cy="45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0" name="Овал 19"/>
              <p:cNvSpPr/>
              <p:nvPr/>
            </p:nvSpPr>
            <p:spPr>
              <a:xfrm>
                <a:off x="5123736" y="3828011"/>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1" name="Прямая соединительная линия 20"/>
              <p:cNvCxnSpPr/>
              <p:nvPr/>
            </p:nvCxnSpPr>
            <p:spPr>
              <a:xfrm flipV="1">
                <a:off x="3663064" y="3773115"/>
                <a:ext cx="144016" cy="1376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a:off x="4595926" y="4282764"/>
                <a:ext cx="6181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Овал 22"/>
              <p:cNvSpPr/>
              <p:nvPr/>
            </p:nvSpPr>
            <p:spPr>
              <a:xfrm>
                <a:off x="5158601" y="4241951"/>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Box 23"/>
              <p:cNvSpPr txBox="1"/>
              <p:nvPr/>
            </p:nvSpPr>
            <p:spPr>
              <a:xfrm>
                <a:off x="4793156" y="3436717"/>
                <a:ext cx="418704" cy="369332"/>
              </a:xfrm>
              <a:prstGeom prst="rect">
                <a:avLst/>
              </a:prstGeom>
              <a:noFill/>
            </p:spPr>
            <p:txBody>
              <a:bodyPr wrap="none" rtlCol="0">
                <a:spAutoFit/>
              </a:bodyPr>
              <a:lstStyle/>
              <a:p>
                <a:r>
                  <a:rPr lang="en-US" dirty="0" smtClean="0"/>
                  <a:t>Q</a:t>
                </a:r>
                <a:r>
                  <a:rPr lang="en-US" baseline="-25000" dirty="0" smtClean="0"/>
                  <a:t>0</a:t>
                </a:r>
                <a:endParaRPr lang="ru-RU" baseline="-25000" dirty="0"/>
              </a:p>
            </p:txBody>
          </p:sp>
          <p:sp>
            <p:nvSpPr>
              <p:cNvPr id="25" name="TextBox 24"/>
              <p:cNvSpPr txBox="1"/>
              <p:nvPr/>
            </p:nvSpPr>
            <p:spPr>
              <a:xfrm>
                <a:off x="4804566" y="4313959"/>
                <a:ext cx="564578" cy="369332"/>
              </a:xfrm>
              <a:prstGeom prst="rect">
                <a:avLst/>
              </a:prstGeom>
              <a:noFill/>
            </p:spPr>
            <p:txBody>
              <a:bodyPr wrap="none" rtlCol="0">
                <a:spAutoFit/>
              </a:bodyPr>
              <a:lstStyle/>
              <a:p>
                <a:r>
                  <a:rPr lang="en-US" dirty="0" smtClean="0"/>
                  <a:t>Q</a:t>
                </a:r>
                <a:r>
                  <a:rPr lang="en-US" baseline="-25000" dirty="0"/>
                  <a:t>N</a:t>
                </a:r>
                <a:r>
                  <a:rPr lang="en-US" baseline="-25000" dirty="0" smtClean="0"/>
                  <a:t>-1</a:t>
                </a:r>
                <a:endParaRPr lang="ru-RU" baseline="-25000" dirty="0"/>
              </a:p>
            </p:txBody>
          </p:sp>
          <p:cxnSp>
            <p:nvCxnSpPr>
              <p:cNvPr id="26" name="Прямая соединительная линия 25"/>
              <p:cNvCxnSpPr/>
              <p:nvPr/>
            </p:nvCxnSpPr>
            <p:spPr>
              <a:xfrm>
                <a:off x="4586776" y="4028597"/>
                <a:ext cx="618153"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7" name="Овал 26"/>
              <p:cNvSpPr/>
              <p:nvPr/>
            </p:nvSpPr>
            <p:spPr>
              <a:xfrm>
                <a:off x="5152311" y="3999461"/>
                <a:ext cx="72008" cy="72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8" name="Прямая соединительная линия 27"/>
              <p:cNvCxnSpPr/>
              <p:nvPr/>
            </p:nvCxnSpPr>
            <p:spPr>
              <a:xfrm>
                <a:off x="3746450" y="4313959"/>
                <a:ext cx="40827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Овал 28"/>
              <p:cNvSpPr/>
              <p:nvPr/>
            </p:nvSpPr>
            <p:spPr>
              <a:xfrm>
                <a:off x="3684748" y="4400542"/>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Овал 29"/>
              <p:cNvSpPr/>
              <p:nvPr/>
            </p:nvSpPr>
            <p:spPr>
              <a:xfrm>
                <a:off x="3087347" y="4401490"/>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p:cNvSpPr txBox="1"/>
              <p:nvPr/>
            </p:nvSpPr>
            <p:spPr>
              <a:xfrm>
                <a:off x="2839143" y="4528291"/>
                <a:ext cx="637419" cy="369332"/>
              </a:xfrm>
              <a:prstGeom prst="rect">
                <a:avLst/>
              </a:prstGeom>
              <a:noFill/>
            </p:spPr>
            <p:txBody>
              <a:bodyPr wrap="none" rtlCol="0">
                <a:spAutoFit/>
              </a:bodyPr>
              <a:lstStyle/>
              <a:p>
                <a:r>
                  <a:rPr lang="ru-RU" dirty="0" smtClean="0"/>
                  <a:t>Пуск</a:t>
                </a:r>
                <a:endParaRPr lang="ru-RU" dirty="0"/>
              </a:p>
            </p:txBody>
          </p:sp>
          <p:cxnSp>
            <p:nvCxnSpPr>
              <p:cNvPr id="32" name="Прямая соединительная линия 31"/>
              <p:cNvCxnSpPr>
                <a:stCxn id="20" idx="6"/>
              </p:cNvCxnSpPr>
              <p:nvPr/>
            </p:nvCxnSpPr>
            <p:spPr>
              <a:xfrm>
                <a:off x="5195744" y="3864015"/>
                <a:ext cx="7593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5230609" y="4282764"/>
                <a:ext cx="7593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Овал 33"/>
              <p:cNvSpPr/>
              <p:nvPr/>
            </p:nvSpPr>
            <p:spPr>
              <a:xfrm>
                <a:off x="5633156" y="424700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Овал 34"/>
              <p:cNvSpPr/>
              <p:nvPr/>
            </p:nvSpPr>
            <p:spPr>
              <a:xfrm>
                <a:off x="5379032" y="383933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6" name="Прямая соединительная линия 35"/>
              <p:cNvCxnSpPr/>
              <p:nvPr/>
            </p:nvCxnSpPr>
            <p:spPr>
              <a:xfrm>
                <a:off x="5224319" y="4025888"/>
                <a:ext cx="75935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p:nvPr/>
            </p:nvCxnSpPr>
            <p:spPr>
              <a:xfrm flipV="1">
                <a:off x="5415036" y="3272797"/>
                <a:ext cx="0" cy="596906"/>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flipV="1">
                <a:off x="5669160" y="3681049"/>
                <a:ext cx="0" cy="596906"/>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5180631" y="2880507"/>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0</a:t>
                </a:r>
                <a:endParaRPr lang="ru-RU" i="1" baseline="-25000" dirty="0">
                  <a:latin typeface="Times New Roman" pitchFamily="18" charset="0"/>
                  <a:cs typeface="Times New Roman" pitchFamily="18" charset="0"/>
                </a:endParaRPr>
              </a:p>
            </p:txBody>
          </p:sp>
          <p:sp>
            <p:nvSpPr>
              <p:cNvPr id="40" name="TextBox 39"/>
              <p:cNvSpPr txBox="1"/>
              <p:nvPr/>
            </p:nvSpPr>
            <p:spPr>
              <a:xfrm>
                <a:off x="5480647" y="3280651"/>
                <a:ext cx="530915"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a:latin typeface="Times New Roman" pitchFamily="18" charset="0"/>
                    <a:cs typeface="Times New Roman" pitchFamily="18" charset="0"/>
                  </a:rPr>
                  <a:t>N</a:t>
                </a:r>
                <a:r>
                  <a:rPr lang="ru-RU" i="1" baseline="-25000" dirty="0" smtClean="0">
                    <a:latin typeface="Times New Roman" pitchFamily="18" charset="0"/>
                    <a:cs typeface="Times New Roman" pitchFamily="18" charset="0"/>
                  </a:rPr>
                  <a:t>-1</a:t>
                </a:r>
                <a:endParaRPr lang="ru-RU" i="1" baseline="-25000" dirty="0">
                  <a:latin typeface="Times New Roman" pitchFamily="18" charset="0"/>
                  <a:cs typeface="Times New Roman" pitchFamily="18" charset="0"/>
                </a:endParaRPr>
              </a:p>
            </p:txBody>
          </p:sp>
          <p:sp>
            <p:nvSpPr>
              <p:cNvPr id="41" name="Прямоугольник 40"/>
              <p:cNvSpPr/>
              <p:nvPr/>
            </p:nvSpPr>
            <p:spPr>
              <a:xfrm>
                <a:off x="5974146" y="3574546"/>
                <a:ext cx="879638" cy="136815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2" name="Прямая соединительная линия 41"/>
              <p:cNvCxnSpPr/>
              <p:nvPr/>
            </p:nvCxnSpPr>
            <p:spPr>
              <a:xfrm>
                <a:off x="5746104" y="4658095"/>
                <a:ext cx="2654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3" name="Объект 42"/>
              <p:cNvGraphicFramePr>
                <a:graphicFrameLocks noChangeAspect="1"/>
              </p:cNvGraphicFramePr>
              <p:nvPr>
                <p:extLst>
                  <p:ext uri="{D42A27DB-BD31-4B8C-83A1-F6EECF244321}">
                    <p14:modId xmlns:p14="http://schemas.microsoft.com/office/powerpoint/2010/main" val="3948253810"/>
                  </p:ext>
                </p:extLst>
              </p:nvPr>
            </p:nvGraphicFramePr>
            <p:xfrm>
              <a:off x="5515691" y="4609329"/>
              <a:ext cx="490537" cy="423862"/>
            </p:xfrm>
            <a:graphic>
              <a:graphicData uri="http://schemas.openxmlformats.org/presentationml/2006/ole">
                <mc:AlternateContent xmlns:mc="http://schemas.openxmlformats.org/markup-compatibility/2006">
                  <mc:Choice xmlns:v="urn:schemas-microsoft-com:vml" Requires="v">
                    <p:oleObj spid="_x0000_s13510" name="Equation" r:id="rId3" imgW="279279" imgH="241195" progId="Equation.DSMT4">
                      <p:embed/>
                    </p:oleObj>
                  </mc:Choice>
                  <mc:Fallback>
                    <p:oleObj name="Equation" r:id="rId3" imgW="279279" imgH="24119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5691" y="4609329"/>
                            <a:ext cx="49053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TextBox 43"/>
              <p:cNvSpPr txBox="1"/>
              <p:nvPr/>
            </p:nvSpPr>
            <p:spPr>
              <a:xfrm>
                <a:off x="6238240" y="3588449"/>
                <a:ext cx="578748" cy="369332"/>
              </a:xfrm>
              <a:prstGeom prst="rect">
                <a:avLst/>
              </a:prstGeom>
              <a:noFill/>
            </p:spPr>
            <p:txBody>
              <a:bodyPr wrap="none" rtlCol="0">
                <a:spAutoFit/>
              </a:bodyPr>
              <a:lstStyle/>
              <a:p>
                <a:r>
                  <a:rPr lang="en-US" dirty="0" smtClean="0"/>
                  <a:t>DAC</a:t>
                </a:r>
                <a:endParaRPr lang="ru-RU" dirty="0"/>
              </a:p>
            </p:txBody>
          </p:sp>
          <p:cxnSp>
            <p:nvCxnSpPr>
              <p:cNvPr id="45" name="Соединительная линия уступом 44"/>
              <p:cNvCxnSpPr>
                <a:stCxn id="41" idx="3"/>
              </p:cNvCxnSpPr>
              <p:nvPr/>
            </p:nvCxnSpPr>
            <p:spPr>
              <a:xfrm>
                <a:off x="6853784" y="4258622"/>
                <a:ext cx="541472" cy="117441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Группа 45"/>
              <p:cNvGrpSpPr/>
              <p:nvPr/>
            </p:nvGrpSpPr>
            <p:grpSpPr>
              <a:xfrm flipH="1" flipV="1">
                <a:off x="4512803" y="5195656"/>
                <a:ext cx="2884586" cy="913479"/>
                <a:chOff x="1399382" y="3898431"/>
                <a:chExt cx="2884586" cy="913479"/>
              </a:xfrm>
            </p:grpSpPr>
            <p:cxnSp>
              <p:nvCxnSpPr>
                <p:cNvPr id="47" name="Прямая соединительная линия 46"/>
                <p:cNvCxnSpPr/>
                <p:nvPr/>
              </p:nvCxnSpPr>
              <p:spPr>
                <a:xfrm>
                  <a:off x="2010114" y="4090892"/>
                  <a:ext cx="1248123" cy="104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Прямоугольник 47"/>
                <p:cNvSpPr/>
                <p:nvPr/>
              </p:nvSpPr>
              <p:spPr>
                <a:xfrm>
                  <a:off x="3258237" y="3898431"/>
                  <a:ext cx="504056" cy="91347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Овал 48"/>
                <p:cNvSpPr/>
                <p:nvPr/>
              </p:nvSpPr>
              <p:spPr>
                <a:xfrm>
                  <a:off x="3186229" y="4493238"/>
                  <a:ext cx="144016" cy="144016"/>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0" name="Прямая соединительная линия 49"/>
                <p:cNvCxnSpPr>
                  <a:endCxn id="49" idx="2"/>
                </p:cNvCxnSpPr>
                <p:nvPr/>
              </p:nvCxnSpPr>
              <p:spPr>
                <a:xfrm>
                  <a:off x="1399382" y="4565246"/>
                  <a:ext cx="17868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p:cNvCxnSpPr>
                  <a:stCxn id="48" idx="3"/>
                </p:cNvCxnSpPr>
                <p:nvPr/>
              </p:nvCxnSpPr>
              <p:spPr>
                <a:xfrm>
                  <a:off x="3762293" y="4355171"/>
                  <a:ext cx="5216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p:nvPr/>
              </p:nvCxnSpPr>
              <p:spPr>
                <a:xfrm flipV="1">
                  <a:off x="3520256" y="4384021"/>
                  <a:ext cx="0" cy="3624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Прямая соединительная линия 52"/>
                <p:cNvCxnSpPr/>
                <p:nvPr/>
              </p:nvCxnSpPr>
              <p:spPr>
                <a:xfrm>
                  <a:off x="3496721" y="4384021"/>
                  <a:ext cx="1800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Прямая соединительная линия 53"/>
                <p:cNvCxnSpPr/>
                <p:nvPr/>
              </p:nvCxnSpPr>
              <p:spPr>
                <a:xfrm flipH="1">
                  <a:off x="3316701" y="4746471"/>
                  <a:ext cx="2035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Овал 54"/>
              <p:cNvSpPr/>
              <p:nvPr/>
            </p:nvSpPr>
            <p:spPr>
              <a:xfrm>
                <a:off x="6780958" y="5865085"/>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Box 55"/>
              <p:cNvSpPr txBox="1"/>
              <p:nvPr/>
            </p:nvSpPr>
            <p:spPr>
              <a:xfrm>
                <a:off x="6683115" y="5959657"/>
                <a:ext cx="554960"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вх</a:t>
                </a:r>
                <a:endParaRPr lang="ru-RU" i="1" dirty="0">
                  <a:latin typeface="Times New Roman" pitchFamily="18" charset="0"/>
                  <a:cs typeface="Times New Roman" pitchFamily="18" charset="0"/>
                </a:endParaRPr>
              </a:p>
            </p:txBody>
          </p:sp>
          <p:cxnSp>
            <p:nvCxnSpPr>
              <p:cNvPr id="57" name="Соединительная линия уступом 56"/>
              <p:cNvCxnSpPr/>
              <p:nvPr/>
            </p:nvCxnSpPr>
            <p:spPr>
              <a:xfrm rot="10800000">
                <a:off x="779231" y="4067701"/>
                <a:ext cx="3733572" cy="1584695"/>
              </a:xfrm>
              <a:prstGeom prst="bentConnector3">
                <a:avLst>
                  <a:gd name="adj1" fmla="val 11347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Прямая соединительная линия 57"/>
              <p:cNvCxnSpPr/>
              <p:nvPr/>
            </p:nvCxnSpPr>
            <p:spPr>
              <a:xfrm>
                <a:off x="1161040" y="2832494"/>
                <a:ext cx="107519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531053" y="2475785"/>
                <a:ext cx="543739" cy="369332"/>
              </a:xfrm>
              <a:prstGeom prst="rect">
                <a:avLst/>
              </a:prstGeom>
              <a:noFill/>
            </p:spPr>
            <p:txBody>
              <a:bodyPr wrap="none" rtlCol="0">
                <a:spAutoFit/>
              </a:bodyPr>
              <a:lstStyle/>
              <a:p>
                <a:r>
                  <a:rPr lang="ru-RU" dirty="0" smtClean="0"/>
                  <a:t>ГТИ</a:t>
                </a:r>
                <a:endParaRPr lang="ru-RU" dirty="0"/>
              </a:p>
            </p:txBody>
          </p:sp>
          <p:grpSp>
            <p:nvGrpSpPr>
              <p:cNvPr id="60" name="Группа 59"/>
              <p:cNvGrpSpPr/>
              <p:nvPr/>
            </p:nvGrpSpPr>
            <p:grpSpPr>
              <a:xfrm>
                <a:off x="524585" y="1986249"/>
                <a:ext cx="862762" cy="297324"/>
                <a:chOff x="6120230" y="6147879"/>
                <a:chExt cx="951846" cy="369332"/>
              </a:xfrm>
            </p:grpSpPr>
            <p:cxnSp>
              <p:nvCxnSpPr>
                <p:cNvPr id="61" name="Прямая соединительная линия 60"/>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Прямая соединительная линия 63"/>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Группа 65"/>
              <p:cNvGrpSpPr/>
              <p:nvPr/>
            </p:nvGrpSpPr>
            <p:grpSpPr>
              <a:xfrm>
                <a:off x="1278628" y="1988840"/>
                <a:ext cx="862762" cy="297324"/>
                <a:chOff x="6120230" y="6147879"/>
                <a:chExt cx="951846" cy="369332"/>
              </a:xfrm>
            </p:grpSpPr>
            <p:cxnSp>
              <p:nvCxnSpPr>
                <p:cNvPr id="67" name="Прямая соединительная линия 66"/>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Группа 71"/>
              <p:cNvGrpSpPr/>
              <p:nvPr/>
            </p:nvGrpSpPr>
            <p:grpSpPr>
              <a:xfrm>
                <a:off x="2797794" y="4861932"/>
                <a:ext cx="579106" cy="369332"/>
                <a:chOff x="6120230" y="6147879"/>
                <a:chExt cx="579106" cy="369332"/>
              </a:xfrm>
            </p:grpSpPr>
            <p:cxnSp>
              <p:nvCxnSpPr>
                <p:cNvPr id="73" name="Прямая соединительная линия 72"/>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Прямая соединительная линия 73"/>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Прямая соединительная линия 74"/>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6" name="TextBox 75"/>
              <p:cNvSpPr txBox="1"/>
              <p:nvPr/>
            </p:nvSpPr>
            <p:spPr>
              <a:xfrm>
                <a:off x="5048022" y="6109135"/>
                <a:ext cx="456985" cy="369332"/>
              </a:xfrm>
              <a:prstGeom prst="rect">
                <a:avLst/>
              </a:prstGeom>
              <a:noFill/>
            </p:spPr>
            <p:txBody>
              <a:bodyPr wrap="none" rtlCol="0">
                <a:spAutoFit/>
              </a:bodyPr>
              <a:lstStyle/>
              <a:p>
                <a:r>
                  <a:rPr lang="en-US" dirty="0" smtClean="0"/>
                  <a:t>DA</a:t>
                </a:r>
                <a:endParaRPr lang="ru-RU" dirty="0"/>
              </a:p>
            </p:txBody>
          </p:sp>
          <p:sp>
            <p:nvSpPr>
              <p:cNvPr id="77" name="TextBox 76"/>
              <p:cNvSpPr txBox="1"/>
              <p:nvPr/>
            </p:nvSpPr>
            <p:spPr>
              <a:xfrm>
                <a:off x="6847040" y="3836868"/>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a:t>
                </a:r>
                <a:r>
                  <a:rPr lang="ru-RU" i="1" dirty="0" err="1">
                    <a:latin typeface="Times New Roman" pitchFamily="18" charset="0"/>
                    <a:cs typeface="Times New Roman" pitchFamily="18" charset="0"/>
                  </a:rPr>
                  <a:t>ы</a:t>
                </a:r>
                <a:r>
                  <a:rPr lang="ru-RU" i="1" dirty="0" err="1" smtClean="0">
                    <a:latin typeface="Times New Roman" pitchFamily="18" charset="0"/>
                    <a:cs typeface="Times New Roman" pitchFamily="18" charset="0"/>
                  </a:rPr>
                  <a:t>х</a:t>
                </a:r>
                <a:endParaRPr lang="ru-RU" i="1" dirty="0">
                  <a:latin typeface="Times New Roman" pitchFamily="18" charset="0"/>
                  <a:cs typeface="Times New Roman" pitchFamily="18" charset="0"/>
                </a:endParaRPr>
              </a:p>
            </p:txBody>
          </p:sp>
          <p:grpSp>
            <p:nvGrpSpPr>
              <p:cNvPr id="78" name="Группа 77"/>
              <p:cNvGrpSpPr/>
              <p:nvPr/>
            </p:nvGrpSpPr>
            <p:grpSpPr>
              <a:xfrm>
                <a:off x="2241607" y="3814700"/>
                <a:ext cx="416917" cy="650728"/>
                <a:chOff x="4040351" y="3227621"/>
                <a:chExt cx="416917" cy="650728"/>
              </a:xfrm>
            </p:grpSpPr>
            <p:sp>
              <p:nvSpPr>
                <p:cNvPr id="79" name="Прямоугольник 78"/>
                <p:cNvSpPr/>
                <p:nvPr/>
              </p:nvSpPr>
              <p:spPr>
                <a:xfrm>
                  <a:off x="4042516" y="3247203"/>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0" name="TextBox 79"/>
                <p:cNvSpPr txBox="1"/>
                <p:nvPr/>
              </p:nvSpPr>
              <p:spPr>
                <a:xfrm>
                  <a:off x="4040351" y="3227621"/>
                  <a:ext cx="341760" cy="369332"/>
                </a:xfrm>
                <a:prstGeom prst="rect">
                  <a:avLst/>
                </a:prstGeom>
                <a:noFill/>
              </p:spPr>
              <p:txBody>
                <a:bodyPr wrap="none" rtlCol="0">
                  <a:spAutoFit/>
                </a:bodyPr>
                <a:lstStyle/>
                <a:p>
                  <a:r>
                    <a:rPr lang="en-US" dirty="0" smtClean="0"/>
                    <a:t>&amp;</a:t>
                  </a:r>
                  <a:endParaRPr lang="ru-RU" dirty="0"/>
                </a:p>
              </p:txBody>
            </p:sp>
          </p:grpSp>
          <p:sp>
            <p:nvSpPr>
              <p:cNvPr id="81" name="TextBox 80"/>
              <p:cNvSpPr txBox="1"/>
              <p:nvPr/>
            </p:nvSpPr>
            <p:spPr>
              <a:xfrm>
                <a:off x="3722680" y="3955398"/>
                <a:ext cx="417102" cy="369332"/>
              </a:xfrm>
              <a:prstGeom prst="rect">
                <a:avLst/>
              </a:prstGeom>
              <a:noFill/>
            </p:spPr>
            <p:txBody>
              <a:bodyPr wrap="none" rtlCol="0">
                <a:spAutoFit/>
              </a:bodyPr>
              <a:lstStyle/>
              <a:p>
                <a:r>
                  <a:rPr lang="ru-RU" dirty="0"/>
                  <a:t>+</a:t>
                </a:r>
                <a:r>
                  <a:rPr lang="ru-RU" dirty="0" smtClean="0"/>
                  <a:t>1</a:t>
                </a:r>
                <a:endParaRPr lang="ru-RU" dirty="0"/>
              </a:p>
            </p:txBody>
          </p:sp>
          <p:cxnSp>
            <p:nvCxnSpPr>
              <p:cNvPr id="82" name="Прямая соединительная линия 81"/>
              <p:cNvCxnSpPr/>
              <p:nvPr/>
            </p:nvCxnSpPr>
            <p:spPr>
              <a:xfrm flipV="1">
                <a:off x="3633065" y="4072595"/>
                <a:ext cx="144016" cy="1376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Соединительная линия уступом 84"/>
              <p:cNvCxnSpPr>
                <a:stCxn id="8" idx="3"/>
              </p:cNvCxnSpPr>
              <p:nvPr/>
            </p:nvCxnSpPr>
            <p:spPr>
              <a:xfrm>
                <a:off x="2658524" y="2890298"/>
                <a:ext cx="617332" cy="946570"/>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85"/>
              <p:cNvCxnSpPr/>
              <p:nvPr/>
            </p:nvCxnSpPr>
            <p:spPr>
              <a:xfrm>
                <a:off x="2658524" y="4140064"/>
                <a:ext cx="10396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Соединительная линия уступом 88"/>
              <p:cNvCxnSpPr>
                <a:stCxn id="80" idx="1"/>
              </p:cNvCxnSpPr>
              <p:nvPr/>
            </p:nvCxnSpPr>
            <p:spPr>
              <a:xfrm rot="10800000">
                <a:off x="1868377" y="2842072"/>
                <a:ext cx="373230" cy="115729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Прямоугольник 92"/>
              <p:cNvSpPr/>
              <p:nvPr/>
            </p:nvSpPr>
            <p:spPr>
              <a:xfrm>
                <a:off x="764996" y="3824954"/>
                <a:ext cx="396044" cy="4220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4" name="Овал 93"/>
              <p:cNvSpPr/>
              <p:nvPr/>
            </p:nvSpPr>
            <p:spPr>
              <a:xfrm>
                <a:off x="1114873" y="3975367"/>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6" name="Соединительная линия уступом 95"/>
              <p:cNvCxnSpPr>
                <a:stCxn id="94" idx="6"/>
              </p:cNvCxnSpPr>
              <p:nvPr/>
            </p:nvCxnSpPr>
            <p:spPr>
              <a:xfrm flipV="1">
                <a:off x="1207206" y="3065173"/>
                <a:ext cx="1029032" cy="956361"/>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Овал 97"/>
              <p:cNvSpPr/>
              <p:nvPr/>
            </p:nvSpPr>
            <p:spPr>
              <a:xfrm>
                <a:off x="1835696" y="279616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2" name="Соединительная линия уступом 101"/>
              <p:cNvCxnSpPr/>
              <p:nvPr/>
            </p:nvCxnSpPr>
            <p:spPr>
              <a:xfrm rot="10800000" flipV="1">
                <a:off x="251520" y="4313959"/>
                <a:ext cx="1992252" cy="583664"/>
              </a:xfrm>
              <a:prstGeom prst="bentConnector3">
                <a:avLst>
                  <a:gd name="adj1" fmla="val 35848"/>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Овал 103"/>
              <p:cNvSpPr/>
              <p:nvPr/>
            </p:nvSpPr>
            <p:spPr>
              <a:xfrm>
                <a:off x="236280" y="486916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107" name="TextBox 106"/>
            <p:cNvSpPr txBox="1"/>
            <p:nvPr/>
          </p:nvSpPr>
          <p:spPr>
            <a:xfrm>
              <a:off x="1400381" y="2606457"/>
              <a:ext cx="574003" cy="369332"/>
            </a:xfrm>
            <a:prstGeom prst="rect">
              <a:avLst/>
            </a:prstGeom>
            <a:noFill/>
          </p:spPr>
          <p:txBody>
            <a:bodyPr wrap="none" rtlCol="0">
              <a:spAutoFit/>
            </a:bodyPr>
            <a:lstStyle/>
            <a:p>
              <a:r>
                <a:rPr lang="en-US" dirty="0" smtClean="0"/>
                <a:t>DA1</a:t>
              </a:r>
              <a:endParaRPr lang="ru-RU" dirty="0"/>
            </a:p>
          </p:txBody>
        </p:sp>
        <p:sp>
          <p:nvSpPr>
            <p:cNvPr id="108" name="TextBox 107"/>
            <p:cNvSpPr txBox="1"/>
            <p:nvPr/>
          </p:nvSpPr>
          <p:spPr>
            <a:xfrm>
              <a:off x="2890884" y="1379321"/>
              <a:ext cx="574003" cy="369332"/>
            </a:xfrm>
            <a:prstGeom prst="rect">
              <a:avLst/>
            </a:prstGeom>
            <a:noFill/>
          </p:spPr>
          <p:txBody>
            <a:bodyPr wrap="none" rtlCol="0">
              <a:spAutoFit/>
            </a:bodyPr>
            <a:lstStyle/>
            <a:p>
              <a:r>
                <a:rPr lang="en-US" dirty="0" smtClean="0"/>
                <a:t>DA2</a:t>
              </a:r>
              <a:endParaRPr lang="ru-RU" dirty="0"/>
            </a:p>
          </p:txBody>
        </p:sp>
        <p:sp>
          <p:nvSpPr>
            <p:cNvPr id="109" name="TextBox 108"/>
            <p:cNvSpPr txBox="1"/>
            <p:nvPr/>
          </p:nvSpPr>
          <p:spPr>
            <a:xfrm>
              <a:off x="2890884" y="2629550"/>
              <a:ext cx="574003" cy="369332"/>
            </a:xfrm>
            <a:prstGeom prst="rect">
              <a:avLst/>
            </a:prstGeom>
            <a:noFill/>
          </p:spPr>
          <p:txBody>
            <a:bodyPr wrap="none" rtlCol="0">
              <a:spAutoFit/>
            </a:bodyPr>
            <a:lstStyle/>
            <a:p>
              <a:r>
                <a:rPr lang="en-US" dirty="0" smtClean="0"/>
                <a:t>DA3</a:t>
              </a:r>
              <a:endParaRPr lang="ru-RU" dirty="0"/>
            </a:p>
          </p:txBody>
        </p:sp>
        <p:sp>
          <p:nvSpPr>
            <p:cNvPr id="110" name="TextBox 109"/>
            <p:cNvSpPr txBox="1"/>
            <p:nvPr/>
          </p:nvSpPr>
          <p:spPr>
            <a:xfrm>
              <a:off x="395536" y="5157192"/>
              <a:ext cx="2298065" cy="369332"/>
            </a:xfrm>
            <a:prstGeom prst="rect">
              <a:avLst/>
            </a:prstGeom>
            <a:noFill/>
          </p:spPr>
          <p:txBody>
            <a:bodyPr wrap="none" rtlCol="0">
              <a:spAutoFit/>
            </a:bodyPr>
            <a:lstStyle/>
            <a:p>
              <a:r>
                <a:rPr lang="ru-RU" dirty="0" smtClean="0"/>
                <a:t>Начальное состояние</a:t>
              </a:r>
              <a:endParaRPr lang="ru-RU" dirty="0"/>
            </a:p>
          </p:txBody>
        </p:sp>
        <p:sp>
          <p:nvSpPr>
            <p:cNvPr id="114" name="Правая фигурная скобка 113"/>
            <p:cNvSpPr/>
            <p:nvPr/>
          </p:nvSpPr>
          <p:spPr>
            <a:xfrm rot="16200000">
              <a:off x="6078209" y="1679614"/>
              <a:ext cx="341370" cy="6089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15" name="TextBox 114"/>
            <p:cNvSpPr txBox="1"/>
            <p:nvPr/>
          </p:nvSpPr>
          <p:spPr>
            <a:xfrm>
              <a:off x="6705346" y="1970096"/>
              <a:ext cx="1750351" cy="369332"/>
            </a:xfrm>
            <a:prstGeom prst="rect">
              <a:avLst/>
            </a:prstGeom>
            <a:noFill/>
          </p:spPr>
          <p:txBody>
            <a:bodyPr wrap="none" rtlCol="0">
              <a:spAutoFit/>
            </a:bodyPr>
            <a:lstStyle/>
            <a:p>
              <a:r>
                <a:rPr lang="ru-RU" dirty="0" smtClean="0"/>
                <a:t>Выходные коды</a:t>
              </a:r>
              <a:endParaRPr lang="ru-RU" dirty="0"/>
            </a:p>
          </p:txBody>
        </p:sp>
      </p:grpSp>
    </p:spTree>
    <p:extLst>
      <p:ext uri="{BB962C8B-B14F-4D97-AF65-F5344CB8AC3E}">
        <p14:creationId xmlns:p14="http://schemas.microsoft.com/office/powerpoint/2010/main" val="3280833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13598" y="168491"/>
            <a:ext cx="3828292" cy="369332"/>
          </a:xfrm>
          <a:prstGeom prst="rect">
            <a:avLst/>
          </a:prstGeom>
          <a:noFill/>
        </p:spPr>
        <p:txBody>
          <a:bodyPr wrap="none" rtlCol="0">
            <a:spAutoFit/>
          </a:bodyPr>
          <a:lstStyle/>
          <a:p>
            <a:r>
              <a:rPr lang="ru-RU" i="1" dirty="0" smtClean="0"/>
              <a:t>АЦП параллельного преобразования</a:t>
            </a:r>
            <a:endParaRPr lang="ru-RU" i="1" dirty="0"/>
          </a:p>
        </p:txBody>
      </p:sp>
      <p:grpSp>
        <p:nvGrpSpPr>
          <p:cNvPr id="11" name="Группа 10"/>
          <p:cNvGrpSpPr/>
          <p:nvPr/>
        </p:nvGrpSpPr>
        <p:grpSpPr>
          <a:xfrm>
            <a:off x="1691680" y="1556792"/>
            <a:ext cx="504056" cy="662830"/>
            <a:chOff x="3186229" y="3898431"/>
            <a:chExt cx="576064" cy="913479"/>
          </a:xfrm>
        </p:grpSpPr>
        <p:sp>
          <p:nvSpPr>
            <p:cNvPr id="6" name="Прямоугольник 5"/>
            <p:cNvSpPr/>
            <p:nvPr/>
          </p:nvSpPr>
          <p:spPr>
            <a:xfrm>
              <a:off x="3258237" y="3898431"/>
              <a:ext cx="504056" cy="913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Овал 6"/>
            <p:cNvSpPr/>
            <p:nvPr/>
          </p:nvSpPr>
          <p:spPr>
            <a:xfrm>
              <a:off x="3186229" y="449323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 name="Прямая соединительная линия 7"/>
            <p:cNvCxnSpPr/>
            <p:nvPr/>
          </p:nvCxnSpPr>
          <p:spPr>
            <a:xfrm>
              <a:off x="3330245" y="443949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flipV="1">
              <a:off x="3510265" y="4077049"/>
              <a:ext cx="0" cy="3624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3510265" y="407704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Группа 11"/>
          <p:cNvGrpSpPr/>
          <p:nvPr/>
        </p:nvGrpSpPr>
        <p:grpSpPr>
          <a:xfrm>
            <a:off x="1691680" y="2564904"/>
            <a:ext cx="504056" cy="662830"/>
            <a:chOff x="3186229" y="3898431"/>
            <a:chExt cx="576064" cy="913479"/>
          </a:xfrm>
        </p:grpSpPr>
        <p:sp>
          <p:nvSpPr>
            <p:cNvPr id="13" name="Прямоугольник 12"/>
            <p:cNvSpPr/>
            <p:nvPr/>
          </p:nvSpPr>
          <p:spPr>
            <a:xfrm>
              <a:off x="3258237" y="3898431"/>
              <a:ext cx="504056" cy="913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Овал 13"/>
            <p:cNvSpPr/>
            <p:nvPr/>
          </p:nvSpPr>
          <p:spPr>
            <a:xfrm>
              <a:off x="3186229" y="449323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5" name="Прямая соединительная линия 14"/>
            <p:cNvCxnSpPr/>
            <p:nvPr/>
          </p:nvCxnSpPr>
          <p:spPr>
            <a:xfrm>
              <a:off x="3330245" y="443949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flipV="1">
              <a:off x="3510265" y="4077049"/>
              <a:ext cx="0" cy="3624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3510265" y="407704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Группа 17"/>
          <p:cNvGrpSpPr/>
          <p:nvPr/>
        </p:nvGrpSpPr>
        <p:grpSpPr>
          <a:xfrm>
            <a:off x="1691680" y="3573016"/>
            <a:ext cx="504056" cy="662830"/>
            <a:chOff x="3186229" y="3898431"/>
            <a:chExt cx="576064" cy="913479"/>
          </a:xfrm>
        </p:grpSpPr>
        <p:sp>
          <p:nvSpPr>
            <p:cNvPr id="19" name="Прямоугольник 18"/>
            <p:cNvSpPr/>
            <p:nvPr/>
          </p:nvSpPr>
          <p:spPr>
            <a:xfrm>
              <a:off x="3258237" y="3898431"/>
              <a:ext cx="504056" cy="913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Овал 19"/>
            <p:cNvSpPr/>
            <p:nvPr/>
          </p:nvSpPr>
          <p:spPr>
            <a:xfrm>
              <a:off x="3186229" y="4493238"/>
              <a:ext cx="144016" cy="1440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1" name="Прямая соединительная линия 20"/>
            <p:cNvCxnSpPr/>
            <p:nvPr/>
          </p:nvCxnSpPr>
          <p:spPr>
            <a:xfrm>
              <a:off x="3330245" y="443949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flipV="1">
              <a:off x="3510265" y="4077049"/>
              <a:ext cx="0" cy="3624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3510265" y="4077049"/>
              <a:ext cx="180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 name="Прямая соединительная линия 24"/>
          <p:cNvCxnSpPr>
            <a:endCxn id="7" idx="2"/>
          </p:cNvCxnSpPr>
          <p:nvPr/>
        </p:nvCxnSpPr>
        <p:spPr>
          <a:xfrm>
            <a:off x="1403648" y="2040640"/>
            <a:ext cx="2880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a:off x="1412032" y="3048752"/>
            <a:ext cx="2880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1403648" y="4065236"/>
            <a:ext cx="2880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1027166" y="1692139"/>
            <a:ext cx="70890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1005064" y="2702630"/>
            <a:ext cx="74962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005064" y="3715393"/>
            <a:ext cx="74962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Прямоугольник 31"/>
          <p:cNvSpPr/>
          <p:nvPr/>
        </p:nvSpPr>
        <p:spPr>
          <a:xfrm rot="10800000">
            <a:off x="939917" y="1259380"/>
            <a:ext cx="130299" cy="2684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p:cNvSpPr/>
          <p:nvPr/>
        </p:nvSpPr>
        <p:spPr>
          <a:xfrm rot="10800000">
            <a:off x="939916" y="2296492"/>
            <a:ext cx="130299" cy="2684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рямоугольник 33"/>
          <p:cNvSpPr/>
          <p:nvPr/>
        </p:nvSpPr>
        <p:spPr>
          <a:xfrm rot="10800000">
            <a:off x="939916" y="3304604"/>
            <a:ext cx="130299" cy="2684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6" name="Прямая соединительная линия 35"/>
          <p:cNvCxnSpPr>
            <a:stCxn id="32" idx="0"/>
            <a:endCxn id="33" idx="2"/>
          </p:cNvCxnSpPr>
          <p:nvPr/>
        </p:nvCxnSpPr>
        <p:spPr>
          <a:xfrm flipH="1">
            <a:off x="1005065" y="1527792"/>
            <a:ext cx="1" cy="7687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a:endCxn id="34" idx="2"/>
          </p:cNvCxnSpPr>
          <p:nvPr/>
        </p:nvCxnSpPr>
        <p:spPr>
          <a:xfrm flipH="1">
            <a:off x="1005065" y="2578624"/>
            <a:ext cx="3" cy="7259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flipH="1">
            <a:off x="1004731" y="3592370"/>
            <a:ext cx="1" cy="7687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Прямоугольник 38"/>
          <p:cNvSpPr/>
          <p:nvPr/>
        </p:nvSpPr>
        <p:spPr>
          <a:xfrm rot="10800000">
            <a:off x="946777" y="4366603"/>
            <a:ext cx="130299" cy="2684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2" name="Группа 41"/>
          <p:cNvGrpSpPr/>
          <p:nvPr/>
        </p:nvGrpSpPr>
        <p:grpSpPr>
          <a:xfrm>
            <a:off x="842598" y="4648366"/>
            <a:ext cx="353895" cy="291630"/>
            <a:chOff x="4514465" y="3196441"/>
            <a:chExt cx="353895" cy="291630"/>
          </a:xfrm>
        </p:grpSpPr>
        <p:cxnSp>
          <p:nvCxnSpPr>
            <p:cNvPr id="40" name="Прямая соединительная линия 39"/>
            <p:cNvCxnSpPr/>
            <p:nvPr/>
          </p:nvCxnSpPr>
          <p:spPr>
            <a:xfrm>
              <a:off x="4691412" y="3196441"/>
              <a:ext cx="0" cy="2916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p:nvPr/>
          </p:nvCxnSpPr>
          <p:spPr>
            <a:xfrm>
              <a:off x="4514465" y="3488071"/>
              <a:ext cx="3538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 name="Овал 46"/>
          <p:cNvSpPr/>
          <p:nvPr/>
        </p:nvSpPr>
        <p:spPr>
          <a:xfrm>
            <a:off x="979220" y="164404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Овал 47"/>
          <p:cNvSpPr/>
          <p:nvPr/>
        </p:nvSpPr>
        <p:spPr>
          <a:xfrm>
            <a:off x="971600" y="267082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Овал 48"/>
          <p:cNvSpPr/>
          <p:nvPr/>
        </p:nvSpPr>
        <p:spPr>
          <a:xfrm>
            <a:off x="971600" y="367550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extBox 50"/>
          <p:cNvSpPr txBox="1"/>
          <p:nvPr/>
        </p:nvSpPr>
        <p:spPr>
          <a:xfrm>
            <a:off x="623214" y="2246032"/>
            <a:ext cx="309700" cy="369332"/>
          </a:xfrm>
          <a:prstGeom prst="rect">
            <a:avLst/>
          </a:prstGeom>
          <a:noFill/>
        </p:spPr>
        <p:txBody>
          <a:bodyPr wrap="none" rtlCol="0">
            <a:spAutoFit/>
          </a:bodyPr>
          <a:lstStyle/>
          <a:p>
            <a:r>
              <a:rPr lang="en-US" dirty="0" smtClean="0"/>
              <a:t>R</a:t>
            </a:r>
            <a:endParaRPr lang="ru-RU" dirty="0"/>
          </a:p>
        </p:txBody>
      </p:sp>
      <p:sp>
        <p:nvSpPr>
          <p:cNvPr id="52" name="TextBox 51"/>
          <p:cNvSpPr txBox="1"/>
          <p:nvPr/>
        </p:nvSpPr>
        <p:spPr>
          <a:xfrm>
            <a:off x="630216" y="1185940"/>
            <a:ext cx="309700" cy="369332"/>
          </a:xfrm>
          <a:prstGeom prst="rect">
            <a:avLst/>
          </a:prstGeom>
          <a:noFill/>
        </p:spPr>
        <p:txBody>
          <a:bodyPr wrap="none" rtlCol="0">
            <a:spAutoFit/>
          </a:bodyPr>
          <a:lstStyle/>
          <a:p>
            <a:r>
              <a:rPr lang="en-US" dirty="0" smtClean="0"/>
              <a:t>R</a:t>
            </a:r>
            <a:endParaRPr lang="ru-RU" dirty="0"/>
          </a:p>
        </p:txBody>
      </p:sp>
      <p:sp>
        <p:nvSpPr>
          <p:cNvPr id="53" name="TextBox 52"/>
          <p:cNvSpPr txBox="1"/>
          <p:nvPr/>
        </p:nvSpPr>
        <p:spPr>
          <a:xfrm>
            <a:off x="637076" y="3254144"/>
            <a:ext cx="309700" cy="369332"/>
          </a:xfrm>
          <a:prstGeom prst="rect">
            <a:avLst/>
          </a:prstGeom>
          <a:noFill/>
        </p:spPr>
        <p:txBody>
          <a:bodyPr wrap="none" rtlCol="0">
            <a:spAutoFit/>
          </a:bodyPr>
          <a:lstStyle/>
          <a:p>
            <a:r>
              <a:rPr lang="en-US" dirty="0" smtClean="0"/>
              <a:t>R</a:t>
            </a:r>
            <a:endParaRPr lang="ru-RU" dirty="0"/>
          </a:p>
        </p:txBody>
      </p:sp>
      <p:sp>
        <p:nvSpPr>
          <p:cNvPr id="54" name="TextBox 53"/>
          <p:cNvSpPr txBox="1"/>
          <p:nvPr/>
        </p:nvSpPr>
        <p:spPr>
          <a:xfrm>
            <a:off x="623214" y="4316143"/>
            <a:ext cx="309700" cy="369332"/>
          </a:xfrm>
          <a:prstGeom prst="rect">
            <a:avLst/>
          </a:prstGeom>
          <a:noFill/>
        </p:spPr>
        <p:txBody>
          <a:bodyPr wrap="none" rtlCol="0">
            <a:spAutoFit/>
          </a:bodyPr>
          <a:lstStyle/>
          <a:p>
            <a:r>
              <a:rPr lang="en-US" dirty="0" smtClean="0"/>
              <a:t>R</a:t>
            </a:r>
            <a:endParaRPr lang="ru-RU" dirty="0"/>
          </a:p>
        </p:txBody>
      </p:sp>
      <p:cxnSp>
        <p:nvCxnSpPr>
          <p:cNvPr id="56" name="Соединительная линия уступом 55"/>
          <p:cNvCxnSpPr>
            <a:stCxn id="32" idx="2"/>
          </p:cNvCxnSpPr>
          <p:nvPr/>
        </p:nvCxnSpPr>
        <p:spPr>
          <a:xfrm rot="16200000" flipV="1">
            <a:off x="795174" y="1049488"/>
            <a:ext cx="206644" cy="213140"/>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Соединительная линия уступом 57"/>
          <p:cNvCxnSpPr/>
          <p:nvPr/>
        </p:nvCxnSpPr>
        <p:spPr>
          <a:xfrm rot="16200000" flipV="1">
            <a:off x="-479709" y="2173495"/>
            <a:ext cx="3156516" cy="626966"/>
          </a:xfrm>
          <a:prstGeom prst="bentConnector3">
            <a:avLst>
              <a:gd name="adj1" fmla="val 9997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Овал 62"/>
          <p:cNvSpPr/>
          <p:nvPr/>
        </p:nvSpPr>
        <p:spPr>
          <a:xfrm>
            <a:off x="1377028" y="301219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Овал 63"/>
          <p:cNvSpPr/>
          <p:nvPr/>
        </p:nvSpPr>
        <p:spPr>
          <a:xfrm>
            <a:off x="1380788" y="201170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Овал 64"/>
          <p:cNvSpPr/>
          <p:nvPr/>
        </p:nvSpPr>
        <p:spPr>
          <a:xfrm>
            <a:off x="693723" y="1009551"/>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Овал 65"/>
          <p:cNvSpPr/>
          <p:nvPr/>
        </p:nvSpPr>
        <p:spPr>
          <a:xfrm>
            <a:off x="693723" y="864771"/>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67" name="Объект 66"/>
          <p:cNvGraphicFramePr>
            <a:graphicFrameLocks noChangeAspect="1"/>
          </p:cNvGraphicFramePr>
          <p:nvPr>
            <p:extLst>
              <p:ext uri="{D42A27DB-BD31-4B8C-83A1-F6EECF244321}">
                <p14:modId xmlns:p14="http://schemas.microsoft.com/office/powerpoint/2010/main" val="140243511"/>
              </p:ext>
            </p:extLst>
          </p:nvPr>
        </p:nvGraphicFramePr>
        <p:xfrm>
          <a:off x="139679" y="1047449"/>
          <a:ext cx="490537" cy="423862"/>
        </p:xfrm>
        <a:graphic>
          <a:graphicData uri="http://schemas.openxmlformats.org/presentationml/2006/ole">
            <mc:AlternateContent xmlns:mc="http://schemas.openxmlformats.org/markup-compatibility/2006">
              <mc:Choice xmlns:v="urn:schemas-microsoft-com:vml" Requires="v">
                <p:oleObj spid="_x0000_s14528" name="Equation" r:id="rId3" imgW="279279" imgH="241195" progId="Equation.DSMT4">
                  <p:embed/>
                </p:oleObj>
              </mc:Choice>
              <mc:Fallback>
                <p:oleObj name="Equation" r:id="rId3" imgW="279279" imgH="241195" progId="Equation.DSMT4">
                  <p:embed/>
                  <p:pic>
                    <p:nvPicPr>
                      <p:cNvPr id="0" name="Объект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679" y="1047449"/>
                        <a:ext cx="49053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 name="TextBox 67"/>
          <p:cNvSpPr txBox="1"/>
          <p:nvPr/>
        </p:nvSpPr>
        <p:spPr>
          <a:xfrm>
            <a:off x="-33080" y="404664"/>
            <a:ext cx="772969"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вх</a:t>
            </a:r>
            <a:r>
              <a:rPr lang="en-US" i="1" dirty="0" smtClean="0">
                <a:latin typeface="Times New Roman" pitchFamily="18" charset="0"/>
                <a:cs typeface="Times New Roman" pitchFamily="18" charset="0"/>
              </a:rPr>
              <a:t>(t)</a:t>
            </a:r>
            <a:endParaRPr lang="ru-RU" i="1" dirty="0">
              <a:latin typeface="Times New Roman" pitchFamily="18" charset="0"/>
              <a:cs typeface="Times New Roman" pitchFamily="18" charset="0"/>
            </a:endParaRPr>
          </a:p>
        </p:txBody>
      </p:sp>
      <p:cxnSp>
        <p:nvCxnSpPr>
          <p:cNvPr id="70" name="Прямая соединительная линия 69"/>
          <p:cNvCxnSpPr>
            <a:stCxn id="6" idx="3"/>
          </p:cNvCxnSpPr>
          <p:nvPr/>
        </p:nvCxnSpPr>
        <p:spPr>
          <a:xfrm>
            <a:off x="2195736" y="1888207"/>
            <a:ext cx="6480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p:cNvCxnSpPr/>
          <p:nvPr/>
        </p:nvCxnSpPr>
        <p:spPr>
          <a:xfrm>
            <a:off x="2195736" y="3904431"/>
            <a:ext cx="6480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Прямая соединительная линия 72"/>
          <p:cNvCxnSpPr/>
          <p:nvPr/>
        </p:nvCxnSpPr>
        <p:spPr>
          <a:xfrm>
            <a:off x="2204532" y="2896319"/>
            <a:ext cx="6480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Прямоугольник 73"/>
          <p:cNvSpPr/>
          <p:nvPr/>
        </p:nvSpPr>
        <p:spPr>
          <a:xfrm>
            <a:off x="2843808" y="1393586"/>
            <a:ext cx="1080120" cy="32918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TextBox 74"/>
          <p:cNvSpPr txBox="1"/>
          <p:nvPr/>
        </p:nvSpPr>
        <p:spPr>
          <a:xfrm>
            <a:off x="3131840" y="1527792"/>
            <a:ext cx="453970" cy="369332"/>
          </a:xfrm>
          <a:prstGeom prst="rect">
            <a:avLst/>
          </a:prstGeom>
          <a:noFill/>
        </p:spPr>
        <p:txBody>
          <a:bodyPr wrap="none" rtlCol="0">
            <a:spAutoFit/>
          </a:bodyPr>
          <a:lstStyle/>
          <a:p>
            <a:r>
              <a:rPr lang="ru-RU" dirty="0" smtClean="0"/>
              <a:t>ПК</a:t>
            </a:r>
            <a:endParaRPr lang="ru-RU" dirty="0"/>
          </a:p>
        </p:txBody>
      </p:sp>
      <p:cxnSp>
        <p:nvCxnSpPr>
          <p:cNvPr id="76" name="Прямая соединительная линия 75"/>
          <p:cNvCxnSpPr/>
          <p:nvPr/>
        </p:nvCxnSpPr>
        <p:spPr>
          <a:xfrm>
            <a:off x="3923928" y="1644040"/>
            <a:ext cx="140763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Прямая соединительная линия 76"/>
          <p:cNvCxnSpPr/>
          <p:nvPr/>
        </p:nvCxnSpPr>
        <p:spPr>
          <a:xfrm>
            <a:off x="3923927" y="4316143"/>
            <a:ext cx="6181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Прямая соединительная линия 77"/>
          <p:cNvCxnSpPr/>
          <p:nvPr/>
        </p:nvCxnSpPr>
        <p:spPr>
          <a:xfrm>
            <a:off x="3923926" y="3012192"/>
            <a:ext cx="1407636"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4123377" y="1274708"/>
            <a:ext cx="418704" cy="369332"/>
          </a:xfrm>
          <a:prstGeom prst="rect">
            <a:avLst/>
          </a:prstGeom>
          <a:noFill/>
        </p:spPr>
        <p:txBody>
          <a:bodyPr wrap="none" rtlCol="0">
            <a:spAutoFit/>
          </a:bodyPr>
          <a:lstStyle/>
          <a:p>
            <a:r>
              <a:rPr lang="en-US" dirty="0" smtClean="0"/>
              <a:t>Q</a:t>
            </a:r>
            <a:r>
              <a:rPr lang="en-US" baseline="-25000" dirty="0" smtClean="0"/>
              <a:t>0</a:t>
            </a:r>
            <a:endParaRPr lang="ru-RU" baseline="-25000" dirty="0"/>
          </a:p>
        </p:txBody>
      </p:sp>
      <p:sp>
        <p:nvSpPr>
          <p:cNvPr id="80" name="TextBox 79"/>
          <p:cNvSpPr txBox="1"/>
          <p:nvPr/>
        </p:nvSpPr>
        <p:spPr>
          <a:xfrm>
            <a:off x="3958580" y="3924448"/>
            <a:ext cx="418704" cy="369332"/>
          </a:xfrm>
          <a:prstGeom prst="rect">
            <a:avLst/>
          </a:prstGeom>
          <a:noFill/>
        </p:spPr>
        <p:txBody>
          <a:bodyPr wrap="none" rtlCol="0">
            <a:spAutoFit/>
          </a:bodyPr>
          <a:lstStyle/>
          <a:p>
            <a:r>
              <a:rPr lang="en-US" dirty="0" smtClean="0"/>
              <a:t>Q</a:t>
            </a:r>
            <a:r>
              <a:rPr lang="ru-RU" baseline="-25000" dirty="0"/>
              <a:t>2</a:t>
            </a:r>
          </a:p>
        </p:txBody>
      </p:sp>
      <p:grpSp>
        <p:nvGrpSpPr>
          <p:cNvPr id="86" name="Группа 85"/>
          <p:cNvGrpSpPr/>
          <p:nvPr/>
        </p:nvGrpSpPr>
        <p:grpSpPr>
          <a:xfrm>
            <a:off x="5364088" y="1298669"/>
            <a:ext cx="1456546" cy="650728"/>
            <a:chOff x="7138151" y="1892655"/>
            <a:chExt cx="1456546" cy="650728"/>
          </a:xfrm>
        </p:grpSpPr>
        <p:sp>
          <p:nvSpPr>
            <p:cNvPr id="81" name="Прямоугольник 80"/>
            <p:cNvSpPr/>
            <p:nvPr/>
          </p:nvSpPr>
          <p:spPr>
            <a:xfrm>
              <a:off x="7140316" y="1912237"/>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2" name="TextBox 81"/>
            <p:cNvSpPr txBox="1"/>
            <p:nvPr/>
          </p:nvSpPr>
          <p:spPr>
            <a:xfrm>
              <a:off x="7138151" y="1892655"/>
              <a:ext cx="341760" cy="369332"/>
            </a:xfrm>
            <a:prstGeom prst="rect">
              <a:avLst/>
            </a:prstGeom>
            <a:noFill/>
          </p:spPr>
          <p:txBody>
            <a:bodyPr wrap="none" rtlCol="0">
              <a:spAutoFit/>
            </a:bodyPr>
            <a:lstStyle/>
            <a:p>
              <a:r>
                <a:rPr lang="en-US" dirty="0" smtClean="0"/>
                <a:t>&amp;</a:t>
              </a:r>
              <a:endParaRPr lang="ru-RU" dirty="0"/>
            </a:p>
          </p:txBody>
        </p:sp>
        <p:cxnSp>
          <p:nvCxnSpPr>
            <p:cNvPr id="83" name="Прямая соединительная линия 82"/>
            <p:cNvCxnSpPr/>
            <p:nvPr/>
          </p:nvCxnSpPr>
          <p:spPr>
            <a:xfrm>
              <a:off x="7555068" y="2218019"/>
              <a:ext cx="10396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7" name="Группа 86"/>
          <p:cNvGrpSpPr/>
          <p:nvPr/>
        </p:nvGrpSpPr>
        <p:grpSpPr>
          <a:xfrm>
            <a:off x="5366253" y="3965621"/>
            <a:ext cx="1456546" cy="650728"/>
            <a:chOff x="7138151" y="1892655"/>
            <a:chExt cx="1456546" cy="650728"/>
          </a:xfrm>
        </p:grpSpPr>
        <p:sp>
          <p:nvSpPr>
            <p:cNvPr id="88" name="Прямоугольник 87"/>
            <p:cNvSpPr/>
            <p:nvPr/>
          </p:nvSpPr>
          <p:spPr>
            <a:xfrm>
              <a:off x="7140316" y="1912237"/>
              <a:ext cx="414752" cy="6311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9" name="TextBox 88"/>
            <p:cNvSpPr txBox="1"/>
            <p:nvPr/>
          </p:nvSpPr>
          <p:spPr>
            <a:xfrm>
              <a:off x="7138151" y="1892655"/>
              <a:ext cx="341760" cy="369332"/>
            </a:xfrm>
            <a:prstGeom prst="rect">
              <a:avLst/>
            </a:prstGeom>
            <a:noFill/>
          </p:spPr>
          <p:txBody>
            <a:bodyPr wrap="none" rtlCol="0">
              <a:spAutoFit/>
            </a:bodyPr>
            <a:lstStyle/>
            <a:p>
              <a:r>
                <a:rPr lang="en-US" dirty="0" smtClean="0"/>
                <a:t>&amp;</a:t>
              </a:r>
              <a:endParaRPr lang="ru-RU" dirty="0"/>
            </a:p>
          </p:txBody>
        </p:sp>
        <p:cxnSp>
          <p:nvCxnSpPr>
            <p:cNvPr id="90" name="Прямая соединительная линия 89"/>
            <p:cNvCxnSpPr/>
            <p:nvPr/>
          </p:nvCxnSpPr>
          <p:spPr>
            <a:xfrm>
              <a:off x="7555068" y="2218019"/>
              <a:ext cx="10396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1" name="Группа 90"/>
          <p:cNvGrpSpPr/>
          <p:nvPr/>
        </p:nvGrpSpPr>
        <p:grpSpPr>
          <a:xfrm>
            <a:off x="5331562" y="2570955"/>
            <a:ext cx="1456546" cy="650728"/>
            <a:chOff x="7138151" y="1892655"/>
            <a:chExt cx="1456546" cy="650728"/>
          </a:xfrm>
        </p:grpSpPr>
        <p:sp>
          <p:nvSpPr>
            <p:cNvPr id="92" name="Прямоугольник 91"/>
            <p:cNvSpPr/>
            <p:nvPr/>
          </p:nvSpPr>
          <p:spPr>
            <a:xfrm>
              <a:off x="7140316" y="1912237"/>
              <a:ext cx="414752" cy="631146"/>
            </a:xfrm>
            <a:prstGeom prst="rect">
              <a:avLst/>
            </a:prstGeom>
            <a:solidFill>
              <a:schemeClr val="bg1"/>
            </a:solid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p:cNvSpPr txBox="1"/>
            <p:nvPr/>
          </p:nvSpPr>
          <p:spPr>
            <a:xfrm>
              <a:off x="7138151" y="1892655"/>
              <a:ext cx="341760" cy="369332"/>
            </a:xfrm>
            <a:prstGeom prst="rect">
              <a:avLst/>
            </a:prstGeom>
            <a:noFill/>
            <a:ln>
              <a:solidFill>
                <a:schemeClr val="tx1"/>
              </a:solidFill>
              <a:prstDash val="dashDot"/>
            </a:ln>
          </p:spPr>
          <p:txBody>
            <a:bodyPr wrap="none" rtlCol="0">
              <a:spAutoFit/>
            </a:bodyPr>
            <a:lstStyle/>
            <a:p>
              <a:r>
                <a:rPr lang="en-US" dirty="0" smtClean="0"/>
                <a:t>&amp;</a:t>
              </a:r>
              <a:endParaRPr lang="ru-RU" dirty="0"/>
            </a:p>
          </p:txBody>
        </p:sp>
        <p:cxnSp>
          <p:nvCxnSpPr>
            <p:cNvPr id="94" name="Прямая соединительная линия 93"/>
            <p:cNvCxnSpPr/>
            <p:nvPr/>
          </p:nvCxnSpPr>
          <p:spPr>
            <a:xfrm>
              <a:off x="7555068" y="2218019"/>
              <a:ext cx="1039629" cy="0"/>
            </a:xfrm>
            <a:prstGeom prst="line">
              <a:avLst/>
            </a:prstGeom>
            <a:ln w="28575">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cxnSp>
        <p:nvCxnSpPr>
          <p:cNvPr id="96" name="Прямая соединительная линия 95"/>
          <p:cNvCxnSpPr/>
          <p:nvPr/>
        </p:nvCxnSpPr>
        <p:spPr>
          <a:xfrm>
            <a:off x="3956454" y="4316143"/>
            <a:ext cx="140763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Соединительная линия уступом 98"/>
          <p:cNvCxnSpPr>
            <a:endCxn id="89" idx="1"/>
          </p:cNvCxnSpPr>
          <p:nvPr/>
        </p:nvCxnSpPr>
        <p:spPr>
          <a:xfrm rot="16200000" flipH="1">
            <a:off x="3702977" y="2487010"/>
            <a:ext cx="2964347" cy="362205"/>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Прямая соединительная линия 100"/>
          <p:cNvCxnSpPr/>
          <p:nvPr/>
        </p:nvCxnSpPr>
        <p:spPr>
          <a:xfrm flipH="1">
            <a:off x="5004048" y="1459374"/>
            <a:ext cx="3643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Овал 102"/>
          <p:cNvSpPr/>
          <p:nvPr/>
        </p:nvSpPr>
        <p:spPr>
          <a:xfrm>
            <a:off x="4968044" y="1423370"/>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4" name="Овал 103"/>
          <p:cNvSpPr/>
          <p:nvPr/>
        </p:nvSpPr>
        <p:spPr>
          <a:xfrm>
            <a:off x="4973568" y="412279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5" name="Овал 104"/>
          <p:cNvSpPr/>
          <p:nvPr/>
        </p:nvSpPr>
        <p:spPr>
          <a:xfrm>
            <a:off x="4954900" y="1109504"/>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6" name="Прямоугольник 105"/>
          <p:cNvSpPr/>
          <p:nvPr/>
        </p:nvSpPr>
        <p:spPr>
          <a:xfrm>
            <a:off x="6810968" y="957104"/>
            <a:ext cx="952244" cy="36240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7" name="TextBox 106"/>
          <p:cNvSpPr txBox="1"/>
          <p:nvPr/>
        </p:nvSpPr>
        <p:spPr>
          <a:xfrm>
            <a:off x="7894984" y="1238704"/>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en-US" i="1" baseline="-25000" dirty="0" smtClean="0">
                <a:latin typeface="Times New Roman" pitchFamily="18" charset="0"/>
                <a:cs typeface="Times New Roman" pitchFamily="18" charset="0"/>
              </a:rPr>
              <a:t>0</a:t>
            </a:r>
            <a:endParaRPr lang="ru-RU" i="1" baseline="-25000" dirty="0">
              <a:latin typeface="Times New Roman" pitchFamily="18" charset="0"/>
              <a:cs typeface="Times New Roman" pitchFamily="18" charset="0"/>
            </a:endParaRPr>
          </a:p>
        </p:txBody>
      </p:sp>
      <p:cxnSp>
        <p:nvCxnSpPr>
          <p:cNvPr id="109" name="Прямая соединительная линия 108"/>
          <p:cNvCxnSpPr/>
          <p:nvPr/>
        </p:nvCxnSpPr>
        <p:spPr>
          <a:xfrm>
            <a:off x="7763212" y="1624024"/>
            <a:ext cx="3371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Прямая соединительная линия 110"/>
          <p:cNvCxnSpPr/>
          <p:nvPr/>
        </p:nvCxnSpPr>
        <p:spPr>
          <a:xfrm>
            <a:off x="7763212" y="2924944"/>
            <a:ext cx="3371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Прямая соединительная линия 111"/>
          <p:cNvCxnSpPr/>
          <p:nvPr/>
        </p:nvCxnSpPr>
        <p:spPr>
          <a:xfrm>
            <a:off x="7763212" y="4293096"/>
            <a:ext cx="3371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7931802" y="2509845"/>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ru-RU" i="1" baseline="-25000" dirty="0" smtClean="0">
                <a:latin typeface="Times New Roman" pitchFamily="18" charset="0"/>
                <a:cs typeface="Times New Roman" pitchFamily="18" charset="0"/>
              </a:rPr>
              <a:t>1</a:t>
            </a:r>
            <a:endParaRPr lang="ru-RU" i="1" baseline="-25000" dirty="0">
              <a:latin typeface="Times New Roman" pitchFamily="18" charset="0"/>
              <a:cs typeface="Times New Roman" pitchFamily="18" charset="0"/>
            </a:endParaRPr>
          </a:p>
        </p:txBody>
      </p:sp>
      <p:sp>
        <p:nvSpPr>
          <p:cNvPr id="114" name="TextBox 113"/>
          <p:cNvSpPr txBox="1"/>
          <p:nvPr/>
        </p:nvSpPr>
        <p:spPr>
          <a:xfrm>
            <a:off x="7931802" y="3904431"/>
            <a:ext cx="37702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S</a:t>
            </a:r>
            <a:r>
              <a:rPr lang="ru-RU" i="1" baseline="-25000" dirty="0" smtClean="0">
                <a:latin typeface="Times New Roman" pitchFamily="18" charset="0"/>
                <a:cs typeface="Times New Roman" pitchFamily="18" charset="0"/>
              </a:rPr>
              <a:t>2</a:t>
            </a:r>
            <a:endParaRPr lang="ru-RU" i="1" baseline="-25000" dirty="0">
              <a:latin typeface="Times New Roman" pitchFamily="18" charset="0"/>
              <a:cs typeface="Times New Roman" pitchFamily="18" charset="0"/>
            </a:endParaRPr>
          </a:p>
        </p:txBody>
      </p:sp>
      <p:sp>
        <p:nvSpPr>
          <p:cNvPr id="115" name="TextBox 114"/>
          <p:cNvSpPr txBox="1"/>
          <p:nvPr/>
        </p:nvSpPr>
        <p:spPr>
          <a:xfrm>
            <a:off x="4613938" y="726271"/>
            <a:ext cx="856325" cy="369332"/>
          </a:xfrm>
          <a:prstGeom prst="rect">
            <a:avLst/>
          </a:prstGeom>
          <a:noFill/>
        </p:spPr>
        <p:txBody>
          <a:bodyPr wrap="none" rtlCol="0">
            <a:spAutoFit/>
          </a:bodyPr>
          <a:lstStyle/>
          <a:p>
            <a:r>
              <a:rPr lang="ru-RU" dirty="0" smtClean="0"/>
              <a:t>Запись</a:t>
            </a:r>
            <a:endParaRPr lang="ru-RU" dirty="0"/>
          </a:p>
        </p:txBody>
      </p:sp>
      <p:cxnSp>
        <p:nvCxnSpPr>
          <p:cNvPr id="116" name="Прямая соединительная линия 115"/>
          <p:cNvCxnSpPr/>
          <p:nvPr/>
        </p:nvCxnSpPr>
        <p:spPr>
          <a:xfrm flipH="1">
            <a:off x="5004048" y="2780928"/>
            <a:ext cx="364370" cy="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17" name="Овал 116"/>
          <p:cNvSpPr/>
          <p:nvPr/>
        </p:nvSpPr>
        <p:spPr>
          <a:xfrm>
            <a:off x="4973568" y="275044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8" name="TextBox 117"/>
          <p:cNvSpPr txBox="1"/>
          <p:nvPr/>
        </p:nvSpPr>
        <p:spPr>
          <a:xfrm>
            <a:off x="7060105" y="971392"/>
            <a:ext cx="453457" cy="369332"/>
          </a:xfrm>
          <a:prstGeom prst="rect">
            <a:avLst/>
          </a:prstGeom>
          <a:noFill/>
        </p:spPr>
        <p:txBody>
          <a:bodyPr wrap="none" rtlCol="0">
            <a:spAutoFit/>
          </a:bodyPr>
          <a:lstStyle/>
          <a:p>
            <a:r>
              <a:rPr lang="en-US" dirty="0" smtClean="0"/>
              <a:t>RG</a:t>
            </a:r>
            <a:endParaRPr lang="ru-RU" dirty="0"/>
          </a:p>
        </p:txBody>
      </p:sp>
      <p:sp>
        <p:nvSpPr>
          <p:cNvPr id="119" name="TextBox 118"/>
          <p:cNvSpPr txBox="1"/>
          <p:nvPr/>
        </p:nvSpPr>
        <p:spPr>
          <a:xfrm>
            <a:off x="3131840" y="5301208"/>
            <a:ext cx="3412409" cy="369332"/>
          </a:xfrm>
          <a:prstGeom prst="rect">
            <a:avLst/>
          </a:prstGeom>
          <a:noFill/>
        </p:spPr>
        <p:txBody>
          <a:bodyPr wrap="none" rtlCol="0">
            <a:spAutoFit/>
          </a:bodyPr>
          <a:lstStyle/>
          <a:p>
            <a:r>
              <a:rPr lang="ru-RU" dirty="0" smtClean="0">
                <a:solidFill>
                  <a:srgbClr val="FF0000"/>
                </a:solidFill>
              </a:rPr>
              <a:t>Таблица преобразования кодов</a:t>
            </a:r>
            <a:r>
              <a:rPr lang="ru-RU" dirty="0">
                <a:solidFill>
                  <a:srgbClr val="FF0000"/>
                </a:solidFill>
              </a:rPr>
              <a:t>?</a:t>
            </a:r>
          </a:p>
        </p:txBody>
      </p:sp>
      <p:sp>
        <p:nvSpPr>
          <p:cNvPr id="120" name="TextBox 119"/>
          <p:cNvSpPr txBox="1"/>
          <p:nvPr/>
        </p:nvSpPr>
        <p:spPr>
          <a:xfrm>
            <a:off x="2281088" y="1343127"/>
            <a:ext cx="383438" cy="369332"/>
          </a:xfrm>
          <a:prstGeom prst="rect">
            <a:avLst/>
          </a:prstGeom>
          <a:noFill/>
        </p:spPr>
        <p:txBody>
          <a:bodyPr wrap="none" rtlCol="0">
            <a:spAutoFit/>
          </a:bodyPr>
          <a:lstStyle/>
          <a:p>
            <a:r>
              <a:rPr lang="en-US" dirty="0" smtClean="0"/>
              <a:t>X</a:t>
            </a:r>
            <a:r>
              <a:rPr lang="en-US" baseline="-25000" dirty="0" smtClean="0"/>
              <a:t>0</a:t>
            </a:r>
            <a:endParaRPr lang="ru-RU" baseline="-25000" dirty="0"/>
          </a:p>
        </p:txBody>
      </p:sp>
      <p:sp>
        <p:nvSpPr>
          <p:cNvPr id="121" name="TextBox 120"/>
          <p:cNvSpPr txBox="1"/>
          <p:nvPr/>
        </p:nvSpPr>
        <p:spPr>
          <a:xfrm>
            <a:off x="2336849" y="2486154"/>
            <a:ext cx="383438" cy="369332"/>
          </a:xfrm>
          <a:prstGeom prst="rect">
            <a:avLst/>
          </a:prstGeom>
          <a:noFill/>
        </p:spPr>
        <p:txBody>
          <a:bodyPr wrap="none" rtlCol="0">
            <a:spAutoFit/>
          </a:bodyPr>
          <a:lstStyle/>
          <a:p>
            <a:r>
              <a:rPr lang="en-US" dirty="0" smtClean="0"/>
              <a:t>X</a:t>
            </a:r>
            <a:r>
              <a:rPr lang="en-US" baseline="-25000" dirty="0"/>
              <a:t>1</a:t>
            </a:r>
            <a:endParaRPr lang="ru-RU" baseline="-25000" dirty="0"/>
          </a:p>
        </p:txBody>
      </p:sp>
      <p:sp>
        <p:nvSpPr>
          <p:cNvPr id="122" name="TextBox 121"/>
          <p:cNvSpPr txBox="1"/>
          <p:nvPr/>
        </p:nvSpPr>
        <p:spPr>
          <a:xfrm>
            <a:off x="2359600" y="3517957"/>
            <a:ext cx="383438" cy="369332"/>
          </a:xfrm>
          <a:prstGeom prst="rect">
            <a:avLst/>
          </a:prstGeom>
          <a:noFill/>
        </p:spPr>
        <p:txBody>
          <a:bodyPr wrap="none" rtlCol="0">
            <a:spAutoFit/>
          </a:bodyPr>
          <a:lstStyle/>
          <a:p>
            <a:r>
              <a:rPr lang="en-US" dirty="0" smtClean="0"/>
              <a:t>X</a:t>
            </a:r>
            <a:r>
              <a:rPr lang="en-US" baseline="-25000" dirty="0" smtClean="0"/>
              <a:t>2</a:t>
            </a:r>
            <a:endParaRPr lang="ru-RU" baseline="-25000" dirty="0"/>
          </a:p>
        </p:txBody>
      </p:sp>
      <p:sp>
        <p:nvSpPr>
          <p:cNvPr id="124" name="TextBox 123"/>
          <p:cNvSpPr txBox="1"/>
          <p:nvPr/>
        </p:nvSpPr>
        <p:spPr>
          <a:xfrm>
            <a:off x="6253249" y="4602776"/>
            <a:ext cx="2520626" cy="369332"/>
          </a:xfrm>
          <a:prstGeom prst="rect">
            <a:avLst/>
          </a:prstGeom>
          <a:noFill/>
        </p:spPr>
        <p:txBody>
          <a:bodyPr wrap="none" rtlCol="0">
            <a:spAutoFit/>
          </a:bodyPr>
          <a:lstStyle/>
          <a:p>
            <a:r>
              <a:rPr lang="en-US" dirty="0" smtClean="0"/>
              <a:t>RG-</a:t>
            </a:r>
            <a:r>
              <a:rPr lang="ru-RU" dirty="0" smtClean="0"/>
              <a:t>статический регистр</a:t>
            </a:r>
            <a:endParaRPr lang="ru-RU" dirty="0"/>
          </a:p>
        </p:txBody>
      </p:sp>
      <p:sp>
        <p:nvSpPr>
          <p:cNvPr id="125" name="TextBox 124"/>
          <p:cNvSpPr txBox="1"/>
          <p:nvPr/>
        </p:nvSpPr>
        <p:spPr>
          <a:xfrm>
            <a:off x="2107119" y="4685475"/>
            <a:ext cx="2855975" cy="369332"/>
          </a:xfrm>
          <a:prstGeom prst="rect">
            <a:avLst/>
          </a:prstGeom>
          <a:noFill/>
        </p:spPr>
        <p:txBody>
          <a:bodyPr wrap="none" rtlCol="0">
            <a:spAutoFit/>
          </a:bodyPr>
          <a:lstStyle/>
          <a:p>
            <a:r>
              <a:rPr lang="ru-RU" dirty="0" smtClean="0"/>
              <a:t>ПК</a:t>
            </a:r>
            <a:r>
              <a:rPr lang="en-US" dirty="0" smtClean="0"/>
              <a:t>-</a:t>
            </a:r>
            <a:r>
              <a:rPr lang="ru-RU" dirty="0" smtClean="0"/>
              <a:t>преобразователь кодов</a:t>
            </a:r>
            <a:endParaRPr lang="ru-RU" dirty="0"/>
          </a:p>
        </p:txBody>
      </p:sp>
    </p:spTree>
    <p:extLst>
      <p:ext uri="{BB962C8B-B14F-4D97-AF65-F5344CB8AC3E}">
        <p14:creationId xmlns:p14="http://schemas.microsoft.com/office/powerpoint/2010/main" val="3723034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35696" y="1340768"/>
            <a:ext cx="72008" cy="369332"/>
          </a:xfrm>
          <a:prstGeom prst="rect">
            <a:avLst/>
          </a:prstGeom>
          <a:noFill/>
        </p:spPr>
        <p:txBody>
          <a:bodyPr wrap="square" rtlCol="0">
            <a:spAutoFit/>
          </a:bodyPr>
          <a:lstStyle/>
          <a:p>
            <a:endParaRPr lang="ru-RU" dirty="0"/>
          </a:p>
        </p:txBody>
      </p:sp>
      <p:sp>
        <p:nvSpPr>
          <p:cNvPr id="6" name="TextBox 5"/>
          <p:cNvSpPr txBox="1"/>
          <p:nvPr/>
        </p:nvSpPr>
        <p:spPr>
          <a:xfrm>
            <a:off x="3475925" y="10838"/>
            <a:ext cx="2426946" cy="369332"/>
          </a:xfrm>
          <a:prstGeom prst="rect">
            <a:avLst/>
          </a:prstGeom>
          <a:noFill/>
        </p:spPr>
        <p:txBody>
          <a:bodyPr wrap="none" rtlCol="0">
            <a:spAutoFit/>
          </a:bodyPr>
          <a:lstStyle/>
          <a:p>
            <a:r>
              <a:rPr lang="ru-RU" i="1" dirty="0" smtClean="0"/>
              <a:t>Интегрирующий АЦП</a:t>
            </a:r>
            <a:endParaRPr lang="ru-RU" i="1" dirty="0"/>
          </a:p>
        </p:txBody>
      </p:sp>
      <p:pic>
        <p:nvPicPr>
          <p:cNvPr id="22532" name="Picture 4" descr="Интегрирующие АЦП"/>
          <p:cNvPicPr>
            <a:picLocks noChangeAspect="1" noChangeArrowheads="1"/>
          </p:cNvPicPr>
          <p:nvPr/>
        </p:nvPicPr>
        <p:blipFill rotWithShape="1">
          <a:blip r:embed="rId2">
            <a:extLst>
              <a:ext uri="{28A0092B-C50C-407E-A947-70E740481C1C}">
                <a14:useLocalDpi xmlns:a14="http://schemas.microsoft.com/office/drawing/2010/main" val="0"/>
              </a:ext>
            </a:extLst>
          </a:blip>
          <a:srcRect b="16550"/>
          <a:stretch/>
        </p:blipFill>
        <p:spPr bwMode="auto">
          <a:xfrm>
            <a:off x="0" y="380170"/>
            <a:ext cx="7327876" cy="3100178"/>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descr="Интегрирующие АЦП"/>
          <p:cNvPicPr>
            <a:picLocks noChangeAspect="1" noChangeArrowheads="1"/>
          </p:cNvPicPr>
          <p:nvPr/>
        </p:nvPicPr>
        <p:blipFill rotWithShape="1">
          <a:blip r:embed="rId3">
            <a:extLst>
              <a:ext uri="{28A0092B-C50C-407E-A947-70E740481C1C}">
                <a14:useLocalDpi xmlns:a14="http://schemas.microsoft.com/office/drawing/2010/main" val="0"/>
              </a:ext>
            </a:extLst>
          </a:blip>
          <a:srcRect b="14155"/>
          <a:stretch/>
        </p:blipFill>
        <p:spPr bwMode="auto">
          <a:xfrm>
            <a:off x="4635538" y="3348005"/>
            <a:ext cx="3609975" cy="3360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229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Интегрирующие АЦП"/>
          <p:cNvPicPr>
            <a:picLocks noChangeAspect="1" noChangeArrowheads="1"/>
          </p:cNvPicPr>
          <p:nvPr/>
        </p:nvPicPr>
        <p:blipFill rotWithShape="1">
          <a:blip r:embed="rId2">
            <a:extLst>
              <a:ext uri="{28A0092B-C50C-407E-A947-70E740481C1C}">
                <a14:useLocalDpi xmlns:a14="http://schemas.microsoft.com/office/drawing/2010/main" val="0"/>
              </a:ext>
            </a:extLst>
          </a:blip>
          <a:srcRect b="24712"/>
          <a:stretch/>
        </p:blipFill>
        <p:spPr bwMode="auto">
          <a:xfrm>
            <a:off x="1122661" y="489262"/>
            <a:ext cx="7229245" cy="25071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563888" y="144323"/>
            <a:ext cx="2094932" cy="369332"/>
          </a:xfrm>
          <a:prstGeom prst="rect">
            <a:avLst/>
          </a:prstGeom>
          <a:noFill/>
        </p:spPr>
        <p:txBody>
          <a:bodyPr wrap="none" rtlCol="0">
            <a:spAutoFit/>
          </a:bodyPr>
          <a:lstStyle/>
          <a:p>
            <a:r>
              <a:rPr lang="ru-RU" i="1" dirty="0" smtClean="0"/>
              <a:t>Сигма-дельта АЦП</a:t>
            </a:r>
            <a:endParaRPr lang="ru-RU" i="1" dirty="0"/>
          </a:p>
        </p:txBody>
      </p:sp>
      <p:graphicFrame>
        <p:nvGraphicFramePr>
          <p:cNvPr id="6" name="Таблица 5"/>
          <p:cNvGraphicFramePr>
            <a:graphicFrameLocks noGrp="1"/>
          </p:cNvGraphicFramePr>
          <p:nvPr>
            <p:extLst>
              <p:ext uri="{D42A27DB-BD31-4B8C-83A1-F6EECF244321}">
                <p14:modId xmlns:p14="http://schemas.microsoft.com/office/powerpoint/2010/main" val="4032698398"/>
              </p:ext>
            </p:extLst>
          </p:nvPr>
        </p:nvGraphicFramePr>
        <p:xfrm>
          <a:off x="0" y="2964503"/>
          <a:ext cx="6336704" cy="3769672"/>
        </p:xfrm>
        <a:graphic>
          <a:graphicData uri="http://schemas.openxmlformats.org/drawingml/2006/table">
            <a:tbl>
              <a:tblPr>
                <a:tableStyleId>{3C2FFA5D-87B4-456A-9821-1D502468CF0F}</a:tableStyleId>
              </a:tblPr>
              <a:tblGrid>
                <a:gridCol w="1366740"/>
                <a:gridCol w="1118242"/>
                <a:gridCol w="1118242"/>
                <a:gridCol w="1366740"/>
                <a:gridCol w="1366740"/>
              </a:tblGrid>
              <a:tr h="249758">
                <a:tc gridSpan="5">
                  <a:txBody>
                    <a:bodyPr/>
                    <a:lstStyle/>
                    <a:p>
                      <a:pPr algn="ctr"/>
                      <a:r>
                        <a:rPr lang="en-US" sz="1800" dirty="0">
                          <a:effectLst/>
                        </a:rPr>
                        <a:t>U</a:t>
                      </a:r>
                      <a:r>
                        <a:rPr lang="ru-RU" sz="1800" baseline="-25000" dirty="0" err="1">
                          <a:effectLst/>
                        </a:rPr>
                        <a:t>вх</a:t>
                      </a:r>
                      <a:r>
                        <a:rPr lang="ru-RU" sz="1800" dirty="0">
                          <a:effectLst/>
                        </a:rPr>
                        <a:t>=0,6 В</a:t>
                      </a:r>
                    </a:p>
                  </a:txBody>
                  <a:tcPr marL="48119" marR="48119" marT="48119" marB="48119"/>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434650">
                <a:tc>
                  <a:txBody>
                    <a:bodyPr/>
                    <a:lstStyle/>
                    <a:p>
                      <a:pPr algn="ctr"/>
                      <a:r>
                        <a:rPr lang="en-US" sz="1800" dirty="0">
                          <a:effectLst/>
                        </a:rPr>
                        <a:t>N </a:t>
                      </a:r>
                      <a:r>
                        <a:rPr lang="ru-RU" sz="1800" dirty="0">
                          <a:effectLst/>
                        </a:rPr>
                        <a:t>такта</a:t>
                      </a:r>
                    </a:p>
                  </a:txBody>
                  <a:tcPr marL="48119" marR="48119" marT="48119" marB="48119" anchor="ctr"/>
                </a:tc>
                <a:tc>
                  <a:txBody>
                    <a:bodyPr/>
                    <a:lstStyle/>
                    <a:p>
                      <a:pPr algn="ctr"/>
                      <a:r>
                        <a:rPr lang="en-US" sz="1800" dirty="0" smtClean="0">
                          <a:effectLst/>
                        </a:rPr>
                        <a:t>U</a:t>
                      </a:r>
                      <a:r>
                        <a:rPr lang="en-US" sz="1800" baseline="-25000" dirty="0" smtClean="0">
                          <a:effectLst/>
                        </a:rPr>
                        <a:t>Σ</a:t>
                      </a:r>
                      <a:r>
                        <a:rPr lang="en-US" sz="1800" dirty="0" smtClean="0">
                          <a:effectLst/>
                        </a:rPr>
                        <a:t>, </a:t>
                      </a:r>
                      <a:r>
                        <a:rPr lang="ru-RU" sz="1800" dirty="0">
                          <a:effectLst/>
                        </a:rPr>
                        <a:t>В</a:t>
                      </a:r>
                    </a:p>
                  </a:txBody>
                  <a:tcPr marL="48119" marR="48119" marT="48119" marB="48119" anchor="ctr"/>
                </a:tc>
                <a:tc>
                  <a:txBody>
                    <a:bodyPr/>
                    <a:lstStyle/>
                    <a:p>
                      <a:pPr algn="ctr"/>
                      <a:r>
                        <a:rPr lang="en-US" sz="1800" dirty="0">
                          <a:effectLst/>
                        </a:rPr>
                        <a:t>U</a:t>
                      </a:r>
                      <a:r>
                        <a:rPr lang="ru-RU" sz="1800" baseline="-25000" dirty="0">
                          <a:effectLst/>
                        </a:rPr>
                        <a:t>и</a:t>
                      </a:r>
                      <a:r>
                        <a:rPr lang="ru-RU" sz="1800" dirty="0">
                          <a:effectLst/>
                        </a:rPr>
                        <a:t>, В</a:t>
                      </a:r>
                    </a:p>
                  </a:txBody>
                  <a:tcPr marL="48119" marR="48119" marT="48119" marB="48119" anchor="ctr"/>
                </a:tc>
                <a:tc>
                  <a:txBody>
                    <a:bodyPr/>
                    <a:lstStyle/>
                    <a:p>
                      <a:pPr algn="ctr"/>
                      <a:r>
                        <a:rPr lang="en-US" sz="1800">
                          <a:effectLst/>
                        </a:rPr>
                        <a:t>U</a:t>
                      </a:r>
                      <a:r>
                        <a:rPr lang="ru-RU" sz="1800" baseline="-25000">
                          <a:effectLst/>
                        </a:rPr>
                        <a:t>к</a:t>
                      </a:r>
                      <a:r>
                        <a:rPr lang="ru-RU" sz="1800">
                          <a:effectLst/>
                        </a:rPr>
                        <a:t>, бит</a:t>
                      </a:r>
                    </a:p>
                  </a:txBody>
                  <a:tcPr marL="48119" marR="48119" marT="48119" marB="48119" anchor="ctr"/>
                </a:tc>
                <a:tc>
                  <a:txBody>
                    <a:bodyPr/>
                    <a:lstStyle/>
                    <a:p>
                      <a:pPr algn="ctr"/>
                      <a:r>
                        <a:rPr lang="en-US" sz="1800" dirty="0">
                          <a:effectLst/>
                        </a:rPr>
                        <a:t>U</a:t>
                      </a:r>
                      <a:r>
                        <a:rPr lang="ru-RU" sz="1800" baseline="-25000" dirty="0">
                          <a:effectLst/>
                        </a:rPr>
                        <a:t>ЦАП</a:t>
                      </a:r>
                      <a:r>
                        <a:rPr lang="ru-RU" sz="1800" dirty="0">
                          <a:effectLst/>
                        </a:rPr>
                        <a:t>, В</a:t>
                      </a:r>
                    </a:p>
                  </a:txBody>
                  <a:tcPr marL="48119" marR="48119" marT="48119" marB="48119" anchor="ctr"/>
                </a:tc>
              </a:tr>
              <a:tr h="322695">
                <a:tc>
                  <a:txBody>
                    <a:bodyPr/>
                    <a:lstStyle/>
                    <a:p>
                      <a:pPr algn="ctr"/>
                      <a:r>
                        <a:rPr lang="ru-RU" sz="1800" dirty="0">
                          <a:effectLst/>
                        </a:rPr>
                        <a:t>1</a:t>
                      </a:r>
                    </a:p>
                  </a:txBody>
                  <a:tcPr marL="48119" marR="48119" marT="48119" marB="48119"/>
                </a:tc>
                <a:tc>
                  <a:txBody>
                    <a:bodyPr/>
                    <a:lstStyle/>
                    <a:p>
                      <a:pPr algn="ctr"/>
                      <a:r>
                        <a:rPr lang="ru-RU" sz="1800" dirty="0">
                          <a:effectLst/>
                        </a:rPr>
                        <a:t>0,6</a:t>
                      </a:r>
                    </a:p>
                  </a:txBody>
                  <a:tcPr marL="48119" marR="48119" marT="48119" marB="48119"/>
                </a:tc>
                <a:tc>
                  <a:txBody>
                    <a:bodyPr/>
                    <a:lstStyle/>
                    <a:p>
                      <a:pPr algn="ctr"/>
                      <a:r>
                        <a:rPr lang="ru-RU" sz="1800" dirty="0">
                          <a:effectLst/>
                        </a:rPr>
                        <a:t>0,6</a:t>
                      </a:r>
                    </a:p>
                  </a:txBody>
                  <a:tcPr marL="48119" marR="48119" marT="48119" marB="48119"/>
                </a:tc>
                <a:tc>
                  <a:txBody>
                    <a:bodyPr/>
                    <a:lstStyle/>
                    <a:p>
                      <a:pPr algn="ctr"/>
                      <a:r>
                        <a:rPr lang="ru-RU" sz="1800">
                          <a:effectLst/>
                        </a:rPr>
                        <a:t>1</a:t>
                      </a:r>
                    </a:p>
                  </a:txBody>
                  <a:tcPr marL="48119" marR="48119" marT="48119" marB="48119"/>
                </a:tc>
                <a:tc>
                  <a:txBody>
                    <a:bodyPr/>
                    <a:lstStyle/>
                    <a:p>
                      <a:pPr algn="ctr"/>
                      <a:r>
                        <a:rPr lang="ru-RU" sz="1800">
                          <a:effectLst/>
                        </a:rPr>
                        <a:t>1</a:t>
                      </a:r>
                    </a:p>
                  </a:txBody>
                  <a:tcPr marL="48119" marR="48119" marT="48119" marB="48119"/>
                </a:tc>
              </a:tr>
              <a:tr h="322695">
                <a:tc>
                  <a:txBody>
                    <a:bodyPr/>
                    <a:lstStyle/>
                    <a:p>
                      <a:pPr algn="ctr"/>
                      <a:r>
                        <a:rPr lang="ru-RU" sz="1800" b="1" dirty="0">
                          <a:effectLst/>
                        </a:rPr>
                        <a:t>2</a:t>
                      </a:r>
                    </a:p>
                  </a:txBody>
                  <a:tcPr marL="48119" marR="48119" marT="48119" marB="48119"/>
                </a:tc>
                <a:tc>
                  <a:txBody>
                    <a:bodyPr/>
                    <a:lstStyle/>
                    <a:p>
                      <a:pPr algn="ctr"/>
                      <a:r>
                        <a:rPr lang="ru-RU" sz="1800" b="1" dirty="0">
                          <a:effectLst/>
                        </a:rPr>
                        <a:t>-0,4</a:t>
                      </a:r>
                    </a:p>
                  </a:txBody>
                  <a:tcPr marL="48119" marR="48119" marT="48119" marB="48119"/>
                </a:tc>
                <a:tc>
                  <a:txBody>
                    <a:bodyPr/>
                    <a:lstStyle/>
                    <a:p>
                      <a:pPr algn="ctr"/>
                      <a:r>
                        <a:rPr lang="ru-RU" sz="1800" b="1" dirty="0">
                          <a:effectLst/>
                        </a:rPr>
                        <a:t>0,2</a:t>
                      </a:r>
                    </a:p>
                  </a:txBody>
                  <a:tcPr marL="48119" marR="48119" marT="48119" marB="48119"/>
                </a:tc>
                <a:tc>
                  <a:txBody>
                    <a:bodyPr/>
                    <a:lstStyle/>
                    <a:p>
                      <a:pPr algn="ctr"/>
                      <a:r>
                        <a:rPr lang="ru-RU" sz="1800" b="1" dirty="0">
                          <a:effectLst/>
                        </a:rPr>
                        <a:t>1</a:t>
                      </a:r>
                    </a:p>
                  </a:txBody>
                  <a:tcPr marL="48119" marR="48119" marT="48119" marB="48119"/>
                </a:tc>
                <a:tc>
                  <a:txBody>
                    <a:bodyPr/>
                    <a:lstStyle/>
                    <a:p>
                      <a:pPr algn="ctr"/>
                      <a:r>
                        <a:rPr lang="ru-RU" sz="1800" b="1" dirty="0">
                          <a:solidFill>
                            <a:srgbClr val="FF0000"/>
                          </a:solidFill>
                          <a:effectLst/>
                        </a:rPr>
                        <a:t>1</a:t>
                      </a:r>
                    </a:p>
                  </a:txBody>
                  <a:tcPr marL="48119" marR="48119" marT="48119" marB="48119"/>
                </a:tc>
              </a:tr>
              <a:tr h="322695">
                <a:tc>
                  <a:txBody>
                    <a:bodyPr/>
                    <a:lstStyle/>
                    <a:p>
                      <a:pPr algn="ctr"/>
                      <a:r>
                        <a:rPr lang="ru-RU" sz="1800">
                          <a:effectLst/>
                        </a:rPr>
                        <a:t>3</a:t>
                      </a:r>
                    </a:p>
                  </a:txBody>
                  <a:tcPr marL="48119" marR="48119" marT="48119" marB="48119"/>
                </a:tc>
                <a:tc>
                  <a:txBody>
                    <a:bodyPr/>
                    <a:lstStyle/>
                    <a:p>
                      <a:pPr algn="ctr"/>
                      <a:r>
                        <a:rPr lang="ru-RU" sz="1800" dirty="0">
                          <a:effectLst/>
                        </a:rPr>
                        <a:t>-0,4</a:t>
                      </a:r>
                    </a:p>
                  </a:txBody>
                  <a:tcPr marL="48119" marR="48119" marT="48119" marB="48119"/>
                </a:tc>
                <a:tc>
                  <a:txBody>
                    <a:bodyPr/>
                    <a:lstStyle/>
                    <a:p>
                      <a:pPr algn="ctr"/>
                      <a:r>
                        <a:rPr lang="ru-RU" sz="1800" dirty="0">
                          <a:effectLst/>
                        </a:rPr>
                        <a:t>-0,2</a:t>
                      </a:r>
                    </a:p>
                  </a:txBody>
                  <a:tcPr marL="48119" marR="48119" marT="48119" marB="48119"/>
                </a:tc>
                <a:tc>
                  <a:txBody>
                    <a:bodyPr/>
                    <a:lstStyle/>
                    <a:p>
                      <a:pPr algn="ctr"/>
                      <a:r>
                        <a:rPr lang="ru-RU" sz="1800" dirty="0">
                          <a:effectLst/>
                        </a:rPr>
                        <a:t>0</a:t>
                      </a:r>
                    </a:p>
                  </a:txBody>
                  <a:tcPr marL="48119" marR="48119" marT="48119" marB="48119"/>
                </a:tc>
                <a:tc>
                  <a:txBody>
                    <a:bodyPr/>
                    <a:lstStyle/>
                    <a:p>
                      <a:pPr algn="ctr"/>
                      <a:r>
                        <a:rPr lang="ru-RU" sz="1800" b="1" dirty="0">
                          <a:solidFill>
                            <a:srgbClr val="FF0000"/>
                          </a:solidFill>
                          <a:effectLst/>
                        </a:rPr>
                        <a:t>-1</a:t>
                      </a:r>
                    </a:p>
                  </a:txBody>
                  <a:tcPr marL="48119" marR="48119" marT="48119" marB="48119"/>
                </a:tc>
              </a:tr>
              <a:tr h="322695">
                <a:tc>
                  <a:txBody>
                    <a:bodyPr/>
                    <a:lstStyle/>
                    <a:p>
                      <a:pPr algn="ctr"/>
                      <a:r>
                        <a:rPr lang="ru-RU" sz="1800">
                          <a:effectLst/>
                        </a:rPr>
                        <a:t>4</a:t>
                      </a:r>
                    </a:p>
                  </a:txBody>
                  <a:tcPr marL="48119" marR="48119" marT="48119" marB="48119"/>
                </a:tc>
                <a:tc>
                  <a:txBody>
                    <a:bodyPr/>
                    <a:lstStyle/>
                    <a:p>
                      <a:pPr algn="ctr"/>
                      <a:r>
                        <a:rPr lang="ru-RU" sz="1800">
                          <a:effectLst/>
                        </a:rPr>
                        <a:t>1,6</a:t>
                      </a:r>
                    </a:p>
                  </a:txBody>
                  <a:tcPr marL="48119" marR="48119" marT="48119" marB="48119"/>
                </a:tc>
                <a:tc>
                  <a:txBody>
                    <a:bodyPr/>
                    <a:lstStyle/>
                    <a:p>
                      <a:pPr algn="ctr"/>
                      <a:r>
                        <a:rPr lang="ru-RU" sz="1800" dirty="0">
                          <a:effectLst/>
                        </a:rPr>
                        <a:t>1,4</a:t>
                      </a:r>
                    </a:p>
                  </a:txBody>
                  <a:tcPr marL="48119" marR="48119" marT="48119" marB="48119"/>
                </a:tc>
                <a:tc>
                  <a:txBody>
                    <a:bodyPr/>
                    <a:lstStyle/>
                    <a:p>
                      <a:pPr algn="ctr"/>
                      <a:r>
                        <a:rPr lang="ru-RU" sz="1800" dirty="0">
                          <a:effectLst/>
                        </a:rPr>
                        <a:t>1</a:t>
                      </a:r>
                    </a:p>
                  </a:txBody>
                  <a:tcPr marL="48119" marR="48119" marT="48119" marB="48119"/>
                </a:tc>
                <a:tc>
                  <a:txBody>
                    <a:bodyPr/>
                    <a:lstStyle/>
                    <a:p>
                      <a:pPr algn="ctr"/>
                      <a:r>
                        <a:rPr lang="ru-RU" sz="1800" b="1" dirty="0">
                          <a:solidFill>
                            <a:srgbClr val="FF0000"/>
                          </a:solidFill>
                          <a:effectLst/>
                        </a:rPr>
                        <a:t>1</a:t>
                      </a:r>
                    </a:p>
                  </a:txBody>
                  <a:tcPr marL="48119" marR="48119" marT="48119" marB="48119"/>
                </a:tc>
              </a:tr>
              <a:tr h="322695">
                <a:tc>
                  <a:txBody>
                    <a:bodyPr/>
                    <a:lstStyle/>
                    <a:p>
                      <a:pPr algn="ctr"/>
                      <a:r>
                        <a:rPr lang="ru-RU" sz="1800">
                          <a:effectLst/>
                        </a:rPr>
                        <a:t>5</a:t>
                      </a:r>
                    </a:p>
                  </a:txBody>
                  <a:tcPr marL="48119" marR="48119" marT="48119" marB="48119"/>
                </a:tc>
                <a:tc>
                  <a:txBody>
                    <a:bodyPr/>
                    <a:lstStyle/>
                    <a:p>
                      <a:pPr algn="ctr"/>
                      <a:r>
                        <a:rPr lang="ru-RU" sz="1800">
                          <a:effectLst/>
                        </a:rPr>
                        <a:t>-0,4</a:t>
                      </a:r>
                    </a:p>
                  </a:txBody>
                  <a:tcPr marL="48119" marR="48119" marT="48119" marB="48119"/>
                </a:tc>
                <a:tc>
                  <a:txBody>
                    <a:bodyPr/>
                    <a:lstStyle/>
                    <a:p>
                      <a:pPr algn="ctr"/>
                      <a:r>
                        <a:rPr lang="ru-RU" sz="1800">
                          <a:effectLst/>
                        </a:rPr>
                        <a:t>1,0</a:t>
                      </a:r>
                    </a:p>
                  </a:txBody>
                  <a:tcPr marL="48119" marR="48119" marT="48119" marB="48119"/>
                </a:tc>
                <a:tc>
                  <a:txBody>
                    <a:bodyPr/>
                    <a:lstStyle/>
                    <a:p>
                      <a:pPr algn="ctr"/>
                      <a:r>
                        <a:rPr lang="ru-RU" sz="1800" dirty="0">
                          <a:effectLst/>
                        </a:rPr>
                        <a:t>1</a:t>
                      </a:r>
                    </a:p>
                  </a:txBody>
                  <a:tcPr marL="48119" marR="48119" marT="48119" marB="48119"/>
                </a:tc>
                <a:tc>
                  <a:txBody>
                    <a:bodyPr/>
                    <a:lstStyle/>
                    <a:p>
                      <a:pPr algn="ctr"/>
                      <a:r>
                        <a:rPr lang="ru-RU" sz="1800" b="1" dirty="0">
                          <a:solidFill>
                            <a:srgbClr val="FF0000"/>
                          </a:solidFill>
                          <a:effectLst/>
                        </a:rPr>
                        <a:t>1</a:t>
                      </a:r>
                    </a:p>
                  </a:txBody>
                  <a:tcPr marL="48119" marR="48119" marT="48119" marB="48119"/>
                </a:tc>
              </a:tr>
              <a:tr h="322695">
                <a:tc>
                  <a:txBody>
                    <a:bodyPr/>
                    <a:lstStyle/>
                    <a:p>
                      <a:pPr algn="ctr"/>
                      <a:r>
                        <a:rPr lang="ru-RU" sz="1800">
                          <a:effectLst/>
                        </a:rPr>
                        <a:t>6</a:t>
                      </a:r>
                    </a:p>
                  </a:txBody>
                  <a:tcPr marL="48119" marR="48119" marT="48119" marB="48119"/>
                </a:tc>
                <a:tc>
                  <a:txBody>
                    <a:bodyPr/>
                    <a:lstStyle/>
                    <a:p>
                      <a:pPr algn="ctr"/>
                      <a:r>
                        <a:rPr lang="ru-RU" sz="1800">
                          <a:effectLst/>
                        </a:rPr>
                        <a:t>-0,4</a:t>
                      </a:r>
                    </a:p>
                  </a:txBody>
                  <a:tcPr marL="48119" marR="48119" marT="48119" marB="48119"/>
                </a:tc>
                <a:tc>
                  <a:txBody>
                    <a:bodyPr/>
                    <a:lstStyle/>
                    <a:p>
                      <a:pPr algn="ctr"/>
                      <a:r>
                        <a:rPr lang="ru-RU" sz="1800">
                          <a:effectLst/>
                        </a:rPr>
                        <a:t>0,6</a:t>
                      </a:r>
                    </a:p>
                  </a:txBody>
                  <a:tcPr marL="48119" marR="48119" marT="48119" marB="48119"/>
                </a:tc>
                <a:tc>
                  <a:txBody>
                    <a:bodyPr/>
                    <a:lstStyle/>
                    <a:p>
                      <a:pPr algn="ctr"/>
                      <a:r>
                        <a:rPr lang="ru-RU" sz="1800" dirty="0">
                          <a:effectLst/>
                        </a:rPr>
                        <a:t>1</a:t>
                      </a:r>
                    </a:p>
                  </a:txBody>
                  <a:tcPr marL="48119" marR="48119" marT="48119" marB="48119"/>
                </a:tc>
                <a:tc>
                  <a:txBody>
                    <a:bodyPr/>
                    <a:lstStyle/>
                    <a:p>
                      <a:pPr algn="ctr"/>
                      <a:r>
                        <a:rPr lang="ru-RU" sz="1800" b="1" dirty="0">
                          <a:solidFill>
                            <a:srgbClr val="FF0000"/>
                          </a:solidFill>
                          <a:effectLst/>
                        </a:rPr>
                        <a:t>1</a:t>
                      </a:r>
                    </a:p>
                  </a:txBody>
                  <a:tcPr marL="48119" marR="48119" marT="48119" marB="48119"/>
                </a:tc>
              </a:tr>
              <a:tr h="322695">
                <a:tc>
                  <a:txBody>
                    <a:bodyPr/>
                    <a:lstStyle/>
                    <a:p>
                      <a:pPr algn="ctr"/>
                      <a:r>
                        <a:rPr lang="ru-RU" sz="1800" b="1" dirty="0">
                          <a:effectLst/>
                        </a:rPr>
                        <a:t>7</a:t>
                      </a:r>
                    </a:p>
                  </a:txBody>
                  <a:tcPr marL="48119" marR="48119" marT="48119" marB="48119"/>
                </a:tc>
                <a:tc>
                  <a:txBody>
                    <a:bodyPr/>
                    <a:lstStyle/>
                    <a:p>
                      <a:pPr algn="ctr"/>
                      <a:r>
                        <a:rPr lang="ru-RU" sz="1800" b="1" dirty="0">
                          <a:effectLst/>
                        </a:rPr>
                        <a:t>-0,4</a:t>
                      </a:r>
                    </a:p>
                  </a:txBody>
                  <a:tcPr marL="48119" marR="48119" marT="48119" marB="48119"/>
                </a:tc>
                <a:tc>
                  <a:txBody>
                    <a:bodyPr/>
                    <a:lstStyle/>
                    <a:p>
                      <a:pPr algn="ctr"/>
                      <a:r>
                        <a:rPr lang="ru-RU" sz="1800" b="1" dirty="0">
                          <a:effectLst/>
                        </a:rPr>
                        <a:t>0,2</a:t>
                      </a:r>
                    </a:p>
                  </a:txBody>
                  <a:tcPr marL="48119" marR="48119" marT="48119" marB="48119"/>
                </a:tc>
                <a:tc>
                  <a:txBody>
                    <a:bodyPr/>
                    <a:lstStyle/>
                    <a:p>
                      <a:pPr algn="ctr"/>
                      <a:r>
                        <a:rPr lang="ru-RU" sz="1800" b="1" dirty="0">
                          <a:effectLst/>
                        </a:rPr>
                        <a:t>1</a:t>
                      </a:r>
                    </a:p>
                  </a:txBody>
                  <a:tcPr marL="48119" marR="48119" marT="48119" marB="48119"/>
                </a:tc>
                <a:tc>
                  <a:txBody>
                    <a:bodyPr/>
                    <a:lstStyle/>
                    <a:p>
                      <a:pPr algn="ctr"/>
                      <a:r>
                        <a:rPr lang="ru-RU" sz="1800" b="1" dirty="0">
                          <a:effectLst/>
                        </a:rPr>
                        <a:t>1</a:t>
                      </a:r>
                    </a:p>
                  </a:txBody>
                  <a:tcPr marL="48119" marR="48119" marT="48119" marB="48119"/>
                </a:tc>
              </a:tr>
              <a:tr h="322695">
                <a:tc>
                  <a:txBody>
                    <a:bodyPr/>
                    <a:lstStyle/>
                    <a:p>
                      <a:pPr algn="ctr"/>
                      <a:r>
                        <a:rPr lang="ru-RU" sz="1800">
                          <a:effectLst/>
                        </a:rPr>
                        <a:t>8</a:t>
                      </a:r>
                    </a:p>
                  </a:txBody>
                  <a:tcPr marL="48119" marR="48119" marT="48119" marB="48119"/>
                </a:tc>
                <a:tc>
                  <a:txBody>
                    <a:bodyPr/>
                    <a:lstStyle/>
                    <a:p>
                      <a:pPr algn="ctr"/>
                      <a:r>
                        <a:rPr lang="ru-RU" sz="1800" dirty="0">
                          <a:effectLst/>
                        </a:rPr>
                        <a:t>-0,4</a:t>
                      </a:r>
                    </a:p>
                  </a:txBody>
                  <a:tcPr marL="48119" marR="48119" marT="48119" marB="48119"/>
                </a:tc>
                <a:tc>
                  <a:txBody>
                    <a:bodyPr/>
                    <a:lstStyle/>
                    <a:p>
                      <a:pPr algn="ctr"/>
                      <a:r>
                        <a:rPr lang="ru-RU" sz="1800" dirty="0">
                          <a:effectLst/>
                        </a:rPr>
                        <a:t>-0,2</a:t>
                      </a:r>
                    </a:p>
                  </a:txBody>
                  <a:tcPr marL="48119" marR="48119" marT="48119" marB="48119"/>
                </a:tc>
                <a:tc>
                  <a:txBody>
                    <a:bodyPr/>
                    <a:lstStyle/>
                    <a:p>
                      <a:pPr algn="ctr"/>
                      <a:r>
                        <a:rPr lang="ru-RU" sz="1800">
                          <a:effectLst/>
                        </a:rPr>
                        <a:t>0</a:t>
                      </a:r>
                    </a:p>
                  </a:txBody>
                  <a:tcPr marL="48119" marR="48119" marT="48119" marB="48119"/>
                </a:tc>
                <a:tc>
                  <a:txBody>
                    <a:bodyPr/>
                    <a:lstStyle/>
                    <a:p>
                      <a:pPr algn="ctr"/>
                      <a:r>
                        <a:rPr lang="ru-RU" sz="1800" dirty="0">
                          <a:effectLst/>
                        </a:rPr>
                        <a:t>-1</a:t>
                      </a:r>
                    </a:p>
                  </a:txBody>
                  <a:tcPr marL="48119" marR="48119" marT="48119" marB="48119"/>
                </a:tc>
              </a:tr>
            </a:tbl>
          </a:graphicData>
        </a:graphic>
      </p:graphicFrame>
      <p:sp>
        <p:nvSpPr>
          <p:cNvPr id="5" name="TextBox 4"/>
          <p:cNvSpPr txBox="1"/>
          <p:nvPr/>
        </p:nvSpPr>
        <p:spPr>
          <a:xfrm>
            <a:off x="6372200" y="2791111"/>
            <a:ext cx="2952328" cy="3970318"/>
          </a:xfrm>
          <a:prstGeom prst="rect">
            <a:avLst/>
          </a:prstGeom>
          <a:noFill/>
        </p:spPr>
        <p:txBody>
          <a:bodyPr wrap="square" rtlCol="0">
            <a:spAutoFit/>
          </a:bodyPr>
          <a:lstStyle/>
          <a:p>
            <a:r>
              <a:rPr lang="ru-RU" dirty="0"/>
              <a:t>Для формирования выходного кода </a:t>
            </a:r>
            <a:endParaRPr lang="ru-RU" dirty="0" smtClean="0"/>
          </a:p>
          <a:p>
            <a:r>
              <a:rPr lang="ru-RU" dirty="0" smtClean="0"/>
              <a:t>такого </a:t>
            </a:r>
            <a:r>
              <a:rPr lang="ru-RU" dirty="0"/>
              <a:t>преобразователя необходимо каким-либо </a:t>
            </a:r>
            <a:endParaRPr lang="ru-RU" dirty="0" smtClean="0"/>
          </a:p>
          <a:p>
            <a:r>
              <a:rPr lang="ru-RU" dirty="0" smtClean="0"/>
              <a:t>образом </a:t>
            </a:r>
            <a:r>
              <a:rPr lang="ru-RU" dirty="0"/>
              <a:t>преобразовать последовательность бит на выходе компаратора в виде унитарного кода в последовательный или параллельный двоичный позиционный код. В простейшем случае это можно сделать с помощью двоичного счетчика. </a:t>
            </a:r>
          </a:p>
        </p:txBody>
      </p:sp>
    </p:spTree>
    <p:extLst>
      <p:ext uri="{BB962C8B-B14F-4D97-AF65-F5344CB8AC3E}">
        <p14:creationId xmlns:p14="http://schemas.microsoft.com/office/powerpoint/2010/main" val="406740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476672"/>
            <a:ext cx="8568952" cy="6186309"/>
          </a:xfrm>
          <a:prstGeom prst="rect">
            <a:avLst/>
          </a:prstGeom>
          <a:noFill/>
        </p:spPr>
        <p:txBody>
          <a:bodyPr wrap="square" rtlCol="0">
            <a:spAutoFit/>
          </a:bodyPr>
          <a:lstStyle/>
          <a:p>
            <a:r>
              <a:rPr lang="ru-RU" b="1" i="1" dirty="0"/>
              <a:t>Параллельные АЦП</a:t>
            </a:r>
          </a:p>
          <a:p>
            <a:r>
              <a:rPr lang="ru-RU" dirty="0" smtClean="0"/>
              <a:t>Высокая скорость преобразования  (5Г </a:t>
            </a:r>
            <a:r>
              <a:rPr lang="ru-RU" dirty="0"/>
              <a:t>(5*10</a:t>
            </a:r>
            <a:r>
              <a:rPr lang="ru-RU" baseline="30000" dirty="0"/>
              <a:t>9</a:t>
            </a:r>
            <a:r>
              <a:rPr lang="ru-RU" dirty="0"/>
              <a:t>) отсчетов/сек </a:t>
            </a:r>
            <a:r>
              <a:rPr lang="ru-RU" dirty="0" smtClean="0"/>
              <a:t> </a:t>
            </a:r>
            <a:r>
              <a:rPr lang="ru-RU" dirty="0"/>
              <a:t>стандартных устройств и 20Г отсчетов/сек для оригинальных разработок. Обычно параллельные АЦП имеют разрешение до 8 разрядов, но встречаются также </a:t>
            </a:r>
            <a:r>
              <a:rPr lang="ru-RU" dirty="0" smtClean="0"/>
              <a:t>12-ти </a:t>
            </a:r>
            <a:r>
              <a:rPr lang="ru-RU" dirty="0"/>
              <a:t>разрядные версии</a:t>
            </a:r>
            <a:r>
              <a:rPr lang="ru-RU" dirty="0" smtClean="0"/>
              <a:t>. Применение</a:t>
            </a:r>
            <a:r>
              <a:rPr lang="en-US" dirty="0" smtClean="0"/>
              <a:t>: </a:t>
            </a:r>
            <a:r>
              <a:rPr lang="ru-RU" dirty="0" smtClean="0"/>
              <a:t>высокоскоростные осциллографы </a:t>
            </a:r>
          </a:p>
          <a:p>
            <a:r>
              <a:rPr lang="ru-RU" b="1" i="1" dirty="0"/>
              <a:t>АЦП последовательного счета</a:t>
            </a:r>
          </a:p>
          <a:p>
            <a:r>
              <a:rPr lang="ru-RU" dirty="0" smtClean="0"/>
              <a:t>Разрешение </a:t>
            </a:r>
            <a:r>
              <a:rPr lang="ru-RU" dirty="0"/>
              <a:t>12, 14 или 16 разрядов </a:t>
            </a:r>
            <a:r>
              <a:rPr lang="ru-RU" dirty="0" smtClean="0"/>
              <a:t>,средняя скорость </a:t>
            </a:r>
            <a:r>
              <a:rPr lang="ru-RU" dirty="0"/>
              <a:t>преобразования, </a:t>
            </a:r>
            <a:r>
              <a:rPr lang="ru-RU" dirty="0" smtClean="0"/>
              <a:t>низкая цена и </a:t>
            </a:r>
            <a:r>
              <a:rPr lang="ru-RU" dirty="0"/>
              <a:t>низкое </a:t>
            </a:r>
            <a:r>
              <a:rPr lang="ru-RU" dirty="0" smtClean="0"/>
              <a:t>энергопотребление </a:t>
            </a:r>
          </a:p>
          <a:p>
            <a:r>
              <a:rPr lang="ru-RU" dirty="0"/>
              <a:t>Применение</a:t>
            </a:r>
            <a:r>
              <a:rPr lang="en-US" dirty="0"/>
              <a:t>: </a:t>
            </a:r>
            <a:r>
              <a:rPr lang="ru-RU" dirty="0" smtClean="0"/>
              <a:t>разнообразные измерительные приборы </a:t>
            </a:r>
            <a:r>
              <a:rPr lang="ru-RU" dirty="0"/>
              <a:t>и в системах сбора </a:t>
            </a:r>
            <a:r>
              <a:rPr lang="ru-RU" dirty="0" smtClean="0"/>
              <a:t>данных (точность </a:t>
            </a:r>
            <a:r>
              <a:rPr lang="ru-RU" dirty="0"/>
              <a:t>до 16 разрядов с частотой дискретизации от 100К (1х10</a:t>
            </a:r>
            <a:r>
              <a:rPr lang="ru-RU" baseline="30000" dirty="0"/>
              <a:t>3</a:t>
            </a:r>
            <a:r>
              <a:rPr lang="ru-RU" dirty="0"/>
              <a:t>) до 1М (1х10</a:t>
            </a:r>
            <a:r>
              <a:rPr lang="ru-RU" baseline="30000" dirty="0"/>
              <a:t>6</a:t>
            </a:r>
            <a:r>
              <a:rPr lang="ru-RU" dirty="0"/>
              <a:t>) </a:t>
            </a:r>
            <a:r>
              <a:rPr lang="ru-RU" dirty="0" smtClean="0"/>
              <a:t>отсчетов/сек).</a:t>
            </a:r>
          </a:p>
          <a:p>
            <a:r>
              <a:rPr lang="ru-RU" b="1" i="1" dirty="0"/>
              <a:t>Сигма-дельта </a:t>
            </a:r>
            <a:r>
              <a:rPr lang="ru-RU" b="1" i="1" dirty="0" smtClean="0"/>
              <a:t>АЦП</a:t>
            </a:r>
          </a:p>
          <a:p>
            <a:r>
              <a:rPr lang="ru-RU" dirty="0" smtClean="0"/>
              <a:t>Большая </a:t>
            </a:r>
            <a:r>
              <a:rPr lang="ru-RU" dirty="0"/>
              <a:t>разрешающая </a:t>
            </a:r>
            <a:r>
              <a:rPr lang="ru-RU" dirty="0" smtClean="0"/>
              <a:t>способность </a:t>
            </a:r>
            <a:r>
              <a:rPr lang="ru-RU" dirty="0"/>
              <a:t>до 24 </a:t>
            </a:r>
            <a:r>
              <a:rPr lang="ru-RU" dirty="0" smtClean="0"/>
              <a:t>разрядов, низкая скорость до 1К </a:t>
            </a:r>
            <a:r>
              <a:rPr lang="ru-RU" dirty="0"/>
              <a:t>отсчетов/сек </a:t>
            </a:r>
            <a:endParaRPr lang="ru-RU" b="1" dirty="0"/>
          </a:p>
          <a:p>
            <a:r>
              <a:rPr lang="ru-RU" dirty="0"/>
              <a:t>Применение</a:t>
            </a:r>
            <a:r>
              <a:rPr lang="en-US" dirty="0"/>
              <a:t>:</a:t>
            </a:r>
            <a:r>
              <a:rPr lang="ru-RU" dirty="0" smtClean="0"/>
              <a:t> разнообразные системы </a:t>
            </a:r>
            <a:r>
              <a:rPr lang="ru-RU" dirty="0"/>
              <a:t>сбора данных и в </a:t>
            </a:r>
            <a:r>
              <a:rPr lang="ru-RU" dirty="0" smtClean="0"/>
              <a:t>измерительное оборудование </a:t>
            </a:r>
            <a:r>
              <a:rPr lang="ru-RU" dirty="0"/>
              <a:t>(измерение давления, температуры, веса и т.п.), когда не требуется высокая частота дискретизации и необходимо разрешение более 16 разрядов</a:t>
            </a:r>
            <a:r>
              <a:rPr lang="ru-RU" dirty="0" smtClean="0"/>
              <a:t>.</a:t>
            </a:r>
          </a:p>
          <a:p>
            <a:r>
              <a:rPr lang="ru-RU" b="1" i="1" dirty="0" smtClean="0"/>
              <a:t>Интегрирующие АЦП</a:t>
            </a:r>
            <a:endParaRPr lang="ru-RU" b="1" i="1" dirty="0"/>
          </a:p>
          <a:p>
            <a:r>
              <a:rPr lang="ru-RU" dirty="0" smtClean="0"/>
              <a:t>Высокая </a:t>
            </a:r>
            <a:r>
              <a:rPr lang="ru-RU" dirty="0"/>
              <a:t>точность и </a:t>
            </a:r>
            <a:r>
              <a:rPr lang="ru-RU" dirty="0" smtClean="0"/>
              <a:t>высокое разрешающая способность, сравнительно проста структура. Реализация </a:t>
            </a:r>
            <a:r>
              <a:rPr lang="ru-RU" dirty="0"/>
              <a:t>в виде интегральных </a:t>
            </a:r>
            <a:r>
              <a:rPr lang="ru-RU" dirty="0" smtClean="0"/>
              <a:t>микросхем, высокая помехозащищенность. </a:t>
            </a:r>
            <a:r>
              <a:rPr lang="ru-RU" dirty="0"/>
              <a:t>Основной недостаток таких АЦП - большое время </a:t>
            </a:r>
            <a:r>
              <a:rPr lang="ru-RU" dirty="0" smtClean="0"/>
              <a:t>преобразования</a:t>
            </a:r>
            <a:r>
              <a:rPr lang="ru-RU" dirty="0"/>
              <a:t>.</a:t>
            </a:r>
          </a:p>
        </p:txBody>
      </p:sp>
      <p:sp>
        <p:nvSpPr>
          <p:cNvPr id="5" name="TextBox 4"/>
          <p:cNvSpPr txBox="1"/>
          <p:nvPr/>
        </p:nvSpPr>
        <p:spPr>
          <a:xfrm>
            <a:off x="2555776" y="107340"/>
            <a:ext cx="4530279" cy="369332"/>
          </a:xfrm>
          <a:prstGeom prst="rect">
            <a:avLst/>
          </a:prstGeom>
          <a:noFill/>
        </p:spPr>
        <p:txBody>
          <a:bodyPr wrap="none" rtlCol="0">
            <a:spAutoFit/>
          </a:bodyPr>
          <a:lstStyle/>
          <a:p>
            <a:r>
              <a:rPr lang="ru-RU" b="1" dirty="0" smtClean="0"/>
              <a:t>Области применения АЦП различного типа</a:t>
            </a:r>
            <a:endParaRPr lang="ru-RU" b="1" dirty="0"/>
          </a:p>
        </p:txBody>
      </p:sp>
    </p:spTree>
    <p:extLst>
      <p:ext uri="{BB962C8B-B14F-4D97-AF65-F5344CB8AC3E}">
        <p14:creationId xmlns:p14="http://schemas.microsoft.com/office/powerpoint/2010/main" val="2146023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http://www.efo.ru/images/silabs/article/01/pic_01.jpg"/>
          <p:cNvPicPr>
            <a:picLocks noChangeAspect="1" noChangeArrowheads="1"/>
          </p:cNvPicPr>
          <p:nvPr/>
        </p:nvPicPr>
        <p:blipFill rotWithShape="1">
          <a:blip r:embed="rId2">
            <a:extLst>
              <a:ext uri="{28A0092B-C50C-407E-A947-70E740481C1C}">
                <a14:useLocalDpi xmlns:a14="http://schemas.microsoft.com/office/drawing/2010/main" val="0"/>
              </a:ext>
            </a:extLst>
          </a:blip>
          <a:srcRect b="9848"/>
          <a:stretch/>
        </p:blipFill>
        <p:spPr bwMode="auto">
          <a:xfrm>
            <a:off x="323528" y="1268760"/>
            <a:ext cx="8278852" cy="44644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059832" y="692696"/>
            <a:ext cx="2634054" cy="369332"/>
          </a:xfrm>
          <a:prstGeom prst="rect">
            <a:avLst/>
          </a:prstGeom>
          <a:noFill/>
        </p:spPr>
        <p:txBody>
          <a:bodyPr wrap="none" rtlCol="0">
            <a:spAutoFit/>
          </a:bodyPr>
          <a:lstStyle/>
          <a:p>
            <a:r>
              <a:rPr lang="ru-RU" dirty="0" smtClean="0"/>
              <a:t>Сводная диаграмма АЦП</a:t>
            </a:r>
            <a:endParaRPr lang="ru-RU" dirty="0"/>
          </a:p>
        </p:txBody>
      </p:sp>
    </p:spTree>
    <p:extLst>
      <p:ext uri="{BB962C8B-B14F-4D97-AF65-F5344CB8AC3E}">
        <p14:creationId xmlns:p14="http://schemas.microsoft.com/office/powerpoint/2010/main" val="991918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55776" y="116632"/>
            <a:ext cx="3879524" cy="369332"/>
          </a:xfrm>
          <a:prstGeom prst="rect">
            <a:avLst/>
          </a:prstGeom>
          <a:noFill/>
        </p:spPr>
        <p:txBody>
          <a:bodyPr wrap="none" rtlCol="0">
            <a:spAutoFit/>
          </a:bodyPr>
          <a:lstStyle/>
          <a:p>
            <a:r>
              <a:rPr lang="ru-RU" i="1" dirty="0" smtClean="0"/>
              <a:t>Графическое обозначение </a:t>
            </a:r>
            <a:r>
              <a:rPr lang="en-US" i="1" dirty="0" smtClean="0"/>
              <a:t> </a:t>
            </a:r>
            <a:r>
              <a:rPr lang="ru-RU" i="1" dirty="0" smtClean="0"/>
              <a:t>АЦП (</a:t>
            </a:r>
            <a:r>
              <a:rPr lang="en-US" i="1" dirty="0" smtClean="0"/>
              <a:t>ADC</a:t>
            </a:r>
            <a:r>
              <a:rPr lang="ru-RU" i="1" dirty="0" smtClean="0"/>
              <a:t>)</a:t>
            </a:r>
            <a:endParaRPr lang="ru-RU" i="1" dirty="0"/>
          </a:p>
        </p:txBody>
      </p:sp>
      <p:sp>
        <p:nvSpPr>
          <p:cNvPr id="5" name="Прямоугольник 4"/>
          <p:cNvSpPr/>
          <p:nvPr/>
        </p:nvSpPr>
        <p:spPr>
          <a:xfrm>
            <a:off x="2129811" y="1582480"/>
            <a:ext cx="1656184"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Прямоугольник 5"/>
          <p:cNvSpPr/>
          <p:nvPr/>
        </p:nvSpPr>
        <p:spPr>
          <a:xfrm>
            <a:off x="2705875" y="1582480"/>
            <a:ext cx="504056"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 name="Прямая соединительная линия 6"/>
          <p:cNvCxnSpPr/>
          <p:nvPr/>
        </p:nvCxnSpPr>
        <p:spPr>
          <a:xfrm>
            <a:off x="3787199" y="1738839"/>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3796304" y="2735388"/>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a:off x="3785995" y="2245514"/>
            <a:ext cx="504056"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380115" y="1579828"/>
            <a:ext cx="405880" cy="369332"/>
          </a:xfrm>
          <a:prstGeom prst="rect">
            <a:avLst/>
          </a:prstGeom>
          <a:noFill/>
        </p:spPr>
        <p:txBody>
          <a:bodyPr wrap="none" rtlCol="0">
            <a:spAutoFit/>
          </a:bodyPr>
          <a:lstStyle/>
          <a:p>
            <a:r>
              <a:rPr lang="en-US" dirty="0" smtClean="0"/>
              <a:t>D</a:t>
            </a:r>
            <a:r>
              <a:rPr lang="en-US" baseline="-25000" dirty="0" smtClean="0"/>
              <a:t>0</a:t>
            </a:r>
            <a:endParaRPr lang="ru-RU" baseline="-25000" dirty="0"/>
          </a:p>
        </p:txBody>
      </p:sp>
      <p:sp>
        <p:nvSpPr>
          <p:cNvPr id="13" name="TextBox 12"/>
          <p:cNvSpPr txBox="1"/>
          <p:nvPr/>
        </p:nvSpPr>
        <p:spPr>
          <a:xfrm>
            <a:off x="3244550" y="2550722"/>
            <a:ext cx="551754" cy="369332"/>
          </a:xfrm>
          <a:prstGeom prst="rect">
            <a:avLst/>
          </a:prstGeom>
          <a:noFill/>
        </p:spPr>
        <p:txBody>
          <a:bodyPr wrap="none" rtlCol="0">
            <a:spAutoFit/>
          </a:bodyPr>
          <a:lstStyle/>
          <a:p>
            <a:r>
              <a:rPr lang="en-US" dirty="0" smtClean="0"/>
              <a:t>D</a:t>
            </a:r>
            <a:r>
              <a:rPr lang="en-US" baseline="-25000" dirty="0" smtClean="0"/>
              <a:t>N-1</a:t>
            </a:r>
            <a:endParaRPr lang="ru-RU" baseline="-25000" dirty="0"/>
          </a:p>
        </p:txBody>
      </p:sp>
      <p:sp>
        <p:nvSpPr>
          <p:cNvPr id="14" name="Левая фигурная скобка 13"/>
          <p:cNvSpPr/>
          <p:nvPr/>
        </p:nvSpPr>
        <p:spPr>
          <a:xfrm flipH="1">
            <a:off x="4319180" y="1433818"/>
            <a:ext cx="311832" cy="15528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5" name="TextBox 14"/>
          <p:cNvSpPr txBox="1"/>
          <p:nvPr/>
        </p:nvSpPr>
        <p:spPr>
          <a:xfrm>
            <a:off x="4638009" y="1887061"/>
            <a:ext cx="1612493" cy="646331"/>
          </a:xfrm>
          <a:prstGeom prst="rect">
            <a:avLst/>
          </a:prstGeom>
          <a:noFill/>
        </p:spPr>
        <p:txBody>
          <a:bodyPr wrap="none" rtlCol="0">
            <a:spAutoFit/>
          </a:bodyPr>
          <a:lstStyle/>
          <a:p>
            <a:r>
              <a:rPr lang="en-US" dirty="0" smtClean="0"/>
              <a:t>N-</a:t>
            </a:r>
            <a:r>
              <a:rPr lang="ru-RU" dirty="0" smtClean="0"/>
              <a:t>разрядный</a:t>
            </a:r>
          </a:p>
          <a:p>
            <a:r>
              <a:rPr lang="ru-RU" dirty="0" smtClean="0"/>
              <a:t> выходной код</a:t>
            </a:r>
            <a:endParaRPr lang="ru-RU" dirty="0"/>
          </a:p>
        </p:txBody>
      </p:sp>
      <p:cxnSp>
        <p:nvCxnSpPr>
          <p:cNvPr id="16" name="Прямая соединительная линия 15"/>
          <p:cNvCxnSpPr/>
          <p:nvPr/>
        </p:nvCxnSpPr>
        <p:spPr>
          <a:xfrm>
            <a:off x="2129811" y="3469650"/>
            <a:ext cx="5760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1625755" y="3635831"/>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8" name="Объект 17"/>
          <p:cNvGraphicFramePr>
            <a:graphicFrameLocks noChangeAspect="1"/>
          </p:cNvGraphicFramePr>
          <p:nvPr>
            <p:extLst>
              <p:ext uri="{D42A27DB-BD31-4B8C-83A1-F6EECF244321}">
                <p14:modId xmlns:p14="http://schemas.microsoft.com/office/powerpoint/2010/main" val="3722734660"/>
              </p:ext>
            </p:extLst>
          </p:nvPr>
        </p:nvGraphicFramePr>
        <p:xfrm>
          <a:off x="2162853" y="2640736"/>
          <a:ext cx="490339" cy="422942"/>
        </p:xfrm>
        <a:graphic>
          <a:graphicData uri="http://schemas.openxmlformats.org/presentationml/2006/ole">
            <mc:AlternateContent xmlns:mc="http://schemas.openxmlformats.org/markup-compatibility/2006">
              <mc:Choice xmlns:v="urn:schemas-microsoft-com:vml" Requires="v">
                <p:oleObj spid="_x0000_s15720" name="Equation" r:id="rId3" imgW="279360" imgH="241200" progId="Equation.DSMT4">
                  <p:embed/>
                </p:oleObj>
              </mc:Choice>
              <mc:Fallback>
                <p:oleObj name="Equation" r:id="rId3" imgW="27936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2853" y="2640736"/>
                        <a:ext cx="490339" cy="422942"/>
                      </a:xfrm>
                      <a:prstGeom prst="rect">
                        <a:avLst/>
                      </a:prstGeom>
                      <a:noFill/>
                      <a:ln>
                        <a:noFill/>
                      </a:ln>
                    </p:spPr>
                  </p:pic>
                </p:oleObj>
              </mc:Fallback>
            </mc:AlternateContent>
          </a:graphicData>
        </a:graphic>
      </p:graphicFrame>
      <p:sp>
        <p:nvSpPr>
          <p:cNvPr id="19" name="TextBox 18"/>
          <p:cNvSpPr txBox="1"/>
          <p:nvPr/>
        </p:nvSpPr>
        <p:spPr>
          <a:xfrm>
            <a:off x="2631183" y="1582480"/>
            <a:ext cx="583814" cy="369332"/>
          </a:xfrm>
          <a:prstGeom prst="rect">
            <a:avLst/>
          </a:prstGeom>
          <a:noFill/>
        </p:spPr>
        <p:txBody>
          <a:bodyPr wrap="none" rtlCol="0">
            <a:spAutoFit/>
          </a:bodyPr>
          <a:lstStyle/>
          <a:p>
            <a:r>
              <a:rPr lang="en-US" dirty="0" smtClean="0"/>
              <a:t>ADC</a:t>
            </a:r>
            <a:endParaRPr lang="ru-RU" dirty="0"/>
          </a:p>
        </p:txBody>
      </p:sp>
      <p:cxnSp>
        <p:nvCxnSpPr>
          <p:cNvPr id="30" name="Прямая соединительная линия 29"/>
          <p:cNvCxnSpPr/>
          <p:nvPr/>
        </p:nvCxnSpPr>
        <p:spPr>
          <a:xfrm flipV="1">
            <a:off x="3785995" y="3272130"/>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flipV="1">
            <a:off x="3796304" y="3699795"/>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209931" y="3474072"/>
            <a:ext cx="556563" cy="369332"/>
          </a:xfrm>
          <a:prstGeom prst="rect">
            <a:avLst/>
          </a:prstGeom>
          <a:noFill/>
        </p:spPr>
        <p:txBody>
          <a:bodyPr wrap="none" rtlCol="0">
            <a:spAutoFit/>
          </a:bodyPr>
          <a:lstStyle/>
          <a:p>
            <a:r>
              <a:rPr lang="en-US" i="1" dirty="0" err="1" smtClean="0">
                <a:latin typeface="Times New Roman" pitchFamily="18" charset="0"/>
                <a:cs typeface="Times New Roman" pitchFamily="18" charset="0"/>
              </a:rPr>
              <a:t>Ucc</a:t>
            </a:r>
            <a:endParaRPr lang="ru-RU" i="1" dirty="0">
              <a:latin typeface="Times New Roman" pitchFamily="18" charset="0"/>
              <a:cs typeface="Times New Roman" pitchFamily="18" charset="0"/>
            </a:endParaRPr>
          </a:p>
        </p:txBody>
      </p:sp>
      <p:cxnSp>
        <p:nvCxnSpPr>
          <p:cNvPr id="38" name="Прямая соединительная линия 37"/>
          <p:cNvCxnSpPr/>
          <p:nvPr/>
        </p:nvCxnSpPr>
        <p:spPr>
          <a:xfrm>
            <a:off x="1623387" y="1949160"/>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p:cNvCxnSpPr/>
          <p:nvPr/>
        </p:nvCxnSpPr>
        <p:spPr>
          <a:xfrm>
            <a:off x="1623387" y="2828558"/>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0" name="Объект 39"/>
          <p:cNvGraphicFramePr>
            <a:graphicFrameLocks noChangeAspect="1"/>
          </p:cNvGraphicFramePr>
          <p:nvPr>
            <p:extLst>
              <p:ext uri="{D42A27DB-BD31-4B8C-83A1-F6EECF244321}">
                <p14:modId xmlns:p14="http://schemas.microsoft.com/office/powerpoint/2010/main" val="3843962144"/>
              </p:ext>
            </p:extLst>
          </p:nvPr>
        </p:nvGraphicFramePr>
        <p:xfrm>
          <a:off x="2181166" y="1664458"/>
          <a:ext cx="423862" cy="400050"/>
        </p:xfrm>
        <a:graphic>
          <a:graphicData uri="http://schemas.openxmlformats.org/presentationml/2006/ole">
            <mc:AlternateContent xmlns:mc="http://schemas.openxmlformats.org/markup-compatibility/2006">
              <mc:Choice xmlns:v="urn:schemas-microsoft-com:vml" Requires="v">
                <p:oleObj spid="_x0000_s15721" name="Equation" r:id="rId5" imgW="241200" imgH="228600" progId="Equation.DSMT4">
                  <p:embed/>
                </p:oleObj>
              </mc:Choice>
              <mc:Fallback>
                <p:oleObj name="Equation" r:id="rId5" imgW="241200" imgH="228600" progId="Equation.DSMT4">
                  <p:embed/>
                  <p:pic>
                    <p:nvPicPr>
                      <p:cNvPr id="0" name="Объект 17"/>
                      <p:cNvPicPr>
                        <a:picLocks noChangeAspect="1" noChangeArrowheads="1"/>
                      </p:cNvPicPr>
                      <p:nvPr/>
                    </p:nvPicPr>
                    <p:blipFill>
                      <a:blip r:embed="rId6"/>
                      <a:srcRect/>
                      <a:stretch>
                        <a:fillRect/>
                      </a:stretch>
                    </p:blipFill>
                    <p:spPr bwMode="auto">
                      <a:xfrm>
                        <a:off x="2181166" y="1664458"/>
                        <a:ext cx="423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 name="TextBox 40"/>
          <p:cNvSpPr txBox="1"/>
          <p:nvPr/>
        </p:nvSpPr>
        <p:spPr>
          <a:xfrm>
            <a:off x="2144970" y="3478331"/>
            <a:ext cx="526106" cy="369332"/>
          </a:xfrm>
          <a:prstGeom prst="rect">
            <a:avLst/>
          </a:prstGeom>
          <a:noFill/>
        </p:spPr>
        <p:txBody>
          <a:bodyPr wrap="none" rtlCol="0">
            <a:spAutoFit/>
          </a:bodyPr>
          <a:lstStyle/>
          <a:p>
            <a:r>
              <a:rPr lang="en-US" dirty="0" smtClean="0"/>
              <a:t>CLK</a:t>
            </a:r>
            <a:endParaRPr lang="ru-RU" dirty="0"/>
          </a:p>
        </p:txBody>
      </p:sp>
      <p:cxnSp>
        <p:nvCxnSpPr>
          <p:cNvPr id="42" name="Прямая соединительная линия 41"/>
          <p:cNvCxnSpPr/>
          <p:nvPr/>
        </p:nvCxnSpPr>
        <p:spPr>
          <a:xfrm>
            <a:off x="1611202" y="4088173"/>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2144970" y="3934716"/>
            <a:ext cx="413896" cy="369332"/>
          </a:xfrm>
          <a:prstGeom prst="rect">
            <a:avLst/>
          </a:prstGeom>
          <a:noFill/>
        </p:spPr>
        <p:txBody>
          <a:bodyPr wrap="none" rtlCol="0">
            <a:spAutoFit/>
          </a:bodyPr>
          <a:lstStyle/>
          <a:p>
            <a:r>
              <a:rPr lang="en-US" dirty="0" smtClean="0"/>
              <a:t>CS</a:t>
            </a:r>
            <a:endParaRPr lang="ru-RU" dirty="0"/>
          </a:p>
        </p:txBody>
      </p:sp>
      <p:sp>
        <p:nvSpPr>
          <p:cNvPr id="44" name="TextBox 43"/>
          <p:cNvSpPr txBox="1"/>
          <p:nvPr/>
        </p:nvSpPr>
        <p:spPr>
          <a:xfrm>
            <a:off x="3222978" y="3108999"/>
            <a:ext cx="560153" cy="369332"/>
          </a:xfrm>
          <a:prstGeom prst="rect">
            <a:avLst/>
          </a:prstGeom>
          <a:noFill/>
        </p:spPr>
        <p:txBody>
          <a:bodyPr wrap="none" rtlCol="0">
            <a:spAutoFit/>
          </a:bodyPr>
          <a:lstStyle/>
          <a:p>
            <a:r>
              <a:rPr lang="en-US" dirty="0" smtClean="0"/>
              <a:t>RDY</a:t>
            </a:r>
            <a:endParaRPr lang="ru-RU" dirty="0"/>
          </a:p>
        </p:txBody>
      </p:sp>
      <p:cxnSp>
        <p:nvCxnSpPr>
          <p:cNvPr id="45" name="Прямая соединительная линия 44"/>
          <p:cNvCxnSpPr/>
          <p:nvPr/>
        </p:nvCxnSpPr>
        <p:spPr>
          <a:xfrm flipV="1">
            <a:off x="3799289" y="4087241"/>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209931" y="3903507"/>
            <a:ext cx="622286" cy="369332"/>
          </a:xfrm>
          <a:prstGeom prst="rect">
            <a:avLst/>
          </a:prstGeom>
          <a:noFill/>
        </p:spPr>
        <p:txBody>
          <a:bodyPr wrap="none" rtlCol="0">
            <a:spAutoFit/>
          </a:bodyPr>
          <a:lstStyle/>
          <a:p>
            <a:r>
              <a:rPr lang="en-US" dirty="0" smtClean="0">
                <a:latin typeface="+mj-lt"/>
                <a:cs typeface="Times New Roman" pitchFamily="18" charset="0"/>
              </a:rPr>
              <a:t>GND</a:t>
            </a:r>
            <a:endParaRPr lang="ru-RU" dirty="0">
              <a:latin typeface="+mj-lt"/>
              <a:cs typeface="Times New Roman" pitchFamily="18" charset="0"/>
            </a:endParaRPr>
          </a:p>
        </p:txBody>
      </p:sp>
      <p:sp>
        <p:nvSpPr>
          <p:cNvPr id="47" name="TextBox 46"/>
          <p:cNvSpPr txBox="1"/>
          <p:nvPr/>
        </p:nvSpPr>
        <p:spPr>
          <a:xfrm>
            <a:off x="4642009" y="3087464"/>
            <a:ext cx="1240789" cy="369332"/>
          </a:xfrm>
          <a:prstGeom prst="rect">
            <a:avLst/>
          </a:prstGeom>
          <a:noFill/>
        </p:spPr>
        <p:txBody>
          <a:bodyPr wrap="none" rtlCol="0">
            <a:spAutoFit/>
          </a:bodyPr>
          <a:lstStyle/>
          <a:p>
            <a:r>
              <a:rPr lang="ru-RU" dirty="0" smtClean="0"/>
              <a:t>Готовность</a:t>
            </a:r>
            <a:endParaRPr lang="ru-RU" dirty="0"/>
          </a:p>
        </p:txBody>
      </p:sp>
      <p:sp>
        <p:nvSpPr>
          <p:cNvPr id="48" name="TextBox 47"/>
          <p:cNvSpPr txBox="1"/>
          <p:nvPr/>
        </p:nvSpPr>
        <p:spPr>
          <a:xfrm>
            <a:off x="4740151" y="3515130"/>
            <a:ext cx="1018227" cy="369332"/>
          </a:xfrm>
          <a:prstGeom prst="rect">
            <a:avLst/>
          </a:prstGeom>
          <a:noFill/>
        </p:spPr>
        <p:txBody>
          <a:bodyPr wrap="none" rtlCol="0">
            <a:spAutoFit/>
          </a:bodyPr>
          <a:lstStyle/>
          <a:p>
            <a:r>
              <a:rPr lang="ru-RU" dirty="0" smtClean="0"/>
              <a:t>Питание</a:t>
            </a:r>
            <a:endParaRPr lang="ru-RU" dirty="0"/>
          </a:p>
        </p:txBody>
      </p:sp>
      <p:sp>
        <p:nvSpPr>
          <p:cNvPr id="49" name="TextBox 48"/>
          <p:cNvSpPr txBox="1"/>
          <p:nvPr/>
        </p:nvSpPr>
        <p:spPr>
          <a:xfrm>
            <a:off x="4764400" y="3908138"/>
            <a:ext cx="789255" cy="369332"/>
          </a:xfrm>
          <a:prstGeom prst="rect">
            <a:avLst/>
          </a:prstGeom>
          <a:noFill/>
        </p:spPr>
        <p:txBody>
          <a:bodyPr wrap="none" rtlCol="0">
            <a:spAutoFit/>
          </a:bodyPr>
          <a:lstStyle/>
          <a:p>
            <a:r>
              <a:rPr lang="ru-RU" dirty="0" smtClean="0"/>
              <a:t>Земля</a:t>
            </a:r>
            <a:endParaRPr lang="ru-RU" dirty="0"/>
          </a:p>
        </p:txBody>
      </p:sp>
      <p:sp>
        <p:nvSpPr>
          <p:cNvPr id="50" name="TextBox 49"/>
          <p:cNvSpPr txBox="1"/>
          <p:nvPr/>
        </p:nvSpPr>
        <p:spPr>
          <a:xfrm>
            <a:off x="193511" y="1628646"/>
            <a:ext cx="1405065" cy="646331"/>
          </a:xfrm>
          <a:prstGeom prst="rect">
            <a:avLst/>
          </a:prstGeom>
          <a:noFill/>
        </p:spPr>
        <p:txBody>
          <a:bodyPr wrap="none" rtlCol="0">
            <a:spAutoFit/>
          </a:bodyPr>
          <a:lstStyle/>
          <a:p>
            <a:r>
              <a:rPr lang="ru-RU" dirty="0" smtClean="0"/>
              <a:t>Входное </a:t>
            </a:r>
          </a:p>
          <a:p>
            <a:r>
              <a:rPr lang="ru-RU" dirty="0" smtClean="0"/>
              <a:t>напряжение</a:t>
            </a:r>
            <a:endParaRPr lang="ru-RU" dirty="0"/>
          </a:p>
        </p:txBody>
      </p:sp>
      <p:sp>
        <p:nvSpPr>
          <p:cNvPr id="51" name="TextBox 50"/>
          <p:cNvSpPr txBox="1"/>
          <p:nvPr/>
        </p:nvSpPr>
        <p:spPr>
          <a:xfrm>
            <a:off x="220690" y="2462668"/>
            <a:ext cx="1405065" cy="646331"/>
          </a:xfrm>
          <a:prstGeom prst="rect">
            <a:avLst/>
          </a:prstGeom>
          <a:noFill/>
        </p:spPr>
        <p:txBody>
          <a:bodyPr wrap="none" rtlCol="0">
            <a:spAutoFit/>
          </a:bodyPr>
          <a:lstStyle/>
          <a:p>
            <a:r>
              <a:rPr lang="ru-RU" dirty="0" smtClean="0"/>
              <a:t>Опорное</a:t>
            </a:r>
          </a:p>
          <a:p>
            <a:r>
              <a:rPr lang="ru-RU" dirty="0" smtClean="0"/>
              <a:t>напряжение</a:t>
            </a:r>
            <a:endParaRPr lang="ru-RU" dirty="0"/>
          </a:p>
        </p:txBody>
      </p:sp>
      <p:sp>
        <p:nvSpPr>
          <p:cNvPr id="52" name="TextBox 51"/>
          <p:cNvSpPr txBox="1"/>
          <p:nvPr/>
        </p:nvSpPr>
        <p:spPr>
          <a:xfrm>
            <a:off x="528852" y="3312665"/>
            <a:ext cx="1096903" cy="646331"/>
          </a:xfrm>
          <a:prstGeom prst="rect">
            <a:avLst/>
          </a:prstGeom>
          <a:noFill/>
        </p:spPr>
        <p:txBody>
          <a:bodyPr wrap="none" rtlCol="0">
            <a:spAutoFit/>
          </a:bodyPr>
          <a:lstStyle/>
          <a:p>
            <a:r>
              <a:rPr lang="ru-RU" dirty="0" smtClean="0"/>
              <a:t>Тактовый</a:t>
            </a:r>
          </a:p>
          <a:p>
            <a:r>
              <a:rPr lang="ru-RU" dirty="0" smtClean="0"/>
              <a:t>сигнал</a:t>
            </a:r>
            <a:endParaRPr lang="ru-RU" dirty="0"/>
          </a:p>
        </p:txBody>
      </p:sp>
      <p:sp>
        <p:nvSpPr>
          <p:cNvPr id="53" name="TextBox 52"/>
          <p:cNvSpPr txBox="1"/>
          <p:nvPr/>
        </p:nvSpPr>
        <p:spPr>
          <a:xfrm>
            <a:off x="207249" y="3908138"/>
            <a:ext cx="1396536" cy="646331"/>
          </a:xfrm>
          <a:prstGeom prst="rect">
            <a:avLst/>
          </a:prstGeom>
          <a:noFill/>
        </p:spPr>
        <p:txBody>
          <a:bodyPr wrap="none" rtlCol="0">
            <a:spAutoFit/>
          </a:bodyPr>
          <a:lstStyle/>
          <a:p>
            <a:r>
              <a:rPr lang="ru-RU" dirty="0" smtClean="0"/>
              <a:t>Разрешение</a:t>
            </a:r>
          </a:p>
          <a:p>
            <a:r>
              <a:rPr lang="ru-RU" dirty="0" smtClean="0"/>
              <a:t>работы</a:t>
            </a:r>
            <a:endParaRPr lang="ru-RU" dirty="0"/>
          </a:p>
        </p:txBody>
      </p:sp>
      <p:sp>
        <p:nvSpPr>
          <p:cNvPr id="54" name="TextBox 53"/>
          <p:cNvSpPr txBox="1"/>
          <p:nvPr/>
        </p:nvSpPr>
        <p:spPr>
          <a:xfrm>
            <a:off x="1681265" y="4797152"/>
            <a:ext cx="5413571" cy="1815882"/>
          </a:xfrm>
          <a:prstGeom prst="rect">
            <a:avLst/>
          </a:prstGeom>
          <a:noFill/>
        </p:spPr>
        <p:txBody>
          <a:bodyPr wrap="square" rtlCol="0">
            <a:spAutoFit/>
          </a:bodyPr>
          <a:lstStyle/>
          <a:p>
            <a:r>
              <a:rPr lang="ru-RU" sz="1600" dirty="0" smtClean="0"/>
              <a:t>Примечание</a:t>
            </a:r>
          </a:p>
          <a:p>
            <a:r>
              <a:rPr lang="ru-RU" sz="1600" b="1" dirty="0" smtClean="0"/>
              <a:t>Выходные</a:t>
            </a:r>
            <a:r>
              <a:rPr lang="ru-RU" sz="1600" dirty="0" smtClean="0"/>
              <a:t> данные  </a:t>
            </a:r>
            <a:r>
              <a:rPr lang="en-US" sz="1600" dirty="0" smtClean="0"/>
              <a:t>ADC </a:t>
            </a:r>
            <a:r>
              <a:rPr lang="ru-RU" sz="1600" dirty="0" smtClean="0"/>
              <a:t>могут</a:t>
            </a:r>
          </a:p>
          <a:p>
            <a:r>
              <a:rPr lang="ru-RU" sz="1600" dirty="0" smtClean="0"/>
              <a:t>передаваться в различном виде</a:t>
            </a:r>
            <a:r>
              <a:rPr lang="en-US" sz="1600" dirty="0" smtClean="0"/>
              <a:t>:</a:t>
            </a:r>
          </a:p>
          <a:p>
            <a:r>
              <a:rPr lang="en-US" sz="1600" dirty="0" smtClean="0"/>
              <a:t>-</a:t>
            </a:r>
            <a:r>
              <a:rPr lang="ru-RU" sz="1600" dirty="0" smtClean="0"/>
              <a:t>параллельном</a:t>
            </a:r>
          </a:p>
          <a:p>
            <a:r>
              <a:rPr lang="ru-RU" sz="1600" dirty="0" smtClean="0"/>
              <a:t>-последовательном</a:t>
            </a:r>
          </a:p>
          <a:p>
            <a:r>
              <a:rPr lang="ru-RU" sz="1600" dirty="0" smtClean="0"/>
              <a:t>-</a:t>
            </a:r>
            <a:r>
              <a:rPr lang="ru-RU" sz="1600" dirty="0"/>
              <a:t> </a:t>
            </a:r>
            <a:r>
              <a:rPr lang="ru-RU" sz="1600" dirty="0" smtClean="0"/>
              <a:t>параллельн</a:t>
            </a:r>
            <a:r>
              <a:rPr lang="ru-RU" sz="1600" dirty="0"/>
              <a:t>о</a:t>
            </a:r>
            <a:r>
              <a:rPr lang="ru-RU" sz="1600" dirty="0" smtClean="0"/>
              <a:t>м</a:t>
            </a:r>
            <a:r>
              <a:rPr lang="en-US" sz="1600" dirty="0" smtClean="0"/>
              <a:t>/</a:t>
            </a:r>
            <a:r>
              <a:rPr lang="ru-RU" sz="1600" dirty="0"/>
              <a:t>последовательном</a:t>
            </a:r>
          </a:p>
          <a:p>
            <a:endParaRPr lang="ru-RU" sz="1600" dirty="0"/>
          </a:p>
        </p:txBody>
      </p:sp>
    </p:spTree>
    <p:extLst>
      <p:ext uri="{BB962C8B-B14F-4D97-AF65-F5344CB8AC3E}">
        <p14:creationId xmlns:p14="http://schemas.microsoft.com/office/powerpoint/2010/main" val="598509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71600" y="301399"/>
            <a:ext cx="7195368" cy="369332"/>
          </a:xfrm>
          <a:prstGeom prst="rect">
            <a:avLst/>
          </a:prstGeom>
          <a:noFill/>
        </p:spPr>
        <p:txBody>
          <a:bodyPr wrap="none" rtlCol="0">
            <a:spAutoFit/>
          </a:bodyPr>
          <a:lstStyle/>
          <a:p>
            <a:r>
              <a:rPr lang="ru-RU" b="1" dirty="0" smtClean="0"/>
              <a:t>Примеры реализаций функциональных устройств на базе ЦАП и АЦП</a:t>
            </a:r>
            <a:endParaRPr lang="ru-RU" b="1" dirty="0"/>
          </a:p>
        </p:txBody>
      </p:sp>
      <p:sp>
        <p:nvSpPr>
          <p:cNvPr id="5" name="TextBox 4"/>
          <p:cNvSpPr txBox="1"/>
          <p:nvPr/>
        </p:nvSpPr>
        <p:spPr>
          <a:xfrm>
            <a:off x="2771800" y="827420"/>
            <a:ext cx="3244478" cy="369332"/>
          </a:xfrm>
          <a:prstGeom prst="rect">
            <a:avLst/>
          </a:prstGeom>
          <a:noFill/>
        </p:spPr>
        <p:txBody>
          <a:bodyPr wrap="none" rtlCol="0">
            <a:spAutoFit/>
          </a:bodyPr>
          <a:lstStyle/>
          <a:p>
            <a:r>
              <a:rPr lang="ru-RU" dirty="0" smtClean="0"/>
              <a:t>Фиксаторы пороговых уровней</a:t>
            </a:r>
            <a:endParaRPr lang="ru-RU" dirty="0"/>
          </a:p>
        </p:txBody>
      </p:sp>
      <p:sp>
        <p:nvSpPr>
          <p:cNvPr id="6" name="Прямоугольник 5"/>
          <p:cNvSpPr/>
          <p:nvPr/>
        </p:nvSpPr>
        <p:spPr>
          <a:xfrm>
            <a:off x="2127443" y="1628646"/>
            <a:ext cx="1008112" cy="158417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2339592" y="1628646"/>
            <a:ext cx="583814" cy="369332"/>
          </a:xfrm>
          <a:prstGeom prst="rect">
            <a:avLst/>
          </a:prstGeom>
          <a:noFill/>
        </p:spPr>
        <p:txBody>
          <a:bodyPr wrap="none" rtlCol="0">
            <a:spAutoFit/>
          </a:bodyPr>
          <a:lstStyle/>
          <a:p>
            <a:r>
              <a:rPr lang="en-US" dirty="0" smtClean="0"/>
              <a:t>ADC</a:t>
            </a:r>
            <a:endParaRPr lang="ru-RU" dirty="0"/>
          </a:p>
        </p:txBody>
      </p:sp>
      <p:cxnSp>
        <p:nvCxnSpPr>
          <p:cNvPr id="8" name="Прямая соединительная линия 7"/>
          <p:cNvCxnSpPr/>
          <p:nvPr/>
        </p:nvCxnSpPr>
        <p:spPr>
          <a:xfrm>
            <a:off x="1623387" y="1949160"/>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93511" y="1628646"/>
            <a:ext cx="1405065" cy="646331"/>
          </a:xfrm>
          <a:prstGeom prst="rect">
            <a:avLst/>
          </a:prstGeom>
          <a:noFill/>
        </p:spPr>
        <p:txBody>
          <a:bodyPr wrap="none" rtlCol="0">
            <a:spAutoFit/>
          </a:bodyPr>
          <a:lstStyle/>
          <a:p>
            <a:r>
              <a:rPr lang="ru-RU" dirty="0" smtClean="0"/>
              <a:t>Входное </a:t>
            </a:r>
          </a:p>
          <a:p>
            <a:r>
              <a:rPr lang="ru-RU" dirty="0" smtClean="0"/>
              <a:t>напряжение</a:t>
            </a:r>
            <a:endParaRPr lang="ru-RU" dirty="0"/>
          </a:p>
        </p:txBody>
      </p:sp>
      <p:sp>
        <p:nvSpPr>
          <p:cNvPr id="10" name="TextBox 9"/>
          <p:cNvSpPr txBox="1"/>
          <p:nvPr/>
        </p:nvSpPr>
        <p:spPr>
          <a:xfrm>
            <a:off x="2808221" y="2051402"/>
            <a:ext cx="327334" cy="369332"/>
          </a:xfrm>
          <a:prstGeom prst="rect">
            <a:avLst/>
          </a:prstGeom>
          <a:noFill/>
        </p:spPr>
        <p:txBody>
          <a:bodyPr wrap="none" rtlCol="0">
            <a:spAutoFit/>
          </a:bodyPr>
          <a:lstStyle/>
          <a:p>
            <a:r>
              <a:rPr lang="en-US" dirty="0" smtClean="0"/>
              <a:t>D</a:t>
            </a:r>
            <a:endParaRPr lang="ru-RU" dirty="0"/>
          </a:p>
        </p:txBody>
      </p:sp>
      <p:sp>
        <p:nvSpPr>
          <p:cNvPr id="11" name="TextBox 10"/>
          <p:cNvSpPr txBox="1"/>
          <p:nvPr/>
        </p:nvSpPr>
        <p:spPr>
          <a:xfrm>
            <a:off x="2575402" y="2636912"/>
            <a:ext cx="560153" cy="369332"/>
          </a:xfrm>
          <a:prstGeom prst="rect">
            <a:avLst/>
          </a:prstGeom>
          <a:noFill/>
        </p:spPr>
        <p:txBody>
          <a:bodyPr wrap="none" rtlCol="0">
            <a:spAutoFit/>
          </a:bodyPr>
          <a:lstStyle/>
          <a:p>
            <a:r>
              <a:rPr lang="en-US" dirty="0" smtClean="0"/>
              <a:t>RDY</a:t>
            </a:r>
            <a:endParaRPr lang="ru-RU" dirty="0"/>
          </a:p>
        </p:txBody>
      </p:sp>
      <p:sp>
        <p:nvSpPr>
          <p:cNvPr id="13" name="Прямоугольник 12"/>
          <p:cNvSpPr/>
          <p:nvPr/>
        </p:nvSpPr>
        <p:spPr>
          <a:xfrm>
            <a:off x="4394039" y="1621860"/>
            <a:ext cx="1008112" cy="158417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p:cNvSpPr txBox="1"/>
          <p:nvPr/>
        </p:nvSpPr>
        <p:spPr>
          <a:xfrm>
            <a:off x="4716016" y="1628646"/>
            <a:ext cx="623889" cy="369332"/>
          </a:xfrm>
          <a:prstGeom prst="rect">
            <a:avLst/>
          </a:prstGeom>
          <a:noFill/>
        </p:spPr>
        <p:txBody>
          <a:bodyPr wrap="none" rtlCol="0">
            <a:spAutoFit/>
          </a:bodyPr>
          <a:lstStyle/>
          <a:p>
            <a:r>
              <a:rPr lang="en-US" dirty="0" smtClean="0"/>
              <a:t>CMP</a:t>
            </a:r>
            <a:endParaRPr lang="ru-RU" dirty="0"/>
          </a:p>
        </p:txBody>
      </p:sp>
      <p:sp>
        <p:nvSpPr>
          <p:cNvPr id="16" name="TextBox 15"/>
          <p:cNvSpPr txBox="1"/>
          <p:nvPr/>
        </p:nvSpPr>
        <p:spPr>
          <a:xfrm>
            <a:off x="4404293" y="2044616"/>
            <a:ext cx="317716" cy="369332"/>
          </a:xfrm>
          <a:prstGeom prst="rect">
            <a:avLst/>
          </a:prstGeom>
          <a:noFill/>
        </p:spPr>
        <p:txBody>
          <a:bodyPr wrap="none" rtlCol="0">
            <a:spAutoFit/>
          </a:bodyPr>
          <a:lstStyle/>
          <a:p>
            <a:r>
              <a:rPr lang="ru-RU" dirty="0" smtClean="0"/>
              <a:t>А</a:t>
            </a:r>
            <a:endParaRPr lang="ru-RU" dirty="0"/>
          </a:p>
        </p:txBody>
      </p:sp>
      <p:sp>
        <p:nvSpPr>
          <p:cNvPr id="17" name="TextBox 16"/>
          <p:cNvSpPr txBox="1"/>
          <p:nvPr/>
        </p:nvSpPr>
        <p:spPr>
          <a:xfrm>
            <a:off x="4793761" y="1764494"/>
            <a:ext cx="468398" cy="369332"/>
          </a:xfrm>
          <a:prstGeom prst="rect">
            <a:avLst/>
          </a:prstGeom>
          <a:noFill/>
        </p:spPr>
        <p:txBody>
          <a:bodyPr wrap="none" rtlCol="0">
            <a:spAutoFit/>
          </a:bodyPr>
          <a:lstStyle/>
          <a:p>
            <a:r>
              <a:rPr lang="ru-RU" dirty="0" smtClean="0"/>
              <a:t>= =</a:t>
            </a:r>
            <a:endParaRPr lang="ru-RU" dirty="0"/>
          </a:p>
        </p:txBody>
      </p:sp>
      <p:sp>
        <p:nvSpPr>
          <p:cNvPr id="18" name="TextBox 17"/>
          <p:cNvSpPr txBox="1"/>
          <p:nvPr/>
        </p:nvSpPr>
        <p:spPr>
          <a:xfrm>
            <a:off x="4436273" y="2566348"/>
            <a:ext cx="309700" cy="369332"/>
          </a:xfrm>
          <a:prstGeom prst="rect">
            <a:avLst/>
          </a:prstGeom>
          <a:noFill/>
        </p:spPr>
        <p:txBody>
          <a:bodyPr wrap="none" rtlCol="0">
            <a:spAutoFit/>
          </a:bodyPr>
          <a:lstStyle/>
          <a:p>
            <a:r>
              <a:rPr lang="en-US" dirty="0"/>
              <a:t>B</a:t>
            </a:r>
            <a:endParaRPr lang="ru-RU" dirty="0"/>
          </a:p>
        </p:txBody>
      </p:sp>
      <p:sp>
        <p:nvSpPr>
          <p:cNvPr id="21" name="TextBox 20"/>
          <p:cNvSpPr txBox="1"/>
          <p:nvPr/>
        </p:nvSpPr>
        <p:spPr>
          <a:xfrm>
            <a:off x="4832691" y="1995207"/>
            <a:ext cx="558166" cy="369332"/>
          </a:xfrm>
          <a:prstGeom prst="rect">
            <a:avLst/>
          </a:prstGeom>
          <a:noFill/>
        </p:spPr>
        <p:txBody>
          <a:bodyPr wrap="none" rtlCol="0">
            <a:spAutoFit/>
          </a:bodyPr>
          <a:lstStyle/>
          <a:p>
            <a:r>
              <a:rPr lang="ru-RU" dirty="0" smtClean="0"/>
              <a:t>А</a:t>
            </a:r>
            <a:r>
              <a:rPr lang="en-US" dirty="0" smtClean="0"/>
              <a:t>&gt;B</a:t>
            </a:r>
            <a:endParaRPr lang="ru-RU" dirty="0"/>
          </a:p>
        </p:txBody>
      </p:sp>
      <p:sp>
        <p:nvSpPr>
          <p:cNvPr id="22" name="Прямоугольник 21"/>
          <p:cNvSpPr/>
          <p:nvPr/>
        </p:nvSpPr>
        <p:spPr>
          <a:xfrm>
            <a:off x="6300192" y="1621860"/>
            <a:ext cx="1008112" cy="1584176"/>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4" name="Прямая соединительная линия 23"/>
          <p:cNvCxnSpPr/>
          <p:nvPr/>
        </p:nvCxnSpPr>
        <p:spPr>
          <a:xfrm>
            <a:off x="6660232" y="1621860"/>
            <a:ext cx="0" cy="15909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300192" y="2039240"/>
            <a:ext cx="327334" cy="369332"/>
          </a:xfrm>
          <a:prstGeom prst="rect">
            <a:avLst/>
          </a:prstGeom>
          <a:noFill/>
        </p:spPr>
        <p:txBody>
          <a:bodyPr wrap="none" rtlCol="0">
            <a:spAutoFit/>
          </a:bodyPr>
          <a:lstStyle/>
          <a:p>
            <a:r>
              <a:rPr lang="en-US" dirty="0" smtClean="0"/>
              <a:t>D</a:t>
            </a:r>
            <a:endParaRPr lang="ru-RU" dirty="0"/>
          </a:p>
        </p:txBody>
      </p:sp>
      <p:sp>
        <p:nvSpPr>
          <p:cNvPr id="26" name="TextBox 25"/>
          <p:cNvSpPr txBox="1"/>
          <p:nvPr/>
        </p:nvSpPr>
        <p:spPr>
          <a:xfrm>
            <a:off x="6300192" y="2810977"/>
            <a:ext cx="308098" cy="369332"/>
          </a:xfrm>
          <a:prstGeom prst="rect">
            <a:avLst/>
          </a:prstGeom>
          <a:noFill/>
        </p:spPr>
        <p:txBody>
          <a:bodyPr wrap="none" rtlCol="0">
            <a:spAutoFit/>
          </a:bodyPr>
          <a:lstStyle/>
          <a:p>
            <a:r>
              <a:rPr lang="en-US" dirty="0"/>
              <a:t>C</a:t>
            </a:r>
            <a:endParaRPr lang="ru-RU" dirty="0"/>
          </a:p>
        </p:txBody>
      </p:sp>
      <p:sp>
        <p:nvSpPr>
          <p:cNvPr id="27" name="TextBox 26"/>
          <p:cNvSpPr txBox="1"/>
          <p:nvPr/>
        </p:nvSpPr>
        <p:spPr>
          <a:xfrm>
            <a:off x="6835155" y="1621860"/>
            <a:ext cx="296876" cy="369332"/>
          </a:xfrm>
          <a:prstGeom prst="rect">
            <a:avLst/>
          </a:prstGeom>
          <a:noFill/>
        </p:spPr>
        <p:txBody>
          <a:bodyPr wrap="none" rtlCol="0">
            <a:spAutoFit/>
          </a:bodyPr>
          <a:lstStyle/>
          <a:p>
            <a:r>
              <a:rPr lang="en-US" dirty="0" smtClean="0"/>
              <a:t>T</a:t>
            </a:r>
            <a:endParaRPr lang="ru-RU" dirty="0"/>
          </a:p>
        </p:txBody>
      </p:sp>
      <p:cxnSp>
        <p:nvCxnSpPr>
          <p:cNvPr id="34" name="Соединительная линия уступом 33"/>
          <p:cNvCxnSpPr/>
          <p:nvPr/>
        </p:nvCxnSpPr>
        <p:spPr>
          <a:xfrm>
            <a:off x="3135556" y="2995643"/>
            <a:ext cx="1762539" cy="871900"/>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Соединительная линия уступом 35"/>
          <p:cNvCxnSpPr/>
          <p:nvPr/>
        </p:nvCxnSpPr>
        <p:spPr>
          <a:xfrm flipV="1">
            <a:off x="4898095" y="3006244"/>
            <a:ext cx="1402097" cy="861299"/>
          </a:xfrm>
          <a:prstGeom prst="bentConnector3">
            <a:avLst>
              <a:gd name="adj1" fmla="val 82608"/>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p:cNvCxnSpPr/>
          <p:nvPr/>
        </p:nvCxnSpPr>
        <p:spPr>
          <a:xfrm>
            <a:off x="5402151" y="2274977"/>
            <a:ext cx="89804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308304" y="2274977"/>
            <a:ext cx="89804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Соединительная линия уступом 41"/>
          <p:cNvCxnSpPr/>
          <p:nvPr/>
        </p:nvCxnSpPr>
        <p:spPr>
          <a:xfrm flipV="1">
            <a:off x="2339592" y="2751015"/>
            <a:ext cx="2054447" cy="1116528"/>
          </a:xfrm>
          <a:prstGeom prst="bentConnector3">
            <a:avLst>
              <a:gd name="adj1" fmla="val 64696"/>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339592" y="3867543"/>
            <a:ext cx="1278683" cy="369332"/>
          </a:xfrm>
          <a:prstGeom prst="rect">
            <a:avLst/>
          </a:prstGeom>
          <a:noFill/>
        </p:spPr>
        <p:txBody>
          <a:bodyPr wrap="none" rtlCol="0">
            <a:spAutoFit/>
          </a:bodyPr>
          <a:lstStyle/>
          <a:p>
            <a:r>
              <a:rPr lang="ru-RU" dirty="0" smtClean="0"/>
              <a:t>Код порога</a:t>
            </a:r>
            <a:endParaRPr lang="ru-RU" dirty="0"/>
          </a:p>
        </p:txBody>
      </p:sp>
      <p:cxnSp>
        <p:nvCxnSpPr>
          <p:cNvPr id="47" name="Соединительная линия уступом 46"/>
          <p:cNvCxnSpPr/>
          <p:nvPr/>
        </p:nvCxnSpPr>
        <p:spPr>
          <a:xfrm flipV="1">
            <a:off x="7884368" y="1815077"/>
            <a:ext cx="394493" cy="232714"/>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888987" y="1402976"/>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a:t>
            </a:r>
            <a:r>
              <a:rPr lang="ru-RU" i="1" dirty="0" err="1">
                <a:latin typeface="Times New Roman" pitchFamily="18" charset="0"/>
                <a:cs typeface="Times New Roman" pitchFamily="18" charset="0"/>
              </a:rPr>
              <a:t>ы</a:t>
            </a:r>
            <a:r>
              <a:rPr lang="ru-RU" i="1" dirty="0" err="1" smtClean="0">
                <a:latin typeface="Times New Roman" pitchFamily="18" charset="0"/>
                <a:cs typeface="Times New Roman" pitchFamily="18" charset="0"/>
              </a:rPr>
              <a:t>х</a:t>
            </a:r>
            <a:endParaRPr lang="ru-RU" i="1" dirty="0">
              <a:latin typeface="Times New Roman" pitchFamily="18" charset="0"/>
              <a:cs typeface="Times New Roman" pitchFamily="18" charset="0"/>
            </a:endParaRPr>
          </a:p>
        </p:txBody>
      </p:sp>
      <p:sp>
        <p:nvSpPr>
          <p:cNvPr id="30" name="TextBox 29"/>
          <p:cNvSpPr txBox="1"/>
          <p:nvPr/>
        </p:nvSpPr>
        <p:spPr>
          <a:xfrm>
            <a:off x="700460" y="4373999"/>
            <a:ext cx="8395269" cy="369332"/>
          </a:xfrm>
          <a:prstGeom prst="rect">
            <a:avLst/>
          </a:prstGeom>
          <a:noFill/>
        </p:spPr>
        <p:txBody>
          <a:bodyPr wrap="square" rtlCol="0">
            <a:spAutoFit/>
          </a:bodyPr>
          <a:lstStyle/>
          <a:p>
            <a:r>
              <a:rPr lang="ru-RU" b="1" dirty="0" smtClean="0">
                <a:solidFill>
                  <a:srgbClr val="FF0000"/>
                </a:solidFill>
              </a:rPr>
              <a:t>Временная диаграмма</a:t>
            </a:r>
            <a:r>
              <a:rPr lang="en-US" b="1" dirty="0" smtClean="0">
                <a:solidFill>
                  <a:srgbClr val="FF0000"/>
                </a:solidFill>
              </a:rPr>
              <a:t> </a:t>
            </a:r>
            <a:r>
              <a:rPr lang="en-US" b="1" i="1" dirty="0">
                <a:solidFill>
                  <a:srgbClr val="FF0000"/>
                </a:solidFill>
                <a:latin typeface="Times New Roman" pitchFamily="18" charset="0"/>
                <a:cs typeface="Times New Roman" pitchFamily="18" charset="0"/>
              </a:rPr>
              <a:t>U</a:t>
            </a:r>
            <a:r>
              <a:rPr lang="ru-RU" b="1" i="1" dirty="0" err="1" smtClean="0">
                <a:solidFill>
                  <a:srgbClr val="FF0000"/>
                </a:solidFill>
                <a:latin typeface="Times New Roman" pitchFamily="18" charset="0"/>
                <a:cs typeface="Times New Roman" pitchFamily="18" charset="0"/>
              </a:rPr>
              <a:t>вых</a:t>
            </a:r>
            <a:r>
              <a:rPr lang="en-US" b="1" i="1" dirty="0" smtClean="0">
                <a:solidFill>
                  <a:srgbClr val="FF0000"/>
                </a:solidFill>
                <a:latin typeface="Times New Roman" pitchFamily="18" charset="0"/>
                <a:cs typeface="Times New Roman" pitchFamily="18" charset="0"/>
              </a:rPr>
              <a:t>(t)</a:t>
            </a:r>
            <a:r>
              <a:rPr lang="ru-RU" b="1" dirty="0" smtClean="0">
                <a:solidFill>
                  <a:srgbClr val="FF0000"/>
                </a:solidFill>
                <a:latin typeface="Times New Roman" pitchFamily="18" charset="0"/>
                <a:cs typeface="Times New Roman" pitchFamily="18" charset="0"/>
              </a:rPr>
              <a:t>?</a:t>
            </a:r>
            <a:endParaRPr lang="ru-RU" b="1" dirty="0">
              <a:solidFill>
                <a:srgbClr val="FF0000"/>
              </a:solidFill>
              <a:latin typeface="Times New Roman" pitchFamily="18" charset="0"/>
              <a:cs typeface="Times New Roman" pitchFamily="18" charset="0"/>
            </a:endParaRPr>
          </a:p>
        </p:txBody>
      </p:sp>
      <p:cxnSp>
        <p:nvCxnSpPr>
          <p:cNvPr id="3" name="Прямая соединительная линия 2"/>
          <p:cNvCxnSpPr/>
          <p:nvPr/>
        </p:nvCxnSpPr>
        <p:spPr>
          <a:xfrm>
            <a:off x="3135555" y="1995207"/>
            <a:ext cx="12584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914608" y="2561174"/>
            <a:ext cx="274434" cy="369332"/>
          </a:xfrm>
          <a:prstGeom prst="rect">
            <a:avLst/>
          </a:prstGeom>
          <a:noFill/>
        </p:spPr>
        <p:txBody>
          <a:bodyPr wrap="none" rtlCol="0">
            <a:spAutoFit/>
          </a:bodyPr>
          <a:lstStyle/>
          <a:p>
            <a:r>
              <a:rPr lang="en-US" dirty="0"/>
              <a:t>/</a:t>
            </a:r>
            <a:endParaRPr lang="ru-RU" dirty="0"/>
          </a:p>
        </p:txBody>
      </p:sp>
      <p:grpSp>
        <p:nvGrpSpPr>
          <p:cNvPr id="28" name="Группа 27"/>
          <p:cNvGrpSpPr/>
          <p:nvPr/>
        </p:nvGrpSpPr>
        <p:grpSpPr>
          <a:xfrm>
            <a:off x="3597924" y="1445745"/>
            <a:ext cx="333746" cy="734128"/>
            <a:chOff x="3597924" y="1445745"/>
            <a:chExt cx="333746" cy="734128"/>
          </a:xfrm>
        </p:grpSpPr>
        <p:sp>
          <p:nvSpPr>
            <p:cNvPr id="15" name="TextBox 14"/>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23" name="TextBox 22"/>
            <p:cNvSpPr txBox="1"/>
            <p:nvPr/>
          </p:nvSpPr>
          <p:spPr>
            <a:xfrm>
              <a:off x="3597924" y="1445745"/>
              <a:ext cx="333746" cy="369332"/>
            </a:xfrm>
            <a:prstGeom prst="rect">
              <a:avLst/>
            </a:prstGeom>
            <a:noFill/>
          </p:spPr>
          <p:txBody>
            <a:bodyPr wrap="none" rtlCol="0">
              <a:spAutoFit/>
            </a:bodyPr>
            <a:lstStyle/>
            <a:p>
              <a:r>
                <a:rPr lang="en-US" dirty="0"/>
                <a:t>N</a:t>
              </a:r>
              <a:endParaRPr lang="ru-RU" dirty="0"/>
            </a:p>
          </p:txBody>
        </p:sp>
      </p:grpSp>
      <p:sp>
        <p:nvSpPr>
          <p:cNvPr id="38" name="TextBox 37"/>
          <p:cNvSpPr txBox="1"/>
          <p:nvPr/>
        </p:nvSpPr>
        <p:spPr>
          <a:xfrm>
            <a:off x="3905785" y="2242961"/>
            <a:ext cx="333746" cy="369332"/>
          </a:xfrm>
          <a:prstGeom prst="rect">
            <a:avLst/>
          </a:prstGeom>
          <a:noFill/>
        </p:spPr>
        <p:txBody>
          <a:bodyPr wrap="none" rtlCol="0">
            <a:spAutoFit/>
          </a:bodyPr>
          <a:lstStyle/>
          <a:p>
            <a:r>
              <a:rPr lang="en-US" dirty="0"/>
              <a:t>N</a:t>
            </a:r>
            <a:endParaRPr lang="ru-RU" dirty="0"/>
          </a:p>
        </p:txBody>
      </p:sp>
    </p:spTree>
    <p:extLst>
      <p:ext uri="{BB962C8B-B14F-4D97-AF65-F5344CB8AC3E}">
        <p14:creationId xmlns:p14="http://schemas.microsoft.com/office/powerpoint/2010/main" val="13152169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63888" y="832123"/>
            <a:ext cx="1479764" cy="369332"/>
          </a:xfrm>
          <a:prstGeom prst="rect">
            <a:avLst/>
          </a:prstGeom>
          <a:noFill/>
        </p:spPr>
        <p:txBody>
          <a:bodyPr wrap="none" rtlCol="0">
            <a:spAutoFit/>
          </a:bodyPr>
          <a:lstStyle/>
          <a:p>
            <a:r>
              <a:rPr lang="ru-RU" dirty="0" smtClean="0"/>
              <a:t>Общая схема</a:t>
            </a:r>
            <a:endParaRPr lang="ru-RU" dirty="0"/>
          </a:p>
        </p:txBody>
      </p:sp>
      <p:sp>
        <p:nvSpPr>
          <p:cNvPr id="6" name="Прямоугольник 5"/>
          <p:cNvSpPr/>
          <p:nvPr/>
        </p:nvSpPr>
        <p:spPr>
          <a:xfrm>
            <a:off x="2338410" y="1507409"/>
            <a:ext cx="864096" cy="165618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2626442" y="1507409"/>
            <a:ext cx="453457" cy="369332"/>
          </a:xfrm>
          <a:prstGeom prst="rect">
            <a:avLst/>
          </a:prstGeom>
          <a:noFill/>
        </p:spPr>
        <p:txBody>
          <a:bodyPr wrap="none" rtlCol="0">
            <a:spAutoFit/>
          </a:bodyPr>
          <a:lstStyle/>
          <a:p>
            <a:r>
              <a:rPr lang="en-US" dirty="0" smtClean="0"/>
              <a:t>RG</a:t>
            </a:r>
            <a:endParaRPr lang="ru-RU" dirty="0"/>
          </a:p>
        </p:txBody>
      </p:sp>
      <p:cxnSp>
        <p:nvCxnSpPr>
          <p:cNvPr id="9" name="Прямая соединительная линия 8"/>
          <p:cNvCxnSpPr/>
          <p:nvPr/>
        </p:nvCxnSpPr>
        <p:spPr>
          <a:xfrm>
            <a:off x="1834354" y="2659537"/>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flipH="1">
            <a:off x="2286200" y="2597948"/>
            <a:ext cx="104420" cy="1231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426208" y="2536459"/>
            <a:ext cx="308098" cy="369332"/>
          </a:xfrm>
          <a:prstGeom prst="rect">
            <a:avLst/>
          </a:prstGeom>
          <a:noFill/>
        </p:spPr>
        <p:txBody>
          <a:bodyPr wrap="none" rtlCol="0">
            <a:spAutoFit/>
          </a:bodyPr>
          <a:lstStyle/>
          <a:p>
            <a:r>
              <a:rPr lang="en-US" dirty="0" smtClean="0"/>
              <a:t>C</a:t>
            </a:r>
            <a:endParaRPr lang="ru-RU" dirty="0"/>
          </a:p>
        </p:txBody>
      </p:sp>
      <p:sp>
        <p:nvSpPr>
          <p:cNvPr id="15" name="Стрелка вправо 14"/>
          <p:cNvSpPr/>
          <p:nvPr/>
        </p:nvSpPr>
        <p:spPr>
          <a:xfrm>
            <a:off x="1697278" y="1876741"/>
            <a:ext cx="59586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p:cNvSpPr txBox="1"/>
          <p:nvPr/>
        </p:nvSpPr>
        <p:spPr>
          <a:xfrm>
            <a:off x="1092556" y="1322743"/>
            <a:ext cx="1245854" cy="523220"/>
          </a:xfrm>
          <a:prstGeom prst="rect">
            <a:avLst/>
          </a:prstGeom>
          <a:noFill/>
        </p:spPr>
        <p:txBody>
          <a:bodyPr wrap="none" rtlCol="0">
            <a:spAutoFit/>
          </a:bodyPr>
          <a:lstStyle/>
          <a:p>
            <a:r>
              <a:rPr lang="en-US" sz="1400" dirty="0" smtClean="0"/>
              <a:t>N- </a:t>
            </a:r>
            <a:r>
              <a:rPr lang="ru-RU" sz="1400" dirty="0" smtClean="0"/>
              <a:t>разрядный</a:t>
            </a:r>
          </a:p>
          <a:p>
            <a:r>
              <a:rPr lang="ru-RU" sz="1400" dirty="0" smtClean="0"/>
              <a:t> входной код </a:t>
            </a:r>
            <a:endParaRPr lang="ru-RU" sz="1400" dirty="0"/>
          </a:p>
        </p:txBody>
      </p:sp>
      <p:sp>
        <p:nvSpPr>
          <p:cNvPr id="17" name="TextBox 16"/>
          <p:cNvSpPr txBox="1"/>
          <p:nvPr/>
        </p:nvSpPr>
        <p:spPr>
          <a:xfrm>
            <a:off x="1230256" y="2277203"/>
            <a:ext cx="764953" cy="369332"/>
          </a:xfrm>
          <a:prstGeom prst="rect">
            <a:avLst/>
          </a:prstGeom>
          <a:noFill/>
        </p:spPr>
        <p:txBody>
          <a:bodyPr wrap="none" rtlCol="0">
            <a:spAutoFit/>
          </a:bodyPr>
          <a:lstStyle/>
          <a:p>
            <a:r>
              <a:rPr lang="ru-RU" dirty="0" smtClean="0"/>
              <a:t>Строб</a:t>
            </a:r>
            <a:endParaRPr lang="ru-RU" dirty="0"/>
          </a:p>
        </p:txBody>
      </p:sp>
      <p:sp>
        <p:nvSpPr>
          <p:cNvPr id="18" name="Прямоугольник 17"/>
          <p:cNvSpPr/>
          <p:nvPr/>
        </p:nvSpPr>
        <p:spPr>
          <a:xfrm>
            <a:off x="4642666" y="1204415"/>
            <a:ext cx="1656184"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9" name="Прямоугольник 18"/>
          <p:cNvSpPr/>
          <p:nvPr/>
        </p:nvSpPr>
        <p:spPr>
          <a:xfrm>
            <a:off x="5218730" y="1204415"/>
            <a:ext cx="504056"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8" name="Прямая соединительная линия 27"/>
          <p:cNvCxnSpPr/>
          <p:nvPr/>
        </p:nvCxnSpPr>
        <p:spPr>
          <a:xfrm>
            <a:off x="4642666" y="3436663"/>
            <a:ext cx="5760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4136242" y="3724695"/>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0" name="Объект 29"/>
          <p:cNvGraphicFramePr>
            <a:graphicFrameLocks noChangeAspect="1"/>
          </p:cNvGraphicFramePr>
          <p:nvPr>
            <p:extLst>
              <p:ext uri="{D42A27DB-BD31-4B8C-83A1-F6EECF244321}">
                <p14:modId xmlns:p14="http://schemas.microsoft.com/office/powerpoint/2010/main" val="1378086898"/>
              </p:ext>
            </p:extLst>
          </p:nvPr>
        </p:nvGraphicFramePr>
        <p:xfrm>
          <a:off x="3645903" y="3513224"/>
          <a:ext cx="490339" cy="422942"/>
        </p:xfrm>
        <a:graphic>
          <a:graphicData uri="http://schemas.openxmlformats.org/presentationml/2006/ole">
            <mc:AlternateContent xmlns:mc="http://schemas.openxmlformats.org/markup-compatibility/2006">
              <mc:Choice xmlns:v="urn:schemas-microsoft-com:vml" Requires="v">
                <p:oleObj spid="_x0000_s16563" name="Equation" r:id="rId3" imgW="279360" imgH="241200" progId="Equation.DSMT4">
                  <p:embed/>
                </p:oleObj>
              </mc:Choice>
              <mc:Fallback>
                <p:oleObj name="Equation" r:id="rId3" imgW="27936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5903" y="3513224"/>
                        <a:ext cx="490339" cy="422942"/>
                      </a:xfrm>
                      <a:prstGeom prst="rect">
                        <a:avLst/>
                      </a:prstGeom>
                      <a:noFill/>
                      <a:ln>
                        <a:noFill/>
                      </a:ln>
                    </p:spPr>
                  </p:pic>
                </p:oleObj>
              </mc:Fallback>
            </mc:AlternateContent>
          </a:graphicData>
        </a:graphic>
      </p:graphicFrame>
      <p:sp>
        <p:nvSpPr>
          <p:cNvPr id="31" name="TextBox 30"/>
          <p:cNvSpPr txBox="1"/>
          <p:nvPr/>
        </p:nvSpPr>
        <p:spPr>
          <a:xfrm>
            <a:off x="5144038" y="1204415"/>
            <a:ext cx="578748" cy="369332"/>
          </a:xfrm>
          <a:prstGeom prst="rect">
            <a:avLst/>
          </a:prstGeom>
          <a:noFill/>
        </p:spPr>
        <p:txBody>
          <a:bodyPr wrap="none" rtlCol="0">
            <a:spAutoFit/>
          </a:bodyPr>
          <a:lstStyle/>
          <a:p>
            <a:r>
              <a:rPr lang="en-US" dirty="0" smtClean="0"/>
              <a:t>DAC</a:t>
            </a:r>
            <a:endParaRPr lang="ru-RU" dirty="0"/>
          </a:p>
        </p:txBody>
      </p:sp>
      <p:cxnSp>
        <p:nvCxnSpPr>
          <p:cNvPr id="43" name="Прямая соединительная линия 42"/>
          <p:cNvCxnSpPr/>
          <p:nvPr/>
        </p:nvCxnSpPr>
        <p:spPr>
          <a:xfrm flipV="1">
            <a:off x="6309159" y="3321730"/>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6442866" y="2876904"/>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sp>
        <p:nvSpPr>
          <p:cNvPr id="51" name="TextBox 50"/>
          <p:cNvSpPr txBox="1"/>
          <p:nvPr/>
        </p:nvSpPr>
        <p:spPr>
          <a:xfrm>
            <a:off x="4669213" y="1784408"/>
            <a:ext cx="327334" cy="369332"/>
          </a:xfrm>
          <a:prstGeom prst="rect">
            <a:avLst/>
          </a:prstGeom>
          <a:noFill/>
        </p:spPr>
        <p:txBody>
          <a:bodyPr wrap="none" rtlCol="0">
            <a:spAutoFit/>
          </a:bodyPr>
          <a:lstStyle/>
          <a:p>
            <a:r>
              <a:rPr lang="en-US" dirty="0" smtClean="0"/>
              <a:t>D</a:t>
            </a:r>
            <a:endParaRPr lang="ru-RU" dirty="0"/>
          </a:p>
        </p:txBody>
      </p:sp>
      <p:sp>
        <p:nvSpPr>
          <p:cNvPr id="2" name="TextBox 1"/>
          <p:cNvSpPr txBox="1"/>
          <p:nvPr/>
        </p:nvSpPr>
        <p:spPr>
          <a:xfrm>
            <a:off x="7308304" y="4941168"/>
            <a:ext cx="388248" cy="369332"/>
          </a:xfrm>
          <a:prstGeom prst="rect">
            <a:avLst/>
          </a:prstGeom>
          <a:noFill/>
        </p:spPr>
        <p:txBody>
          <a:bodyPr wrap="none" rtlCol="0">
            <a:spAutoFit/>
          </a:bodyPr>
          <a:lstStyle/>
          <a:p>
            <a:r>
              <a:rPr lang="ru-RU" dirty="0" smtClean="0"/>
              <a:t>А)</a:t>
            </a:r>
            <a:endParaRPr lang="ru-RU" dirty="0"/>
          </a:p>
        </p:txBody>
      </p:sp>
      <p:cxnSp>
        <p:nvCxnSpPr>
          <p:cNvPr id="8" name="Прямая соединительная линия 7"/>
          <p:cNvCxnSpPr/>
          <p:nvPr/>
        </p:nvCxnSpPr>
        <p:spPr>
          <a:xfrm>
            <a:off x="3202506" y="2153740"/>
            <a:ext cx="14377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Группа 25"/>
          <p:cNvGrpSpPr/>
          <p:nvPr/>
        </p:nvGrpSpPr>
        <p:grpSpPr>
          <a:xfrm>
            <a:off x="3735141" y="1584353"/>
            <a:ext cx="333746" cy="734128"/>
            <a:chOff x="3597924" y="1445745"/>
            <a:chExt cx="333746" cy="734128"/>
          </a:xfrm>
        </p:grpSpPr>
        <p:sp>
          <p:nvSpPr>
            <p:cNvPr id="27" name="TextBox 26"/>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32" name="TextBox 31"/>
            <p:cNvSpPr txBox="1"/>
            <p:nvPr/>
          </p:nvSpPr>
          <p:spPr>
            <a:xfrm>
              <a:off x="3597924" y="1445745"/>
              <a:ext cx="333746" cy="369332"/>
            </a:xfrm>
            <a:prstGeom prst="rect">
              <a:avLst/>
            </a:prstGeom>
            <a:noFill/>
          </p:spPr>
          <p:txBody>
            <a:bodyPr wrap="none" rtlCol="0">
              <a:spAutoFit/>
            </a:bodyPr>
            <a:lstStyle/>
            <a:p>
              <a:r>
                <a:rPr lang="en-US" dirty="0"/>
                <a:t>N</a:t>
              </a:r>
              <a:endParaRPr lang="ru-RU" dirty="0"/>
            </a:p>
          </p:txBody>
        </p:sp>
      </p:grpSp>
    </p:spTree>
    <p:extLst>
      <p:ext uri="{BB962C8B-B14F-4D97-AF65-F5344CB8AC3E}">
        <p14:creationId xmlns:p14="http://schemas.microsoft.com/office/powerpoint/2010/main" val="1546306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2338410" y="1507409"/>
            <a:ext cx="864096" cy="165618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p:cNvSpPr txBox="1"/>
          <p:nvPr/>
        </p:nvSpPr>
        <p:spPr>
          <a:xfrm>
            <a:off x="2720886" y="1507409"/>
            <a:ext cx="420308" cy="369332"/>
          </a:xfrm>
          <a:prstGeom prst="rect">
            <a:avLst/>
          </a:prstGeom>
          <a:noFill/>
        </p:spPr>
        <p:txBody>
          <a:bodyPr wrap="none" rtlCol="0">
            <a:spAutoFit/>
          </a:bodyPr>
          <a:lstStyle/>
          <a:p>
            <a:r>
              <a:rPr lang="ru-RU" dirty="0" smtClean="0"/>
              <a:t>СТ</a:t>
            </a:r>
            <a:endParaRPr lang="ru-RU" dirty="0"/>
          </a:p>
        </p:txBody>
      </p:sp>
      <p:cxnSp>
        <p:nvCxnSpPr>
          <p:cNvPr id="7" name="Прямая соединительная линия 6"/>
          <p:cNvCxnSpPr/>
          <p:nvPr/>
        </p:nvCxnSpPr>
        <p:spPr>
          <a:xfrm>
            <a:off x="1834354" y="2659537"/>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flipH="1">
            <a:off x="2286200" y="2597948"/>
            <a:ext cx="104420" cy="1231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426208" y="2536459"/>
            <a:ext cx="308098" cy="369332"/>
          </a:xfrm>
          <a:prstGeom prst="rect">
            <a:avLst/>
          </a:prstGeom>
          <a:noFill/>
        </p:spPr>
        <p:txBody>
          <a:bodyPr wrap="none" rtlCol="0">
            <a:spAutoFit/>
          </a:bodyPr>
          <a:lstStyle/>
          <a:p>
            <a:r>
              <a:rPr lang="en-US" dirty="0" smtClean="0"/>
              <a:t>C</a:t>
            </a:r>
            <a:endParaRPr lang="ru-RU" dirty="0"/>
          </a:p>
        </p:txBody>
      </p:sp>
      <p:sp>
        <p:nvSpPr>
          <p:cNvPr id="11" name="TextBox 10"/>
          <p:cNvSpPr txBox="1"/>
          <p:nvPr/>
        </p:nvSpPr>
        <p:spPr>
          <a:xfrm>
            <a:off x="3298475" y="2137921"/>
            <a:ext cx="1245854" cy="523220"/>
          </a:xfrm>
          <a:prstGeom prst="rect">
            <a:avLst/>
          </a:prstGeom>
          <a:noFill/>
        </p:spPr>
        <p:txBody>
          <a:bodyPr wrap="none" rtlCol="0">
            <a:spAutoFit/>
          </a:bodyPr>
          <a:lstStyle/>
          <a:p>
            <a:r>
              <a:rPr lang="en-US" sz="1400" dirty="0" smtClean="0"/>
              <a:t>N- </a:t>
            </a:r>
            <a:r>
              <a:rPr lang="ru-RU" sz="1400" dirty="0" smtClean="0"/>
              <a:t>разрядный</a:t>
            </a:r>
          </a:p>
          <a:p>
            <a:r>
              <a:rPr lang="ru-RU" sz="1400" dirty="0" smtClean="0"/>
              <a:t> входной код </a:t>
            </a:r>
            <a:endParaRPr lang="ru-RU" sz="1400" dirty="0"/>
          </a:p>
        </p:txBody>
      </p:sp>
      <p:sp>
        <p:nvSpPr>
          <p:cNvPr id="13" name="Прямоугольник 12"/>
          <p:cNvSpPr/>
          <p:nvPr/>
        </p:nvSpPr>
        <p:spPr>
          <a:xfrm>
            <a:off x="4642666" y="1204415"/>
            <a:ext cx="1656184"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Прямоугольник 13"/>
          <p:cNvSpPr/>
          <p:nvPr/>
        </p:nvSpPr>
        <p:spPr>
          <a:xfrm>
            <a:off x="5218730" y="1204415"/>
            <a:ext cx="504056"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5" name="Прямая соединительная линия 14"/>
          <p:cNvCxnSpPr/>
          <p:nvPr/>
        </p:nvCxnSpPr>
        <p:spPr>
          <a:xfrm>
            <a:off x="4642666" y="3436663"/>
            <a:ext cx="5760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4136242" y="3724695"/>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7" name="Объект 16"/>
          <p:cNvGraphicFramePr>
            <a:graphicFrameLocks noChangeAspect="1"/>
          </p:cNvGraphicFramePr>
          <p:nvPr>
            <p:extLst>
              <p:ext uri="{D42A27DB-BD31-4B8C-83A1-F6EECF244321}">
                <p14:modId xmlns:p14="http://schemas.microsoft.com/office/powerpoint/2010/main" val="3307186947"/>
              </p:ext>
            </p:extLst>
          </p:nvPr>
        </p:nvGraphicFramePr>
        <p:xfrm>
          <a:off x="3645903" y="3513224"/>
          <a:ext cx="490339" cy="422942"/>
        </p:xfrm>
        <a:graphic>
          <a:graphicData uri="http://schemas.openxmlformats.org/presentationml/2006/ole">
            <mc:AlternateContent xmlns:mc="http://schemas.openxmlformats.org/markup-compatibility/2006">
              <mc:Choice xmlns:v="urn:schemas-microsoft-com:vml" Requires="v">
                <p:oleObj spid="_x0000_s17584" name="Equation" r:id="rId3" imgW="279360" imgH="241200" progId="Equation.DSMT4">
                  <p:embed/>
                </p:oleObj>
              </mc:Choice>
              <mc:Fallback>
                <p:oleObj name="Equation" r:id="rId3" imgW="27936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5903" y="3513224"/>
                        <a:ext cx="490339" cy="422942"/>
                      </a:xfrm>
                      <a:prstGeom prst="rect">
                        <a:avLst/>
                      </a:prstGeom>
                      <a:noFill/>
                      <a:ln>
                        <a:noFill/>
                      </a:ln>
                    </p:spPr>
                  </p:pic>
                </p:oleObj>
              </mc:Fallback>
            </mc:AlternateContent>
          </a:graphicData>
        </a:graphic>
      </p:graphicFrame>
      <p:sp>
        <p:nvSpPr>
          <p:cNvPr id="18" name="TextBox 17"/>
          <p:cNvSpPr txBox="1"/>
          <p:nvPr/>
        </p:nvSpPr>
        <p:spPr>
          <a:xfrm>
            <a:off x="5144038" y="1204415"/>
            <a:ext cx="578748" cy="369332"/>
          </a:xfrm>
          <a:prstGeom prst="rect">
            <a:avLst/>
          </a:prstGeom>
          <a:noFill/>
        </p:spPr>
        <p:txBody>
          <a:bodyPr wrap="none" rtlCol="0">
            <a:spAutoFit/>
          </a:bodyPr>
          <a:lstStyle/>
          <a:p>
            <a:r>
              <a:rPr lang="en-US" dirty="0" smtClean="0"/>
              <a:t>DAC</a:t>
            </a:r>
            <a:endParaRPr lang="ru-RU" dirty="0"/>
          </a:p>
        </p:txBody>
      </p:sp>
      <p:cxnSp>
        <p:nvCxnSpPr>
          <p:cNvPr id="19" name="Прямая соединительная линия 18"/>
          <p:cNvCxnSpPr/>
          <p:nvPr/>
        </p:nvCxnSpPr>
        <p:spPr>
          <a:xfrm flipV="1">
            <a:off x="6309159" y="3321730"/>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442866" y="2876904"/>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sp>
        <p:nvSpPr>
          <p:cNvPr id="22" name="TextBox 21"/>
          <p:cNvSpPr txBox="1"/>
          <p:nvPr/>
        </p:nvSpPr>
        <p:spPr>
          <a:xfrm>
            <a:off x="4669213" y="1784408"/>
            <a:ext cx="327334" cy="369332"/>
          </a:xfrm>
          <a:prstGeom prst="rect">
            <a:avLst/>
          </a:prstGeom>
          <a:noFill/>
        </p:spPr>
        <p:txBody>
          <a:bodyPr wrap="none" rtlCol="0">
            <a:spAutoFit/>
          </a:bodyPr>
          <a:lstStyle/>
          <a:p>
            <a:r>
              <a:rPr lang="en-US" dirty="0" smtClean="0"/>
              <a:t>D</a:t>
            </a:r>
            <a:endParaRPr lang="ru-RU" dirty="0"/>
          </a:p>
        </p:txBody>
      </p:sp>
      <p:sp>
        <p:nvSpPr>
          <p:cNvPr id="23" name="TextBox 22"/>
          <p:cNvSpPr txBox="1"/>
          <p:nvPr/>
        </p:nvSpPr>
        <p:spPr>
          <a:xfrm>
            <a:off x="1321131" y="2487404"/>
            <a:ext cx="543739" cy="369332"/>
          </a:xfrm>
          <a:prstGeom prst="rect">
            <a:avLst/>
          </a:prstGeom>
          <a:noFill/>
        </p:spPr>
        <p:txBody>
          <a:bodyPr wrap="none" rtlCol="0">
            <a:spAutoFit/>
          </a:bodyPr>
          <a:lstStyle/>
          <a:p>
            <a:r>
              <a:rPr lang="ru-RU" dirty="0" smtClean="0"/>
              <a:t>ГТИ</a:t>
            </a:r>
            <a:endParaRPr lang="ru-RU" dirty="0"/>
          </a:p>
        </p:txBody>
      </p:sp>
      <p:grpSp>
        <p:nvGrpSpPr>
          <p:cNvPr id="36" name="Группа 35"/>
          <p:cNvGrpSpPr/>
          <p:nvPr/>
        </p:nvGrpSpPr>
        <p:grpSpPr>
          <a:xfrm>
            <a:off x="336262" y="2150835"/>
            <a:ext cx="1765073" cy="184666"/>
            <a:chOff x="321309" y="2150835"/>
            <a:chExt cx="1705889" cy="371923"/>
          </a:xfrm>
        </p:grpSpPr>
        <p:grpSp>
          <p:nvGrpSpPr>
            <p:cNvPr id="24" name="Группа 23"/>
            <p:cNvGrpSpPr/>
            <p:nvPr/>
          </p:nvGrpSpPr>
          <p:grpSpPr>
            <a:xfrm>
              <a:off x="321309" y="2150835"/>
              <a:ext cx="951846" cy="369332"/>
              <a:chOff x="6120230" y="6147879"/>
              <a:chExt cx="951846" cy="369332"/>
            </a:xfrm>
          </p:grpSpPr>
          <p:cxnSp>
            <p:nvCxnSpPr>
              <p:cNvPr id="25" name="Прямая соединительная линия 24"/>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Группа 29"/>
            <p:cNvGrpSpPr/>
            <p:nvPr/>
          </p:nvGrpSpPr>
          <p:grpSpPr>
            <a:xfrm>
              <a:off x="1075352" y="2153426"/>
              <a:ext cx="951846" cy="369332"/>
              <a:chOff x="6120230" y="6147879"/>
              <a:chExt cx="951846" cy="369332"/>
            </a:xfrm>
          </p:grpSpPr>
          <p:cxnSp>
            <p:nvCxnSpPr>
              <p:cNvPr id="31" name="Прямая соединительная линия 30"/>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7" name="TextBox 36"/>
          <p:cNvSpPr txBox="1"/>
          <p:nvPr/>
        </p:nvSpPr>
        <p:spPr>
          <a:xfrm>
            <a:off x="2734306" y="4346234"/>
            <a:ext cx="3511154" cy="369332"/>
          </a:xfrm>
          <a:prstGeom prst="rect">
            <a:avLst/>
          </a:prstGeom>
          <a:noFill/>
        </p:spPr>
        <p:txBody>
          <a:bodyPr wrap="none" rtlCol="0">
            <a:spAutoFit/>
          </a:bodyPr>
          <a:lstStyle/>
          <a:p>
            <a:r>
              <a:rPr lang="ru-RU" dirty="0" smtClean="0">
                <a:solidFill>
                  <a:srgbClr val="FF0000"/>
                </a:solidFill>
              </a:rPr>
              <a:t>Временная диаграмма  </a:t>
            </a:r>
            <a:r>
              <a:rPr lang="en-US" i="1" dirty="0">
                <a:solidFill>
                  <a:srgbClr val="FF0000"/>
                </a:solidFill>
                <a:latin typeface="Times New Roman" pitchFamily="18" charset="0"/>
                <a:cs typeface="Times New Roman" pitchFamily="18" charset="0"/>
              </a:rPr>
              <a:t>U</a:t>
            </a:r>
            <a:r>
              <a:rPr lang="ru-RU" i="1" dirty="0" err="1" smtClean="0">
                <a:solidFill>
                  <a:srgbClr val="FF0000"/>
                </a:solidFill>
                <a:latin typeface="Times New Roman" pitchFamily="18" charset="0"/>
                <a:cs typeface="Times New Roman" pitchFamily="18" charset="0"/>
              </a:rPr>
              <a:t>вых</a:t>
            </a:r>
            <a:r>
              <a:rPr lang="ru-RU" i="1" dirty="0" smtClean="0">
                <a:solidFill>
                  <a:srgbClr val="FF0000"/>
                </a:solidFill>
                <a:latin typeface="Times New Roman" pitchFamily="18" charset="0"/>
                <a:cs typeface="Times New Roman" pitchFamily="18" charset="0"/>
              </a:rPr>
              <a:t>(</a:t>
            </a:r>
            <a:r>
              <a:rPr lang="en-US" i="1" dirty="0" smtClean="0">
                <a:solidFill>
                  <a:srgbClr val="FF0000"/>
                </a:solidFill>
                <a:latin typeface="Times New Roman" pitchFamily="18" charset="0"/>
                <a:cs typeface="Times New Roman" pitchFamily="18" charset="0"/>
              </a:rPr>
              <a:t>t</a:t>
            </a:r>
            <a:r>
              <a:rPr lang="ru-RU" i="1" dirty="0" smtClean="0">
                <a:solidFill>
                  <a:srgbClr val="FF0000"/>
                </a:solidFill>
                <a:latin typeface="Times New Roman" pitchFamily="18" charset="0"/>
                <a:cs typeface="Times New Roman" pitchFamily="18" charset="0"/>
              </a:rPr>
              <a:t>)</a:t>
            </a:r>
            <a:r>
              <a:rPr lang="en-US" i="1" dirty="0" smtClean="0">
                <a:solidFill>
                  <a:srgbClr val="FF0000"/>
                </a:solidFill>
                <a:latin typeface="Times New Roman" pitchFamily="18" charset="0"/>
                <a:cs typeface="Times New Roman" pitchFamily="18" charset="0"/>
              </a:rPr>
              <a:t> </a:t>
            </a:r>
            <a:r>
              <a:rPr lang="ru-RU" i="1" dirty="0" smtClean="0">
                <a:solidFill>
                  <a:srgbClr val="FF0000"/>
                </a:solidFill>
                <a:latin typeface="Times New Roman" pitchFamily="18" charset="0"/>
                <a:cs typeface="Times New Roman" pitchFamily="18" charset="0"/>
              </a:rPr>
              <a:t>?</a:t>
            </a:r>
            <a:r>
              <a:rPr lang="ru-RU" dirty="0" smtClean="0">
                <a:solidFill>
                  <a:srgbClr val="FF0000"/>
                </a:solidFill>
              </a:rPr>
              <a:t> </a:t>
            </a:r>
            <a:endParaRPr lang="ru-RU" dirty="0">
              <a:solidFill>
                <a:srgbClr val="FF0000"/>
              </a:solidFill>
            </a:endParaRPr>
          </a:p>
        </p:txBody>
      </p:sp>
      <p:cxnSp>
        <p:nvCxnSpPr>
          <p:cNvPr id="40" name="Прямая со стрелкой 39"/>
          <p:cNvCxnSpPr/>
          <p:nvPr/>
        </p:nvCxnSpPr>
        <p:spPr>
          <a:xfrm>
            <a:off x="532677" y="1573747"/>
            <a:ext cx="0" cy="5539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p:nvPr/>
        </p:nvCxnSpPr>
        <p:spPr>
          <a:xfrm>
            <a:off x="1363256" y="1592818"/>
            <a:ext cx="0" cy="5539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p:nvPr/>
        </p:nvCxnSpPr>
        <p:spPr>
          <a:xfrm>
            <a:off x="532677" y="1835357"/>
            <a:ext cx="830579"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87021" y="1455994"/>
            <a:ext cx="296876" cy="369332"/>
          </a:xfrm>
          <a:prstGeom prst="rect">
            <a:avLst/>
          </a:prstGeom>
          <a:noFill/>
        </p:spPr>
        <p:txBody>
          <a:bodyPr wrap="none" rtlCol="0">
            <a:spAutoFit/>
          </a:bodyPr>
          <a:lstStyle/>
          <a:p>
            <a:r>
              <a:rPr lang="en-US" dirty="0"/>
              <a:t>T</a:t>
            </a:r>
            <a:endParaRPr lang="ru-RU" dirty="0"/>
          </a:p>
        </p:txBody>
      </p:sp>
      <p:sp>
        <p:nvSpPr>
          <p:cNvPr id="47" name="TextBox 46"/>
          <p:cNvSpPr txBox="1"/>
          <p:nvPr/>
        </p:nvSpPr>
        <p:spPr>
          <a:xfrm>
            <a:off x="1864870" y="963922"/>
            <a:ext cx="1628266" cy="523220"/>
          </a:xfrm>
          <a:prstGeom prst="rect">
            <a:avLst/>
          </a:prstGeom>
          <a:noFill/>
        </p:spPr>
        <p:txBody>
          <a:bodyPr wrap="none" rtlCol="0">
            <a:spAutoFit/>
          </a:bodyPr>
          <a:lstStyle/>
          <a:p>
            <a:r>
              <a:rPr lang="en-US" sz="1400" dirty="0" smtClean="0"/>
              <a:t>N- </a:t>
            </a:r>
            <a:r>
              <a:rPr lang="ru-RU" sz="1400" dirty="0" smtClean="0"/>
              <a:t>разрядный</a:t>
            </a:r>
          </a:p>
          <a:p>
            <a:r>
              <a:rPr lang="ru-RU" sz="1400" dirty="0" smtClean="0"/>
              <a:t> двоичный счетчик</a:t>
            </a:r>
            <a:endParaRPr lang="ru-RU" sz="1400" dirty="0"/>
          </a:p>
        </p:txBody>
      </p:sp>
      <p:sp>
        <p:nvSpPr>
          <p:cNvPr id="39" name="TextBox 38"/>
          <p:cNvSpPr txBox="1"/>
          <p:nvPr/>
        </p:nvSpPr>
        <p:spPr>
          <a:xfrm>
            <a:off x="7308304" y="4941168"/>
            <a:ext cx="378630" cy="369332"/>
          </a:xfrm>
          <a:prstGeom prst="rect">
            <a:avLst/>
          </a:prstGeom>
          <a:noFill/>
        </p:spPr>
        <p:txBody>
          <a:bodyPr wrap="none" rtlCol="0">
            <a:spAutoFit/>
          </a:bodyPr>
          <a:lstStyle/>
          <a:p>
            <a:r>
              <a:rPr lang="ru-RU" dirty="0"/>
              <a:t>Б</a:t>
            </a:r>
            <a:r>
              <a:rPr lang="ru-RU" dirty="0" smtClean="0"/>
              <a:t>)</a:t>
            </a:r>
            <a:endParaRPr lang="ru-RU" dirty="0"/>
          </a:p>
        </p:txBody>
      </p:sp>
      <p:cxnSp>
        <p:nvCxnSpPr>
          <p:cNvPr id="3" name="Прямая соединительная линия 2"/>
          <p:cNvCxnSpPr/>
          <p:nvPr/>
        </p:nvCxnSpPr>
        <p:spPr>
          <a:xfrm>
            <a:off x="3202506" y="1969074"/>
            <a:ext cx="14377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Группа 41"/>
          <p:cNvGrpSpPr/>
          <p:nvPr/>
        </p:nvGrpSpPr>
        <p:grpSpPr>
          <a:xfrm>
            <a:off x="3597924" y="1445745"/>
            <a:ext cx="333746" cy="734128"/>
            <a:chOff x="3597924" y="1445745"/>
            <a:chExt cx="333746" cy="734128"/>
          </a:xfrm>
        </p:grpSpPr>
        <p:sp>
          <p:nvSpPr>
            <p:cNvPr id="43" name="TextBox 42"/>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44" name="TextBox 43"/>
            <p:cNvSpPr txBox="1"/>
            <p:nvPr/>
          </p:nvSpPr>
          <p:spPr>
            <a:xfrm>
              <a:off x="3597924" y="1445745"/>
              <a:ext cx="333746" cy="369332"/>
            </a:xfrm>
            <a:prstGeom prst="rect">
              <a:avLst/>
            </a:prstGeom>
            <a:noFill/>
          </p:spPr>
          <p:txBody>
            <a:bodyPr wrap="none" rtlCol="0">
              <a:spAutoFit/>
            </a:bodyPr>
            <a:lstStyle/>
            <a:p>
              <a:r>
                <a:rPr lang="en-US" dirty="0"/>
                <a:t>N</a:t>
              </a:r>
              <a:endParaRPr lang="ru-RU" dirty="0"/>
            </a:p>
          </p:txBody>
        </p:sp>
      </p:grpSp>
    </p:spTree>
    <p:extLst>
      <p:ext uri="{BB962C8B-B14F-4D97-AF65-F5344CB8AC3E}">
        <p14:creationId xmlns:p14="http://schemas.microsoft.com/office/powerpoint/2010/main" val="3258529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50010" y="250806"/>
            <a:ext cx="4782528" cy="369332"/>
          </a:xfrm>
          <a:prstGeom prst="rect">
            <a:avLst/>
          </a:prstGeom>
          <a:noFill/>
        </p:spPr>
        <p:txBody>
          <a:bodyPr wrap="none" rtlCol="0">
            <a:spAutoFit/>
          </a:bodyPr>
          <a:lstStyle/>
          <a:p>
            <a:r>
              <a:rPr lang="ru-RU" b="1" dirty="0" smtClean="0"/>
              <a:t>Генератор напряжения произвольной формы</a:t>
            </a:r>
            <a:endParaRPr lang="ru-RU" b="1" dirty="0"/>
          </a:p>
        </p:txBody>
      </p:sp>
      <p:sp>
        <p:nvSpPr>
          <p:cNvPr id="6" name="Прямоугольник 5"/>
          <p:cNvSpPr/>
          <p:nvPr/>
        </p:nvSpPr>
        <p:spPr>
          <a:xfrm>
            <a:off x="4178500" y="2462092"/>
            <a:ext cx="864096" cy="165618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4560976" y="2462092"/>
            <a:ext cx="453457" cy="369332"/>
          </a:xfrm>
          <a:prstGeom prst="rect">
            <a:avLst/>
          </a:prstGeom>
          <a:noFill/>
        </p:spPr>
        <p:txBody>
          <a:bodyPr wrap="none" rtlCol="0">
            <a:spAutoFit/>
          </a:bodyPr>
          <a:lstStyle/>
          <a:p>
            <a:r>
              <a:rPr lang="en-US" dirty="0" smtClean="0"/>
              <a:t>RG</a:t>
            </a:r>
            <a:endParaRPr lang="ru-RU" dirty="0"/>
          </a:p>
        </p:txBody>
      </p:sp>
      <p:cxnSp>
        <p:nvCxnSpPr>
          <p:cNvPr id="8" name="Прямая соединительная линия 7"/>
          <p:cNvCxnSpPr/>
          <p:nvPr/>
        </p:nvCxnSpPr>
        <p:spPr>
          <a:xfrm>
            <a:off x="3674444" y="3614220"/>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4126290" y="3552631"/>
            <a:ext cx="104420" cy="1231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266298" y="3491142"/>
            <a:ext cx="308098" cy="369332"/>
          </a:xfrm>
          <a:prstGeom prst="rect">
            <a:avLst/>
          </a:prstGeom>
          <a:noFill/>
        </p:spPr>
        <p:txBody>
          <a:bodyPr wrap="none" rtlCol="0">
            <a:spAutoFit/>
          </a:bodyPr>
          <a:lstStyle/>
          <a:p>
            <a:r>
              <a:rPr lang="en-US" dirty="0" smtClean="0"/>
              <a:t>C</a:t>
            </a:r>
            <a:endParaRPr lang="ru-RU" dirty="0"/>
          </a:p>
        </p:txBody>
      </p:sp>
      <p:sp>
        <p:nvSpPr>
          <p:cNvPr id="11" name="TextBox 10"/>
          <p:cNvSpPr txBox="1"/>
          <p:nvPr/>
        </p:nvSpPr>
        <p:spPr>
          <a:xfrm>
            <a:off x="5173148" y="2164018"/>
            <a:ext cx="1245854" cy="523220"/>
          </a:xfrm>
          <a:prstGeom prst="rect">
            <a:avLst/>
          </a:prstGeom>
          <a:noFill/>
        </p:spPr>
        <p:txBody>
          <a:bodyPr wrap="none" rtlCol="0">
            <a:spAutoFit/>
          </a:bodyPr>
          <a:lstStyle/>
          <a:p>
            <a:r>
              <a:rPr lang="en-US" sz="1400" dirty="0" smtClean="0"/>
              <a:t>N- </a:t>
            </a:r>
            <a:r>
              <a:rPr lang="ru-RU" sz="1400" dirty="0" smtClean="0"/>
              <a:t>разрядный</a:t>
            </a:r>
          </a:p>
          <a:p>
            <a:r>
              <a:rPr lang="ru-RU" sz="1400" dirty="0" smtClean="0"/>
              <a:t> входной код </a:t>
            </a:r>
            <a:endParaRPr lang="ru-RU" sz="1400" dirty="0"/>
          </a:p>
        </p:txBody>
      </p:sp>
      <p:sp>
        <p:nvSpPr>
          <p:cNvPr id="12" name="Прямоугольник 11"/>
          <p:cNvSpPr/>
          <p:nvPr/>
        </p:nvSpPr>
        <p:spPr>
          <a:xfrm>
            <a:off x="6482756" y="2159098"/>
            <a:ext cx="1656184"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3" name="Прямоугольник 12"/>
          <p:cNvSpPr/>
          <p:nvPr/>
        </p:nvSpPr>
        <p:spPr>
          <a:xfrm>
            <a:off x="7058820" y="2159098"/>
            <a:ext cx="504056"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4" name="Прямая соединительная линия 13"/>
          <p:cNvCxnSpPr/>
          <p:nvPr/>
        </p:nvCxnSpPr>
        <p:spPr>
          <a:xfrm>
            <a:off x="6482756" y="4391346"/>
            <a:ext cx="5760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a:off x="5976332" y="4679378"/>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6" name="Объект 15"/>
          <p:cNvGraphicFramePr>
            <a:graphicFrameLocks noChangeAspect="1"/>
          </p:cNvGraphicFramePr>
          <p:nvPr>
            <p:extLst>
              <p:ext uri="{D42A27DB-BD31-4B8C-83A1-F6EECF244321}">
                <p14:modId xmlns:p14="http://schemas.microsoft.com/office/powerpoint/2010/main" val="2105756435"/>
              </p:ext>
            </p:extLst>
          </p:nvPr>
        </p:nvGraphicFramePr>
        <p:xfrm>
          <a:off x="5485993" y="4467907"/>
          <a:ext cx="490339" cy="422942"/>
        </p:xfrm>
        <a:graphic>
          <a:graphicData uri="http://schemas.openxmlformats.org/presentationml/2006/ole">
            <mc:AlternateContent xmlns:mc="http://schemas.openxmlformats.org/markup-compatibility/2006">
              <mc:Choice xmlns:v="urn:schemas-microsoft-com:vml" Requires="v">
                <p:oleObj spid="_x0000_s18610" name="Equation" r:id="rId3" imgW="279360" imgH="241200" progId="Equation.DSMT4">
                  <p:embed/>
                </p:oleObj>
              </mc:Choice>
              <mc:Fallback>
                <p:oleObj name="Equation" r:id="rId3" imgW="27936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5993" y="4467907"/>
                        <a:ext cx="490339" cy="422942"/>
                      </a:xfrm>
                      <a:prstGeom prst="rect">
                        <a:avLst/>
                      </a:prstGeom>
                      <a:noFill/>
                      <a:ln>
                        <a:noFill/>
                      </a:ln>
                    </p:spPr>
                  </p:pic>
                </p:oleObj>
              </mc:Fallback>
            </mc:AlternateContent>
          </a:graphicData>
        </a:graphic>
      </p:graphicFrame>
      <p:sp>
        <p:nvSpPr>
          <p:cNvPr id="17" name="TextBox 16"/>
          <p:cNvSpPr txBox="1"/>
          <p:nvPr/>
        </p:nvSpPr>
        <p:spPr>
          <a:xfrm>
            <a:off x="6984128" y="2159098"/>
            <a:ext cx="578748" cy="369332"/>
          </a:xfrm>
          <a:prstGeom prst="rect">
            <a:avLst/>
          </a:prstGeom>
          <a:noFill/>
        </p:spPr>
        <p:txBody>
          <a:bodyPr wrap="none" rtlCol="0">
            <a:spAutoFit/>
          </a:bodyPr>
          <a:lstStyle/>
          <a:p>
            <a:r>
              <a:rPr lang="en-US" dirty="0" smtClean="0"/>
              <a:t>DAC</a:t>
            </a:r>
            <a:endParaRPr lang="ru-RU" dirty="0"/>
          </a:p>
        </p:txBody>
      </p:sp>
      <p:cxnSp>
        <p:nvCxnSpPr>
          <p:cNvPr id="18" name="Прямая соединительная линия 17"/>
          <p:cNvCxnSpPr/>
          <p:nvPr/>
        </p:nvCxnSpPr>
        <p:spPr>
          <a:xfrm flipV="1">
            <a:off x="8138940" y="3563254"/>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272647" y="3118428"/>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sp>
        <p:nvSpPr>
          <p:cNvPr id="21" name="TextBox 20"/>
          <p:cNvSpPr txBox="1"/>
          <p:nvPr/>
        </p:nvSpPr>
        <p:spPr>
          <a:xfrm>
            <a:off x="6509303" y="2739091"/>
            <a:ext cx="327334" cy="369332"/>
          </a:xfrm>
          <a:prstGeom prst="rect">
            <a:avLst/>
          </a:prstGeom>
          <a:noFill/>
        </p:spPr>
        <p:txBody>
          <a:bodyPr wrap="none" rtlCol="0">
            <a:spAutoFit/>
          </a:bodyPr>
          <a:lstStyle/>
          <a:p>
            <a:r>
              <a:rPr lang="en-US" dirty="0" smtClean="0"/>
              <a:t>D</a:t>
            </a:r>
            <a:endParaRPr lang="ru-RU" dirty="0"/>
          </a:p>
        </p:txBody>
      </p:sp>
      <p:grpSp>
        <p:nvGrpSpPr>
          <p:cNvPr id="23" name="Группа 22"/>
          <p:cNvGrpSpPr/>
          <p:nvPr/>
        </p:nvGrpSpPr>
        <p:grpSpPr>
          <a:xfrm>
            <a:off x="69210" y="1339400"/>
            <a:ext cx="1017273" cy="183380"/>
            <a:chOff x="321309" y="2150835"/>
            <a:chExt cx="1705889" cy="371923"/>
          </a:xfrm>
        </p:grpSpPr>
        <p:grpSp>
          <p:nvGrpSpPr>
            <p:cNvPr id="24" name="Группа 23"/>
            <p:cNvGrpSpPr/>
            <p:nvPr/>
          </p:nvGrpSpPr>
          <p:grpSpPr>
            <a:xfrm>
              <a:off x="321309" y="2150835"/>
              <a:ext cx="951846" cy="369332"/>
              <a:chOff x="6120230" y="6147879"/>
              <a:chExt cx="951846" cy="369332"/>
            </a:xfrm>
          </p:grpSpPr>
          <p:cxnSp>
            <p:nvCxnSpPr>
              <p:cNvPr id="31" name="Прямая соединительная линия 30"/>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Группа 24"/>
            <p:cNvGrpSpPr/>
            <p:nvPr/>
          </p:nvGrpSpPr>
          <p:grpSpPr>
            <a:xfrm>
              <a:off x="1075352" y="2153426"/>
              <a:ext cx="951846" cy="369332"/>
              <a:chOff x="6120230" y="6147879"/>
              <a:chExt cx="951846" cy="369332"/>
            </a:xfrm>
          </p:grpSpPr>
          <p:cxnSp>
            <p:nvCxnSpPr>
              <p:cNvPr id="26" name="Прямая соединительная линия 25"/>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6" name="Прямая со стрелкой 35"/>
          <p:cNvCxnSpPr/>
          <p:nvPr/>
        </p:nvCxnSpPr>
        <p:spPr>
          <a:xfrm>
            <a:off x="204403" y="798125"/>
            <a:ext cx="0" cy="5539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Прямая со стрелкой 36"/>
          <p:cNvCxnSpPr/>
          <p:nvPr/>
        </p:nvCxnSpPr>
        <p:spPr>
          <a:xfrm>
            <a:off x="883276" y="817196"/>
            <a:ext cx="0" cy="5539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p:cNvCxnSpPr/>
          <p:nvPr/>
        </p:nvCxnSpPr>
        <p:spPr>
          <a:xfrm>
            <a:off x="204403" y="1059735"/>
            <a:ext cx="67887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07041" y="680372"/>
            <a:ext cx="421910" cy="369332"/>
          </a:xfrm>
          <a:prstGeom prst="rect">
            <a:avLst/>
          </a:prstGeom>
          <a:noFill/>
        </p:spPr>
        <p:txBody>
          <a:bodyPr wrap="none" rtlCol="0">
            <a:spAutoFit/>
          </a:bodyPr>
          <a:lstStyle/>
          <a:p>
            <a:r>
              <a:rPr lang="en-US" dirty="0" smtClean="0"/>
              <a:t>T</a:t>
            </a:r>
            <a:r>
              <a:rPr lang="ru-RU" dirty="0" smtClean="0"/>
              <a:t>и</a:t>
            </a:r>
            <a:endParaRPr lang="ru-RU" dirty="0"/>
          </a:p>
        </p:txBody>
      </p:sp>
      <p:sp>
        <p:nvSpPr>
          <p:cNvPr id="40" name="TextBox 39"/>
          <p:cNvSpPr txBox="1"/>
          <p:nvPr/>
        </p:nvSpPr>
        <p:spPr>
          <a:xfrm>
            <a:off x="758522" y="811"/>
            <a:ext cx="1628266" cy="523220"/>
          </a:xfrm>
          <a:prstGeom prst="rect">
            <a:avLst/>
          </a:prstGeom>
          <a:noFill/>
        </p:spPr>
        <p:txBody>
          <a:bodyPr wrap="none" rtlCol="0">
            <a:spAutoFit/>
          </a:bodyPr>
          <a:lstStyle/>
          <a:p>
            <a:r>
              <a:rPr lang="en-US" sz="1400" dirty="0" smtClean="0"/>
              <a:t>N- </a:t>
            </a:r>
            <a:r>
              <a:rPr lang="ru-RU" sz="1400" dirty="0" smtClean="0"/>
              <a:t>разрядный</a:t>
            </a:r>
          </a:p>
          <a:p>
            <a:r>
              <a:rPr lang="ru-RU" sz="1400" dirty="0" smtClean="0"/>
              <a:t> двоичный счетчик</a:t>
            </a:r>
            <a:endParaRPr lang="ru-RU" sz="1400" dirty="0"/>
          </a:p>
        </p:txBody>
      </p:sp>
      <p:sp>
        <p:nvSpPr>
          <p:cNvPr id="41" name="Прямоугольник 40"/>
          <p:cNvSpPr/>
          <p:nvPr/>
        </p:nvSpPr>
        <p:spPr>
          <a:xfrm>
            <a:off x="2617482" y="2433925"/>
            <a:ext cx="864096" cy="165618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Прямоугольник 41"/>
          <p:cNvSpPr/>
          <p:nvPr/>
        </p:nvSpPr>
        <p:spPr>
          <a:xfrm>
            <a:off x="1105828" y="524031"/>
            <a:ext cx="864096" cy="165618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TextBox 42"/>
          <p:cNvSpPr txBox="1"/>
          <p:nvPr/>
        </p:nvSpPr>
        <p:spPr>
          <a:xfrm>
            <a:off x="1488304" y="524031"/>
            <a:ext cx="420308" cy="369332"/>
          </a:xfrm>
          <a:prstGeom prst="rect">
            <a:avLst/>
          </a:prstGeom>
          <a:noFill/>
        </p:spPr>
        <p:txBody>
          <a:bodyPr wrap="none" rtlCol="0">
            <a:spAutoFit/>
          </a:bodyPr>
          <a:lstStyle/>
          <a:p>
            <a:r>
              <a:rPr lang="ru-RU" dirty="0" smtClean="0"/>
              <a:t>СТ</a:t>
            </a:r>
            <a:endParaRPr lang="ru-RU" dirty="0"/>
          </a:p>
        </p:txBody>
      </p:sp>
      <p:cxnSp>
        <p:nvCxnSpPr>
          <p:cNvPr id="44" name="Прямая соединительная линия 43"/>
          <p:cNvCxnSpPr/>
          <p:nvPr/>
        </p:nvCxnSpPr>
        <p:spPr>
          <a:xfrm>
            <a:off x="601772" y="1676159"/>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88549" y="1504026"/>
            <a:ext cx="543739" cy="369332"/>
          </a:xfrm>
          <a:prstGeom prst="rect">
            <a:avLst/>
          </a:prstGeom>
          <a:noFill/>
        </p:spPr>
        <p:txBody>
          <a:bodyPr wrap="none" rtlCol="0">
            <a:spAutoFit/>
          </a:bodyPr>
          <a:lstStyle/>
          <a:p>
            <a:r>
              <a:rPr lang="ru-RU" dirty="0" smtClean="0"/>
              <a:t>ГТИ</a:t>
            </a:r>
            <a:endParaRPr lang="ru-RU" dirty="0"/>
          </a:p>
        </p:txBody>
      </p:sp>
      <p:cxnSp>
        <p:nvCxnSpPr>
          <p:cNvPr id="46" name="Прямая соединительная линия 45"/>
          <p:cNvCxnSpPr/>
          <p:nvPr/>
        </p:nvCxnSpPr>
        <p:spPr>
          <a:xfrm flipH="1">
            <a:off x="1056392" y="1614570"/>
            <a:ext cx="104420" cy="1231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824667" y="2435885"/>
            <a:ext cx="500586" cy="276999"/>
          </a:xfrm>
          <a:prstGeom prst="rect">
            <a:avLst/>
          </a:prstGeom>
          <a:noFill/>
        </p:spPr>
        <p:txBody>
          <a:bodyPr wrap="none" rtlCol="0">
            <a:spAutoFit/>
          </a:bodyPr>
          <a:lstStyle/>
          <a:p>
            <a:r>
              <a:rPr lang="en-US" sz="1200" dirty="0" smtClean="0"/>
              <a:t>ROM</a:t>
            </a:r>
            <a:endParaRPr lang="ru-RU" sz="1200" dirty="0"/>
          </a:p>
        </p:txBody>
      </p:sp>
      <p:cxnSp>
        <p:nvCxnSpPr>
          <p:cNvPr id="49" name="Прямая соединительная линия 48"/>
          <p:cNvCxnSpPr/>
          <p:nvPr/>
        </p:nvCxnSpPr>
        <p:spPr>
          <a:xfrm>
            <a:off x="2875927" y="2441825"/>
            <a:ext cx="13424" cy="16482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617482" y="2428212"/>
            <a:ext cx="317716" cy="369332"/>
          </a:xfrm>
          <a:prstGeom prst="rect">
            <a:avLst/>
          </a:prstGeom>
          <a:noFill/>
        </p:spPr>
        <p:txBody>
          <a:bodyPr wrap="none" rtlCol="0">
            <a:spAutoFit/>
          </a:bodyPr>
          <a:lstStyle/>
          <a:p>
            <a:r>
              <a:rPr lang="en-US" dirty="0" smtClean="0"/>
              <a:t>A</a:t>
            </a:r>
            <a:endParaRPr lang="ru-RU" dirty="0"/>
          </a:p>
        </p:txBody>
      </p:sp>
      <p:cxnSp>
        <p:nvCxnSpPr>
          <p:cNvPr id="54" name="Прямая соединительная линия 53"/>
          <p:cNvCxnSpPr/>
          <p:nvPr/>
        </p:nvCxnSpPr>
        <p:spPr>
          <a:xfrm>
            <a:off x="3275856" y="2456522"/>
            <a:ext cx="13424" cy="16482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220026" y="2428212"/>
            <a:ext cx="327334" cy="369332"/>
          </a:xfrm>
          <a:prstGeom prst="rect">
            <a:avLst/>
          </a:prstGeom>
          <a:noFill/>
        </p:spPr>
        <p:txBody>
          <a:bodyPr wrap="none" rtlCol="0">
            <a:spAutoFit/>
          </a:bodyPr>
          <a:lstStyle/>
          <a:p>
            <a:r>
              <a:rPr lang="en-US" dirty="0"/>
              <a:t>D</a:t>
            </a:r>
            <a:endParaRPr lang="ru-RU" dirty="0"/>
          </a:p>
        </p:txBody>
      </p:sp>
      <p:cxnSp>
        <p:nvCxnSpPr>
          <p:cNvPr id="57" name="Прямая со стрелкой 56"/>
          <p:cNvCxnSpPr/>
          <p:nvPr/>
        </p:nvCxnSpPr>
        <p:spPr>
          <a:xfrm>
            <a:off x="3481578" y="2923757"/>
            <a:ext cx="69692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Соединительная линия уступом 58"/>
          <p:cNvCxnSpPr>
            <a:endCxn id="41" idx="1"/>
          </p:cNvCxnSpPr>
          <p:nvPr/>
        </p:nvCxnSpPr>
        <p:spPr>
          <a:xfrm rot="16200000" flipH="1">
            <a:off x="1655951" y="2300485"/>
            <a:ext cx="1573325" cy="349738"/>
          </a:xfrm>
          <a:prstGeom prst="bentConnector2">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p:nvPr/>
        </p:nvCxnSpPr>
        <p:spPr>
          <a:xfrm flipH="1">
            <a:off x="1969924" y="1688692"/>
            <a:ext cx="2978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2045313" y="620138"/>
            <a:ext cx="2349426" cy="369332"/>
          </a:xfrm>
          <a:prstGeom prst="rect">
            <a:avLst/>
          </a:prstGeom>
          <a:noFill/>
        </p:spPr>
        <p:txBody>
          <a:bodyPr wrap="none" rtlCol="0">
            <a:spAutoFit/>
          </a:bodyPr>
          <a:lstStyle/>
          <a:p>
            <a:r>
              <a:rPr lang="en-US" dirty="0" smtClean="0"/>
              <a:t>M-</a:t>
            </a:r>
            <a:r>
              <a:rPr lang="ru-RU" dirty="0" smtClean="0"/>
              <a:t>разрядный счетчик</a:t>
            </a:r>
            <a:endParaRPr lang="ru-RU" dirty="0"/>
          </a:p>
        </p:txBody>
      </p:sp>
      <p:sp>
        <p:nvSpPr>
          <p:cNvPr id="66" name="TextBox 65"/>
          <p:cNvSpPr txBox="1"/>
          <p:nvPr/>
        </p:nvSpPr>
        <p:spPr>
          <a:xfrm>
            <a:off x="956306" y="2662147"/>
            <a:ext cx="1284326" cy="523220"/>
          </a:xfrm>
          <a:prstGeom prst="rect">
            <a:avLst/>
          </a:prstGeom>
          <a:noFill/>
        </p:spPr>
        <p:txBody>
          <a:bodyPr wrap="none" rtlCol="0">
            <a:spAutoFit/>
          </a:bodyPr>
          <a:lstStyle/>
          <a:p>
            <a:pPr algn="ctr"/>
            <a:r>
              <a:rPr lang="ru-RU" sz="1400" dirty="0" smtClean="0"/>
              <a:t>М-разрядный </a:t>
            </a:r>
          </a:p>
          <a:p>
            <a:pPr algn="ctr"/>
            <a:r>
              <a:rPr lang="ru-RU" sz="1400" dirty="0" smtClean="0"/>
              <a:t>адрес</a:t>
            </a:r>
            <a:endParaRPr lang="ru-RU" sz="1400" dirty="0"/>
          </a:p>
        </p:txBody>
      </p:sp>
      <p:sp>
        <p:nvSpPr>
          <p:cNvPr id="67" name="TextBox 66"/>
          <p:cNvSpPr txBox="1"/>
          <p:nvPr/>
        </p:nvSpPr>
        <p:spPr>
          <a:xfrm>
            <a:off x="3182508" y="1891457"/>
            <a:ext cx="1237839" cy="523220"/>
          </a:xfrm>
          <a:prstGeom prst="rect">
            <a:avLst/>
          </a:prstGeom>
          <a:noFill/>
        </p:spPr>
        <p:txBody>
          <a:bodyPr wrap="none" rtlCol="0">
            <a:spAutoFit/>
          </a:bodyPr>
          <a:lstStyle/>
          <a:p>
            <a:pPr algn="ctr"/>
            <a:r>
              <a:rPr lang="en-US" sz="1400" dirty="0" smtClean="0"/>
              <a:t>N</a:t>
            </a:r>
            <a:r>
              <a:rPr lang="ru-RU" sz="1400" dirty="0" smtClean="0"/>
              <a:t>-разрядны</a:t>
            </a:r>
            <a:r>
              <a:rPr lang="ru-RU" sz="1400" dirty="0"/>
              <a:t>е</a:t>
            </a:r>
            <a:r>
              <a:rPr lang="ru-RU" sz="1400" dirty="0" smtClean="0"/>
              <a:t> </a:t>
            </a:r>
          </a:p>
          <a:p>
            <a:pPr algn="ctr"/>
            <a:r>
              <a:rPr lang="ru-RU" sz="1400" dirty="0" smtClean="0"/>
              <a:t>данные</a:t>
            </a:r>
            <a:endParaRPr lang="ru-RU" sz="1400" dirty="0"/>
          </a:p>
        </p:txBody>
      </p:sp>
      <p:cxnSp>
        <p:nvCxnSpPr>
          <p:cNvPr id="72" name="Прямая соединительная линия 71"/>
          <p:cNvCxnSpPr/>
          <p:nvPr/>
        </p:nvCxnSpPr>
        <p:spPr>
          <a:xfrm>
            <a:off x="3674444" y="3614220"/>
            <a:ext cx="0" cy="10651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Прямая соединительная линия 73"/>
          <p:cNvCxnSpPr/>
          <p:nvPr/>
        </p:nvCxnSpPr>
        <p:spPr>
          <a:xfrm flipH="1">
            <a:off x="758522" y="4679378"/>
            <a:ext cx="29159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Прямая соединительная линия 75"/>
          <p:cNvCxnSpPr/>
          <p:nvPr/>
        </p:nvCxnSpPr>
        <p:spPr>
          <a:xfrm flipV="1">
            <a:off x="759134" y="1676159"/>
            <a:ext cx="0" cy="30032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Овал 76"/>
          <p:cNvSpPr/>
          <p:nvPr/>
        </p:nvSpPr>
        <p:spPr>
          <a:xfrm>
            <a:off x="722518" y="165268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3" name="Прямая соединительная линия 2"/>
          <p:cNvCxnSpPr/>
          <p:nvPr/>
        </p:nvCxnSpPr>
        <p:spPr>
          <a:xfrm>
            <a:off x="1488304" y="524031"/>
            <a:ext cx="0" cy="162903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1120866" y="1783735"/>
            <a:ext cx="309700" cy="369332"/>
          </a:xfrm>
          <a:prstGeom prst="rect">
            <a:avLst/>
          </a:prstGeom>
          <a:noFill/>
        </p:spPr>
        <p:txBody>
          <a:bodyPr wrap="none" rtlCol="0">
            <a:spAutoFit/>
          </a:bodyPr>
          <a:lstStyle/>
          <a:p>
            <a:r>
              <a:rPr lang="en-US" dirty="0"/>
              <a:t>R</a:t>
            </a:r>
            <a:endParaRPr lang="ru-RU" dirty="0"/>
          </a:p>
        </p:txBody>
      </p:sp>
      <p:cxnSp>
        <p:nvCxnSpPr>
          <p:cNvPr id="64" name="Прямая соединительная линия 63"/>
          <p:cNvCxnSpPr/>
          <p:nvPr/>
        </p:nvCxnSpPr>
        <p:spPr>
          <a:xfrm>
            <a:off x="609355" y="1942629"/>
            <a:ext cx="532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Овал 67"/>
          <p:cNvSpPr/>
          <p:nvPr/>
        </p:nvSpPr>
        <p:spPr>
          <a:xfrm>
            <a:off x="611560" y="1896507"/>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Овал 68"/>
          <p:cNvSpPr/>
          <p:nvPr/>
        </p:nvSpPr>
        <p:spPr>
          <a:xfrm>
            <a:off x="1064100" y="1896507"/>
            <a:ext cx="92333" cy="923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0" name="Прямая соединительная линия 69"/>
          <p:cNvCxnSpPr/>
          <p:nvPr/>
        </p:nvCxnSpPr>
        <p:spPr>
          <a:xfrm>
            <a:off x="4560976" y="2466146"/>
            <a:ext cx="0" cy="162903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p:cNvCxnSpPr/>
          <p:nvPr/>
        </p:nvCxnSpPr>
        <p:spPr>
          <a:xfrm>
            <a:off x="4178185" y="3487760"/>
            <a:ext cx="3827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Прямая соединительная линия 72"/>
          <p:cNvCxnSpPr/>
          <p:nvPr/>
        </p:nvCxnSpPr>
        <p:spPr>
          <a:xfrm>
            <a:off x="1120866" y="1797407"/>
            <a:ext cx="3827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p:nvPr/>
        </p:nvCxnSpPr>
        <p:spPr>
          <a:xfrm>
            <a:off x="5042596" y="3108423"/>
            <a:ext cx="14377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5" name="Группа 74"/>
          <p:cNvGrpSpPr/>
          <p:nvPr/>
        </p:nvGrpSpPr>
        <p:grpSpPr>
          <a:xfrm>
            <a:off x="5594619" y="2574384"/>
            <a:ext cx="333746" cy="734128"/>
            <a:chOff x="3597924" y="1445745"/>
            <a:chExt cx="333746" cy="734128"/>
          </a:xfrm>
        </p:grpSpPr>
        <p:sp>
          <p:nvSpPr>
            <p:cNvPr id="78" name="TextBox 77"/>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79" name="TextBox 78"/>
            <p:cNvSpPr txBox="1"/>
            <p:nvPr/>
          </p:nvSpPr>
          <p:spPr>
            <a:xfrm>
              <a:off x="3597924" y="1445745"/>
              <a:ext cx="333746" cy="369332"/>
            </a:xfrm>
            <a:prstGeom prst="rect">
              <a:avLst/>
            </a:prstGeom>
            <a:noFill/>
          </p:spPr>
          <p:txBody>
            <a:bodyPr wrap="none" rtlCol="0">
              <a:spAutoFit/>
            </a:bodyPr>
            <a:lstStyle/>
            <a:p>
              <a:r>
                <a:rPr lang="en-US" dirty="0"/>
                <a:t>N</a:t>
              </a:r>
              <a:endParaRPr lang="ru-RU" dirty="0"/>
            </a:p>
          </p:txBody>
        </p:sp>
      </p:grpSp>
      <p:grpSp>
        <p:nvGrpSpPr>
          <p:cNvPr id="80" name="Группа 79"/>
          <p:cNvGrpSpPr/>
          <p:nvPr/>
        </p:nvGrpSpPr>
        <p:grpSpPr>
          <a:xfrm>
            <a:off x="3634554" y="2343764"/>
            <a:ext cx="333746" cy="734128"/>
            <a:chOff x="3597924" y="1445745"/>
            <a:chExt cx="333746" cy="734128"/>
          </a:xfrm>
        </p:grpSpPr>
        <p:sp>
          <p:nvSpPr>
            <p:cNvPr id="81" name="TextBox 80"/>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82" name="TextBox 81"/>
            <p:cNvSpPr txBox="1"/>
            <p:nvPr/>
          </p:nvSpPr>
          <p:spPr>
            <a:xfrm>
              <a:off x="3597924" y="1445745"/>
              <a:ext cx="333746" cy="369332"/>
            </a:xfrm>
            <a:prstGeom prst="rect">
              <a:avLst/>
            </a:prstGeom>
            <a:noFill/>
          </p:spPr>
          <p:txBody>
            <a:bodyPr wrap="none" rtlCol="0">
              <a:spAutoFit/>
            </a:bodyPr>
            <a:lstStyle/>
            <a:p>
              <a:r>
                <a:rPr lang="en-US" dirty="0"/>
                <a:t>N</a:t>
              </a:r>
              <a:endParaRPr lang="ru-RU" dirty="0"/>
            </a:p>
          </p:txBody>
        </p:sp>
      </p:grpSp>
      <p:grpSp>
        <p:nvGrpSpPr>
          <p:cNvPr id="83" name="Группа 82"/>
          <p:cNvGrpSpPr/>
          <p:nvPr/>
        </p:nvGrpSpPr>
        <p:grpSpPr>
          <a:xfrm>
            <a:off x="1999580" y="1136962"/>
            <a:ext cx="381836" cy="734128"/>
            <a:chOff x="3597924" y="1445745"/>
            <a:chExt cx="381836" cy="734128"/>
          </a:xfrm>
        </p:grpSpPr>
        <p:sp>
          <p:nvSpPr>
            <p:cNvPr id="84" name="TextBox 83"/>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85" name="TextBox 84"/>
            <p:cNvSpPr txBox="1"/>
            <p:nvPr/>
          </p:nvSpPr>
          <p:spPr>
            <a:xfrm>
              <a:off x="3597924" y="1445745"/>
              <a:ext cx="381836" cy="369332"/>
            </a:xfrm>
            <a:prstGeom prst="rect">
              <a:avLst/>
            </a:prstGeom>
            <a:noFill/>
          </p:spPr>
          <p:txBody>
            <a:bodyPr wrap="none" rtlCol="0">
              <a:spAutoFit/>
            </a:bodyPr>
            <a:lstStyle/>
            <a:p>
              <a:r>
                <a:rPr lang="en-US" dirty="0" smtClean="0"/>
                <a:t>M</a:t>
              </a:r>
              <a:endParaRPr lang="ru-RU" dirty="0"/>
            </a:p>
          </p:txBody>
        </p:sp>
      </p:grpSp>
    </p:spTree>
    <p:extLst>
      <p:ext uri="{BB962C8B-B14F-4D97-AF65-F5344CB8AC3E}">
        <p14:creationId xmlns:p14="http://schemas.microsoft.com/office/powerpoint/2010/main" val="4255198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2064636" y="1346893"/>
            <a:ext cx="864096" cy="165618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p:cNvSpPr txBox="1"/>
          <p:nvPr/>
        </p:nvSpPr>
        <p:spPr>
          <a:xfrm>
            <a:off x="2352668" y="1346893"/>
            <a:ext cx="453457" cy="369332"/>
          </a:xfrm>
          <a:prstGeom prst="rect">
            <a:avLst/>
          </a:prstGeom>
          <a:noFill/>
        </p:spPr>
        <p:txBody>
          <a:bodyPr wrap="none" rtlCol="0">
            <a:spAutoFit/>
          </a:bodyPr>
          <a:lstStyle/>
          <a:p>
            <a:r>
              <a:rPr lang="en-US" dirty="0" smtClean="0"/>
              <a:t>RG</a:t>
            </a:r>
            <a:endParaRPr lang="ru-RU" dirty="0"/>
          </a:p>
        </p:txBody>
      </p:sp>
      <p:cxnSp>
        <p:nvCxnSpPr>
          <p:cNvPr id="7" name="Прямая соединительная линия 6"/>
          <p:cNvCxnSpPr/>
          <p:nvPr/>
        </p:nvCxnSpPr>
        <p:spPr>
          <a:xfrm>
            <a:off x="1560580" y="2499021"/>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flipH="1">
            <a:off x="2012426" y="2437432"/>
            <a:ext cx="104420" cy="1231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152434" y="2375943"/>
            <a:ext cx="308098" cy="369332"/>
          </a:xfrm>
          <a:prstGeom prst="rect">
            <a:avLst/>
          </a:prstGeom>
          <a:noFill/>
        </p:spPr>
        <p:txBody>
          <a:bodyPr wrap="none" rtlCol="0">
            <a:spAutoFit/>
          </a:bodyPr>
          <a:lstStyle/>
          <a:p>
            <a:r>
              <a:rPr lang="en-US" dirty="0" smtClean="0"/>
              <a:t>C</a:t>
            </a:r>
            <a:endParaRPr lang="ru-RU" dirty="0"/>
          </a:p>
        </p:txBody>
      </p:sp>
      <p:sp>
        <p:nvSpPr>
          <p:cNvPr id="10" name="Стрелка вправо 9"/>
          <p:cNvSpPr/>
          <p:nvPr/>
        </p:nvSpPr>
        <p:spPr>
          <a:xfrm>
            <a:off x="1423504" y="1716225"/>
            <a:ext cx="59586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818782" y="1162227"/>
            <a:ext cx="1245854" cy="523220"/>
          </a:xfrm>
          <a:prstGeom prst="rect">
            <a:avLst/>
          </a:prstGeom>
          <a:noFill/>
        </p:spPr>
        <p:txBody>
          <a:bodyPr wrap="none" rtlCol="0">
            <a:spAutoFit/>
          </a:bodyPr>
          <a:lstStyle/>
          <a:p>
            <a:r>
              <a:rPr lang="en-US" sz="1400" dirty="0" smtClean="0"/>
              <a:t>N- </a:t>
            </a:r>
            <a:r>
              <a:rPr lang="ru-RU" sz="1400" dirty="0" smtClean="0"/>
              <a:t>разрядный</a:t>
            </a:r>
          </a:p>
          <a:p>
            <a:r>
              <a:rPr lang="ru-RU" sz="1400" dirty="0" smtClean="0"/>
              <a:t> входной код </a:t>
            </a:r>
            <a:endParaRPr lang="ru-RU" sz="1400" dirty="0"/>
          </a:p>
        </p:txBody>
      </p:sp>
      <p:sp>
        <p:nvSpPr>
          <p:cNvPr id="12" name="TextBox 11"/>
          <p:cNvSpPr txBox="1"/>
          <p:nvPr/>
        </p:nvSpPr>
        <p:spPr>
          <a:xfrm>
            <a:off x="956482" y="2116687"/>
            <a:ext cx="764953" cy="369332"/>
          </a:xfrm>
          <a:prstGeom prst="rect">
            <a:avLst/>
          </a:prstGeom>
          <a:noFill/>
        </p:spPr>
        <p:txBody>
          <a:bodyPr wrap="none" rtlCol="0">
            <a:spAutoFit/>
          </a:bodyPr>
          <a:lstStyle/>
          <a:p>
            <a:r>
              <a:rPr lang="ru-RU" dirty="0" smtClean="0"/>
              <a:t>Строб</a:t>
            </a:r>
            <a:endParaRPr lang="ru-RU" dirty="0"/>
          </a:p>
        </p:txBody>
      </p:sp>
      <p:sp>
        <p:nvSpPr>
          <p:cNvPr id="13" name="Прямоугольник 12"/>
          <p:cNvSpPr/>
          <p:nvPr/>
        </p:nvSpPr>
        <p:spPr>
          <a:xfrm>
            <a:off x="4368892" y="1043899"/>
            <a:ext cx="1656184"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Прямоугольник 13"/>
          <p:cNvSpPr/>
          <p:nvPr/>
        </p:nvSpPr>
        <p:spPr>
          <a:xfrm>
            <a:off x="4944956" y="1043899"/>
            <a:ext cx="504056"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5" name="Прямая соединительная линия 14"/>
          <p:cNvCxnSpPr/>
          <p:nvPr/>
        </p:nvCxnSpPr>
        <p:spPr>
          <a:xfrm>
            <a:off x="4368892" y="3276147"/>
            <a:ext cx="5760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3862468" y="3564179"/>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7" name="Объект 16"/>
          <p:cNvGraphicFramePr>
            <a:graphicFrameLocks noChangeAspect="1"/>
          </p:cNvGraphicFramePr>
          <p:nvPr>
            <p:extLst>
              <p:ext uri="{D42A27DB-BD31-4B8C-83A1-F6EECF244321}">
                <p14:modId xmlns:p14="http://schemas.microsoft.com/office/powerpoint/2010/main" val="1320710723"/>
              </p:ext>
            </p:extLst>
          </p:nvPr>
        </p:nvGraphicFramePr>
        <p:xfrm>
          <a:off x="4366524" y="3276147"/>
          <a:ext cx="490339" cy="422942"/>
        </p:xfrm>
        <a:graphic>
          <a:graphicData uri="http://schemas.openxmlformats.org/presentationml/2006/ole">
            <mc:AlternateContent xmlns:mc="http://schemas.openxmlformats.org/markup-compatibility/2006">
              <mc:Choice xmlns:v="urn:schemas-microsoft-com:vml" Requires="v">
                <p:oleObj spid="_x0000_s19629" name="Equation" r:id="rId3" imgW="279360" imgH="241200" progId="Equation.DSMT4">
                  <p:embed/>
                </p:oleObj>
              </mc:Choice>
              <mc:Fallback>
                <p:oleObj name="Equation" r:id="rId3" imgW="27936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6524" y="3276147"/>
                        <a:ext cx="490339" cy="422942"/>
                      </a:xfrm>
                      <a:prstGeom prst="rect">
                        <a:avLst/>
                      </a:prstGeom>
                      <a:noFill/>
                      <a:ln>
                        <a:noFill/>
                      </a:ln>
                    </p:spPr>
                  </p:pic>
                </p:oleObj>
              </mc:Fallback>
            </mc:AlternateContent>
          </a:graphicData>
        </a:graphic>
      </p:graphicFrame>
      <p:sp>
        <p:nvSpPr>
          <p:cNvPr id="18" name="TextBox 17"/>
          <p:cNvSpPr txBox="1"/>
          <p:nvPr/>
        </p:nvSpPr>
        <p:spPr>
          <a:xfrm>
            <a:off x="4870264" y="1043899"/>
            <a:ext cx="578748" cy="369332"/>
          </a:xfrm>
          <a:prstGeom prst="rect">
            <a:avLst/>
          </a:prstGeom>
          <a:noFill/>
        </p:spPr>
        <p:txBody>
          <a:bodyPr wrap="none" rtlCol="0">
            <a:spAutoFit/>
          </a:bodyPr>
          <a:lstStyle/>
          <a:p>
            <a:r>
              <a:rPr lang="en-US" dirty="0" smtClean="0"/>
              <a:t>DAC</a:t>
            </a:r>
            <a:endParaRPr lang="ru-RU" dirty="0"/>
          </a:p>
        </p:txBody>
      </p:sp>
      <p:cxnSp>
        <p:nvCxnSpPr>
          <p:cNvPr id="19" name="Прямая соединительная линия 18"/>
          <p:cNvCxnSpPr/>
          <p:nvPr/>
        </p:nvCxnSpPr>
        <p:spPr>
          <a:xfrm flipV="1">
            <a:off x="6035385" y="3161214"/>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169092" y="2716388"/>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sp>
        <p:nvSpPr>
          <p:cNvPr id="22" name="TextBox 21"/>
          <p:cNvSpPr txBox="1"/>
          <p:nvPr/>
        </p:nvSpPr>
        <p:spPr>
          <a:xfrm>
            <a:off x="4395439" y="1623892"/>
            <a:ext cx="327334" cy="369332"/>
          </a:xfrm>
          <a:prstGeom prst="rect">
            <a:avLst/>
          </a:prstGeom>
          <a:noFill/>
        </p:spPr>
        <p:txBody>
          <a:bodyPr wrap="none" rtlCol="0">
            <a:spAutoFit/>
          </a:bodyPr>
          <a:lstStyle/>
          <a:p>
            <a:r>
              <a:rPr lang="en-US" dirty="0" smtClean="0"/>
              <a:t>D</a:t>
            </a:r>
            <a:endParaRPr lang="ru-RU" dirty="0"/>
          </a:p>
        </p:txBody>
      </p:sp>
      <p:sp>
        <p:nvSpPr>
          <p:cNvPr id="23" name="TextBox 22"/>
          <p:cNvSpPr txBox="1"/>
          <p:nvPr/>
        </p:nvSpPr>
        <p:spPr>
          <a:xfrm>
            <a:off x="3169682" y="1070389"/>
            <a:ext cx="734432" cy="369332"/>
          </a:xfrm>
          <a:prstGeom prst="rect">
            <a:avLst/>
          </a:prstGeom>
          <a:noFill/>
        </p:spPr>
        <p:txBody>
          <a:bodyPr wrap="none" rtlCol="0">
            <a:spAutoFit/>
          </a:bodyPr>
          <a:lstStyle/>
          <a:p>
            <a:r>
              <a:rPr lang="en-US" dirty="0" smtClean="0"/>
              <a:t>N </a:t>
            </a:r>
            <a:r>
              <a:rPr lang="ru-RU" dirty="0" smtClean="0"/>
              <a:t>код</a:t>
            </a:r>
            <a:endParaRPr lang="ru-RU" dirty="0"/>
          </a:p>
        </p:txBody>
      </p:sp>
      <p:sp>
        <p:nvSpPr>
          <p:cNvPr id="24" name="TextBox 23"/>
          <p:cNvSpPr txBox="1"/>
          <p:nvPr/>
        </p:nvSpPr>
        <p:spPr>
          <a:xfrm>
            <a:off x="3150414" y="3379513"/>
            <a:ext cx="772969"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вх</a:t>
            </a:r>
            <a:r>
              <a:rPr lang="ru-RU" i="1"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t)</a:t>
            </a:r>
            <a:endParaRPr lang="ru-RU" i="1" dirty="0">
              <a:latin typeface="Times New Roman" pitchFamily="18" charset="0"/>
              <a:cs typeface="Times New Roman" pitchFamily="18" charset="0"/>
            </a:endParaRPr>
          </a:p>
        </p:txBody>
      </p:sp>
      <p:grpSp>
        <p:nvGrpSpPr>
          <p:cNvPr id="25" name="Группа 24"/>
          <p:cNvGrpSpPr/>
          <p:nvPr/>
        </p:nvGrpSpPr>
        <p:grpSpPr>
          <a:xfrm>
            <a:off x="2915417" y="3823430"/>
            <a:ext cx="1017273" cy="687436"/>
            <a:chOff x="321309" y="2150835"/>
            <a:chExt cx="1705889" cy="371923"/>
          </a:xfrm>
        </p:grpSpPr>
        <p:grpSp>
          <p:nvGrpSpPr>
            <p:cNvPr id="26" name="Группа 25"/>
            <p:cNvGrpSpPr/>
            <p:nvPr/>
          </p:nvGrpSpPr>
          <p:grpSpPr>
            <a:xfrm>
              <a:off x="321309" y="2150835"/>
              <a:ext cx="951846" cy="369332"/>
              <a:chOff x="6120230" y="6147879"/>
              <a:chExt cx="951846" cy="369332"/>
            </a:xfrm>
          </p:grpSpPr>
          <p:cxnSp>
            <p:nvCxnSpPr>
              <p:cNvPr id="33" name="Прямая соединительная линия 32"/>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Группа 26"/>
            <p:cNvGrpSpPr/>
            <p:nvPr/>
          </p:nvGrpSpPr>
          <p:grpSpPr>
            <a:xfrm>
              <a:off x="1075352" y="2153426"/>
              <a:ext cx="951846" cy="369332"/>
              <a:chOff x="6120230" y="6147879"/>
              <a:chExt cx="951846" cy="369332"/>
            </a:xfrm>
          </p:grpSpPr>
          <p:cxnSp>
            <p:nvCxnSpPr>
              <p:cNvPr id="28" name="Прямая соединительная линия 27"/>
              <p:cNvCxnSpPr/>
              <p:nvPr/>
            </p:nvCxnSpPr>
            <p:spPr>
              <a:xfrm>
                <a:off x="6120230" y="6517211"/>
                <a:ext cx="2267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flipV="1">
                <a:off x="6346938"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6346938" y="6147879"/>
                <a:ext cx="35239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6718572" y="6147879"/>
                <a:ext cx="0" cy="3693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6727640" y="6517211"/>
                <a:ext cx="3444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8" name="Группа 37"/>
          <p:cNvGrpSpPr/>
          <p:nvPr/>
        </p:nvGrpSpPr>
        <p:grpSpPr>
          <a:xfrm>
            <a:off x="6138992" y="3263094"/>
            <a:ext cx="1017273" cy="159052"/>
            <a:chOff x="321309" y="2150835"/>
            <a:chExt cx="1705889" cy="371923"/>
          </a:xfrm>
        </p:grpSpPr>
        <p:grpSp>
          <p:nvGrpSpPr>
            <p:cNvPr id="39" name="Группа 38"/>
            <p:cNvGrpSpPr/>
            <p:nvPr/>
          </p:nvGrpSpPr>
          <p:grpSpPr>
            <a:xfrm>
              <a:off x="321309" y="2150835"/>
              <a:ext cx="951846" cy="369332"/>
              <a:chOff x="6120230" y="6147879"/>
              <a:chExt cx="951846" cy="369332"/>
            </a:xfrm>
          </p:grpSpPr>
          <p:cxnSp>
            <p:nvCxnSpPr>
              <p:cNvPr id="46" name="Прямая соединительная линия 45"/>
              <p:cNvCxnSpPr/>
              <p:nvPr/>
            </p:nvCxnSpPr>
            <p:spPr>
              <a:xfrm>
                <a:off x="6120230" y="6517211"/>
                <a:ext cx="226708" cy="0"/>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flipV="1">
                <a:off x="6346938" y="6147879"/>
                <a:ext cx="0" cy="369332"/>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p:cNvCxnSpPr/>
              <p:nvPr/>
            </p:nvCxnSpPr>
            <p:spPr>
              <a:xfrm>
                <a:off x="6346938" y="6147879"/>
                <a:ext cx="352398" cy="0"/>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49" name="Прямая соединительная линия 48"/>
              <p:cNvCxnSpPr/>
              <p:nvPr/>
            </p:nvCxnSpPr>
            <p:spPr>
              <a:xfrm>
                <a:off x="6718572" y="6147879"/>
                <a:ext cx="0" cy="369332"/>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50" name="Прямая соединительная линия 49"/>
              <p:cNvCxnSpPr/>
              <p:nvPr/>
            </p:nvCxnSpPr>
            <p:spPr>
              <a:xfrm>
                <a:off x="6727640" y="6517211"/>
                <a:ext cx="344436" cy="0"/>
              </a:xfrm>
              <a:prstGeom prst="line">
                <a:avLst/>
              </a:prstGeom>
              <a:ln w="38100">
                <a:noFill/>
              </a:ln>
            </p:spPr>
            <p:style>
              <a:lnRef idx="1">
                <a:schemeClr val="accent1"/>
              </a:lnRef>
              <a:fillRef idx="0">
                <a:schemeClr val="accent1"/>
              </a:fillRef>
              <a:effectRef idx="0">
                <a:schemeClr val="accent1"/>
              </a:effectRef>
              <a:fontRef idx="minor">
                <a:schemeClr val="tx1"/>
              </a:fontRef>
            </p:style>
          </p:cxnSp>
        </p:grpSp>
        <p:grpSp>
          <p:nvGrpSpPr>
            <p:cNvPr id="40" name="Группа 39"/>
            <p:cNvGrpSpPr/>
            <p:nvPr/>
          </p:nvGrpSpPr>
          <p:grpSpPr>
            <a:xfrm>
              <a:off x="1075352" y="2153426"/>
              <a:ext cx="951846" cy="369332"/>
              <a:chOff x="6120230" y="6147879"/>
              <a:chExt cx="951846" cy="369332"/>
            </a:xfrm>
          </p:grpSpPr>
          <p:cxnSp>
            <p:nvCxnSpPr>
              <p:cNvPr id="41" name="Прямая соединительная линия 40"/>
              <p:cNvCxnSpPr/>
              <p:nvPr/>
            </p:nvCxnSpPr>
            <p:spPr>
              <a:xfrm>
                <a:off x="6120230" y="6517211"/>
                <a:ext cx="226708" cy="0"/>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V="1">
                <a:off x="6346938" y="6147879"/>
                <a:ext cx="0" cy="369332"/>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6346938" y="6147879"/>
                <a:ext cx="352398" cy="0"/>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6718572" y="6147879"/>
                <a:ext cx="0" cy="369332"/>
              </a:xfrm>
              <a:prstGeom prst="line">
                <a:avLst/>
              </a:prstGeom>
              <a:ln w="38100">
                <a:noFill/>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a:off x="6727640" y="6517211"/>
                <a:ext cx="344436" cy="0"/>
              </a:xfrm>
              <a:prstGeom prst="line">
                <a:avLst/>
              </a:prstGeom>
              <a:ln w="38100">
                <a:noFill/>
              </a:ln>
            </p:spPr>
            <p:style>
              <a:lnRef idx="1">
                <a:schemeClr val="accent1"/>
              </a:lnRef>
              <a:fillRef idx="0">
                <a:schemeClr val="accent1"/>
              </a:fillRef>
              <a:effectRef idx="0">
                <a:schemeClr val="accent1"/>
              </a:effectRef>
              <a:fontRef idx="minor">
                <a:schemeClr val="tx1"/>
              </a:fontRef>
            </p:style>
          </p:cxnSp>
        </p:grpSp>
      </p:grpSp>
      <p:sp>
        <p:nvSpPr>
          <p:cNvPr id="2" name="TextBox 1"/>
          <p:cNvSpPr txBox="1"/>
          <p:nvPr/>
        </p:nvSpPr>
        <p:spPr>
          <a:xfrm>
            <a:off x="6828916" y="2716388"/>
            <a:ext cx="292068" cy="369332"/>
          </a:xfrm>
          <a:prstGeom prst="rect">
            <a:avLst/>
          </a:prstGeom>
          <a:noFill/>
        </p:spPr>
        <p:txBody>
          <a:bodyPr wrap="none" rtlCol="0">
            <a:spAutoFit/>
          </a:bodyPr>
          <a:lstStyle/>
          <a:p>
            <a:r>
              <a:rPr lang="en-US" dirty="0" smtClean="0"/>
              <a:t>?</a:t>
            </a:r>
            <a:endParaRPr lang="ru-RU" dirty="0"/>
          </a:p>
        </p:txBody>
      </p:sp>
      <p:sp>
        <p:nvSpPr>
          <p:cNvPr id="51" name="TextBox 50"/>
          <p:cNvSpPr txBox="1"/>
          <p:nvPr/>
        </p:nvSpPr>
        <p:spPr>
          <a:xfrm>
            <a:off x="6763793" y="4293096"/>
            <a:ext cx="380232" cy="369332"/>
          </a:xfrm>
          <a:prstGeom prst="rect">
            <a:avLst/>
          </a:prstGeom>
          <a:noFill/>
        </p:spPr>
        <p:txBody>
          <a:bodyPr wrap="none" rtlCol="0">
            <a:spAutoFit/>
          </a:bodyPr>
          <a:lstStyle/>
          <a:p>
            <a:r>
              <a:rPr lang="ru-RU" dirty="0" smtClean="0"/>
              <a:t>В)</a:t>
            </a:r>
            <a:endParaRPr lang="ru-RU" dirty="0"/>
          </a:p>
        </p:txBody>
      </p:sp>
      <p:cxnSp>
        <p:nvCxnSpPr>
          <p:cNvPr id="53" name="Прямая соединительная линия 52"/>
          <p:cNvCxnSpPr/>
          <p:nvPr/>
        </p:nvCxnSpPr>
        <p:spPr>
          <a:xfrm>
            <a:off x="2928732" y="1993224"/>
            <a:ext cx="14377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 name="Группа 53"/>
          <p:cNvGrpSpPr/>
          <p:nvPr/>
        </p:nvGrpSpPr>
        <p:grpSpPr>
          <a:xfrm>
            <a:off x="3500269" y="1441494"/>
            <a:ext cx="333746" cy="734128"/>
            <a:chOff x="3597924" y="1445745"/>
            <a:chExt cx="333746" cy="734128"/>
          </a:xfrm>
        </p:grpSpPr>
        <p:sp>
          <p:nvSpPr>
            <p:cNvPr id="55" name="TextBox 54"/>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56" name="TextBox 55"/>
            <p:cNvSpPr txBox="1"/>
            <p:nvPr/>
          </p:nvSpPr>
          <p:spPr>
            <a:xfrm>
              <a:off x="3597924" y="1445745"/>
              <a:ext cx="333746" cy="369332"/>
            </a:xfrm>
            <a:prstGeom prst="rect">
              <a:avLst/>
            </a:prstGeom>
            <a:noFill/>
          </p:spPr>
          <p:txBody>
            <a:bodyPr wrap="none" rtlCol="0">
              <a:spAutoFit/>
            </a:bodyPr>
            <a:lstStyle/>
            <a:p>
              <a:r>
                <a:rPr lang="en-US" dirty="0"/>
                <a:t>N</a:t>
              </a:r>
              <a:endParaRPr lang="ru-RU" dirty="0"/>
            </a:p>
          </p:txBody>
        </p:sp>
      </p:grpSp>
    </p:spTree>
    <p:extLst>
      <p:ext uri="{BB962C8B-B14F-4D97-AF65-F5344CB8AC3E}">
        <p14:creationId xmlns:p14="http://schemas.microsoft.com/office/powerpoint/2010/main" val="2432492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2473513" y="1362933"/>
            <a:ext cx="1656184"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3049577" y="1362933"/>
            <a:ext cx="504056" cy="28083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7" name="Прямая соединительная линия 6"/>
          <p:cNvCxnSpPr/>
          <p:nvPr/>
        </p:nvCxnSpPr>
        <p:spPr>
          <a:xfrm>
            <a:off x="1969457" y="1578957"/>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a:off x="1969457" y="1866989"/>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1969457" y="2155021"/>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1969457" y="2515061"/>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a:off x="1972347" y="2803701"/>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61209" y="1331575"/>
            <a:ext cx="405880" cy="369332"/>
          </a:xfrm>
          <a:prstGeom prst="rect">
            <a:avLst/>
          </a:prstGeom>
          <a:noFill/>
        </p:spPr>
        <p:txBody>
          <a:bodyPr wrap="none" rtlCol="0">
            <a:spAutoFit/>
          </a:bodyPr>
          <a:lstStyle/>
          <a:p>
            <a:r>
              <a:rPr lang="en-US" dirty="0" smtClean="0"/>
              <a:t>D</a:t>
            </a:r>
            <a:r>
              <a:rPr lang="en-US" baseline="-25000" dirty="0" smtClean="0"/>
              <a:t>0</a:t>
            </a:r>
            <a:endParaRPr lang="ru-RU" baseline="-25000" dirty="0"/>
          </a:p>
        </p:txBody>
      </p:sp>
      <p:sp>
        <p:nvSpPr>
          <p:cNvPr id="13" name="TextBox 12"/>
          <p:cNvSpPr txBox="1"/>
          <p:nvPr/>
        </p:nvSpPr>
        <p:spPr>
          <a:xfrm>
            <a:off x="1420593" y="2515061"/>
            <a:ext cx="551754" cy="369332"/>
          </a:xfrm>
          <a:prstGeom prst="rect">
            <a:avLst/>
          </a:prstGeom>
          <a:noFill/>
        </p:spPr>
        <p:txBody>
          <a:bodyPr wrap="none" rtlCol="0">
            <a:spAutoFit/>
          </a:bodyPr>
          <a:lstStyle/>
          <a:p>
            <a:r>
              <a:rPr lang="en-US" dirty="0" smtClean="0"/>
              <a:t>D</a:t>
            </a:r>
            <a:r>
              <a:rPr lang="en-US" baseline="-25000" dirty="0" smtClean="0"/>
              <a:t>N-1</a:t>
            </a:r>
            <a:endParaRPr lang="ru-RU" baseline="-25000" dirty="0"/>
          </a:p>
        </p:txBody>
      </p:sp>
      <p:sp>
        <p:nvSpPr>
          <p:cNvPr id="14" name="Левая фигурная скобка 13"/>
          <p:cNvSpPr/>
          <p:nvPr/>
        </p:nvSpPr>
        <p:spPr>
          <a:xfrm>
            <a:off x="1249377" y="1331575"/>
            <a:ext cx="311832" cy="15528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5" name="TextBox 14"/>
          <p:cNvSpPr txBox="1"/>
          <p:nvPr/>
        </p:nvSpPr>
        <p:spPr>
          <a:xfrm>
            <a:off x="-75329" y="1784818"/>
            <a:ext cx="1495922" cy="646331"/>
          </a:xfrm>
          <a:prstGeom prst="rect">
            <a:avLst/>
          </a:prstGeom>
          <a:noFill/>
        </p:spPr>
        <p:txBody>
          <a:bodyPr wrap="none" rtlCol="0">
            <a:spAutoFit/>
          </a:bodyPr>
          <a:lstStyle/>
          <a:p>
            <a:r>
              <a:rPr lang="en-US" dirty="0" smtClean="0"/>
              <a:t>N-</a:t>
            </a:r>
            <a:r>
              <a:rPr lang="ru-RU" dirty="0" smtClean="0"/>
              <a:t>разрядный</a:t>
            </a:r>
          </a:p>
          <a:p>
            <a:r>
              <a:rPr lang="ru-RU" dirty="0" smtClean="0"/>
              <a:t> входной код</a:t>
            </a:r>
            <a:endParaRPr lang="ru-RU" dirty="0"/>
          </a:p>
        </p:txBody>
      </p:sp>
      <p:cxnSp>
        <p:nvCxnSpPr>
          <p:cNvPr id="16" name="Прямая соединительная линия 15"/>
          <p:cNvCxnSpPr/>
          <p:nvPr/>
        </p:nvCxnSpPr>
        <p:spPr>
          <a:xfrm>
            <a:off x="2473513" y="3595181"/>
            <a:ext cx="5760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1967089" y="3883213"/>
            <a:ext cx="5040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8" name="Объект 17"/>
          <p:cNvGraphicFramePr>
            <a:graphicFrameLocks noChangeAspect="1"/>
          </p:cNvGraphicFramePr>
          <p:nvPr>
            <p:extLst>
              <p:ext uri="{D42A27DB-BD31-4B8C-83A1-F6EECF244321}">
                <p14:modId xmlns:p14="http://schemas.microsoft.com/office/powerpoint/2010/main" val="3782362045"/>
              </p:ext>
            </p:extLst>
          </p:nvPr>
        </p:nvGraphicFramePr>
        <p:xfrm>
          <a:off x="2471145" y="3662276"/>
          <a:ext cx="490339" cy="422942"/>
        </p:xfrm>
        <a:graphic>
          <a:graphicData uri="http://schemas.openxmlformats.org/presentationml/2006/ole">
            <mc:AlternateContent xmlns:mc="http://schemas.openxmlformats.org/markup-compatibility/2006">
              <mc:Choice xmlns:v="urn:schemas-microsoft-com:vml" Requires="v">
                <p:oleObj spid="_x0000_s20653" name="Equation" r:id="rId3" imgW="279360" imgH="241200" progId="Equation.DSMT4">
                  <p:embed/>
                </p:oleObj>
              </mc:Choice>
              <mc:Fallback>
                <p:oleObj name="Equation" r:id="rId3" imgW="27936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1145" y="3662276"/>
                        <a:ext cx="490339" cy="422942"/>
                      </a:xfrm>
                      <a:prstGeom prst="rect">
                        <a:avLst/>
                      </a:prstGeom>
                      <a:noFill/>
                      <a:ln>
                        <a:noFill/>
                      </a:ln>
                    </p:spPr>
                  </p:pic>
                </p:oleObj>
              </mc:Fallback>
            </mc:AlternateContent>
          </a:graphicData>
        </a:graphic>
      </p:graphicFrame>
      <p:sp>
        <p:nvSpPr>
          <p:cNvPr id="19" name="TextBox 18"/>
          <p:cNvSpPr txBox="1"/>
          <p:nvPr/>
        </p:nvSpPr>
        <p:spPr>
          <a:xfrm>
            <a:off x="2974885" y="1362933"/>
            <a:ext cx="578748" cy="369332"/>
          </a:xfrm>
          <a:prstGeom prst="rect">
            <a:avLst/>
          </a:prstGeom>
          <a:noFill/>
        </p:spPr>
        <p:txBody>
          <a:bodyPr wrap="none" rtlCol="0">
            <a:spAutoFit/>
          </a:bodyPr>
          <a:lstStyle/>
          <a:p>
            <a:r>
              <a:rPr lang="en-US" dirty="0" smtClean="0"/>
              <a:t>DAC</a:t>
            </a:r>
            <a:endParaRPr lang="ru-RU" dirty="0"/>
          </a:p>
        </p:txBody>
      </p:sp>
      <p:cxnSp>
        <p:nvCxnSpPr>
          <p:cNvPr id="20" name="Прямая соединительная линия 19"/>
          <p:cNvCxnSpPr/>
          <p:nvPr/>
        </p:nvCxnSpPr>
        <p:spPr>
          <a:xfrm flipV="1">
            <a:off x="5298841" y="3683960"/>
            <a:ext cx="586609" cy="12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Группа 20"/>
          <p:cNvGrpSpPr/>
          <p:nvPr/>
        </p:nvGrpSpPr>
        <p:grpSpPr>
          <a:xfrm>
            <a:off x="4890436" y="3359549"/>
            <a:ext cx="408405" cy="667680"/>
            <a:chOff x="7532578" y="3159460"/>
            <a:chExt cx="408405" cy="667680"/>
          </a:xfrm>
        </p:grpSpPr>
        <p:sp>
          <p:nvSpPr>
            <p:cNvPr id="22" name="Прямоугольник 21"/>
            <p:cNvSpPr/>
            <p:nvPr/>
          </p:nvSpPr>
          <p:spPr>
            <a:xfrm>
              <a:off x="7596336" y="3159460"/>
              <a:ext cx="344647" cy="66768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Равнобедренный треугольник 22"/>
            <p:cNvSpPr/>
            <p:nvPr/>
          </p:nvSpPr>
          <p:spPr>
            <a:xfrm rot="5400000">
              <a:off x="7769005" y="3215849"/>
              <a:ext cx="127931" cy="12862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Овал 23"/>
            <p:cNvSpPr/>
            <p:nvPr/>
          </p:nvSpPr>
          <p:spPr>
            <a:xfrm>
              <a:off x="7532578" y="3216195"/>
              <a:ext cx="127931" cy="12793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25" name="Прямоугольник 24"/>
          <p:cNvSpPr/>
          <p:nvPr/>
        </p:nvSpPr>
        <p:spPr>
          <a:xfrm rot="5400000">
            <a:off x="5061367" y="2784172"/>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6" name="Соединительная линия уступом 25"/>
          <p:cNvCxnSpPr>
            <a:stCxn id="25" idx="0"/>
          </p:cNvCxnSpPr>
          <p:nvPr/>
        </p:nvCxnSpPr>
        <p:spPr>
          <a:xfrm>
            <a:off x="5394928" y="3052584"/>
            <a:ext cx="111324" cy="64080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4681157" y="3938686"/>
            <a:ext cx="0" cy="2916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4504210" y="4230316"/>
            <a:ext cx="3538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4681157" y="3938686"/>
            <a:ext cx="273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flipV="1">
            <a:off x="4129697" y="3052583"/>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flipV="1">
            <a:off x="4140006" y="3480248"/>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Овал 31"/>
          <p:cNvSpPr/>
          <p:nvPr/>
        </p:nvSpPr>
        <p:spPr>
          <a:xfrm>
            <a:off x="5476153" y="365766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TextBox 32"/>
          <p:cNvSpPr txBox="1"/>
          <p:nvPr/>
        </p:nvSpPr>
        <p:spPr>
          <a:xfrm>
            <a:off x="4221141" y="2626662"/>
            <a:ext cx="596638" cy="369332"/>
          </a:xfrm>
          <a:prstGeom prst="rect">
            <a:avLst/>
          </a:prstGeom>
          <a:noFill/>
        </p:spPr>
        <p:txBody>
          <a:bodyPr wrap="none" rtlCol="0">
            <a:spAutoFit/>
          </a:bodyPr>
          <a:lstStyle/>
          <a:p>
            <a:r>
              <a:rPr lang="en-US" dirty="0" smtClean="0"/>
              <a:t>R</a:t>
            </a:r>
            <a:r>
              <a:rPr lang="ru-RU" baseline="-25000" dirty="0" smtClean="0"/>
              <a:t>ООС</a:t>
            </a:r>
            <a:endParaRPr lang="ru-RU" baseline="-25000" dirty="0"/>
          </a:p>
        </p:txBody>
      </p:sp>
      <p:sp>
        <p:nvSpPr>
          <p:cNvPr id="34" name="TextBox 33"/>
          <p:cNvSpPr txBox="1"/>
          <p:nvPr/>
        </p:nvSpPr>
        <p:spPr>
          <a:xfrm>
            <a:off x="4772642" y="2352477"/>
            <a:ext cx="622286"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I</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cxnSp>
        <p:nvCxnSpPr>
          <p:cNvPr id="35" name="Прямая со стрелкой 34"/>
          <p:cNvCxnSpPr/>
          <p:nvPr/>
        </p:nvCxnSpPr>
        <p:spPr>
          <a:xfrm rot="16200000">
            <a:off x="5130812" y="2705134"/>
            <a:ext cx="0" cy="3528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051520" y="4661503"/>
            <a:ext cx="554960"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вх</a:t>
            </a:r>
            <a:endParaRPr lang="ru-RU" i="1" dirty="0">
              <a:latin typeface="Times New Roman" pitchFamily="18" charset="0"/>
              <a:cs typeface="Times New Roman" pitchFamily="18" charset="0"/>
            </a:endParaRPr>
          </a:p>
        </p:txBody>
      </p:sp>
      <p:grpSp>
        <p:nvGrpSpPr>
          <p:cNvPr id="38" name="Группа 37"/>
          <p:cNvGrpSpPr/>
          <p:nvPr/>
        </p:nvGrpSpPr>
        <p:grpSpPr>
          <a:xfrm>
            <a:off x="7298964" y="3569573"/>
            <a:ext cx="408405" cy="667680"/>
            <a:chOff x="7532578" y="3159460"/>
            <a:chExt cx="408405" cy="667680"/>
          </a:xfrm>
        </p:grpSpPr>
        <p:sp>
          <p:nvSpPr>
            <p:cNvPr id="39" name="Прямоугольник 38"/>
            <p:cNvSpPr/>
            <p:nvPr/>
          </p:nvSpPr>
          <p:spPr>
            <a:xfrm>
              <a:off x="7596336" y="3159460"/>
              <a:ext cx="344647" cy="66768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Равнобедренный треугольник 39"/>
            <p:cNvSpPr/>
            <p:nvPr/>
          </p:nvSpPr>
          <p:spPr>
            <a:xfrm rot="5400000">
              <a:off x="7769005" y="3215849"/>
              <a:ext cx="127931" cy="12862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Овал 40"/>
            <p:cNvSpPr/>
            <p:nvPr/>
          </p:nvSpPr>
          <p:spPr>
            <a:xfrm>
              <a:off x="7532578" y="3216195"/>
              <a:ext cx="127931" cy="12793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42" name="Прямая соединительная линия 41"/>
          <p:cNvCxnSpPr/>
          <p:nvPr/>
        </p:nvCxnSpPr>
        <p:spPr>
          <a:xfrm>
            <a:off x="7089685" y="4148710"/>
            <a:ext cx="0" cy="2916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6908279" y="4440340"/>
            <a:ext cx="3538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7089685" y="4148710"/>
            <a:ext cx="273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Прямоугольник 44"/>
          <p:cNvSpPr/>
          <p:nvPr/>
        </p:nvSpPr>
        <p:spPr>
          <a:xfrm rot="5400000">
            <a:off x="6105336" y="3415548"/>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45"/>
          <p:cNvSpPr/>
          <p:nvPr/>
        </p:nvSpPr>
        <p:spPr>
          <a:xfrm>
            <a:off x="6606480" y="3903517"/>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8" name="Прямая соединительная линия 47"/>
          <p:cNvCxnSpPr>
            <a:stCxn id="45" idx="0"/>
          </p:cNvCxnSpPr>
          <p:nvPr/>
        </p:nvCxnSpPr>
        <p:spPr>
          <a:xfrm>
            <a:off x="6438897" y="3683960"/>
            <a:ext cx="8600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a:endCxn id="46" idx="0"/>
          </p:cNvCxnSpPr>
          <p:nvPr/>
        </p:nvCxnSpPr>
        <p:spPr>
          <a:xfrm>
            <a:off x="6671629" y="3693389"/>
            <a:ext cx="1" cy="2101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Овал 52"/>
          <p:cNvSpPr/>
          <p:nvPr/>
        </p:nvSpPr>
        <p:spPr>
          <a:xfrm>
            <a:off x="6634354" y="3662276"/>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rot="5400000">
            <a:off x="7600695" y="2936572"/>
            <a:ext cx="130299" cy="5368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5" name="Соединительная линия уступом 54"/>
          <p:cNvCxnSpPr>
            <a:stCxn id="54" idx="0"/>
          </p:cNvCxnSpPr>
          <p:nvPr/>
        </p:nvCxnSpPr>
        <p:spPr>
          <a:xfrm>
            <a:off x="7934256" y="3204984"/>
            <a:ext cx="111324" cy="640805"/>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p:cNvCxnSpPr/>
          <p:nvPr/>
        </p:nvCxnSpPr>
        <p:spPr>
          <a:xfrm flipV="1">
            <a:off x="6669025" y="3204983"/>
            <a:ext cx="728408"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Прямая соединительная линия 57"/>
          <p:cNvCxnSpPr/>
          <p:nvPr/>
        </p:nvCxnSpPr>
        <p:spPr>
          <a:xfrm flipH="1">
            <a:off x="6668858" y="3204984"/>
            <a:ext cx="167" cy="4932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a:off x="7717589" y="3864368"/>
            <a:ext cx="4541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Овал 62"/>
          <p:cNvSpPr/>
          <p:nvPr/>
        </p:nvSpPr>
        <p:spPr>
          <a:xfrm>
            <a:off x="8019758" y="383594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65" name="Прямая соединительная линия 64"/>
          <p:cNvCxnSpPr>
            <a:stCxn id="46" idx="2"/>
          </p:cNvCxnSpPr>
          <p:nvPr/>
        </p:nvCxnSpPr>
        <p:spPr>
          <a:xfrm>
            <a:off x="6671630" y="4440340"/>
            <a:ext cx="0" cy="5008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8316416" y="3700295"/>
            <a:ext cx="712054"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ru-RU" i="1" dirty="0" err="1" smtClean="0">
                <a:latin typeface="Times New Roman" pitchFamily="18" charset="0"/>
                <a:cs typeface="Times New Roman" pitchFamily="18" charset="0"/>
              </a:rPr>
              <a:t>вых</a:t>
            </a:r>
            <a:endParaRPr lang="ru-RU" i="1" dirty="0">
              <a:latin typeface="Times New Roman" pitchFamily="18" charset="0"/>
              <a:cs typeface="Times New Roman" pitchFamily="18" charset="0"/>
            </a:endParaRPr>
          </a:p>
        </p:txBody>
      </p:sp>
      <p:sp>
        <p:nvSpPr>
          <p:cNvPr id="67" name="Овал 66"/>
          <p:cNvSpPr/>
          <p:nvPr/>
        </p:nvSpPr>
        <p:spPr>
          <a:xfrm>
            <a:off x="6617509" y="4952794"/>
            <a:ext cx="126357" cy="1263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Овал 67"/>
          <p:cNvSpPr/>
          <p:nvPr/>
        </p:nvSpPr>
        <p:spPr>
          <a:xfrm>
            <a:off x="8181433" y="3806699"/>
            <a:ext cx="126357" cy="1263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TextBox 68"/>
          <p:cNvSpPr txBox="1"/>
          <p:nvPr/>
        </p:nvSpPr>
        <p:spPr>
          <a:xfrm>
            <a:off x="5475338" y="3052584"/>
            <a:ext cx="659155" cy="369332"/>
          </a:xfrm>
          <a:prstGeom prst="rect">
            <a:avLst/>
          </a:prstGeom>
          <a:noFill/>
          <a:ln>
            <a:noFill/>
          </a:ln>
        </p:spPr>
        <p:txBody>
          <a:bodyPr wrap="none" rtlCol="0">
            <a:spAutoFit/>
          </a:bodyPr>
          <a:lstStyle/>
          <a:p>
            <a:r>
              <a:rPr lang="en-US" i="1" dirty="0" smtClean="0">
                <a:latin typeface="Times New Roman" pitchFamily="18" charset="0"/>
                <a:cs typeface="Times New Roman" pitchFamily="18" charset="0"/>
              </a:rPr>
              <a:t>U</a:t>
            </a:r>
            <a:r>
              <a:rPr lang="en-US" i="1" baseline="-25000" dirty="0" smtClean="0">
                <a:latin typeface="Times New Roman" pitchFamily="18" charset="0"/>
                <a:cs typeface="Times New Roman" pitchFamily="18" charset="0"/>
              </a:rPr>
              <a:t>DAC</a:t>
            </a:r>
            <a:endParaRPr lang="ru-RU" i="1" baseline="-25000" dirty="0">
              <a:latin typeface="Times New Roman" pitchFamily="18" charset="0"/>
              <a:cs typeface="Times New Roman" pitchFamily="18" charset="0"/>
            </a:endParaRPr>
          </a:p>
        </p:txBody>
      </p:sp>
      <p:sp>
        <p:nvSpPr>
          <p:cNvPr id="71" name="TextBox 70"/>
          <p:cNvSpPr txBox="1"/>
          <p:nvPr/>
        </p:nvSpPr>
        <p:spPr>
          <a:xfrm>
            <a:off x="6006342" y="3779378"/>
            <a:ext cx="426720" cy="369332"/>
          </a:xfrm>
          <a:prstGeom prst="rect">
            <a:avLst/>
          </a:prstGeom>
          <a:noFill/>
        </p:spPr>
        <p:txBody>
          <a:bodyPr wrap="none" rtlCol="0">
            <a:spAutoFit/>
          </a:bodyPr>
          <a:lstStyle/>
          <a:p>
            <a:r>
              <a:rPr lang="en-US" dirty="0" smtClean="0"/>
              <a:t>R1</a:t>
            </a:r>
            <a:endParaRPr lang="ru-RU" dirty="0"/>
          </a:p>
        </p:txBody>
      </p:sp>
      <p:sp>
        <p:nvSpPr>
          <p:cNvPr id="72" name="TextBox 71"/>
          <p:cNvSpPr txBox="1"/>
          <p:nvPr/>
        </p:nvSpPr>
        <p:spPr>
          <a:xfrm>
            <a:off x="6667606" y="3943892"/>
            <a:ext cx="426720" cy="369332"/>
          </a:xfrm>
          <a:prstGeom prst="rect">
            <a:avLst/>
          </a:prstGeom>
          <a:noFill/>
        </p:spPr>
        <p:txBody>
          <a:bodyPr wrap="none" rtlCol="0">
            <a:spAutoFit/>
          </a:bodyPr>
          <a:lstStyle/>
          <a:p>
            <a:r>
              <a:rPr lang="en-US" dirty="0" smtClean="0"/>
              <a:t>R2</a:t>
            </a:r>
            <a:endParaRPr lang="ru-RU" dirty="0"/>
          </a:p>
        </p:txBody>
      </p:sp>
      <p:sp>
        <p:nvSpPr>
          <p:cNvPr id="73" name="TextBox 72"/>
          <p:cNvSpPr txBox="1"/>
          <p:nvPr/>
        </p:nvSpPr>
        <p:spPr>
          <a:xfrm>
            <a:off x="7450309" y="3200241"/>
            <a:ext cx="426720" cy="369332"/>
          </a:xfrm>
          <a:prstGeom prst="rect">
            <a:avLst/>
          </a:prstGeom>
          <a:noFill/>
        </p:spPr>
        <p:txBody>
          <a:bodyPr wrap="none" rtlCol="0">
            <a:spAutoFit/>
          </a:bodyPr>
          <a:lstStyle/>
          <a:p>
            <a:r>
              <a:rPr lang="en-US" dirty="0" smtClean="0"/>
              <a:t>R3</a:t>
            </a:r>
            <a:endParaRPr lang="ru-RU" dirty="0"/>
          </a:p>
        </p:txBody>
      </p:sp>
      <p:sp>
        <p:nvSpPr>
          <p:cNvPr id="76" name="TextBox 75"/>
          <p:cNvSpPr txBox="1"/>
          <p:nvPr/>
        </p:nvSpPr>
        <p:spPr>
          <a:xfrm>
            <a:off x="5590188" y="3740353"/>
            <a:ext cx="338554" cy="369332"/>
          </a:xfrm>
          <a:prstGeom prst="rect">
            <a:avLst/>
          </a:prstGeom>
          <a:noFill/>
        </p:spPr>
        <p:txBody>
          <a:bodyPr wrap="none" rtlCol="0">
            <a:spAutoFit/>
          </a:bodyPr>
          <a:lstStyle/>
          <a:p>
            <a:r>
              <a:rPr lang="en-US" i="1" dirty="0" smtClean="0">
                <a:latin typeface="Times New Roman" pitchFamily="18" charset="0"/>
                <a:cs typeface="Times New Roman" pitchFamily="18" charset="0"/>
              </a:rPr>
              <a:t>I</a:t>
            </a:r>
            <a:r>
              <a:rPr lang="en-US" baseline="-25000" dirty="0" smtClean="0">
                <a:latin typeface="Times New Roman" pitchFamily="18" charset="0"/>
                <a:cs typeface="Times New Roman" pitchFamily="18" charset="0"/>
              </a:rPr>
              <a:t>1</a:t>
            </a:r>
            <a:endParaRPr lang="ru-RU" baseline="-25000" dirty="0">
              <a:latin typeface="Times New Roman" pitchFamily="18" charset="0"/>
              <a:cs typeface="Times New Roman" pitchFamily="18" charset="0"/>
            </a:endParaRPr>
          </a:p>
        </p:txBody>
      </p:sp>
      <p:sp>
        <p:nvSpPr>
          <p:cNvPr id="79" name="Прямоугольник 78"/>
          <p:cNvSpPr/>
          <p:nvPr/>
        </p:nvSpPr>
        <p:spPr>
          <a:xfrm>
            <a:off x="6170485" y="4069627"/>
            <a:ext cx="338554" cy="369332"/>
          </a:xfrm>
          <a:prstGeom prst="rect">
            <a:avLst/>
          </a:prstGeom>
        </p:spPr>
        <p:txBody>
          <a:bodyPr wrap="none">
            <a:spAutoFit/>
          </a:bodyPr>
          <a:lstStyle/>
          <a:p>
            <a:r>
              <a:rPr lang="en-US" i="1" dirty="0" smtClean="0">
                <a:latin typeface="Times New Roman" pitchFamily="18" charset="0"/>
                <a:cs typeface="Times New Roman" pitchFamily="18" charset="0"/>
              </a:rPr>
              <a:t>I</a:t>
            </a:r>
            <a:r>
              <a:rPr lang="en-US" baseline="-25000" dirty="0" smtClean="0">
                <a:latin typeface="Times New Roman" pitchFamily="18" charset="0"/>
                <a:cs typeface="Times New Roman" pitchFamily="18" charset="0"/>
              </a:rPr>
              <a:t>2</a:t>
            </a:r>
            <a:endParaRPr lang="ru-RU" baseline="-25000" dirty="0">
              <a:latin typeface="Times New Roman" pitchFamily="18" charset="0"/>
              <a:cs typeface="Times New Roman" pitchFamily="18" charset="0"/>
            </a:endParaRPr>
          </a:p>
        </p:txBody>
      </p:sp>
      <p:sp>
        <p:nvSpPr>
          <p:cNvPr id="80" name="Прямоугольник 79"/>
          <p:cNvSpPr/>
          <p:nvPr/>
        </p:nvSpPr>
        <p:spPr>
          <a:xfrm>
            <a:off x="7494392" y="2697920"/>
            <a:ext cx="338554" cy="369332"/>
          </a:xfrm>
          <a:prstGeom prst="rect">
            <a:avLst/>
          </a:prstGeom>
        </p:spPr>
        <p:txBody>
          <a:bodyPr wrap="none">
            <a:spAutoFit/>
          </a:bodyPr>
          <a:lstStyle/>
          <a:p>
            <a:r>
              <a:rPr lang="en-US" i="1" dirty="0" smtClean="0">
                <a:latin typeface="Times New Roman" pitchFamily="18" charset="0"/>
                <a:cs typeface="Times New Roman" pitchFamily="18" charset="0"/>
              </a:rPr>
              <a:t>I</a:t>
            </a:r>
            <a:r>
              <a:rPr lang="en-US" baseline="-25000" dirty="0">
                <a:latin typeface="Times New Roman" pitchFamily="18" charset="0"/>
                <a:cs typeface="Times New Roman" pitchFamily="18" charset="0"/>
              </a:rPr>
              <a:t>3</a:t>
            </a:r>
            <a:endParaRPr lang="ru-RU" baseline="-25000" dirty="0">
              <a:latin typeface="Times New Roman" pitchFamily="18" charset="0"/>
              <a:cs typeface="Times New Roman" pitchFamily="18" charset="0"/>
            </a:endParaRPr>
          </a:p>
        </p:txBody>
      </p:sp>
      <p:cxnSp>
        <p:nvCxnSpPr>
          <p:cNvPr id="82" name="Прямая со стрелкой 81"/>
          <p:cNvCxnSpPr/>
          <p:nvPr/>
        </p:nvCxnSpPr>
        <p:spPr>
          <a:xfrm>
            <a:off x="5548161" y="3779378"/>
            <a:ext cx="29526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Прямая со стрелкой 82"/>
          <p:cNvCxnSpPr/>
          <p:nvPr/>
        </p:nvCxnSpPr>
        <p:spPr>
          <a:xfrm>
            <a:off x="7518214" y="3067252"/>
            <a:ext cx="29526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4" name="Прямая со стрелкой 83"/>
          <p:cNvCxnSpPr/>
          <p:nvPr/>
        </p:nvCxnSpPr>
        <p:spPr>
          <a:xfrm rot="16200000">
            <a:off x="6311220" y="4146894"/>
            <a:ext cx="29526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7454078" y="5517232"/>
            <a:ext cx="354584" cy="369332"/>
          </a:xfrm>
          <a:prstGeom prst="rect">
            <a:avLst/>
          </a:prstGeom>
          <a:noFill/>
        </p:spPr>
        <p:txBody>
          <a:bodyPr wrap="none" rtlCol="0">
            <a:spAutoFit/>
          </a:bodyPr>
          <a:lstStyle/>
          <a:p>
            <a:r>
              <a:rPr lang="ru-RU" dirty="0"/>
              <a:t>Г</a:t>
            </a:r>
            <a:r>
              <a:rPr lang="ru-RU" dirty="0" smtClean="0"/>
              <a:t>)</a:t>
            </a:r>
            <a:endParaRPr lang="ru-RU" dirty="0"/>
          </a:p>
        </p:txBody>
      </p:sp>
    </p:spTree>
    <p:extLst>
      <p:ext uri="{BB962C8B-B14F-4D97-AF65-F5344CB8AC3E}">
        <p14:creationId xmlns:p14="http://schemas.microsoft.com/office/powerpoint/2010/main" val="28073666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603137"/>
            <a:ext cx="4007187" cy="369332"/>
          </a:xfrm>
          <a:prstGeom prst="rect">
            <a:avLst/>
          </a:prstGeom>
          <a:noFill/>
          <a:ln>
            <a:noFill/>
          </a:ln>
        </p:spPr>
        <p:txBody>
          <a:bodyPr wrap="none" rtlCol="0">
            <a:spAutoFit/>
          </a:bodyPr>
          <a:lstStyle/>
          <a:p>
            <a:r>
              <a:rPr lang="ru-RU" dirty="0" smtClean="0"/>
              <a:t>А) Управляемый источник напряжения</a:t>
            </a:r>
            <a:endParaRPr lang="ru-RU" dirty="0"/>
          </a:p>
        </p:txBody>
      </p:sp>
      <p:sp>
        <p:nvSpPr>
          <p:cNvPr id="5" name="TextBox 4"/>
          <p:cNvSpPr txBox="1"/>
          <p:nvPr/>
        </p:nvSpPr>
        <p:spPr>
          <a:xfrm>
            <a:off x="683568" y="1233057"/>
            <a:ext cx="4248792" cy="369332"/>
          </a:xfrm>
          <a:prstGeom prst="rect">
            <a:avLst/>
          </a:prstGeom>
          <a:noFill/>
        </p:spPr>
        <p:txBody>
          <a:bodyPr wrap="none" rtlCol="0">
            <a:spAutoFit/>
          </a:bodyPr>
          <a:lstStyle/>
          <a:p>
            <a:r>
              <a:rPr lang="ru-RU" dirty="0" smtClean="0"/>
              <a:t>Б) Генератор пилообразного напряжения</a:t>
            </a:r>
            <a:endParaRPr lang="ru-RU" dirty="0"/>
          </a:p>
        </p:txBody>
      </p:sp>
      <p:sp>
        <p:nvSpPr>
          <p:cNvPr id="6" name="TextBox 5"/>
          <p:cNvSpPr txBox="1"/>
          <p:nvPr/>
        </p:nvSpPr>
        <p:spPr>
          <a:xfrm>
            <a:off x="683568" y="1862977"/>
            <a:ext cx="2637645" cy="369332"/>
          </a:xfrm>
          <a:prstGeom prst="rect">
            <a:avLst/>
          </a:prstGeom>
          <a:noFill/>
        </p:spPr>
        <p:txBody>
          <a:bodyPr wrap="none" rtlCol="0">
            <a:spAutoFit/>
          </a:bodyPr>
          <a:lstStyle/>
          <a:p>
            <a:r>
              <a:rPr lang="ru-RU" dirty="0" smtClean="0"/>
              <a:t>В) Цифровой аттенюатор</a:t>
            </a:r>
            <a:endParaRPr lang="ru-RU" dirty="0"/>
          </a:p>
        </p:txBody>
      </p:sp>
      <p:sp>
        <p:nvSpPr>
          <p:cNvPr id="8" name="TextBox 7"/>
          <p:cNvSpPr txBox="1"/>
          <p:nvPr/>
        </p:nvSpPr>
        <p:spPr>
          <a:xfrm>
            <a:off x="683568" y="2492896"/>
            <a:ext cx="2404633" cy="369332"/>
          </a:xfrm>
          <a:prstGeom prst="rect">
            <a:avLst/>
          </a:prstGeom>
          <a:noFill/>
        </p:spPr>
        <p:txBody>
          <a:bodyPr wrap="none" rtlCol="0">
            <a:spAutoFit/>
          </a:bodyPr>
          <a:lstStyle/>
          <a:p>
            <a:r>
              <a:rPr lang="ru-RU" dirty="0" smtClean="0"/>
              <a:t>Г) Управляемый сдвиг </a:t>
            </a:r>
            <a:endParaRPr lang="ru-RU" dirty="0"/>
          </a:p>
        </p:txBody>
      </p:sp>
    </p:spTree>
    <p:extLst>
      <p:ext uri="{BB962C8B-B14F-4D97-AF65-F5344CB8AC3E}">
        <p14:creationId xmlns:p14="http://schemas.microsoft.com/office/powerpoint/2010/main" val="211857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03648" y="233805"/>
            <a:ext cx="6313973" cy="369332"/>
          </a:xfrm>
          <a:prstGeom prst="rect">
            <a:avLst/>
          </a:prstGeom>
          <a:noFill/>
        </p:spPr>
        <p:txBody>
          <a:bodyPr wrap="none" rtlCol="0">
            <a:spAutoFit/>
          </a:bodyPr>
          <a:lstStyle/>
          <a:p>
            <a:r>
              <a:rPr lang="ru-RU" b="1" dirty="0" smtClean="0"/>
              <a:t> Организация  и </a:t>
            </a:r>
            <a:r>
              <a:rPr lang="ru-RU" b="1" dirty="0" err="1" smtClean="0"/>
              <a:t>схемотехника</a:t>
            </a:r>
            <a:r>
              <a:rPr lang="ru-RU" b="1" dirty="0" smtClean="0"/>
              <a:t> запоминающих устройств (ЗУ)</a:t>
            </a:r>
            <a:endParaRPr lang="ru-RU" b="1" dirty="0"/>
          </a:p>
        </p:txBody>
      </p:sp>
      <p:sp>
        <p:nvSpPr>
          <p:cNvPr id="7" name="TextBox 6"/>
          <p:cNvSpPr txBox="1"/>
          <p:nvPr/>
        </p:nvSpPr>
        <p:spPr>
          <a:xfrm>
            <a:off x="3059832" y="764704"/>
            <a:ext cx="2539991" cy="369332"/>
          </a:xfrm>
          <a:prstGeom prst="rect">
            <a:avLst/>
          </a:prstGeom>
          <a:noFill/>
        </p:spPr>
        <p:txBody>
          <a:bodyPr wrap="none" rtlCol="0">
            <a:spAutoFit/>
          </a:bodyPr>
          <a:lstStyle/>
          <a:p>
            <a:r>
              <a:rPr lang="ru-RU" dirty="0" smtClean="0"/>
              <a:t>Основные определения</a:t>
            </a:r>
            <a:endParaRPr lang="ru-RU" dirty="0"/>
          </a:p>
        </p:txBody>
      </p:sp>
      <p:sp>
        <p:nvSpPr>
          <p:cNvPr id="9" name="TextBox 8"/>
          <p:cNvSpPr txBox="1"/>
          <p:nvPr/>
        </p:nvSpPr>
        <p:spPr>
          <a:xfrm>
            <a:off x="222406" y="1386961"/>
            <a:ext cx="8676456" cy="2585323"/>
          </a:xfrm>
          <a:prstGeom prst="rect">
            <a:avLst/>
          </a:prstGeom>
          <a:noFill/>
        </p:spPr>
        <p:txBody>
          <a:bodyPr wrap="square" rtlCol="0">
            <a:spAutoFit/>
          </a:bodyPr>
          <a:lstStyle/>
          <a:p>
            <a:r>
              <a:rPr lang="ru-RU" b="1" dirty="0" smtClean="0"/>
              <a:t>Полупроводниковые ЗУ</a:t>
            </a:r>
            <a:r>
              <a:rPr lang="ru-RU" dirty="0" smtClean="0"/>
              <a:t>-построены на полупроводниковой элементной базе</a:t>
            </a:r>
          </a:p>
          <a:p>
            <a:endParaRPr lang="ru-RU" dirty="0"/>
          </a:p>
          <a:p>
            <a:r>
              <a:rPr lang="ru-RU" b="1" dirty="0" smtClean="0"/>
              <a:t>ЗУ с последовательным доступом</a:t>
            </a:r>
          </a:p>
          <a:p>
            <a:r>
              <a:rPr lang="ru-RU" dirty="0" smtClean="0"/>
              <a:t>ЗУ </a:t>
            </a:r>
            <a:r>
              <a:rPr lang="ru-RU" dirty="0"/>
              <a:t>с последовательным доступом используются там, </a:t>
            </a:r>
            <a:r>
              <a:rPr lang="ru-RU" dirty="0" smtClean="0"/>
              <a:t>где </a:t>
            </a:r>
            <a:r>
              <a:rPr lang="ru-RU" dirty="0"/>
              <a:t>поступающие данные могут быть выстроены в очередь. </a:t>
            </a:r>
            <a:r>
              <a:rPr lang="ru-RU" dirty="0" smtClean="0"/>
              <a:t>Очередь </a:t>
            </a:r>
            <a:r>
              <a:rPr lang="ru-RU" dirty="0"/>
              <a:t>может обслуживаться либо по принципу "первый пришел – первый ушел" </a:t>
            </a:r>
            <a:r>
              <a:rPr lang="ru-RU" dirty="0" smtClean="0"/>
              <a:t>– </a:t>
            </a:r>
            <a:r>
              <a:rPr lang="ru-RU" dirty="0"/>
              <a:t>FIFO </a:t>
            </a:r>
            <a:r>
              <a:rPr lang="ru-RU" b="1" i="1" dirty="0"/>
              <a:t>(</a:t>
            </a:r>
            <a:r>
              <a:rPr lang="ru-RU" b="1" i="1" dirty="0" err="1"/>
              <a:t>first</a:t>
            </a:r>
            <a:r>
              <a:rPr lang="ru-RU" b="1" i="1" dirty="0"/>
              <a:t> </a:t>
            </a:r>
            <a:r>
              <a:rPr lang="ru-RU" b="1" i="1" dirty="0" err="1"/>
              <a:t>in</a:t>
            </a:r>
            <a:r>
              <a:rPr lang="ru-RU" b="1" i="1" dirty="0"/>
              <a:t> </a:t>
            </a:r>
            <a:r>
              <a:rPr lang="ru-RU" b="1" i="1" dirty="0" err="1"/>
              <a:t>first</a:t>
            </a:r>
            <a:r>
              <a:rPr lang="ru-RU" b="1" i="1" dirty="0"/>
              <a:t> </a:t>
            </a:r>
            <a:r>
              <a:rPr lang="ru-RU" b="1" i="1" dirty="0" err="1"/>
              <a:t>out</a:t>
            </a:r>
            <a:r>
              <a:rPr lang="ru-RU" b="1" i="1" dirty="0"/>
              <a:t>),</a:t>
            </a:r>
            <a:r>
              <a:rPr lang="ru-RU" dirty="0"/>
              <a:t> либо "последний пришел – первый ушел" – LIFO </a:t>
            </a:r>
            <a:r>
              <a:rPr lang="ru-RU" b="1" i="1" dirty="0"/>
              <a:t>(</a:t>
            </a:r>
            <a:r>
              <a:rPr lang="ru-RU" b="1" i="1" dirty="0" err="1"/>
              <a:t>last</a:t>
            </a:r>
            <a:r>
              <a:rPr lang="ru-RU" b="1" i="1" dirty="0"/>
              <a:t> </a:t>
            </a:r>
            <a:r>
              <a:rPr lang="ru-RU" b="1" i="1" dirty="0" err="1"/>
              <a:t>in</a:t>
            </a:r>
            <a:r>
              <a:rPr lang="ru-RU" b="1" i="1" dirty="0"/>
              <a:t> </a:t>
            </a:r>
            <a:r>
              <a:rPr lang="ru-RU" b="1" i="1" dirty="0" err="1"/>
              <a:t>first</a:t>
            </a:r>
            <a:r>
              <a:rPr lang="ru-RU" b="1" i="1" dirty="0"/>
              <a:t> </a:t>
            </a:r>
            <a:r>
              <a:rPr lang="ru-RU" b="1" i="1" dirty="0" err="1"/>
              <a:t>out</a:t>
            </a:r>
            <a:r>
              <a:rPr lang="ru-RU" dirty="0"/>
              <a:t>), </a:t>
            </a:r>
            <a:r>
              <a:rPr lang="ru-RU" dirty="0" smtClean="0"/>
              <a:t>т.е</a:t>
            </a:r>
            <a:r>
              <a:rPr lang="ru-RU" dirty="0"/>
              <a:t>. запись данных осуществляется не но какому-либо адресу, а в конец очереди,  </a:t>
            </a:r>
            <a:r>
              <a:rPr lang="ru-RU" dirty="0" smtClean="0"/>
              <a:t>а </a:t>
            </a:r>
            <a:r>
              <a:rPr lang="ru-RU" dirty="0"/>
              <a:t>чтение – либо из конца, либо из начала очереди. ЗУ с последовательным доступом  </a:t>
            </a:r>
            <a:r>
              <a:rPr lang="ru-RU" dirty="0" smtClean="0"/>
              <a:t>могут </a:t>
            </a:r>
            <a:r>
              <a:rPr lang="ru-RU" dirty="0"/>
              <a:t>использоваться, </a:t>
            </a:r>
            <a:r>
              <a:rPr lang="ru-RU" dirty="0" smtClean="0"/>
              <a:t>например</a:t>
            </a:r>
            <a:r>
              <a:rPr lang="ru-RU" dirty="0"/>
              <a:t>, в </a:t>
            </a:r>
            <a:r>
              <a:rPr lang="ru-RU" dirty="0" smtClean="0"/>
              <a:t>видеопамяти.</a:t>
            </a:r>
          </a:p>
        </p:txBody>
      </p:sp>
      <p:sp>
        <p:nvSpPr>
          <p:cNvPr id="11" name="Прямоугольник 10"/>
          <p:cNvSpPr/>
          <p:nvPr/>
        </p:nvSpPr>
        <p:spPr>
          <a:xfrm>
            <a:off x="339818" y="4050901"/>
            <a:ext cx="5704659" cy="369332"/>
          </a:xfrm>
          <a:prstGeom prst="rect">
            <a:avLst/>
          </a:prstGeom>
        </p:spPr>
        <p:txBody>
          <a:bodyPr wrap="square">
            <a:spAutoFit/>
          </a:bodyPr>
          <a:lstStyle/>
          <a:p>
            <a:r>
              <a:rPr lang="ru-RU" b="1" dirty="0"/>
              <a:t>ЗУ с произвольным </a:t>
            </a:r>
            <a:r>
              <a:rPr lang="ru-RU" b="1" dirty="0" smtClean="0"/>
              <a:t>доступом (</a:t>
            </a:r>
            <a:r>
              <a:rPr lang="en-US" b="1" dirty="0" smtClean="0"/>
              <a:t>RAM) </a:t>
            </a:r>
            <a:r>
              <a:rPr lang="ru-RU" b="1" dirty="0" smtClean="0"/>
              <a:t>или адресные ЗУ</a:t>
            </a:r>
            <a:endParaRPr lang="ru-RU" b="1" dirty="0"/>
          </a:p>
        </p:txBody>
      </p:sp>
      <p:sp>
        <p:nvSpPr>
          <p:cNvPr id="13" name="TextBox 12"/>
          <p:cNvSpPr txBox="1"/>
          <p:nvPr/>
        </p:nvSpPr>
        <p:spPr>
          <a:xfrm>
            <a:off x="328076" y="4420233"/>
            <a:ext cx="7279190" cy="1200329"/>
          </a:xfrm>
          <a:prstGeom prst="rect">
            <a:avLst/>
          </a:prstGeom>
          <a:noFill/>
        </p:spPr>
        <p:txBody>
          <a:bodyPr wrap="square" rtlCol="0">
            <a:spAutoFit/>
          </a:bodyPr>
          <a:lstStyle/>
          <a:p>
            <a:r>
              <a:rPr lang="ru-RU" dirty="0"/>
              <a:t> </a:t>
            </a:r>
            <a:r>
              <a:rPr lang="ru-RU" dirty="0" smtClean="0"/>
              <a:t>Для обращения к </a:t>
            </a:r>
            <a:r>
              <a:rPr lang="ru-RU" dirty="0"/>
              <a:t>ячейке адресного ЗУ для чтения или записи информации, необходимо указать </a:t>
            </a:r>
            <a:r>
              <a:rPr lang="ru-RU" b="1" dirty="0"/>
              <a:t>адрес </a:t>
            </a:r>
            <a:r>
              <a:rPr lang="ru-RU" dirty="0"/>
              <a:t>этой ячейки. </a:t>
            </a:r>
            <a:r>
              <a:rPr lang="ru-RU" dirty="0" smtClean="0"/>
              <a:t>ЗУ типа </a:t>
            </a:r>
            <a:r>
              <a:rPr lang="en-US" dirty="0" smtClean="0"/>
              <a:t>RAM </a:t>
            </a:r>
            <a:r>
              <a:rPr lang="ru-RU" dirty="0" smtClean="0"/>
              <a:t>лежат </a:t>
            </a:r>
            <a:r>
              <a:rPr lang="ru-RU" dirty="0"/>
              <a:t>в основе постоянной и оперативной памяти всех ЭВМ и вычислительных </a:t>
            </a:r>
            <a:r>
              <a:rPr lang="ru-RU" dirty="0" smtClean="0"/>
              <a:t>устройств.</a:t>
            </a:r>
            <a:endParaRPr lang="ru-RU" dirty="0"/>
          </a:p>
        </p:txBody>
      </p:sp>
    </p:spTree>
    <p:extLst>
      <p:ext uri="{BB962C8B-B14F-4D97-AF65-F5344CB8AC3E}">
        <p14:creationId xmlns:p14="http://schemas.microsoft.com/office/powerpoint/2010/main" val="1626667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9552" y="106357"/>
            <a:ext cx="5704659" cy="369332"/>
          </a:xfrm>
          <a:prstGeom prst="rect">
            <a:avLst/>
          </a:prstGeom>
        </p:spPr>
        <p:txBody>
          <a:bodyPr wrap="square">
            <a:spAutoFit/>
          </a:bodyPr>
          <a:lstStyle/>
          <a:p>
            <a:r>
              <a:rPr lang="ru-RU" b="1" dirty="0" smtClean="0"/>
              <a:t>ЗУ </a:t>
            </a:r>
            <a:r>
              <a:rPr lang="ru-RU" b="1" dirty="0"/>
              <a:t>с ассоциативным доступом </a:t>
            </a:r>
          </a:p>
        </p:txBody>
      </p:sp>
      <p:sp>
        <p:nvSpPr>
          <p:cNvPr id="5" name="TextBox 4"/>
          <p:cNvSpPr txBox="1"/>
          <p:nvPr/>
        </p:nvSpPr>
        <p:spPr>
          <a:xfrm>
            <a:off x="432755" y="475689"/>
            <a:ext cx="8208912" cy="923330"/>
          </a:xfrm>
          <a:prstGeom prst="rect">
            <a:avLst/>
          </a:prstGeom>
          <a:noFill/>
        </p:spPr>
        <p:txBody>
          <a:bodyPr wrap="square" rtlCol="0">
            <a:spAutoFit/>
          </a:bodyPr>
          <a:lstStyle/>
          <a:p>
            <a:r>
              <a:rPr lang="ru-RU" dirty="0"/>
              <a:t>П</a:t>
            </a:r>
            <a:r>
              <a:rPr lang="ru-RU" dirty="0" smtClean="0"/>
              <a:t>оиск </a:t>
            </a:r>
            <a:r>
              <a:rPr lang="ru-RU" dirty="0"/>
              <a:t>информации </a:t>
            </a:r>
            <a:r>
              <a:rPr lang="ru-RU" dirty="0" smtClean="0"/>
              <a:t> в ЗУ осуществляется </a:t>
            </a:r>
            <a:r>
              <a:rPr lang="ru-RU" dirty="0"/>
              <a:t>не </a:t>
            </a:r>
            <a:r>
              <a:rPr lang="ru-RU" dirty="0" smtClean="0"/>
              <a:t>по </a:t>
            </a:r>
            <a:r>
              <a:rPr lang="ru-RU" dirty="0"/>
              <a:t>адресу ячейки и не </a:t>
            </a:r>
            <a:r>
              <a:rPr lang="ru-RU" dirty="0" smtClean="0"/>
              <a:t>по </a:t>
            </a:r>
            <a:r>
              <a:rPr lang="ru-RU" dirty="0"/>
              <a:t>месту в очереди, а по некоторому </a:t>
            </a:r>
            <a:r>
              <a:rPr lang="ru-RU" dirty="0" smtClean="0"/>
              <a:t>признаку, т.е. информация находится по ассоциации с частью самой информации. Область применения кэш-память.</a:t>
            </a:r>
            <a:endParaRPr lang="ru-RU" dirty="0"/>
          </a:p>
        </p:txBody>
      </p:sp>
      <p:sp>
        <p:nvSpPr>
          <p:cNvPr id="6" name="TextBox 5"/>
          <p:cNvSpPr txBox="1"/>
          <p:nvPr/>
        </p:nvSpPr>
        <p:spPr>
          <a:xfrm>
            <a:off x="395536" y="1399019"/>
            <a:ext cx="6942157" cy="923330"/>
          </a:xfrm>
          <a:prstGeom prst="rect">
            <a:avLst/>
          </a:prstGeom>
          <a:noFill/>
        </p:spPr>
        <p:txBody>
          <a:bodyPr wrap="none" rtlCol="0">
            <a:spAutoFit/>
          </a:bodyPr>
          <a:lstStyle/>
          <a:p>
            <a:r>
              <a:rPr lang="ru-RU" b="1" dirty="0" smtClean="0"/>
              <a:t>Энергозависимые и энергонезависимые ЗУ</a:t>
            </a:r>
          </a:p>
          <a:p>
            <a:r>
              <a:rPr lang="ru-RU" dirty="0" smtClean="0"/>
              <a:t>Энергозависимые ЗУ теряют информацию при выключении питания</a:t>
            </a:r>
          </a:p>
          <a:p>
            <a:r>
              <a:rPr lang="ru-RU" dirty="0"/>
              <a:t>энергонезависимые </a:t>
            </a:r>
            <a:r>
              <a:rPr lang="ru-RU" dirty="0" smtClean="0"/>
              <a:t>ЗУ- не теряют</a:t>
            </a:r>
            <a:endParaRPr lang="ru-RU" dirty="0"/>
          </a:p>
        </p:txBody>
      </p:sp>
      <p:sp>
        <p:nvSpPr>
          <p:cNvPr id="8" name="TextBox 7"/>
          <p:cNvSpPr txBox="1"/>
          <p:nvPr/>
        </p:nvSpPr>
        <p:spPr>
          <a:xfrm>
            <a:off x="408703" y="2391485"/>
            <a:ext cx="8543749" cy="369332"/>
          </a:xfrm>
          <a:prstGeom prst="rect">
            <a:avLst/>
          </a:prstGeom>
          <a:noFill/>
        </p:spPr>
        <p:txBody>
          <a:bodyPr wrap="none" rtlCol="0">
            <a:spAutoFit/>
          </a:bodyPr>
          <a:lstStyle/>
          <a:p>
            <a:r>
              <a:rPr lang="ru-RU" b="1" dirty="0" smtClean="0"/>
              <a:t>Постоянные ЗУ (ПЗУ</a:t>
            </a:r>
            <a:r>
              <a:rPr lang="en-US" b="1" dirty="0" smtClean="0"/>
              <a:t>, ROM)  </a:t>
            </a:r>
            <a:r>
              <a:rPr lang="ru-RU" b="1" dirty="0" smtClean="0"/>
              <a:t>и ЗУ с оперативной записью и считыванием (</a:t>
            </a:r>
            <a:r>
              <a:rPr lang="en-US" b="1" dirty="0" smtClean="0"/>
              <a:t>RAM, </a:t>
            </a:r>
            <a:r>
              <a:rPr lang="ru-RU" b="1" dirty="0" smtClean="0"/>
              <a:t>ОЗУ)</a:t>
            </a:r>
            <a:endParaRPr lang="ru-RU" b="1" dirty="0"/>
          </a:p>
        </p:txBody>
      </p:sp>
      <p:sp>
        <p:nvSpPr>
          <p:cNvPr id="10" name="TextBox 9"/>
          <p:cNvSpPr txBox="1"/>
          <p:nvPr/>
        </p:nvSpPr>
        <p:spPr>
          <a:xfrm>
            <a:off x="490989" y="3074476"/>
            <a:ext cx="7993278" cy="923330"/>
          </a:xfrm>
          <a:prstGeom prst="rect">
            <a:avLst/>
          </a:prstGeom>
          <a:noFill/>
        </p:spPr>
        <p:txBody>
          <a:bodyPr wrap="none" rtlCol="0">
            <a:spAutoFit/>
          </a:bodyPr>
          <a:lstStyle/>
          <a:p>
            <a:r>
              <a:rPr lang="ru-RU" b="1" dirty="0" smtClean="0"/>
              <a:t>ЗУ с побитовой и пословной организацией</a:t>
            </a:r>
          </a:p>
          <a:p>
            <a:r>
              <a:rPr lang="ru-RU" dirty="0" smtClean="0"/>
              <a:t>Побитовая организация – каждый бит доступен в отдельности</a:t>
            </a:r>
          </a:p>
          <a:p>
            <a:r>
              <a:rPr lang="ru-RU" dirty="0" smtClean="0"/>
              <a:t>Пословная организация – запись и чтение всегда происходит целыми словами </a:t>
            </a:r>
            <a:endParaRPr lang="ru-RU" dirty="0"/>
          </a:p>
        </p:txBody>
      </p:sp>
      <p:sp>
        <p:nvSpPr>
          <p:cNvPr id="12" name="TextBox 11"/>
          <p:cNvSpPr txBox="1"/>
          <p:nvPr/>
        </p:nvSpPr>
        <p:spPr>
          <a:xfrm>
            <a:off x="635005" y="4185954"/>
            <a:ext cx="4529958" cy="646331"/>
          </a:xfrm>
          <a:prstGeom prst="rect">
            <a:avLst/>
          </a:prstGeom>
          <a:noFill/>
        </p:spPr>
        <p:txBody>
          <a:bodyPr wrap="none" rtlCol="0">
            <a:spAutoFit/>
          </a:bodyPr>
          <a:lstStyle/>
          <a:p>
            <a:r>
              <a:rPr lang="ru-RU" b="1" dirty="0" smtClean="0"/>
              <a:t>Информационная емкость ЗУ</a:t>
            </a:r>
          </a:p>
          <a:p>
            <a:r>
              <a:rPr lang="ru-RU" dirty="0" smtClean="0"/>
              <a:t>(Количество слов в ЗУ )х(Разрядность слова)</a:t>
            </a:r>
            <a:endParaRPr lang="ru-RU" dirty="0"/>
          </a:p>
        </p:txBody>
      </p:sp>
      <p:sp>
        <p:nvSpPr>
          <p:cNvPr id="13" name="TextBox 12"/>
          <p:cNvSpPr txBox="1"/>
          <p:nvPr/>
        </p:nvSpPr>
        <p:spPr>
          <a:xfrm>
            <a:off x="1948121" y="5093175"/>
            <a:ext cx="4117217" cy="369332"/>
          </a:xfrm>
          <a:prstGeom prst="rect">
            <a:avLst/>
          </a:prstGeom>
          <a:noFill/>
        </p:spPr>
        <p:txBody>
          <a:bodyPr wrap="none" rtlCol="0">
            <a:spAutoFit/>
          </a:bodyPr>
          <a:lstStyle/>
          <a:p>
            <a:r>
              <a:rPr lang="ru-RU" b="1" dirty="0" smtClean="0"/>
              <a:t>Принципиальная структурная схема ЗУ</a:t>
            </a:r>
            <a:endParaRPr lang="ru-RU" b="1" dirty="0"/>
          </a:p>
        </p:txBody>
      </p:sp>
      <p:sp>
        <p:nvSpPr>
          <p:cNvPr id="14" name="TextBox 13"/>
          <p:cNvSpPr txBox="1"/>
          <p:nvPr/>
        </p:nvSpPr>
        <p:spPr>
          <a:xfrm>
            <a:off x="408703" y="5445224"/>
            <a:ext cx="7856766" cy="646331"/>
          </a:xfrm>
          <a:prstGeom prst="rect">
            <a:avLst/>
          </a:prstGeom>
          <a:noFill/>
        </p:spPr>
        <p:txBody>
          <a:bodyPr wrap="none" rtlCol="0">
            <a:spAutoFit/>
          </a:bodyPr>
          <a:lstStyle/>
          <a:p>
            <a:r>
              <a:rPr lang="ru-RU" dirty="0" smtClean="0"/>
              <a:t>ЗУ как правило подключаются к </a:t>
            </a:r>
            <a:r>
              <a:rPr lang="ru-RU" b="1" dirty="0" smtClean="0"/>
              <a:t>шинной</a:t>
            </a:r>
            <a:r>
              <a:rPr lang="ru-RU" dirty="0" smtClean="0"/>
              <a:t> системе передачи и управления, </a:t>
            </a:r>
          </a:p>
          <a:p>
            <a:r>
              <a:rPr lang="ru-RU" dirty="0" smtClean="0"/>
              <a:t>обеспечивающей параллельное подключение большого  числа различных ЗУ.</a:t>
            </a:r>
          </a:p>
        </p:txBody>
      </p:sp>
      <p:sp>
        <p:nvSpPr>
          <p:cNvPr id="15" name="TextBox 14"/>
          <p:cNvSpPr txBox="1"/>
          <p:nvPr/>
        </p:nvSpPr>
        <p:spPr>
          <a:xfrm>
            <a:off x="408703" y="6212324"/>
            <a:ext cx="1287212" cy="369332"/>
          </a:xfrm>
          <a:prstGeom prst="rect">
            <a:avLst/>
          </a:prstGeom>
          <a:noFill/>
        </p:spPr>
        <p:txBody>
          <a:bodyPr wrap="none" rtlCol="0">
            <a:spAutoFit/>
          </a:bodyPr>
          <a:lstStyle/>
          <a:p>
            <a:r>
              <a:rPr lang="ru-RU" dirty="0" smtClean="0"/>
              <a:t>Различают</a:t>
            </a:r>
            <a:r>
              <a:rPr lang="en-US" dirty="0" smtClean="0"/>
              <a:t>:</a:t>
            </a:r>
            <a:endParaRPr lang="ru-RU" dirty="0"/>
          </a:p>
        </p:txBody>
      </p:sp>
      <p:sp>
        <p:nvSpPr>
          <p:cNvPr id="16" name="TextBox 15"/>
          <p:cNvSpPr txBox="1"/>
          <p:nvPr/>
        </p:nvSpPr>
        <p:spPr>
          <a:xfrm>
            <a:off x="1620948" y="6212324"/>
            <a:ext cx="6555570" cy="369332"/>
          </a:xfrm>
          <a:prstGeom prst="rect">
            <a:avLst/>
          </a:prstGeom>
          <a:noFill/>
        </p:spPr>
        <p:txBody>
          <a:bodyPr wrap="square" rtlCol="0">
            <a:spAutoFit/>
          </a:bodyPr>
          <a:lstStyle/>
          <a:p>
            <a:r>
              <a:rPr lang="ru-RU" dirty="0" smtClean="0"/>
              <a:t>Шину адреса,  Шину управления,  Шину данных</a:t>
            </a:r>
            <a:endParaRPr lang="ru-RU" dirty="0"/>
          </a:p>
        </p:txBody>
      </p:sp>
    </p:spTree>
    <p:extLst>
      <p:ext uri="{BB962C8B-B14F-4D97-AF65-F5344CB8AC3E}">
        <p14:creationId xmlns:p14="http://schemas.microsoft.com/office/powerpoint/2010/main" val="30465584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303743" y="160726"/>
            <a:ext cx="3312368" cy="369332"/>
          </a:xfrm>
          <a:prstGeom prst="rect">
            <a:avLst/>
          </a:prstGeom>
          <a:noFill/>
        </p:spPr>
        <p:txBody>
          <a:bodyPr wrap="square" rtlCol="0">
            <a:spAutoFit/>
          </a:bodyPr>
          <a:lstStyle/>
          <a:p>
            <a:pPr algn="ctr"/>
            <a:r>
              <a:rPr lang="ru-RU" b="1" dirty="0" smtClean="0"/>
              <a:t>ЗУ типа </a:t>
            </a:r>
            <a:r>
              <a:rPr lang="en-US" b="1" dirty="0" smtClean="0"/>
              <a:t>ROM (</a:t>
            </a:r>
            <a:r>
              <a:rPr lang="ru-RU" b="1" dirty="0" smtClean="0"/>
              <a:t>ПЗУ</a:t>
            </a:r>
            <a:r>
              <a:rPr lang="en-US" b="1" dirty="0" smtClean="0"/>
              <a:t>)</a:t>
            </a:r>
            <a:endParaRPr lang="ru-RU" b="1" dirty="0"/>
          </a:p>
        </p:txBody>
      </p:sp>
      <p:sp>
        <p:nvSpPr>
          <p:cNvPr id="11" name="TextBox 10"/>
          <p:cNvSpPr txBox="1"/>
          <p:nvPr/>
        </p:nvSpPr>
        <p:spPr>
          <a:xfrm>
            <a:off x="550420" y="530058"/>
            <a:ext cx="7704856" cy="923330"/>
          </a:xfrm>
          <a:prstGeom prst="rect">
            <a:avLst/>
          </a:prstGeom>
          <a:noFill/>
        </p:spPr>
        <p:txBody>
          <a:bodyPr wrap="square" rtlCol="0">
            <a:spAutoFit/>
          </a:bodyPr>
          <a:lstStyle/>
          <a:p>
            <a:r>
              <a:rPr lang="en-US" dirty="0" smtClean="0"/>
              <a:t>ROM –</a:t>
            </a:r>
            <a:r>
              <a:rPr lang="ru-RU" dirty="0" smtClean="0"/>
              <a:t>схема ЗУ, содержание данных в которой определяется изготовителем с помощью </a:t>
            </a:r>
            <a:r>
              <a:rPr lang="ru-RU" b="1" dirty="0" smtClean="0"/>
              <a:t>маски. </a:t>
            </a:r>
            <a:r>
              <a:rPr lang="ru-RU" dirty="0" smtClean="0"/>
              <a:t>Содержание данных  в ЗУ фиксировано, их можно только читать. </a:t>
            </a:r>
            <a:r>
              <a:rPr lang="en-US" dirty="0" smtClean="0"/>
              <a:t>ROM-</a:t>
            </a:r>
            <a:r>
              <a:rPr lang="ru-RU" dirty="0" smtClean="0"/>
              <a:t>энергонезависимое устройство. </a:t>
            </a:r>
            <a:endParaRPr lang="ru-RU" b="1" dirty="0"/>
          </a:p>
        </p:txBody>
      </p:sp>
      <p:sp>
        <p:nvSpPr>
          <p:cNvPr id="12" name="TextBox 11"/>
          <p:cNvSpPr txBox="1"/>
          <p:nvPr/>
        </p:nvSpPr>
        <p:spPr>
          <a:xfrm>
            <a:off x="566710" y="1328414"/>
            <a:ext cx="3374963" cy="369332"/>
          </a:xfrm>
          <a:prstGeom prst="rect">
            <a:avLst/>
          </a:prstGeom>
          <a:noFill/>
        </p:spPr>
        <p:txBody>
          <a:bodyPr wrap="none" rtlCol="0">
            <a:spAutoFit/>
          </a:bodyPr>
          <a:lstStyle/>
          <a:p>
            <a:r>
              <a:rPr lang="ru-RU" dirty="0" smtClean="0"/>
              <a:t>Организация ЗУ в виде матрицы</a:t>
            </a:r>
            <a:endParaRPr lang="ru-RU" dirty="0"/>
          </a:p>
        </p:txBody>
      </p:sp>
      <p:grpSp>
        <p:nvGrpSpPr>
          <p:cNvPr id="37" name="Группа 36"/>
          <p:cNvGrpSpPr/>
          <p:nvPr/>
        </p:nvGrpSpPr>
        <p:grpSpPr>
          <a:xfrm>
            <a:off x="2123728" y="2757385"/>
            <a:ext cx="3816424" cy="2065992"/>
            <a:chOff x="2123728" y="2757385"/>
            <a:chExt cx="3816424" cy="2065992"/>
          </a:xfrm>
        </p:grpSpPr>
        <p:cxnSp>
          <p:nvCxnSpPr>
            <p:cNvPr id="27" name="Прямая соединительная линия 26"/>
            <p:cNvCxnSpPr/>
            <p:nvPr/>
          </p:nvCxnSpPr>
          <p:spPr>
            <a:xfrm>
              <a:off x="2123728" y="2757385"/>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2123728" y="3062185"/>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2123728" y="3318244"/>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2123728" y="3645010"/>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2123728" y="3955070"/>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2123728" y="4236760"/>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2123728" y="4529648"/>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2123728" y="4823377"/>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Группа 37"/>
          <p:cNvGrpSpPr/>
          <p:nvPr/>
        </p:nvGrpSpPr>
        <p:grpSpPr>
          <a:xfrm rot="16200000">
            <a:off x="2525140" y="2961515"/>
            <a:ext cx="3055129" cy="2065992"/>
            <a:chOff x="2123728" y="2757385"/>
            <a:chExt cx="3816424" cy="2065992"/>
          </a:xfrm>
        </p:grpSpPr>
        <p:cxnSp>
          <p:nvCxnSpPr>
            <p:cNvPr id="39" name="Прямая соединительная линия 38"/>
            <p:cNvCxnSpPr/>
            <p:nvPr/>
          </p:nvCxnSpPr>
          <p:spPr>
            <a:xfrm>
              <a:off x="2123728" y="2757385"/>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2123728" y="3062185"/>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p:nvPr/>
          </p:nvCxnSpPr>
          <p:spPr>
            <a:xfrm>
              <a:off x="2123728" y="3318244"/>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2123728" y="3645010"/>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2123728" y="3955070"/>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2123728" y="4236760"/>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a:off x="2123728" y="4529648"/>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2123728" y="4823377"/>
              <a:ext cx="38164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013991" y="2192208"/>
            <a:ext cx="995337" cy="369332"/>
          </a:xfrm>
          <a:prstGeom prst="rect">
            <a:avLst/>
          </a:prstGeom>
          <a:noFill/>
        </p:spPr>
        <p:txBody>
          <a:bodyPr wrap="none" rtlCol="0">
            <a:spAutoFit/>
          </a:bodyPr>
          <a:lstStyle/>
          <a:p>
            <a:r>
              <a:rPr lang="en-US" dirty="0" smtClean="0"/>
              <a:t>BIN/OCT</a:t>
            </a:r>
            <a:endParaRPr lang="ru-RU" dirty="0"/>
          </a:p>
        </p:txBody>
      </p:sp>
      <p:cxnSp>
        <p:nvCxnSpPr>
          <p:cNvPr id="50" name="Прямая соединительная линия 49"/>
          <p:cNvCxnSpPr/>
          <p:nvPr/>
        </p:nvCxnSpPr>
        <p:spPr>
          <a:xfrm>
            <a:off x="179512" y="3164469"/>
            <a:ext cx="7200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p:cNvCxnSpPr/>
          <p:nvPr/>
        </p:nvCxnSpPr>
        <p:spPr>
          <a:xfrm>
            <a:off x="179512" y="3533801"/>
            <a:ext cx="7200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p:nvPr/>
        </p:nvCxnSpPr>
        <p:spPr>
          <a:xfrm>
            <a:off x="190380" y="3940885"/>
            <a:ext cx="7200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 name="Группа 61"/>
          <p:cNvGrpSpPr/>
          <p:nvPr/>
        </p:nvGrpSpPr>
        <p:grpSpPr>
          <a:xfrm>
            <a:off x="899592" y="2564904"/>
            <a:ext cx="1224136" cy="2448272"/>
            <a:chOff x="899592" y="2564904"/>
            <a:chExt cx="1224136" cy="2448272"/>
          </a:xfrm>
        </p:grpSpPr>
        <p:sp>
          <p:nvSpPr>
            <p:cNvPr id="13" name="Прямоугольник 12"/>
            <p:cNvSpPr/>
            <p:nvPr/>
          </p:nvSpPr>
          <p:spPr>
            <a:xfrm>
              <a:off x="899592" y="2564904"/>
              <a:ext cx="1224136" cy="24482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5" name="Группа 24"/>
            <p:cNvGrpSpPr/>
            <p:nvPr/>
          </p:nvGrpSpPr>
          <p:grpSpPr>
            <a:xfrm>
              <a:off x="1822042" y="2572719"/>
              <a:ext cx="301686" cy="2440457"/>
              <a:chOff x="4499992" y="2572719"/>
              <a:chExt cx="301686" cy="2440457"/>
            </a:xfrm>
          </p:grpSpPr>
          <p:sp>
            <p:nvSpPr>
              <p:cNvPr id="14" name="TextBox 13"/>
              <p:cNvSpPr txBox="1"/>
              <p:nvPr/>
            </p:nvSpPr>
            <p:spPr>
              <a:xfrm>
                <a:off x="4499992" y="2572719"/>
                <a:ext cx="301686" cy="369332"/>
              </a:xfrm>
              <a:prstGeom prst="rect">
                <a:avLst/>
              </a:prstGeom>
              <a:noFill/>
            </p:spPr>
            <p:txBody>
              <a:bodyPr wrap="none" rtlCol="0">
                <a:spAutoFit/>
              </a:bodyPr>
              <a:lstStyle/>
              <a:p>
                <a:r>
                  <a:rPr lang="ru-RU" dirty="0" smtClean="0"/>
                  <a:t>0</a:t>
                </a:r>
                <a:endParaRPr lang="ru-RU" dirty="0"/>
              </a:p>
            </p:txBody>
          </p:sp>
          <p:sp>
            <p:nvSpPr>
              <p:cNvPr id="15" name="TextBox 14"/>
              <p:cNvSpPr txBox="1"/>
              <p:nvPr/>
            </p:nvSpPr>
            <p:spPr>
              <a:xfrm>
                <a:off x="4499992" y="2868594"/>
                <a:ext cx="301686" cy="369332"/>
              </a:xfrm>
              <a:prstGeom prst="rect">
                <a:avLst/>
              </a:prstGeom>
              <a:noFill/>
            </p:spPr>
            <p:txBody>
              <a:bodyPr wrap="none" rtlCol="0">
                <a:spAutoFit/>
              </a:bodyPr>
              <a:lstStyle/>
              <a:p>
                <a:r>
                  <a:rPr lang="ru-RU" dirty="0" smtClean="0"/>
                  <a:t>1</a:t>
                </a:r>
                <a:endParaRPr lang="ru-RU" dirty="0"/>
              </a:p>
            </p:txBody>
          </p:sp>
          <p:sp>
            <p:nvSpPr>
              <p:cNvPr id="16" name="TextBox 15"/>
              <p:cNvSpPr txBox="1"/>
              <p:nvPr/>
            </p:nvSpPr>
            <p:spPr>
              <a:xfrm>
                <a:off x="4499992" y="3164469"/>
                <a:ext cx="301686" cy="369332"/>
              </a:xfrm>
              <a:prstGeom prst="rect">
                <a:avLst/>
              </a:prstGeom>
              <a:noFill/>
            </p:spPr>
            <p:txBody>
              <a:bodyPr wrap="none" rtlCol="0">
                <a:spAutoFit/>
              </a:bodyPr>
              <a:lstStyle/>
              <a:p>
                <a:r>
                  <a:rPr lang="ru-RU" dirty="0"/>
                  <a:t>2</a:t>
                </a:r>
              </a:p>
            </p:txBody>
          </p:sp>
          <p:sp>
            <p:nvSpPr>
              <p:cNvPr id="17" name="TextBox 16"/>
              <p:cNvSpPr txBox="1"/>
              <p:nvPr/>
            </p:nvSpPr>
            <p:spPr>
              <a:xfrm>
                <a:off x="4499992" y="3460344"/>
                <a:ext cx="301686" cy="369332"/>
              </a:xfrm>
              <a:prstGeom prst="rect">
                <a:avLst/>
              </a:prstGeom>
              <a:noFill/>
            </p:spPr>
            <p:txBody>
              <a:bodyPr wrap="none" rtlCol="0">
                <a:spAutoFit/>
              </a:bodyPr>
              <a:lstStyle/>
              <a:p>
                <a:r>
                  <a:rPr lang="ru-RU" dirty="0" smtClean="0"/>
                  <a:t>3</a:t>
                </a:r>
                <a:endParaRPr lang="ru-RU" dirty="0"/>
              </a:p>
            </p:txBody>
          </p:sp>
          <p:sp>
            <p:nvSpPr>
              <p:cNvPr id="18" name="TextBox 17"/>
              <p:cNvSpPr txBox="1"/>
              <p:nvPr/>
            </p:nvSpPr>
            <p:spPr>
              <a:xfrm>
                <a:off x="4499992" y="3756219"/>
                <a:ext cx="301686" cy="369332"/>
              </a:xfrm>
              <a:prstGeom prst="rect">
                <a:avLst/>
              </a:prstGeom>
              <a:noFill/>
            </p:spPr>
            <p:txBody>
              <a:bodyPr wrap="none" rtlCol="0">
                <a:spAutoFit/>
              </a:bodyPr>
              <a:lstStyle/>
              <a:p>
                <a:r>
                  <a:rPr lang="ru-RU" dirty="0"/>
                  <a:t>4</a:t>
                </a:r>
              </a:p>
            </p:txBody>
          </p:sp>
          <p:sp>
            <p:nvSpPr>
              <p:cNvPr id="19" name="TextBox 18"/>
              <p:cNvSpPr txBox="1"/>
              <p:nvPr/>
            </p:nvSpPr>
            <p:spPr>
              <a:xfrm>
                <a:off x="4499992" y="4052094"/>
                <a:ext cx="301686" cy="369332"/>
              </a:xfrm>
              <a:prstGeom prst="rect">
                <a:avLst/>
              </a:prstGeom>
              <a:noFill/>
            </p:spPr>
            <p:txBody>
              <a:bodyPr wrap="none" rtlCol="0">
                <a:spAutoFit/>
              </a:bodyPr>
              <a:lstStyle/>
              <a:p>
                <a:r>
                  <a:rPr lang="ru-RU" dirty="0"/>
                  <a:t>5</a:t>
                </a:r>
              </a:p>
            </p:txBody>
          </p:sp>
          <p:sp>
            <p:nvSpPr>
              <p:cNvPr id="20" name="TextBox 19"/>
              <p:cNvSpPr txBox="1"/>
              <p:nvPr/>
            </p:nvSpPr>
            <p:spPr>
              <a:xfrm>
                <a:off x="4499992" y="4347969"/>
                <a:ext cx="301686" cy="369332"/>
              </a:xfrm>
              <a:prstGeom prst="rect">
                <a:avLst/>
              </a:prstGeom>
              <a:noFill/>
            </p:spPr>
            <p:txBody>
              <a:bodyPr wrap="none" rtlCol="0">
                <a:spAutoFit/>
              </a:bodyPr>
              <a:lstStyle/>
              <a:p>
                <a:r>
                  <a:rPr lang="ru-RU" dirty="0"/>
                  <a:t>6</a:t>
                </a:r>
              </a:p>
            </p:txBody>
          </p:sp>
          <p:sp>
            <p:nvSpPr>
              <p:cNvPr id="21" name="TextBox 20"/>
              <p:cNvSpPr txBox="1"/>
              <p:nvPr/>
            </p:nvSpPr>
            <p:spPr>
              <a:xfrm>
                <a:off x="4499992" y="4643844"/>
                <a:ext cx="301686" cy="369332"/>
              </a:xfrm>
              <a:prstGeom prst="rect">
                <a:avLst/>
              </a:prstGeom>
              <a:noFill/>
            </p:spPr>
            <p:txBody>
              <a:bodyPr wrap="none" rtlCol="0">
                <a:spAutoFit/>
              </a:bodyPr>
              <a:lstStyle/>
              <a:p>
                <a:r>
                  <a:rPr lang="ru-RU" dirty="0"/>
                  <a:t>7</a:t>
                </a:r>
              </a:p>
            </p:txBody>
          </p:sp>
        </p:grpSp>
        <p:sp>
          <p:nvSpPr>
            <p:cNvPr id="53" name="TextBox 52"/>
            <p:cNvSpPr txBox="1"/>
            <p:nvPr/>
          </p:nvSpPr>
          <p:spPr>
            <a:xfrm>
              <a:off x="910460" y="2948912"/>
              <a:ext cx="434734" cy="369332"/>
            </a:xfrm>
            <a:prstGeom prst="rect">
              <a:avLst/>
            </a:prstGeom>
            <a:noFill/>
          </p:spPr>
          <p:txBody>
            <a:bodyPr wrap="none" rtlCol="0">
              <a:spAutoFit/>
            </a:bodyPr>
            <a:lstStyle/>
            <a:p>
              <a:r>
                <a:rPr lang="en-US" dirty="0" smtClean="0"/>
                <a:t>A0</a:t>
              </a:r>
              <a:endParaRPr lang="ru-RU" dirty="0"/>
            </a:p>
          </p:txBody>
        </p:sp>
        <p:sp>
          <p:nvSpPr>
            <p:cNvPr id="54" name="TextBox 53"/>
            <p:cNvSpPr txBox="1"/>
            <p:nvPr/>
          </p:nvSpPr>
          <p:spPr>
            <a:xfrm>
              <a:off x="910460" y="3339251"/>
              <a:ext cx="434734" cy="369332"/>
            </a:xfrm>
            <a:prstGeom prst="rect">
              <a:avLst/>
            </a:prstGeom>
            <a:noFill/>
          </p:spPr>
          <p:txBody>
            <a:bodyPr wrap="none" rtlCol="0">
              <a:spAutoFit/>
            </a:bodyPr>
            <a:lstStyle/>
            <a:p>
              <a:r>
                <a:rPr lang="en-US" dirty="0" smtClean="0"/>
                <a:t>A1</a:t>
              </a:r>
              <a:endParaRPr lang="ru-RU" dirty="0"/>
            </a:p>
          </p:txBody>
        </p:sp>
        <p:sp>
          <p:nvSpPr>
            <p:cNvPr id="55" name="TextBox 54"/>
            <p:cNvSpPr txBox="1"/>
            <p:nvPr/>
          </p:nvSpPr>
          <p:spPr>
            <a:xfrm>
              <a:off x="940121" y="3756219"/>
              <a:ext cx="434734" cy="369332"/>
            </a:xfrm>
            <a:prstGeom prst="rect">
              <a:avLst/>
            </a:prstGeom>
            <a:noFill/>
          </p:spPr>
          <p:txBody>
            <a:bodyPr wrap="none" rtlCol="0">
              <a:spAutoFit/>
            </a:bodyPr>
            <a:lstStyle/>
            <a:p>
              <a:r>
                <a:rPr lang="en-US" dirty="0" smtClean="0"/>
                <a:t>A2</a:t>
              </a:r>
              <a:endParaRPr lang="ru-RU" dirty="0"/>
            </a:p>
          </p:txBody>
        </p:sp>
      </p:grpSp>
      <p:sp>
        <p:nvSpPr>
          <p:cNvPr id="56" name="TextBox 55"/>
          <p:cNvSpPr txBox="1"/>
          <p:nvPr/>
        </p:nvSpPr>
        <p:spPr>
          <a:xfrm>
            <a:off x="935220" y="4978042"/>
            <a:ext cx="1152880" cy="646331"/>
          </a:xfrm>
          <a:prstGeom prst="rect">
            <a:avLst/>
          </a:prstGeom>
          <a:noFill/>
        </p:spPr>
        <p:txBody>
          <a:bodyPr wrap="none" rtlCol="0">
            <a:spAutoFit/>
          </a:bodyPr>
          <a:lstStyle/>
          <a:p>
            <a:r>
              <a:rPr lang="ru-RU" dirty="0" smtClean="0"/>
              <a:t>Строчный</a:t>
            </a:r>
          </a:p>
          <a:p>
            <a:r>
              <a:rPr lang="ru-RU" dirty="0" smtClean="0"/>
              <a:t>декодер</a:t>
            </a:r>
            <a:endParaRPr lang="ru-RU" dirty="0"/>
          </a:p>
        </p:txBody>
      </p:sp>
      <p:sp>
        <p:nvSpPr>
          <p:cNvPr id="57" name="Прямоугольник 56"/>
          <p:cNvSpPr/>
          <p:nvPr/>
        </p:nvSpPr>
        <p:spPr>
          <a:xfrm>
            <a:off x="2753129" y="4978042"/>
            <a:ext cx="2874259" cy="425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Усилитель считывания</a:t>
            </a:r>
            <a:endParaRPr lang="ru-RU" dirty="0">
              <a:solidFill>
                <a:schemeClr val="tx1"/>
              </a:solidFill>
            </a:endParaRPr>
          </a:p>
        </p:txBody>
      </p:sp>
      <p:cxnSp>
        <p:nvCxnSpPr>
          <p:cNvPr id="59" name="Прямая со стрелкой 58"/>
          <p:cNvCxnSpPr>
            <a:stCxn id="57" idx="3"/>
          </p:cNvCxnSpPr>
          <p:nvPr/>
        </p:nvCxnSpPr>
        <p:spPr>
          <a:xfrm flipV="1">
            <a:off x="5627388" y="5190809"/>
            <a:ext cx="1230198"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5919809" y="4793376"/>
            <a:ext cx="803040" cy="369332"/>
          </a:xfrm>
          <a:prstGeom prst="rect">
            <a:avLst/>
          </a:prstGeom>
          <a:noFill/>
        </p:spPr>
        <p:txBody>
          <a:bodyPr wrap="none" rtlCol="0">
            <a:spAutoFit/>
          </a:bodyPr>
          <a:lstStyle/>
          <a:p>
            <a:r>
              <a:rPr lang="ru-RU" dirty="0" smtClean="0"/>
              <a:t>Выход</a:t>
            </a:r>
            <a:endParaRPr lang="ru-RU" dirty="0"/>
          </a:p>
        </p:txBody>
      </p:sp>
      <p:grpSp>
        <p:nvGrpSpPr>
          <p:cNvPr id="63" name="Группа 62"/>
          <p:cNvGrpSpPr/>
          <p:nvPr/>
        </p:nvGrpSpPr>
        <p:grpSpPr>
          <a:xfrm rot="16200000">
            <a:off x="3548820" y="4770194"/>
            <a:ext cx="966240" cy="2448272"/>
            <a:chOff x="899592" y="2564904"/>
            <a:chExt cx="1224136" cy="2448272"/>
          </a:xfrm>
        </p:grpSpPr>
        <p:sp>
          <p:nvSpPr>
            <p:cNvPr id="64" name="Прямоугольник 63"/>
            <p:cNvSpPr/>
            <p:nvPr/>
          </p:nvSpPr>
          <p:spPr>
            <a:xfrm>
              <a:off x="899592" y="2564904"/>
              <a:ext cx="1224136" cy="24482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65" name="Группа 64"/>
            <p:cNvGrpSpPr/>
            <p:nvPr/>
          </p:nvGrpSpPr>
          <p:grpSpPr>
            <a:xfrm>
              <a:off x="1822042" y="2572719"/>
              <a:ext cx="301686" cy="2440457"/>
              <a:chOff x="4499992" y="2572719"/>
              <a:chExt cx="301686" cy="2440457"/>
            </a:xfrm>
          </p:grpSpPr>
          <p:sp>
            <p:nvSpPr>
              <p:cNvPr id="69" name="TextBox 68"/>
              <p:cNvSpPr txBox="1"/>
              <p:nvPr/>
            </p:nvSpPr>
            <p:spPr>
              <a:xfrm>
                <a:off x="4499992" y="2572719"/>
                <a:ext cx="301686" cy="369332"/>
              </a:xfrm>
              <a:prstGeom prst="rect">
                <a:avLst/>
              </a:prstGeom>
              <a:noFill/>
            </p:spPr>
            <p:txBody>
              <a:bodyPr wrap="none" rtlCol="0">
                <a:spAutoFit/>
              </a:bodyPr>
              <a:lstStyle/>
              <a:p>
                <a:r>
                  <a:rPr lang="ru-RU" dirty="0" smtClean="0"/>
                  <a:t>0</a:t>
                </a:r>
                <a:endParaRPr lang="ru-RU" dirty="0"/>
              </a:p>
            </p:txBody>
          </p:sp>
          <p:sp>
            <p:nvSpPr>
              <p:cNvPr id="70" name="TextBox 69"/>
              <p:cNvSpPr txBox="1"/>
              <p:nvPr/>
            </p:nvSpPr>
            <p:spPr>
              <a:xfrm>
                <a:off x="4499992" y="2868594"/>
                <a:ext cx="301686" cy="369332"/>
              </a:xfrm>
              <a:prstGeom prst="rect">
                <a:avLst/>
              </a:prstGeom>
              <a:noFill/>
            </p:spPr>
            <p:txBody>
              <a:bodyPr wrap="none" rtlCol="0">
                <a:spAutoFit/>
              </a:bodyPr>
              <a:lstStyle/>
              <a:p>
                <a:r>
                  <a:rPr lang="ru-RU" dirty="0" smtClean="0"/>
                  <a:t>1</a:t>
                </a:r>
                <a:endParaRPr lang="ru-RU" dirty="0"/>
              </a:p>
            </p:txBody>
          </p:sp>
          <p:sp>
            <p:nvSpPr>
              <p:cNvPr id="71" name="TextBox 70"/>
              <p:cNvSpPr txBox="1"/>
              <p:nvPr/>
            </p:nvSpPr>
            <p:spPr>
              <a:xfrm>
                <a:off x="4499992" y="3164469"/>
                <a:ext cx="301686" cy="369332"/>
              </a:xfrm>
              <a:prstGeom prst="rect">
                <a:avLst/>
              </a:prstGeom>
              <a:noFill/>
            </p:spPr>
            <p:txBody>
              <a:bodyPr wrap="none" rtlCol="0">
                <a:spAutoFit/>
              </a:bodyPr>
              <a:lstStyle/>
              <a:p>
                <a:r>
                  <a:rPr lang="ru-RU" dirty="0"/>
                  <a:t>2</a:t>
                </a:r>
              </a:p>
            </p:txBody>
          </p:sp>
          <p:sp>
            <p:nvSpPr>
              <p:cNvPr id="72" name="TextBox 71"/>
              <p:cNvSpPr txBox="1"/>
              <p:nvPr/>
            </p:nvSpPr>
            <p:spPr>
              <a:xfrm>
                <a:off x="4499992" y="3460344"/>
                <a:ext cx="301686" cy="369332"/>
              </a:xfrm>
              <a:prstGeom prst="rect">
                <a:avLst/>
              </a:prstGeom>
              <a:noFill/>
            </p:spPr>
            <p:txBody>
              <a:bodyPr wrap="none" rtlCol="0">
                <a:spAutoFit/>
              </a:bodyPr>
              <a:lstStyle/>
              <a:p>
                <a:r>
                  <a:rPr lang="ru-RU" dirty="0" smtClean="0"/>
                  <a:t>3</a:t>
                </a:r>
                <a:endParaRPr lang="ru-RU" dirty="0"/>
              </a:p>
            </p:txBody>
          </p:sp>
          <p:sp>
            <p:nvSpPr>
              <p:cNvPr id="73" name="TextBox 72"/>
              <p:cNvSpPr txBox="1"/>
              <p:nvPr/>
            </p:nvSpPr>
            <p:spPr>
              <a:xfrm>
                <a:off x="4499992" y="3756219"/>
                <a:ext cx="301686" cy="369332"/>
              </a:xfrm>
              <a:prstGeom prst="rect">
                <a:avLst/>
              </a:prstGeom>
              <a:noFill/>
            </p:spPr>
            <p:txBody>
              <a:bodyPr wrap="none" rtlCol="0">
                <a:spAutoFit/>
              </a:bodyPr>
              <a:lstStyle/>
              <a:p>
                <a:r>
                  <a:rPr lang="ru-RU" dirty="0"/>
                  <a:t>4</a:t>
                </a:r>
              </a:p>
            </p:txBody>
          </p:sp>
          <p:sp>
            <p:nvSpPr>
              <p:cNvPr id="74" name="TextBox 73"/>
              <p:cNvSpPr txBox="1"/>
              <p:nvPr/>
            </p:nvSpPr>
            <p:spPr>
              <a:xfrm>
                <a:off x="4499992" y="4052094"/>
                <a:ext cx="301686" cy="369332"/>
              </a:xfrm>
              <a:prstGeom prst="rect">
                <a:avLst/>
              </a:prstGeom>
              <a:noFill/>
            </p:spPr>
            <p:txBody>
              <a:bodyPr wrap="none" rtlCol="0">
                <a:spAutoFit/>
              </a:bodyPr>
              <a:lstStyle/>
              <a:p>
                <a:r>
                  <a:rPr lang="ru-RU" dirty="0"/>
                  <a:t>5</a:t>
                </a:r>
              </a:p>
            </p:txBody>
          </p:sp>
          <p:sp>
            <p:nvSpPr>
              <p:cNvPr id="75" name="TextBox 74"/>
              <p:cNvSpPr txBox="1"/>
              <p:nvPr/>
            </p:nvSpPr>
            <p:spPr>
              <a:xfrm>
                <a:off x="4499992" y="4347969"/>
                <a:ext cx="301686" cy="369332"/>
              </a:xfrm>
              <a:prstGeom prst="rect">
                <a:avLst/>
              </a:prstGeom>
              <a:noFill/>
            </p:spPr>
            <p:txBody>
              <a:bodyPr wrap="none" rtlCol="0">
                <a:spAutoFit/>
              </a:bodyPr>
              <a:lstStyle/>
              <a:p>
                <a:r>
                  <a:rPr lang="ru-RU" dirty="0"/>
                  <a:t>6</a:t>
                </a:r>
              </a:p>
            </p:txBody>
          </p:sp>
          <p:sp>
            <p:nvSpPr>
              <p:cNvPr id="76" name="TextBox 75"/>
              <p:cNvSpPr txBox="1"/>
              <p:nvPr/>
            </p:nvSpPr>
            <p:spPr>
              <a:xfrm>
                <a:off x="4499992" y="4643844"/>
                <a:ext cx="301686" cy="369332"/>
              </a:xfrm>
              <a:prstGeom prst="rect">
                <a:avLst/>
              </a:prstGeom>
              <a:noFill/>
            </p:spPr>
            <p:txBody>
              <a:bodyPr wrap="none" rtlCol="0">
                <a:spAutoFit/>
              </a:bodyPr>
              <a:lstStyle/>
              <a:p>
                <a:r>
                  <a:rPr lang="ru-RU" dirty="0"/>
                  <a:t>7</a:t>
                </a:r>
              </a:p>
            </p:txBody>
          </p:sp>
        </p:grpSp>
        <p:sp>
          <p:nvSpPr>
            <p:cNvPr id="66" name="TextBox 65"/>
            <p:cNvSpPr txBox="1"/>
            <p:nvPr/>
          </p:nvSpPr>
          <p:spPr>
            <a:xfrm>
              <a:off x="910460" y="2948912"/>
              <a:ext cx="434734" cy="369332"/>
            </a:xfrm>
            <a:prstGeom prst="rect">
              <a:avLst/>
            </a:prstGeom>
            <a:noFill/>
          </p:spPr>
          <p:txBody>
            <a:bodyPr wrap="none" rtlCol="0">
              <a:spAutoFit/>
            </a:bodyPr>
            <a:lstStyle/>
            <a:p>
              <a:r>
                <a:rPr lang="en-US" dirty="0" smtClean="0"/>
                <a:t>A0</a:t>
              </a:r>
              <a:endParaRPr lang="ru-RU" dirty="0"/>
            </a:p>
          </p:txBody>
        </p:sp>
        <p:sp>
          <p:nvSpPr>
            <p:cNvPr id="67" name="TextBox 66"/>
            <p:cNvSpPr txBox="1"/>
            <p:nvPr/>
          </p:nvSpPr>
          <p:spPr>
            <a:xfrm>
              <a:off x="910460" y="3339251"/>
              <a:ext cx="434734" cy="369332"/>
            </a:xfrm>
            <a:prstGeom prst="rect">
              <a:avLst/>
            </a:prstGeom>
            <a:noFill/>
          </p:spPr>
          <p:txBody>
            <a:bodyPr wrap="none" rtlCol="0">
              <a:spAutoFit/>
            </a:bodyPr>
            <a:lstStyle/>
            <a:p>
              <a:r>
                <a:rPr lang="en-US" dirty="0" smtClean="0"/>
                <a:t>A1</a:t>
              </a:r>
              <a:endParaRPr lang="ru-RU" dirty="0"/>
            </a:p>
          </p:txBody>
        </p:sp>
        <p:sp>
          <p:nvSpPr>
            <p:cNvPr id="68" name="TextBox 67"/>
            <p:cNvSpPr txBox="1"/>
            <p:nvPr/>
          </p:nvSpPr>
          <p:spPr>
            <a:xfrm>
              <a:off x="940121" y="3756219"/>
              <a:ext cx="434734" cy="369332"/>
            </a:xfrm>
            <a:prstGeom prst="rect">
              <a:avLst/>
            </a:prstGeom>
            <a:noFill/>
          </p:spPr>
          <p:txBody>
            <a:bodyPr wrap="none" rtlCol="0">
              <a:spAutoFit/>
            </a:bodyPr>
            <a:lstStyle/>
            <a:p>
              <a:r>
                <a:rPr lang="en-US" dirty="0" smtClean="0"/>
                <a:t>A2</a:t>
              </a:r>
              <a:endParaRPr lang="ru-RU" dirty="0"/>
            </a:p>
          </p:txBody>
        </p:sp>
      </p:grpSp>
      <p:cxnSp>
        <p:nvCxnSpPr>
          <p:cNvPr id="81" name="Прямая соединительная линия 80"/>
          <p:cNvCxnSpPr/>
          <p:nvPr/>
        </p:nvCxnSpPr>
        <p:spPr>
          <a:xfrm>
            <a:off x="3376478" y="6477450"/>
            <a:ext cx="0" cy="3640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Прямая соединительная линия 81"/>
          <p:cNvCxnSpPr/>
          <p:nvPr/>
        </p:nvCxnSpPr>
        <p:spPr>
          <a:xfrm>
            <a:off x="3776702" y="6477450"/>
            <a:ext cx="0" cy="3640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Прямая соединительная линия 82"/>
          <p:cNvCxnSpPr/>
          <p:nvPr/>
        </p:nvCxnSpPr>
        <p:spPr>
          <a:xfrm>
            <a:off x="4217394" y="6468872"/>
            <a:ext cx="0" cy="3640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Овал 85"/>
          <p:cNvSpPr/>
          <p:nvPr/>
        </p:nvSpPr>
        <p:spPr>
          <a:xfrm>
            <a:off x="3783095" y="2640619"/>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Овал 86"/>
          <p:cNvSpPr/>
          <p:nvPr/>
        </p:nvSpPr>
        <p:spPr>
          <a:xfrm>
            <a:off x="3531038" y="2640618"/>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8" name="Овал 87"/>
          <p:cNvSpPr/>
          <p:nvPr/>
        </p:nvSpPr>
        <p:spPr>
          <a:xfrm>
            <a:off x="3216496" y="2640619"/>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9" name="Овал 88"/>
          <p:cNvSpPr/>
          <p:nvPr/>
        </p:nvSpPr>
        <p:spPr>
          <a:xfrm>
            <a:off x="2883444" y="2661620"/>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0" name="Овал 89"/>
          <p:cNvSpPr/>
          <p:nvPr/>
        </p:nvSpPr>
        <p:spPr>
          <a:xfrm>
            <a:off x="4109381" y="2640617"/>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Овал 90"/>
          <p:cNvSpPr/>
          <p:nvPr/>
        </p:nvSpPr>
        <p:spPr>
          <a:xfrm>
            <a:off x="4391072" y="2640619"/>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Овал 91"/>
          <p:cNvSpPr/>
          <p:nvPr/>
        </p:nvSpPr>
        <p:spPr>
          <a:xfrm>
            <a:off x="4977688" y="2652274"/>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Овал 92"/>
          <p:cNvSpPr/>
          <p:nvPr/>
        </p:nvSpPr>
        <p:spPr>
          <a:xfrm>
            <a:off x="4670720" y="2640616"/>
            <a:ext cx="216024" cy="191527"/>
          </a:xfrm>
          <a:prstGeom prst="ellipse">
            <a:avLst/>
          </a:prstGeom>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7" name="Прямая со стрелкой 96"/>
          <p:cNvCxnSpPr/>
          <p:nvPr/>
        </p:nvCxnSpPr>
        <p:spPr>
          <a:xfrm flipH="1">
            <a:off x="5256076" y="1876745"/>
            <a:ext cx="1360035" cy="76387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6616111" y="1671198"/>
            <a:ext cx="1159805" cy="369332"/>
          </a:xfrm>
          <a:prstGeom prst="rect">
            <a:avLst/>
          </a:prstGeom>
          <a:noFill/>
        </p:spPr>
        <p:txBody>
          <a:bodyPr wrap="none" rtlCol="0">
            <a:spAutoFit/>
          </a:bodyPr>
          <a:lstStyle/>
          <a:p>
            <a:r>
              <a:rPr lang="ru-RU" dirty="0" smtClean="0"/>
              <a:t>Ячейка ЗУ</a:t>
            </a:r>
            <a:endParaRPr lang="ru-RU" dirty="0"/>
          </a:p>
        </p:txBody>
      </p:sp>
      <p:sp>
        <p:nvSpPr>
          <p:cNvPr id="100" name="TextBox 99"/>
          <p:cNvSpPr txBox="1"/>
          <p:nvPr/>
        </p:nvSpPr>
        <p:spPr>
          <a:xfrm>
            <a:off x="5919809" y="5624373"/>
            <a:ext cx="2222424" cy="369332"/>
          </a:xfrm>
          <a:prstGeom prst="rect">
            <a:avLst/>
          </a:prstGeom>
          <a:noFill/>
        </p:spPr>
        <p:txBody>
          <a:bodyPr wrap="square" rtlCol="0">
            <a:spAutoFit/>
          </a:bodyPr>
          <a:lstStyle/>
          <a:p>
            <a:r>
              <a:rPr lang="ru-RU" b="1" dirty="0" smtClean="0"/>
              <a:t>Организация</a:t>
            </a:r>
            <a:r>
              <a:rPr lang="en-US" b="1" dirty="0" smtClean="0"/>
              <a:t>  </a:t>
            </a:r>
            <a:r>
              <a:rPr lang="ru-RU" b="1" dirty="0" smtClean="0"/>
              <a:t>8</a:t>
            </a:r>
            <a:r>
              <a:rPr lang="en-US" b="1" dirty="0" smtClean="0"/>
              <a:t>x8</a:t>
            </a:r>
            <a:endParaRPr lang="ru-RU" b="1" dirty="0"/>
          </a:p>
        </p:txBody>
      </p:sp>
      <p:sp>
        <p:nvSpPr>
          <p:cNvPr id="101" name="TextBox 100"/>
          <p:cNvSpPr txBox="1"/>
          <p:nvPr/>
        </p:nvSpPr>
        <p:spPr>
          <a:xfrm>
            <a:off x="3407369" y="1697746"/>
            <a:ext cx="1535998" cy="369332"/>
          </a:xfrm>
          <a:prstGeom prst="rect">
            <a:avLst/>
          </a:prstGeom>
          <a:noFill/>
        </p:spPr>
        <p:txBody>
          <a:bodyPr wrap="none" rtlCol="0">
            <a:spAutoFit/>
          </a:bodyPr>
          <a:lstStyle/>
          <a:p>
            <a:r>
              <a:rPr lang="ru-RU" dirty="0" smtClean="0"/>
              <a:t>Шина данных</a:t>
            </a:r>
            <a:endParaRPr lang="ru-RU" dirty="0"/>
          </a:p>
        </p:txBody>
      </p:sp>
      <p:sp>
        <p:nvSpPr>
          <p:cNvPr id="102" name="TextBox 101"/>
          <p:cNvSpPr txBox="1"/>
          <p:nvPr/>
        </p:nvSpPr>
        <p:spPr>
          <a:xfrm>
            <a:off x="6587430" y="3523917"/>
            <a:ext cx="1481496" cy="369332"/>
          </a:xfrm>
          <a:prstGeom prst="rect">
            <a:avLst/>
          </a:prstGeom>
          <a:noFill/>
        </p:spPr>
        <p:txBody>
          <a:bodyPr wrap="none" rtlCol="0">
            <a:spAutoFit/>
          </a:bodyPr>
          <a:lstStyle/>
          <a:p>
            <a:r>
              <a:rPr lang="ru-RU" dirty="0" smtClean="0"/>
              <a:t>Шина адреса</a:t>
            </a:r>
            <a:endParaRPr lang="ru-RU" dirty="0"/>
          </a:p>
        </p:txBody>
      </p:sp>
      <p:sp>
        <p:nvSpPr>
          <p:cNvPr id="103" name="Правая фигурная скобка 102"/>
          <p:cNvSpPr/>
          <p:nvPr/>
        </p:nvSpPr>
        <p:spPr>
          <a:xfrm>
            <a:off x="6156176" y="2640616"/>
            <a:ext cx="459935" cy="2152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04" name="Правая фигурная скобка 103"/>
          <p:cNvSpPr/>
          <p:nvPr/>
        </p:nvSpPr>
        <p:spPr>
          <a:xfrm rot="16200000">
            <a:off x="3801972" y="1194117"/>
            <a:ext cx="459935" cy="2152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Tree>
    <p:extLst>
      <p:ext uri="{BB962C8B-B14F-4D97-AF65-F5344CB8AC3E}">
        <p14:creationId xmlns:p14="http://schemas.microsoft.com/office/powerpoint/2010/main" val="39809346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Прямая соединительная линия 22"/>
          <p:cNvCxnSpPr/>
          <p:nvPr/>
        </p:nvCxnSpPr>
        <p:spPr>
          <a:xfrm>
            <a:off x="4730069" y="2340926"/>
            <a:ext cx="62405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2555776" y="2010771"/>
            <a:ext cx="47525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Группа 32"/>
          <p:cNvGrpSpPr/>
          <p:nvPr/>
        </p:nvGrpSpPr>
        <p:grpSpPr>
          <a:xfrm>
            <a:off x="3995936" y="908720"/>
            <a:ext cx="1440160" cy="3384376"/>
            <a:chOff x="3995936" y="908720"/>
            <a:chExt cx="1440160" cy="3384376"/>
          </a:xfrm>
        </p:grpSpPr>
        <p:grpSp>
          <p:nvGrpSpPr>
            <p:cNvPr id="21" name="Группа 20"/>
            <p:cNvGrpSpPr/>
            <p:nvPr/>
          </p:nvGrpSpPr>
          <p:grpSpPr>
            <a:xfrm>
              <a:off x="4442037" y="2348880"/>
              <a:ext cx="403942" cy="960026"/>
              <a:chOff x="4355976" y="764704"/>
              <a:chExt cx="403942" cy="960026"/>
            </a:xfrm>
          </p:grpSpPr>
          <p:cxnSp>
            <p:nvCxnSpPr>
              <p:cNvPr id="5" name="Прямая соединительная линия 4"/>
              <p:cNvCxnSpPr/>
              <p:nvPr/>
            </p:nvCxnSpPr>
            <p:spPr>
              <a:xfrm>
                <a:off x="4499992" y="764704"/>
                <a:ext cx="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p:nvPr/>
            </p:nvCxnSpPr>
            <p:spPr>
              <a:xfrm>
                <a:off x="4499992" y="76470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4499992" y="14127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4355976" y="764704"/>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p:nvPr/>
            </p:nvCxnSpPr>
            <p:spPr>
              <a:xfrm flipH="1">
                <a:off x="4499992" y="1088740"/>
                <a:ext cx="14401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4653970" y="1106742"/>
                <a:ext cx="0" cy="6120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4543894" y="1724730"/>
                <a:ext cx="21602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 name="Прямая соединительная линия 24"/>
            <p:cNvCxnSpPr/>
            <p:nvPr/>
          </p:nvCxnSpPr>
          <p:spPr>
            <a:xfrm>
              <a:off x="5354126" y="908720"/>
              <a:ext cx="0" cy="3384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Соединительная линия уступом 28"/>
            <p:cNvCxnSpPr/>
            <p:nvPr/>
          </p:nvCxnSpPr>
          <p:spPr>
            <a:xfrm rot="16200000" flipV="1">
              <a:off x="3750935" y="2327781"/>
              <a:ext cx="1008112" cy="374093"/>
            </a:xfrm>
            <a:prstGeom prst="bentConnector3">
              <a:avLst>
                <a:gd name="adj1" fmla="val 176"/>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Овал 30"/>
            <p:cNvSpPr/>
            <p:nvPr/>
          </p:nvSpPr>
          <p:spPr>
            <a:xfrm>
              <a:off x="5292080" y="2276872"/>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Овал 31"/>
            <p:cNvSpPr/>
            <p:nvPr/>
          </p:nvSpPr>
          <p:spPr>
            <a:xfrm>
              <a:off x="3995936" y="194259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34" name="Группа 33"/>
          <p:cNvGrpSpPr/>
          <p:nvPr/>
        </p:nvGrpSpPr>
        <p:grpSpPr>
          <a:xfrm>
            <a:off x="5868144" y="921737"/>
            <a:ext cx="1358190" cy="4811519"/>
            <a:chOff x="3995936" y="908720"/>
            <a:chExt cx="1358190" cy="4811519"/>
          </a:xfrm>
        </p:grpSpPr>
        <p:grpSp>
          <p:nvGrpSpPr>
            <p:cNvPr id="35" name="Группа 34"/>
            <p:cNvGrpSpPr/>
            <p:nvPr/>
          </p:nvGrpSpPr>
          <p:grpSpPr>
            <a:xfrm>
              <a:off x="4442037" y="2348880"/>
              <a:ext cx="403942" cy="960026"/>
              <a:chOff x="4355976" y="764704"/>
              <a:chExt cx="403942" cy="960026"/>
            </a:xfrm>
          </p:grpSpPr>
          <p:cxnSp>
            <p:nvCxnSpPr>
              <p:cNvPr id="40" name="Прямая соединительная линия 39"/>
              <p:cNvCxnSpPr/>
              <p:nvPr/>
            </p:nvCxnSpPr>
            <p:spPr>
              <a:xfrm>
                <a:off x="4499992" y="764704"/>
                <a:ext cx="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p:nvPr/>
            </p:nvCxnSpPr>
            <p:spPr>
              <a:xfrm>
                <a:off x="4499992" y="76470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a:off x="4499992" y="14127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4355976" y="764704"/>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flipH="1">
                <a:off x="4499992" y="1088740"/>
                <a:ext cx="14401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a:off x="4653970" y="1106742"/>
                <a:ext cx="0" cy="6120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4543894" y="1724730"/>
                <a:ext cx="21602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Прямая соединительная линия 35"/>
            <p:cNvCxnSpPr/>
            <p:nvPr/>
          </p:nvCxnSpPr>
          <p:spPr>
            <a:xfrm>
              <a:off x="5354126" y="908720"/>
              <a:ext cx="0" cy="48115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Соединительная линия уступом 36"/>
            <p:cNvCxnSpPr/>
            <p:nvPr/>
          </p:nvCxnSpPr>
          <p:spPr>
            <a:xfrm rot="16200000" flipV="1">
              <a:off x="3750935" y="2327781"/>
              <a:ext cx="1008112" cy="374093"/>
            </a:xfrm>
            <a:prstGeom prst="bentConnector3">
              <a:avLst>
                <a:gd name="adj1" fmla="val 176"/>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Овал 38"/>
            <p:cNvSpPr/>
            <p:nvPr/>
          </p:nvSpPr>
          <p:spPr>
            <a:xfrm>
              <a:off x="3995936" y="194259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48" name="Прямая соединительная линия 47"/>
          <p:cNvCxnSpPr/>
          <p:nvPr/>
        </p:nvCxnSpPr>
        <p:spPr>
          <a:xfrm>
            <a:off x="4730069" y="3994936"/>
            <a:ext cx="62405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 name="Группа 48"/>
          <p:cNvGrpSpPr/>
          <p:nvPr/>
        </p:nvGrpSpPr>
        <p:grpSpPr>
          <a:xfrm>
            <a:off x="3995936" y="2549851"/>
            <a:ext cx="1440160" cy="3384376"/>
            <a:chOff x="3995936" y="908720"/>
            <a:chExt cx="1440160" cy="3384376"/>
          </a:xfrm>
        </p:grpSpPr>
        <p:grpSp>
          <p:nvGrpSpPr>
            <p:cNvPr id="50" name="Группа 49"/>
            <p:cNvGrpSpPr/>
            <p:nvPr/>
          </p:nvGrpSpPr>
          <p:grpSpPr>
            <a:xfrm>
              <a:off x="4442037" y="2348880"/>
              <a:ext cx="403942" cy="960026"/>
              <a:chOff x="4355976" y="764704"/>
              <a:chExt cx="403942" cy="960026"/>
            </a:xfrm>
          </p:grpSpPr>
          <p:cxnSp>
            <p:nvCxnSpPr>
              <p:cNvPr id="55" name="Прямая соединительная линия 54"/>
              <p:cNvCxnSpPr/>
              <p:nvPr/>
            </p:nvCxnSpPr>
            <p:spPr>
              <a:xfrm>
                <a:off x="4499992" y="764704"/>
                <a:ext cx="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p:cNvCxnSpPr/>
              <p:nvPr/>
            </p:nvCxnSpPr>
            <p:spPr>
              <a:xfrm>
                <a:off x="4499992" y="76470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p:cNvCxnSpPr/>
              <p:nvPr/>
            </p:nvCxnSpPr>
            <p:spPr>
              <a:xfrm>
                <a:off x="4499992" y="14127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Прямая соединительная линия 57"/>
              <p:cNvCxnSpPr/>
              <p:nvPr/>
            </p:nvCxnSpPr>
            <p:spPr>
              <a:xfrm>
                <a:off x="4355976" y="764704"/>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Прямая со стрелкой 58"/>
              <p:cNvCxnSpPr/>
              <p:nvPr/>
            </p:nvCxnSpPr>
            <p:spPr>
              <a:xfrm flipH="1">
                <a:off x="4499992" y="1088740"/>
                <a:ext cx="14401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Прямая соединительная линия 59"/>
              <p:cNvCxnSpPr/>
              <p:nvPr/>
            </p:nvCxnSpPr>
            <p:spPr>
              <a:xfrm>
                <a:off x="4653970" y="1106742"/>
                <a:ext cx="0" cy="6120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p:cNvCxnSpPr/>
              <p:nvPr/>
            </p:nvCxnSpPr>
            <p:spPr>
              <a:xfrm>
                <a:off x="4543894" y="1724730"/>
                <a:ext cx="21602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 name="Прямая соединительная линия 50"/>
            <p:cNvCxnSpPr/>
            <p:nvPr/>
          </p:nvCxnSpPr>
          <p:spPr>
            <a:xfrm>
              <a:off x="5354126" y="908720"/>
              <a:ext cx="0" cy="3384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Соединительная линия уступом 51"/>
            <p:cNvCxnSpPr/>
            <p:nvPr/>
          </p:nvCxnSpPr>
          <p:spPr>
            <a:xfrm rot="16200000" flipV="1">
              <a:off x="3750935" y="2327781"/>
              <a:ext cx="1008112" cy="374093"/>
            </a:xfrm>
            <a:prstGeom prst="bentConnector3">
              <a:avLst>
                <a:gd name="adj1" fmla="val 176"/>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Овал 52"/>
            <p:cNvSpPr/>
            <p:nvPr/>
          </p:nvSpPr>
          <p:spPr>
            <a:xfrm>
              <a:off x="5292080" y="2276872"/>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Овал 53"/>
            <p:cNvSpPr/>
            <p:nvPr/>
          </p:nvSpPr>
          <p:spPr>
            <a:xfrm>
              <a:off x="3995936" y="194259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62" name="Прямая соединительная линия 61"/>
          <p:cNvCxnSpPr/>
          <p:nvPr/>
        </p:nvCxnSpPr>
        <p:spPr>
          <a:xfrm>
            <a:off x="2665833" y="3655729"/>
            <a:ext cx="47525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 name="Группа 63"/>
          <p:cNvGrpSpPr/>
          <p:nvPr/>
        </p:nvGrpSpPr>
        <p:grpSpPr>
          <a:xfrm>
            <a:off x="6003574" y="3601993"/>
            <a:ext cx="850043" cy="1366316"/>
            <a:chOff x="3995936" y="1942590"/>
            <a:chExt cx="850043" cy="1366316"/>
          </a:xfrm>
        </p:grpSpPr>
        <p:grpSp>
          <p:nvGrpSpPr>
            <p:cNvPr id="65" name="Группа 64"/>
            <p:cNvGrpSpPr/>
            <p:nvPr/>
          </p:nvGrpSpPr>
          <p:grpSpPr>
            <a:xfrm>
              <a:off x="4442037" y="2348880"/>
              <a:ext cx="403942" cy="960026"/>
              <a:chOff x="4355976" y="764704"/>
              <a:chExt cx="403942" cy="960026"/>
            </a:xfrm>
          </p:grpSpPr>
          <p:cxnSp>
            <p:nvCxnSpPr>
              <p:cNvPr id="69" name="Прямая соединительная линия 68"/>
              <p:cNvCxnSpPr/>
              <p:nvPr/>
            </p:nvCxnSpPr>
            <p:spPr>
              <a:xfrm>
                <a:off x="4499992" y="764704"/>
                <a:ext cx="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p:cNvCxnSpPr/>
              <p:nvPr/>
            </p:nvCxnSpPr>
            <p:spPr>
              <a:xfrm>
                <a:off x="4499992" y="76470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p:cNvCxnSpPr/>
              <p:nvPr/>
            </p:nvCxnSpPr>
            <p:spPr>
              <a:xfrm>
                <a:off x="4499992" y="14127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Прямая соединительная линия 71"/>
              <p:cNvCxnSpPr/>
              <p:nvPr/>
            </p:nvCxnSpPr>
            <p:spPr>
              <a:xfrm>
                <a:off x="4355976" y="764704"/>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p:nvPr/>
            </p:nvCxnSpPr>
            <p:spPr>
              <a:xfrm flipH="1">
                <a:off x="4499992" y="1088740"/>
                <a:ext cx="14401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Прямая соединительная линия 73"/>
              <p:cNvCxnSpPr/>
              <p:nvPr/>
            </p:nvCxnSpPr>
            <p:spPr>
              <a:xfrm>
                <a:off x="4653970" y="1106742"/>
                <a:ext cx="0" cy="6120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Прямая соединительная линия 74"/>
              <p:cNvCxnSpPr/>
              <p:nvPr/>
            </p:nvCxnSpPr>
            <p:spPr>
              <a:xfrm>
                <a:off x="4543894" y="1724730"/>
                <a:ext cx="21602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Соединительная линия уступом 66"/>
            <p:cNvCxnSpPr/>
            <p:nvPr/>
          </p:nvCxnSpPr>
          <p:spPr>
            <a:xfrm rot="16200000" flipV="1">
              <a:off x="3750935" y="2327781"/>
              <a:ext cx="1008112" cy="374093"/>
            </a:xfrm>
            <a:prstGeom prst="bentConnector3">
              <a:avLst>
                <a:gd name="adj1" fmla="val 176"/>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Овал 67"/>
            <p:cNvSpPr/>
            <p:nvPr/>
          </p:nvSpPr>
          <p:spPr>
            <a:xfrm>
              <a:off x="3995936" y="194259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78" name="Прямая соединительная линия 77"/>
          <p:cNvCxnSpPr/>
          <p:nvPr/>
        </p:nvCxnSpPr>
        <p:spPr>
          <a:xfrm>
            <a:off x="4442038" y="908720"/>
            <a:ext cx="32263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Овал 78"/>
          <p:cNvSpPr/>
          <p:nvPr/>
        </p:nvSpPr>
        <p:spPr>
          <a:xfrm>
            <a:off x="5292080" y="836712"/>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0" name="Овал 79"/>
          <p:cNvSpPr/>
          <p:nvPr/>
        </p:nvSpPr>
        <p:spPr>
          <a:xfrm>
            <a:off x="7164288" y="836712"/>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p:cNvSpPr txBox="1"/>
          <p:nvPr/>
        </p:nvSpPr>
        <p:spPr>
          <a:xfrm>
            <a:off x="7386839" y="153658"/>
            <a:ext cx="1356462" cy="646331"/>
          </a:xfrm>
          <a:prstGeom prst="rect">
            <a:avLst/>
          </a:prstGeom>
          <a:noFill/>
        </p:spPr>
        <p:txBody>
          <a:bodyPr wrap="none" rtlCol="0">
            <a:spAutoFit/>
          </a:bodyPr>
          <a:lstStyle/>
          <a:p>
            <a:r>
              <a:rPr lang="en-US" dirty="0" smtClean="0"/>
              <a:t>VDD</a:t>
            </a:r>
            <a:endParaRPr lang="ru-RU" dirty="0" smtClean="0"/>
          </a:p>
          <a:p>
            <a:r>
              <a:rPr lang="ru-RU" dirty="0" smtClean="0"/>
              <a:t>Питание (Н)</a:t>
            </a:r>
            <a:endParaRPr lang="ru-RU" dirty="0"/>
          </a:p>
        </p:txBody>
      </p:sp>
      <p:sp>
        <p:nvSpPr>
          <p:cNvPr id="82" name="Левая фигурная скобка 81"/>
          <p:cNvSpPr/>
          <p:nvPr/>
        </p:nvSpPr>
        <p:spPr>
          <a:xfrm>
            <a:off x="2195736" y="1772816"/>
            <a:ext cx="360040" cy="2145187"/>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3" name="TextBox 82"/>
          <p:cNvSpPr txBox="1"/>
          <p:nvPr/>
        </p:nvSpPr>
        <p:spPr>
          <a:xfrm>
            <a:off x="1115616" y="2549851"/>
            <a:ext cx="780983" cy="369332"/>
          </a:xfrm>
          <a:prstGeom prst="rect">
            <a:avLst/>
          </a:prstGeom>
          <a:noFill/>
        </p:spPr>
        <p:txBody>
          <a:bodyPr wrap="none" rtlCol="0">
            <a:spAutoFit/>
          </a:bodyPr>
          <a:lstStyle/>
          <a:p>
            <a:r>
              <a:rPr lang="ru-RU" dirty="0" smtClean="0"/>
              <a:t>Адрес</a:t>
            </a:r>
            <a:endParaRPr lang="ru-RU" dirty="0"/>
          </a:p>
        </p:txBody>
      </p:sp>
      <p:sp>
        <p:nvSpPr>
          <p:cNvPr id="84" name="Левая фигурная скобка 83"/>
          <p:cNvSpPr/>
          <p:nvPr/>
        </p:nvSpPr>
        <p:spPr>
          <a:xfrm rot="16200000">
            <a:off x="6134225" y="5041653"/>
            <a:ext cx="360040" cy="2145187"/>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6" name="TextBox 85"/>
          <p:cNvSpPr txBox="1"/>
          <p:nvPr/>
        </p:nvSpPr>
        <p:spPr>
          <a:xfrm>
            <a:off x="5833986" y="6363056"/>
            <a:ext cx="960519" cy="369332"/>
          </a:xfrm>
          <a:prstGeom prst="rect">
            <a:avLst/>
          </a:prstGeom>
          <a:noFill/>
        </p:spPr>
        <p:txBody>
          <a:bodyPr wrap="none" rtlCol="0">
            <a:spAutoFit/>
          </a:bodyPr>
          <a:lstStyle/>
          <a:p>
            <a:r>
              <a:rPr lang="ru-RU" dirty="0" smtClean="0"/>
              <a:t>Данные</a:t>
            </a:r>
            <a:endParaRPr lang="ru-RU" dirty="0"/>
          </a:p>
        </p:txBody>
      </p:sp>
      <p:sp>
        <p:nvSpPr>
          <p:cNvPr id="87" name="TextBox 86"/>
          <p:cNvSpPr txBox="1"/>
          <p:nvPr/>
        </p:nvSpPr>
        <p:spPr>
          <a:xfrm>
            <a:off x="2965397" y="148614"/>
            <a:ext cx="3329116" cy="369332"/>
          </a:xfrm>
          <a:prstGeom prst="rect">
            <a:avLst/>
          </a:prstGeom>
          <a:noFill/>
        </p:spPr>
        <p:txBody>
          <a:bodyPr wrap="none" rtlCol="0">
            <a:spAutoFit/>
          </a:bodyPr>
          <a:lstStyle/>
          <a:p>
            <a:r>
              <a:rPr lang="ru-RU" dirty="0" smtClean="0"/>
              <a:t>Пример реализации ячеек </a:t>
            </a:r>
            <a:r>
              <a:rPr lang="en-US" dirty="0" smtClean="0"/>
              <a:t>ROM</a:t>
            </a:r>
            <a:endParaRPr lang="ru-RU" dirty="0"/>
          </a:p>
        </p:txBody>
      </p:sp>
      <p:sp>
        <p:nvSpPr>
          <p:cNvPr id="88" name="TextBox 87"/>
          <p:cNvSpPr txBox="1"/>
          <p:nvPr/>
        </p:nvSpPr>
        <p:spPr>
          <a:xfrm>
            <a:off x="2771800" y="1628800"/>
            <a:ext cx="793807" cy="369332"/>
          </a:xfrm>
          <a:prstGeom prst="rect">
            <a:avLst/>
          </a:prstGeom>
          <a:noFill/>
        </p:spPr>
        <p:txBody>
          <a:bodyPr wrap="none" rtlCol="0">
            <a:spAutoFit/>
          </a:bodyPr>
          <a:lstStyle/>
          <a:p>
            <a:r>
              <a:rPr lang="ru-RU" dirty="0" smtClean="0"/>
              <a:t>«1», </a:t>
            </a:r>
            <a:r>
              <a:rPr lang="en-US" dirty="0" smtClean="0"/>
              <a:t>H</a:t>
            </a:r>
            <a:endParaRPr lang="ru-RU" dirty="0"/>
          </a:p>
        </p:txBody>
      </p:sp>
      <p:sp>
        <p:nvSpPr>
          <p:cNvPr id="89" name="TextBox 88"/>
          <p:cNvSpPr txBox="1"/>
          <p:nvPr/>
        </p:nvSpPr>
        <p:spPr>
          <a:xfrm>
            <a:off x="2728386" y="3227028"/>
            <a:ext cx="747320" cy="369332"/>
          </a:xfrm>
          <a:prstGeom prst="rect">
            <a:avLst/>
          </a:prstGeom>
          <a:noFill/>
        </p:spPr>
        <p:txBody>
          <a:bodyPr wrap="none" rtlCol="0">
            <a:spAutoFit/>
          </a:bodyPr>
          <a:lstStyle/>
          <a:p>
            <a:r>
              <a:rPr lang="ru-RU" dirty="0" smtClean="0"/>
              <a:t>«</a:t>
            </a:r>
            <a:r>
              <a:rPr lang="en-US" dirty="0" smtClean="0"/>
              <a:t>0</a:t>
            </a:r>
            <a:r>
              <a:rPr lang="ru-RU" dirty="0" smtClean="0"/>
              <a:t>», </a:t>
            </a:r>
            <a:r>
              <a:rPr lang="en-US" dirty="0"/>
              <a:t>L</a:t>
            </a:r>
            <a:endParaRPr lang="ru-RU" dirty="0"/>
          </a:p>
        </p:txBody>
      </p:sp>
      <p:sp>
        <p:nvSpPr>
          <p:cNvPr id="91" name="TextBox 90"/>
          <p:cNvSpPr txBox="1"/>
          <p:nvPr/>
        </p:nvSpPr>
        <p:spPr>
          <a:xfrm>
            <a:off x="5394375" y="2416242"/>
            <a:ext cx="282450" cy="369332"/>
          </a:xfrm>
          <a:prstGeom prst="rect">
            <a:avLst/>
          </a:prstGeom>
          <a:noFill/>
        </p:spPr>
        <p:txBody>
          <a:bodyPr wrap="none" rtlCol="0">
            <a:spAutoFit/>
          </a:bodyPr>
          <a:lstStyle/>
          <a:p>
            <a:r>
              <a:rPr lang="en-US" dirty="0"/>
              <a:t>L</a:t>
            </a:r>
            <a:endParaRPr lang="ru-RU" dirty="0"/>
          </a:p>
        </p:txBody>
      </p:sp>
      <p:sp>
        <p:nvSpPr>
          <p:cNvPr id="92" name="TextBox 91"/>
          <p:cNvSpPr txBox="1"/>
          <p:nvPr/>
        </p:nvSpPr>
        <p:spPr>
          <a:xfrm>
            <a:off x="3115804" y="2276872"/>
            <a:ext cx="899605" cy="369332"/>
          </a:xfrm>
          <a:prstGeom prst="rect">
            <a:avLst/>
          </a:prstGeom>
          <a:noFill/>
        </p:spPr>
        <p:txBody>
          <a:bodyPr wrap="none" rtlCol="0">
            <a:spAutoFit/>
          </a:bodyPr>
          <a:lstStyle/>
          <a:p>
            <a:r>
              <a:rPr lang="ru-RU" dirty="0" smtClean="0"/>
              <a:t>Открыт</a:t>
            </a:r>
            <a:endParaRPr lang="ru-RU" dirty="0"/>
          </a:p>
        </p:txBody>
      </p:sp>
      <p:sp>
        <p:nvSpPr>
          <p:cNvPr id="93" name="TextBox 92"/>
          <p:cNvSpPr txBox="1"/>
          <p:nvPr/>
        </p:nvSpPr>
        <p:spPr>
          <a:xfrm>
            <a:off x="6003574" y="1971594"/>
            <a:ext cx="901209" cy="369332"/>
          </a:xfrm>
          <a:prstGeom prst="rect">
            <a:avLst/>
          </a:prstGeom>
          <a:noFill/>
        </p:spPr>
        <p:txBody>
          <a:bodyPr wrap="none" rtlCol="0">
            <a:spAutoFit/>
          </a:bodyPr>
          <a:lstStyle/>
          <a:p>
            <a:r>
              <a:rPr lang="ru-RU" b="1" dirty="0" smtClean="0">
                <a:solidFill>
                  <a:srgbClr val="FF0000"/>
                </a:solidFill>
              </a:rPr>
              <a:t>Закрыт</a:t>
            </a:r>
            <a:endParaRPr lang="ru-RU" b="1" dirty="0">
              <a:solidFill>
                <a:srgbClr val="FF0000"/>
              </a:solidFill>
            </a:endParaRPr>
          </a:p>
        </p:txBody>
      </p:sp>
      <p:sp>
        <p:nvSpPr>
          <p:cNvPr id="94" name="TextBox 93"/>
          <p:cNvSpPr txBox="1"/>
          <p:nvPr/>
        </p:nvSpPr>
        <p:spPr>
          <a:xfrm>
            <a:off x="7386839" y="1901940"/>
            <a:ext cx="328936" cy="369332"/>
          </a:xfrm>
          <a:prstGeom prst="rect">
            <a:avLst/>
          </a:prstGeom>
          <a:noFill/>
        </p:spPr>
        <p:txBody>
          <a:bodyPr wrap="none" rtlCol="0">
            <a:spAutoFit/>
          </a:bodyPr>
          <a:lstStyle/>
          <a:p>
            <a:r>
              <a:rPr lang="en-US" dirty="0"/>
              <a:t>H</a:t>
            </a:r>
            <a:endParaRPr lang="ru-RU" dirty="0"/>
          </a:p>
        </p:txBody>
      </p:sp>
      <p:sp>
        <p:nvSpPr>
          <p:cNvPr id="95" name="TextBox 94"/>
          <p:cNvSpPr txBox="1"/>
          <p:nvPr/>
        </p:nvSpPr>
        <p:spPr>
          <a:xfrm>
            <a:off x="3166735" y="3687512"/>
            <a:ext cx="901209" cy="369332"/>
          </a:xfrm>
          <a:prstGeom prst="rect">
            <a:avLst/>
          </a:prstGeom>
          <a:noFill/>
        </p:spPr>
        <p:txBody>
          <a:bodyPr wrap="none" rtlCol="0">
            <a:spAutoFit/>
          </a:bodyPr>
          <a:lstStyle/>
          <a:p>
            <a:r>
              <a:rPr lang="ru-RU" b="1" dirty="0" smtClean="0">
                <a:solidFill>
                  <a:srgbClr val="FF0000"/>
                </a:solidFill>
              </a:rPr>
              <a:t>Закрыт</a:t>
            </a:r>
            <a:endParaRPr lang="ru-RU" b="1" dirty="0">
              <a:solidFill>
                <a:srgbClr val="FF0000"/>
              </a:solidFill>
            </a:endParaRPr>
          </a:p>
        </p:txBody>
      </p:sp>
      <p:sp>
        <p:nvSpPr>
          <p:cNvPr id="96" name="TextBox 95"/>
          <p:cNvSpPr txBox="1"/>
          <p:nvPr/>
        </p:nvSpPr>
        <p:spPr>
          <a:xfrm>
            <a:off x="6215094" y="3643841"/>
            <a:ext cx="901209" cy="369332"/>
          </a:xfrm>
          <a:prstGeom prst="rect">
            <a:avLst/>
          </a:prstGeom>
          <a:noFill/>
        </p:spPr>
        <p:txBody>
          <a:bodyPr wrap="none" rtlCol="0">
            <a:spAutoFit/>
          </a:bodyPr>
          <a:lstStyle/>
          <a:p>
            <a:r>
              <a:rPr lang="ru-RU" b="1" dirty="0" smtClean="0">
                <a:solidFill>
                  <a:srgbClr val="FF0000"/>
                </a:solidFill>
              </a:rPr>
              <a:t>Закрыт</a:t>
            </a:r>
            <a:endParaRPr lang="ru-RU" b="1" dirty="0">
              <a:solidFill>
                <a:srgbClr val="FF0000"/>
              </a:solidFill>
            </a:endParaRPr>
          </a:p>
        </p:txBody>
      </p:sp>
      <p:sp>
        <p:nvSpPr>
          <p:cNvPr id="97" name="TextBox 96"/>
          <p:cNvSpPr txBox="1"/>
          <p:nvPr/>
        </p:nvSpPr>
        <p:spPr>
          <a:xfrm>
            <a:off x="7039239" y="5733256"/>
            <a:ext cx="328936" cy="369332"/>
          </a:xfrm>
          <a:prstGeom prst="rect">
            <a:avLst/>
          </a:prstGeom>
          <a:noFill/>
        </p:spPr>
        <p:txBody>
          <a:bodyPr wrap="none" rtlCol="0">
            <a:spAutoFit/>
          </a:bodyPr>
          <a:lstStyle/>
          <a:p>
            <a:r>
              <a:rPr lang="en-US" dirty="0"/>
              <a:t>H</a:t>
            </a:r>
            <a:endParaRPr lang="ru-RU" dirty="0"/>
          </a:p>
        </p:txBody>
      </p:sp>
      <p:sp>
        <p:nvSpPr>
          <p:cNvPr id="98" name="TextBox 97"/>
          <p:cNvSpPr txBox="1"/>
          <p:nvPr/>
        </p:nvSpPr>
        <p:spPr>
          <a:xfrm>
            <a:off x="5380119" y="5733256"/>
            <a:ext cx="282450" cy="369332"/>
          </a:xfrm>
          <a:prstGeom prst="rect">
            <a:avLst/>
          </a:prstGeom>
          <a:noFill/>
        </p:spPr>
        <p:txBody>
          <a:bodyPr wrap="none" rtlCol="0">
            <a:spAutoFit/>
          </a:bodyPr>
          <a:lstStyle/>
          <a:p>
            <a:r>
              <a:rPr lang="en-US" dirty="0"/>
              <a:t>L</a:t>
            </a:r>
            <a:endParaRPr lang="ru-RU" dirty="0"/>
          </a:p>
        </p:txBody>
      </p:sp>
      <p:sp>
        <p:nvSpPr>
          <p:cNvPr id="99" name="TextBox 98"/>
          <p:cNvSpPr txBox="1"/>
          <p:nvPr/>
        </p:nvSpPr>
        <p:spPr>
          <a:xfrm>
            <a:off x="5436096" y="6316890"/>
            <a:ext cx="45719" cy="461665"/>
          </a:xfrm>
          <a:prstGeom prst="rect">
            <a:avLst/>
          </a:prstGeom>
          <a:noFill/>
        </p:spPr>
        <p:txBody>
          <a:bodyPr wrap="square" rtlCol="0">
            <a:spAutoFit/>
          </a:bodyPr>
          <a:lstStyle/>
          <a:p>
            <a:r>
              <a:rPr lang="en-US" sz="2400" dirty="0" smtClean="0">
                <a:solidFill>
                  <a:srgbClr val="002060"/>
                </a:solidFill>
              </a:rPr>
              <a:t>0</a:t>
            </a:r>
            <a:endParaRPr lang="ru-RU" sz="2400" dirty="0">
              <a:solidFill>
                <a:srgbClr val="002060"/>
              </a:solidFill>
            </a:endParaRPr>
          </a:p>
        </p:txBody>
      </p:sp>
      <p:sp>
        <p:nvSpPr>
          <p:cNvPr id="100" name="TextBox 99"/>
          <p:cNvSpPr txBox="1"/>
          <p:nvPr/>
        </p:nvSpPr>
        <p:spPr>
          <a:xfrm>
            <a:off x="7118569" y="6294267"/>
            <a:ext cx="45719" cy="461665"/>
          </a:xfrm>
          <a:prstGeom prst="rect">
            <a:avLst/>
          </a:prstGeom>
          <a:noFill/>
        </p:spPr>
        <p:txBody>
          <a:bodyPr wrap="square" rtlCol="0">
            <a:spAutoFit/>
          </a:bodyPr>
          <a:lstStyle/>
          <a:p>
            <a:r>
              <a:rPr lang="en-US" sz="2400" b="1" dirty="0">
                <a:solidFill>
                  <a:srgbClr val="002060"/>
                </a:solidFill>
              </a:rPr>
              <a:t>1</a:t>
            </a:r>
            <a:endParaRPr lang="ru-RU" sz="2400" b="1" dirty="0">
              <a:solidFill>
                <a:srgbClr val="002060"/>
              </a:solidFill>
            </a:endParaRPr>
          </a:p>
        </p:txBody>
      </p:sp>
      <p:sp>
        <p:nvSpPr>
          <p:cNvPr id="101" name="TextBox 100"/>
          <p:cNvSpPr txBox="1"/>
          <p:nvPr/>
        </p:nvSpPr>
        <p:spPr>
          <a:xfrm>
            <a:off x="3204810" y="4079300"/>
            <a:ext cx="847604" cy="369332"/>
          </a:xfrm>
          <a:prstGeom prst="rect">
            <a:avLst/>
          </a:prstGeom>
          <a:noFill/>
        </p:spPr>
        <p:txBody>
          <a:bodyPr wrap="none" rtlCol="0">
            <a:spAutoFit/>
          </a:bodyPr>
          <a:lstStyle/>
          <a:p>
            <a:r>
              <a:rPr lang="ru-RU" dirty="0" smtClean="0"/>
              <a:t>Затвор</a:t>
            </a:r>
            <a:endParaRPr lang="ru-RU" dirty="0"/>
          </a:p>
        </p:txBody>
      </p:sp>
      <p:sp>
        <p:nvSpPr>
          <p:cNvPr id="102" name="TextBox 101"/>
          <p:cNvSpPr txBox="1"/>
          <p:nvPr/>
        </p:nvSpPr>
        <p:spPr>
          <a:xfrm>
            <a:off x="4466305" y="4962389"/>
            <a:ext cx="746358" cy="369332"/>
          </a:xfrm>
          <a:prstGeom prst="rect">
            <a:avLst/>
          </a:prstGeom>
          <a:noFill/>
        </p:spPr>
        <p:txBody>
          <a:bodyPr wrap="none" rtlCol="0">
            <a:spAutoFit/>
          </a:bodyPr>
          <a:lstStyle/>
          <a:p>
            <a:r>
              <a:rPr lang="ru-RU" dirty="0" smtClean="0"/>
              <a:t>Исток</a:t>
            </a:r>
            <a:endParaRPr lang="ru-RU" dirty="0"/>
          </a:p>
        </p:txBody>
      </p:sp>
      <p:sp>
        <p:nvSpPr>
          <p:cNvPr id="103" name="TextBox 102"/>
          <p:cNvSpPr txBox="1"/>
          <p:nvPr/>
        </p:nvSpPr>
        <p:spPr>
          <a:xfrm>
            <a:off x="4524073" y="3638951"/>
            <a:ext cx="624530" cy="369332"/>
          </a:xfrm>
          <a:prstGeom prst="rect">
            <a:avLst/>
          </a:prstGeom>
          <a:noFill/>
        </p:spPr>
        <p:txBody>
          <a:bodyPr wrap="none" rtlCol="0">
            <a:spAutoFit/>
          </a:bodyPr>
          <a:lstStyle/>
          <a:p>
            <a:r>
              <a:rPr lang="ru-RU" dirty="0"/>
              <a:t>С</a:t>
            </a:r>
            <a:r>
              <a:rPr lang="ru-RU" dirty="0" smtClean="0"/>
              <a:t>ток</a:t>
            </a:r>
            <a:endParaRPr lang="ru-RU" dirty="0"/>
          </a:p>
        </p:txBody>
      </p:sp>
    </p:spTree>
    <p:extLst>
      <p:ext uri="{BB962C8B-B14F-4D97-AF65-F5344CB8AC3E}">
        <p14:creationId xmlns:p14="http://schemas.microsoft.com/office/powerpoint/2010/main" val="1091592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3543" y="1006021"/>
            <a:ext cx="8784976" cy="2031325"/>
          </a:xfrm>
          <a:prstGeom prst="rect">
            <a:avLst/>
          </a:prstGeom>
        </p:spPr>
        <p:txBody>
          <a:bodyPr wrap="square">
            <a:spAutoFit/>
          </a:bodyPr>
          <a:lstStyle/>
          <a:p>
            <a:r>
              <a:rPr lang="ru-RU" dirty="0" smtClean="0"/>
              <a:t>В </a:t>
            </a:r>
            <a:r>
              <a:rPr lang="ru-RU" dirty="0"/>
              <a:t>качестве ячеек памяти в данном типе памяти </a:t>
            </a:r>
            <a:r>
              <a:rPr lang="ru-RU" dirty="0" smtClean="0"/>
              <a:t>используются плавкие </a:t>
            </a:r>
            <a:r>
              <a:rPr lang="ru-RU" dirty="0"/>
              <a:t>перемычки. </a:t>
            </a:r>
            <a:r>
              <a:rPr lang="ru-RU" dirty="0" smtClean="0"/>
              <a:t>PROM есть возможность </a:t>
            </a:r>
            <a:r>
              <a:rPr lang="ru-RU" dirty="0"/>
              <a:t>кодировать («пережигать») перемычки при </a:t>
            </a:r>
            <a:r>
              <a:rPr lang="ru-RU" dirty="0" smtClean="0"/>
              <a:t>наличии специального </a:t>
            </a:r>
            <a:r>
              <a:rPr lang="ru-RU" dirty="0"/>
              <a:t>программатора, что дало возможность пользователям</a:t>
            </a:r>
          </a:p>
          <a:p>
            <a:r>
              <a:rPr lang="ru-RU" dirty="0"/>
              <a:t>записывать в ПЗУ любую информацию. В каждой отдельной </a:t>
            </a:r>
            <a:r>
              <a:rPr lang="ru-RU" dirty="0" smtClean="0"/>
              <a:t>ячейке PROM </a:t>
            </a:r>
            <a:r>
              <a:rPr lang="ru-RU" dirty="0"/>
              <a:t>плавкая перемычка либо разрушалась (запись логического </a:t>
            </a:r>
            <a:r>
              <a:rPr lang="ru-RU" dirty="0" smtClean="0"/>
              <a:t>0) путем </a:t>
            </a:r>
            <a:r>
              <a:rPr lang="ru-RU" dirty="0"/>
              <a:t>подачи достаточно высокого напряжения (значительно </a:t>
            </a:r>
            <a:r>
              <a:rPr lang="ru-RU" dirty="0" smtClean="0"/>
              <a:t>больше стандартного </a:t>
            </a:r>
            <a:r>
              <a:rPr lang="ru-RU" dirty="0"/>
              <a:t>напряжения питания), либо оставлялась без </a:t>
            </a:r>
            <a:r>
              <a:rPr lang="ru-RU" dirty="0" smtClean="0"/>
              <a:t>изменений (логическая </a:t>
            </a:r>
            <a:r>
              <a:rPr lang="ru-RU" dirty="0"/>
              <a:t>1).</a:t>
            </a:r>
          </a:p>
        </p:txBody>
      </p:sp>
      <p:sp>
        <p:nvSpPr>
          <p:cNvPr id="5" name="TextBox 4"/>
          <p:cNvSpPr txBox="1"/>
          <p:nvPr/>
        </p:nvSpPr>
        <p:spPr>
          <a:xfrm>
            <a:off x="2580952" y="272777"/>
            <a:ext cx="2937471" cy="369332"/>
          </a:xfrm>
          <a:prstGeom prst="rect">
            <a:avLst/>
          </a:prstGeom>
          <a:noFill/>
        </p:spPr>
        <p:txBody>
          <a:bodyPr wrap="none" rtlCol="0">
            <a:spAutoFit/>
          </a:bodyPr>
          <a:lstStyle/>
          <a:p>
            <a:r>
              <a:rPr lang="ru-RU" b="1" dirty="0"/>
              <a:t>PROM (</a:t>
            </a:r>
            <a:r>
              <a:rPr lang="ru-RU" b="1" dirty="0" err="1"/>
              <a:t>Programmable</a:t>
            </a:r>
            <a:r>
              <a:rPr lang="ru-RU" b="1" dirty="0"/>
              <a:t> ROM</a:t>
            </a:r>
            <a:r>
              <a:rPr lang="ru-RU" b="1" dirty="0" smtClean="0"/>
              <a:t>)</a:t>
            </a:r>
            <a:endParaRPr lang="en-US" b="1" dirty="0"/>
          </a:p>
        </p:txBody>
      </p:sp>
      <p:sp>
        <p:nvSpPr>
          <p:cNvPr id="6" name="Прямоугольник 5"/>
          <p:cNvSpPr/>
          <p:nvPr/>
        </p:nvSpPr>
        <p:spPr>
          <a:xfrm>
            <a:off x="2089818" y="633784"/>
            <a:ext cx="3924436" cy="369332"/>
          </a:xfrm>
          <a:prstGeom prst="rect">
            <a:avLst/>
          </a:prstGeom>
        </p:spPr>
        <p:txBody>
          <a:bodyPr wrap="square">
            <a:spAutoFit/>
          </a:bodyPr>
          <a:lstStyle/>
          <a:p>
            <a:r>
              <a:rPr lang="ru-RU" dirty="0"/>
              <a:t>Однократно </a:t>
            </a:r>
            <a:r>
              <a:rPr lang="ru-RU" dirty="0" smtClean="0"/>
              <a:t>программируемые ПЗУ</a:t>
            </a:r>
            <a:r>
              <a:rPr lang="ru-RU" dirty="0"/>
              <a:t>. </a:t>
            </a:r>
          </a:p>
        </p:txBody>
      </p:sp>
      <p:cxnSp>
        <p:nvCxnSpPr>
          <p:cNvPr id="7" name="Прямая соединительная линия 6"/>
          <p:cNvCxnSpPr/>
          <p:nvPr/>
        </p:nvCxnSpPr>
        <p:spPr>
          <a:xfrm>
            <a:off x="1749635" y="4171934"/>
            <a:ext cx="47525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Группа 7"/>
          <p:cNvGrpSpPr/>
          <p:nvPr/>
        </p:nvGrpSpPr>
        <p:grpSpPr>
          <a:xfrm>
            <a:off x="3189795" y="3069883"/>
            <a:ext cx="1440160" cy="3384376"/>
            <a:chOff x="3995936" y="908720"/>
            <a:chExt cx="1440160" cy="3384376"/>
          </a:xfrm>
        </p:grpSpPr>
        <p:grpSp>
          <p:nvGrpSpPr>
            <p:cNvPr id="9" name="Группа 8"/>
            <p:cNvGrpSpPr/>
            <p:nvPr/>
          </p:nvGrpSpPr>
          <p:grpSpPr>
            <a:xfrm>
              <a:off x="4442037" y="2348880"/>
              <a:ext cx="403942" cy="960026"/>
              <a:chOff x="4355976" y="764704"/>
              <a:chExt cx="403942" cy="960026"/>
            </a:xfrm>
          </p:grpSpPr>
          <p:cxnSp>
            <p:nvCxnSpPr>
              <p:cNvPr id="14" name="Прямая соединительная линия 13"/>
              <p:cNvCxnSpPr/>
              <p:nvPr/>
            </p:nvCxnSpPr>
            <p:spPr>
              <a:xfrm>
                <a:off x="4499992" y="764704"/>
                <a:ext cx="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a:off x="4499992" y="76470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4499992" y="14127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4355976" y="764704"/>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flipH="1">
                <a:off x="4499992" y="1088740"/>
                <a:ext cx="14401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4653970" y="1106742"/>
                <a:ext cx="0" cy="6120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4543894" y="1724730"/>
                <a:ext cx="21602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 name="Прямая соединительная линия 9"/>
            <p:cNvCxnSpPr/>
            <p:nvPr/>
          </p:nvCxnSpPr>
          <p:spPr>
            <a:xfrm>
              <a:off x="5354126" y="908720"/>
              <a:ext cx="0" cy="3384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Соединительная линия уступом 10"/>
            <p:cNvCxnSpPr/>
            <p:nvPr/>
          </p:nvCxnSpPr>
          <p:spPr>
            <a:xfrm rot="16200000" flipV="1">
              <a:off x="3750935" y="2327781"/>
              <a:ext cx="1008112" cy="374093"/>
            </a:xfrm>
            <a:prstGeom prst="bentConnector3">
              <a:avLst>
                <a:gd name="adj1" fmla="val 176"/>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Овал 11"/>
            <p:cNvSpPr/>
            <p:nvPr/>
          </p:nvSpPr>
          <p:spPr>
            <a:xfrm>
              <a:off x="5292080" y="2276872"/>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3995936" y="194259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1" name="Группа 20"/>
          <p:cNvGrpSpPr/>
          <p:nvPr/>
        </p:nvGrpSpPr>
        <p:grpSpPr>
          <a:xfrm>
            <a:off x="5062003" y="3082900"/>
            <a:ext cx="1358190" cy="3371359"/>
            <a:chOff x="3995936" y="908720"/>
            <a:chExt cx="1358190" cy="3371359"/>
          </a:xfrm>
        </p:grpSpPr>
        <p:grpSp>
          <p:nvGrpSpPr>
            <p:cNvPr id="22" name="Группа 21"/>
            <p:cNvGrpSpPr/>
            <p:nvPr/>
          </p:nvGrpSpPr>
          <p:grpSpPr>
            <a:xfrm>
              <a:off x="4442037" y="2348880"/>
              <a:ext cx="403942" cy="960026"/>
              <a:chOff x="4355976" y="764704"/>
              <a:chExt cx="403942" cy="960026"/>
            </a:xfrm>
          </p:grpSpPr>
          <p:cxnSp>
            <p:nvCxnSpPr>
              <p:cNvPr id="26" name="Прямая соединительная линия 25"/>
              <p:cNvCxnSpPr/>
              <p:nvPr/>
            </p:nvCxnSpPr>
            <p:spPr>
              <a:xfrm>
                <a:off x="4499992" y="764704"/>
                <a:ext cx="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4499992" y="76470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4499992" y="14127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4355976" y="764704"/>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p:nvPr/>
            </p:nvCxnSpPr>
            <p:spPr>
              <a:xfrm flipH="1">
                <a:off x="4499992" y="1088740"/>
                <a:ext cx="14401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4653970" y="1106742"/>
                <a:ext cx="0" cy="6120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4543894" y="1724730"/>
                <a:ext cx="21602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 name="Прямая соединительная линия 22"/>
            <p:cNvCxnSpPr/>
            <p:nvPr/>
          </p:nvCxnSpPr>
          <p:spPr>
            <a:xfrm>
              <a:off x="5354126" y="908720"/>
              <a:ext cx="0" cy="33713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Соединительная линия уступом 23"/>
            <p:cNvCxnSpPr/>
            <p:nvPr/>
          </p:nvCxnSpPr>
          <p:spPr>
            <a:xfrm rot="16200000" flipV="1">
              <a:off x="3750935" y="2327781"/>
              <a:ext cx="1008112" cy="374093"/>
            </a:xfrm>
            <a:prstGeom prst="bentConnector3">
              <a:avLst>
                <a:gd name="adj1" fmla="val 176"/>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Овал 24"/>
            <p:cNvSpPr/>
            <p:nvPr/>
          </p:nvSpPr>
          <p:spPr>
            <a:xfrm>
              <a:off x="3995936" y="194259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35" name="Прямая соединительная линия 34"/>
          <p:cNvCxnSpPr/>
          <p:nvPr/>
        </p:nvCxnSpPr>
        <p:spPr>
          <a:xfrm>
            <a:off x="3851920" y="4510043"/>
            <a:ext cx="7920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5652120" y="4523060"/>
            <a:ext cx="7920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Овал 36"/>
          <p:cNvSpPr/>
          <p:nvPr/>
        </p:nvSpPr>
        <p:spPr>
          <a:xfrm>
            <a:off x="6351708" y="4449991"/>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Прямоугольник 37"/>
          <p:cNvSpPr/>
          <p:nvPr/>
        </p:nvSpPr>
        <p:spPr>
          <a:xfrm>
            <a:off x="3829513" y="4437111"/>
            <a:ext cx="222523" cy="1568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Прямоугольник 38"/>
          <p:cNvSpPr/>
          <p:nvPr/>
        </p:nvSpPr>
        <p:spPr>
          <a:xfrm>
            <a:off x="5652120" y="4437112"/>
            <a:ext cx="259926" cy="1440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Равнобедренный треугольник 39"/>
          <p:cNvSpPr/>
          <p:nvPr/>
        </p:nvSpPr>
        <p:spPr>
          <a:xfrm rot="16200000">
            <a:off x="6012160" y="4407546"/>
            <a:ext cx="288032" cy="216024"/>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Равнобедренный треугольник 40"/>
          <p:cNvSpPr/>
          <p:nvPr/>
        </p:nvSpPr>
        <p:spPr>
          <a:xfrm rot="16200000">
            <a:off x="4175956" y="4401108"/>
            <a:ext cx="288032" cy="216024"/>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3" name="Прямая соединительная линия 42"/>
          <p:cNvCxnSpPr/>
          <p:nvPr/>
        </p:nvCxnSpPr>
        <p:spPr>
          <a:xfrm>
            <a:off x="6025039" y="4388362"/>
            <a:ext cx="0" cy="25189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a:off x="4186202" y="4377983"/>
            <a:ext cx="0" cy="25189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a:endCxn id="39" idx="0"/>
          </p:cNvCxnSpPr>
          <p:nvPr/>
        </p:nvCxnSpPr>
        <p:spPr>
          <a:xfrm flipH="1">
            <a:off x="5782083" y="3212976"/>
            <a:ext cx="1166181" cy="122413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909352" y="2920324"/>
            <a:ext cx="2148217" cy="369332"/>
          </a:xfrm>
          <a:prstGeom prst="rect">
            <a:avLst/>
          </a:prstGeom>
          <a:noFill/>
        </p:spPr>
        <p:txBody>
          <a:bodyPr wrap="none" rtlCol="0">
            <a:spAutoFit/>
          </a:bodyPr>
          <a:lstStyle/>
          <a:p>
            <a:r>
              <a:rPr lang="ru-RU" dirty="0" smtClean="0"/>
              <a:t>Плавкая перемычка</a:t>
            </a:r>
            <a:endParaRPr lang="ru-RU" dirty="0"/>
          </a:p>
        </p:txBody>
      </p:sp>
    </p:spTree>
    <p:extLst>
      <p:ext uri="{BB962C8B-B14F-4D97-AF65-F5344CB8AC3E}">
        <p14:creationId xmlns:p14="http://schemas.microsoft.com/office/powerpoint/2010/main" val="4265281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5008" y="1340768"/>
            <a:ext cx="8928992" cy="2308324"/>
          </a:xfrm>
          <a:prstGeom prst="rect">
            <a:avLst/>
          </a:prstGeom>
        </p:spPr>
        <p:txBody>
          <a:bodyPr wrap="square">
            <a:spAutoFit/>
          </a:bodyPr>
          <a:lstStyle/>
          <a:p>
            <a:r>
              <a:rPr lang="ru-RU" dirty="0" smtClean="0"/>
              <a:t>Этот тип памяти </a:t>
            </a:r>
            <a:r>
              <a:rPr lang="ru-RU" dirty="0"/>
              <a:t>программируется электрическим сигналом, но для того, чтобы</a:t>
            </a:r>
          </a:p>
          <a:p>
            <a:r>
              <a:rPr lang="ru-RU" dirty="0"/>
              <a:t>записать новую информацию, необходимо произвести </a:t>
            </a:r>
            <a:r>
              <a:rPr lang="ru-RU" dirty="0" smtClean="0"/>
              <a:t>стирание. Стирание </a:t>
            </a:r>
            <a:r>
              <a:rPr lang="ru-RU" dirty="0"/>
              <a:t>ячеек EPROM выполняется сразу для всей </a:t>
            </a:r>
            <a:r>
              <a:rPr lang="ru-RU" dirty="0" smtClean="0"/>
              <a:t>микросхемы посредством </a:t>
            </a:r>
            <a:r>
              <a:rPr lang="ru-RU" dirty="0"/>
              <a:t>облучения </a:t>
            </a:r>
            <a:r>
              <a:rPr lang="ru-RU" dirty="0" smtClean="0"/>
              <a:t>чипа ультрафиолетовыми лучами </a:t>
            </a:r>
            <a:r>
              <a:rPr lang="ru-RU" dirty="0"/>
              <a:t>в течение нескольких минут. Микросхемы, стирание </a:t>
            </a:r>
            <a:r>
              <a:rPr lang="ru-RU" dirty="0" smtClean="0"/>
              <a:t>которых производится </a:t>
            </a:r>
            <a:r>
              <a:rPr lang="ru-RU" dirty="0"/>
              <a:t>путем засвечивания ультрафиолетом, были </a:t>
            </a:r>
            <a:r>
              <a:rPr lang="ru-RU" dirty="0" smtClean="0"/>
              <a:t>разработаны </a:t>
            </a:r>
            <a:r>
              <a:rPr lang="ru-RU" dirty="0" err="1" smtClean="0"/>
              <a:t>Intel</a:t>
            </a:r>
            <a:r>
              <a:rPr lang="ru-RU" dirty="0" smtClean="0"/>
              <a:t> </a:t>
            </a:r>
            <a:r>
              <a:rPr lang="ru-RU" dirty="0"/>
              <a:t>в 1971 году, и носят название UV-EPROM (приставка </a:t>
            </a:r>
            <a:r>
              <a:rPr lang="ru-RU" dirty="0" smtClean="0"/>
              <a:t>UV (</a:t>
            </a:r>
            <a:r>
              <a:rPr lang="ru-RU" dirty="0" err="1" smtClean="0"/>
              <a:t>Ultraviolet</a:t>
            </a:r>
            <a:r>
              <a:rPr lang="ru-RU" dirty="0"/>
              <a:t>) – ультрафиолет). Они содержат окошки из </a:t>
            </a:r>
            <a:r>
              <a:rPr lang="ru-RU" dirty="0" smtClean="0"/>
              <a:t>кварцевого стекла</a:t>
            </a:r>
            <a:r>
              <a:rPr lang="ru-RU" dirty="0"/>
              <a:t>, которые по окончании процесса стирания заклеивают.</a:t>
            </a:r>
          </a:p>
        </p:txBody>
      </p:sp>
      <p:sp>
        <p:nvSpPr>
          <p:cNvPr id="5" name="Прямоугольник 4"/>
          <p:cNvSpPr/>
          <p:nvPr/>
        </p:nvSpPr>
        <p:spPr>
          <a:xfrm>
            <a:off x="3685226" y="188640"/>
            <a:ext cx="904350" cy="369332"/>
          </a:xfrm>
          <a:prstGeom prst="rect">
            <a:avLst/>
          </a:prstGeom>
        </p:spPr>
        <p:txBody>
          <a:bodyPr wrap="none">
            <a:spAutoFit/>
          </a:bodyPr>
          <a:lstStyle/>
          <a:p>
            <a:r>
              <a:rPr lang="en-US" b="1" i="1" dirty="0"/>
              <a:t>EPROM</a:t>
            </a:r>
          </a:p>
        </p:txBody>
      </p:sp>
      <p:sp>
        <p:nvSpPr>
          <p:cNvPr id="6" name="Прямоугольник 5"/>
          <p:cNvSpPr/>
          <p:nvPr/>
        </p:nvSpPr>
        <p:spPr>
          <a:xfrm>
            <a:off x="2799906" y="476672"/>
            <a:ext cx="2932791" cy="369332"/>
          </a:xfrm>
          <a:prstGeom prst="rect">
            <a:avLst/>
          </a:prstGeom>
        </p:spPr>
        <p:txBody>
          <a:bodyPr wrap="none">
            <a:spAutoFit/>
          </a:bodyPr>
          <a:lstStyle/>
          <a:p>
            <a:r>
              <a:rPr lang="ru-RU" dirty="0" err="1"/>
              <a:t>Erasable</a:t>
            </a:r>
            <a:r>
              <a:rPr lang="ru-RU" dirty="0"/>
              <a:t> </a:t>
            </a:r>
            <a:r>
              <a:rPr lang="ru-RU" dirty="0" err="1"/>
              <a:t>Programmable</a:t>
            </a:r>
            <a:r>
              <a:rPr lang="ru-RU" dirty="0"/>
              <a:t> ROM</a:t>
            </a:r>
          </a:p>
        </p:txBody>
      </p:sp>
      <p:sp>
        <p:nvSpPr>
          <p:cNvPr id="7" name="Прямоугольник 6"/>
          <p:cNvSpPr/>
          <p:nvPr/>
        </p:nvSpPr>
        <p:spPr>
          <a:xfrm>
            <a:off x="2632481" y="846004"/>
            <a:ext cx="5688632" cy="369332"/>
          </a:xfrm>
          <a:prstGeom prst="rect">
            <a:avLst/>
          </a:prstGeom>
        </p:spPr>
        <p:txBody>
          <a:bodyPr wrap="square">
            <a:spAutoFit/>
          </a:bodyPr>
          <a:lstStyle/>
          <a:p>
            <a:r>
              <a:rPr lang="ru-RU" dirty="0" err="1" smtClean="0"/>
              <a:t>Electrically</a:t>
            </a:r>
            <a:r>
              <a:rPr lang="ru-RU" dirty="0" smtClean="0"/>
              <a:t>  </a:t>
            </a:r>
            <a:r>
              <a:rPr lang="ru-RU" dirty="0" err="1" smtClean="0"/>
              <a:t>Programmable</a:t>
            </a:r>
            <a:r>
              <a:rPr lang="ru-RU" dirty="0" smtClean="0"/>
              <a:t> </a:t>
            </a:r>
            <a:r>
              <a:rPr lang="ru-RU" dirty="0"/>
              <a:t>ROM</a:t>
            </a:r>
          </a:p>
        </p:txBody>
      </p:sp>
      <p:sp>
        <p:nvSpPr>
          <p:cNvPr id="8" name="Прямоугольник 7"/>
          <p:cNvSpPr/>
          <p:nvPr/>
        </p:nvSpPr>
        <p:spPr>
          <a:xfrm>
            <a:off x="213871" y="3649092"/>
            <a:ext cx="8749480" cy="1200329"/>
          </a:xfrm>
          <a:prstGeom prst="rect">
            <a:avLst/>
          </a:prstGeom>
        </p:spPr>
        <p:txBody>
          <a:bodyPr wrap="square">
            <a:spAutoFit/>
          </a:bodyPr>
          <a:lstStyle/>
          <a:p>
            <a:r>
              <a:rPr lang="ru-RU" dirty="0"/>
              <a:t>Запись </a:t>
            </a:r>
            <a:r>
              <a:rPr lang="ru-RU" dirty="0" smtClean="0"/>
              <a:t>на EPROM</a:t>
            </a:r>
            <a:r>
              <a:rPr lang="ru-RU" dirty="0"/>
              <a:t>, как и в PROM, осуществляется при помощи </a:t>
            </a:r>
            <a:r>
              <a:rPr lang="ru-RU" dirty="0" smtClean="0"/>
              <a:t>специальных программаторов </a:t>
            </a:r>
            <a:r>
              <a:rPr lang="ru-RU" dirty="0"/>
              <a:t>(они, однако, отличаются от программаторов </a:t>
            </a:r>
            <a:r>
              <a:rPr lang="ru-RU" dirty="0" smtClean="0"/>
              <a:t>для PROM</a:t>
            </a:r>
            <a:r>
              <a:rPr lang="ru-RU" dirty="0"/>
              <a:t>). </a:t>
            </a:r>
          </a:p>
          <a:p>
            <a:r>
              <a:rPr lang="ru-RU" dirty="0"/>
              <a:t>Н</a:t>
            </a:r>
            <a:r>
              <a:rPr lang="ru-RU" dirty="0" smtClean="0"/>
              <a:t>едостатки </a:t>
            </a:r>
            <a:r>
              <a:rPr lang="ru-RU" dirty="0"/>
              <a:t>– небольшое количество циклов </a:t>
            </a:r>
            <a:r>
              <a:rPr lang="ru-RU" dirty="0" smtClean="0"/>
              <a:t>перезаписи, невозможность </a:t>
            </a:r>
            <a:r>
              <a:rPr lang="ru-RU" dirty="0"/>
              <a:t>стирания части хранимых данных. </a:t>
            </a:r>
          </a:p>
        </p:txBody>
      </p:sp>
    </p:spTree>
    <p:extLst>
      <p:ext uri="{BB962C8B-B14F-4D97-AF65-F5344CB8AC3E}">
        <p14:creationId xmlns:p14="http://schemas.microsoft.com/office/powerpoint/2010/main" val="35566776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ChangeArrowheads="1"/>
          </p:cNvSpPr>
          <p:nvPr/>
        </p:nvSpPr>
        <p:spPr bwMode="auto">
          <a:xfrm>
            <a:off x="155842" y="106760"/>
            <a:ext cx="545976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ru-RU" altLang="ru-RU" sz="2000" b="1" dirty="0">
                <a:solidFill>
                  <a:srgbClr val="FF0000"/>
                </a:solidFill>
                <a:latin typeface="+mj-lt"/>
              </a:rPr>
              <a:t>Упрощенная структура </a:t>
            </a:r>
            <a:r>
              <a:rPr lang="ru-RU" altLang="ru-RU" sz="2000" b="1" dirty="0" smtClean="0">
                <a:solidFill>
                  <a:srgbClr val="FF0000"/>
                </a:solidFill>
                <a:latin typeface="+mj-lt"/>
              </a:rPr>
              <a:t>ячейки </a:t>
            </a:r>
            <a:r>
              <a:rPr lang="en-US" sz="1600" b="1" i="1" dirty="0" smtClean="0"/>
              <a:t>EPROM</a:t>
            </a:r>
            <a:r>
              <a:rPr lang="ru-RU" sz="1600" b="1" i="1" dirty="0" smtClean="0"/>
              <a:t>  </a:t>
            </a:r>
            <a:r>
              <a:rPr lang="ru-RU" altLang="ru-RU" sz="2000" b="1" dirty="0" smtClean="0">
                <a:solidFill>
                  <a:srgbClr val="FF0000"/>
                </a:solidFill>
                <a:latin typeface="+mj-lt"/>
              </a:rPr>
              <a:t>на основе МДП-транзистора с плавающим затвором</a:t>
            </a:r>
            <a:endParaRPr lang="ru-RU" altLang="ru-RU" sz="2000" b="1" dirty="0">
              <a:solidFill>
                <a:srgbClr val="FF0000"/>
              </a:solidFill>
              <a:latin typeface="+mj-lt"/>
            </a:endParaRPr>
          </a:p>
        </p:txBody>
      </p:sp>
      <p:sp>
        <p:nvSpPr>
          <p:cNvPr id="5" name="Line 7"/>
          <p:cNvSpPr>
            <a:spLocks noChangeShapeType="1"/>
          </p:cNvSpPr>
          <p:nvPr/>
        </p:nvSpPr>
        <p:spPr bwMode="auto">
          <a:xfrm>
            <a:off x="136792" y="3723551"/>
            <a:ext cx="327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6" name="Line 8"/>
          <p:cNvSpPr>
            <a:spLocks noChangeShapeType="1"/>
          </p:cNvSpPr>
          <p:nvPr/>
        </p:nvSpPr>
        <p:spPr bwMode="auto">
          <a:xfrm>
            <a:off x="155842" y="2675801"/>
            <a:ext cx="552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7" name="Line 9"/>
          <p:cNvSpPr>
            <a:spLocks noChangeShapeType="1"/>
          </p:cNvSpPr>
          <p:nvPr/>
        </p:nvSpPr>
        <p:spPr bwMode="auto">
          <a:xfrm flipH="1">
            <a:off x="3394342" y="2561501"/>
            <a:ext cx="19050" cy="1200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8" name="Line 10"/>
          <p:cNvSpPr>
            <a:spLocks noChangeShapeType="1"/>
          </p:cNvSpPr>
          <p:nvPr/>
        </p:nvSpPr>
        <p:spPr bwMode="auto">
          <a:xfrm>
            <a:off x="562242" y="2682151"/>
            <a:ext cx="0" cy="571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9" name="Line 11"/>
          <p:cNvSpPr>
            <a:spLocks noChangeShapeType="1"/>
          </p:cNvSpPr>
          <p:nvPr/>
        </p:nvSpPr>
        <p:spPr bwMode="auto">
          <a:xfrm flipH="1">
            <a:off x="2924442" y="2701201"/>
            <a:ext cx="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0" name="Line 12"/>
          <p:cNvSpPr>
            <a:spLocks noChangeShapeType="1"/>
          </p:cNvSpPr>
          <p:nvPr/>
        </p:nvSpPr>
        <p:spPr bwMode="auto">
          <a:xfrm>
            <a:off x="555892" y="3247302"/>
            <a:ext cx="6731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1" name="Line 13"/>
          <p:cNvSpPr>
            <a:spLocks noChangeShapeType="1"/>
          </p:cNvSpPr>
          <p:nvPr/>
        </p:nvSpPr>
        <p:spPr bwMode="auto">
          <a:xfrm>
            <a:off x="1228992" y="2644051"/>
            <a:ext cx="0" cy="5931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2" name="Line 14"/>
          <p:cNvSpPr>
            <a:spLocks noChangeShapeType="1"/>
          </p:cNvSpPr>
          <p:nvPr/>
        </p:nvSpPr>
        <p:spPr bwMode="auto">
          <a:xfrm flipV="1">
            <a:off x="1717942" y="1418501"/>
            <a:ext cx="0" cy="419100"/>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3" name="Line 16"/>
          <p:cNvSpPr>
            <a:spLocks noChangeShapeType="1"/>
          </p:cNvSpPr>
          <p:nvPr/>
        </p:nvSpPr>
        <p:spPr bwMode="auto">
          <a:xfrm flipH="1">
            <a:off x="2295792" y="2691527"/>
            <a:ext cx="6350" cy="5621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4" name="Line 17"/>
          <p:cNvSpPr>
            <a:spLocks noChangeShapeType="1"/>
          </p:cNvSpPr>
          <p:nvPr/>
        </p:nvSpPr>
        <p:spPr bwMode="auto">
          <a:xfrm>
            <a:off x="2289442" y="3247300"/>
            <a:ext cx="635000"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5" name="Rectangle 18"/>
          <p:cNvSpPr>
            <a:spLocks noChangeArrowheads="1"/>
          </p:cNvSpPr>
          <p:nvPr/>
        </p:nvSpPr>
        <p:spPr bwMode="auto">
          <a:xfrm>
            <a:off x="568592" y="2440851"/>
            <a:ext cx="438150" cy="2095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6" name="Rectangle 19"/>
          <p:cNvSpPr>
            <a:spLocks noChangeArrowheads="1"/>
          </p:cNvSpPr>
          <p:nvPr/>
        </p:nvSpPr>
        <p:spPr bwMode="auto">
          <a:xfrm>
            <a:off x="2397392" y="2440851"/>
            <a:ext cx="419100" cy="2095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7" name="Rectangle 20"/>
          <p:cNvSpPr>
            <a:spLocks noChangeArrowheads="1"/>
          </p:cNvSpPr>
          <p:nvPr/>
        </p:nvSpPr>
        <p:spPr bwMode="auto">
          <a:xfrm>
            <a:off x="2829192" y="2434501"/>
            <a:ext cx="571500" cy="247650"/>
          </a:xfrm>
          <a:prstGeom prst="rect">
            <a:avLst/>
          </a:prstGeom>
          <a:pattFill prst="ltUpDiag">
            <a:fgClr>
              <a:schemeClr val="accent1"/>
            </a:fgClr>
            <a:bgClr>
              <a:schemeClr val="bg1"/>
            </a:bgClr>
          </a:pattFill>
          <a:ln w="9525">
            <a:solidFill>
              <a:schemeClr val="tx1"/>
            </a:solidFill>
            <a:miter lim="800000"/>
            <a:headEnd/>
            <a:tailEnd/>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8" name="Rectangle 26"/>
          <p:cNvSpPr>
            <a:spLocks noChangeArrowheads="1"/>
          </p:cNvSpPr>
          <p:nvPr/>
        </p:nvSpPr>
        <p:spPr bwMode="auto">
          <a:xfrm>
            <a:off x="124092" y="2434501"/>
            <a:ext cx="571500" cy="247650"/>
          </a:xfrm>
          <a:prstGeom prst="rect">
            <a:avLst/>
          </a:prstGeom>
          <a:pattFill prst="ltUpDiag">
            <a:fgClr>
              <a:schemeClr val="accent1"/>
            </a:fgClr>
            <a:bgClr>
              <a:schemeClr val="bg1"/>
            </a:bgClr>
          </a:pattFill>
          <a:ln w="9525">
            <a:solidFill>
              <a:schemeClr val="tx1"/>
            </a:solidFill>
            <a:miter lim="800000"/>
            <a:headEnd/>
            <a:tailEnd/>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19" name="Rectangle 32"/>
          <p:cNvSpPr>
            <a:spLocks noChangeArrowheads="1"/>
          </p:cNvSpPr>
          <p:nvPr/>
        </p:nvSpPr>
        <p:spPr bwMode="auto">
          <a:xfrm>
            <a:off x="1000392" y="2034451"/>
            <a:ext cx="1428750" cy="647700"/>
          </a:xfrm>
          <a:prstGeom prst="rect">
            <a:avLst/>
          </a:prstGeom>
          <a:pattFill prst="ltUpDiag">
            <a:fgClr>
              <a:schemeClr val="accent1"/>
            </a:fgClr>
            <a:bgClr>
              <a:schemeClr val="bg1"/>
            </a:bgClr>
          </a:pattFill>
          <a:ln w="9525">
            <a:solidFill>
              <a:schemeClr val="tx1"/>
            </a:solidFill>
            <a:miter lim="800000"/>
            <a:headEnd/>
            <a:tailEnd/>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20" name="Rectangle 39"/>
          <p:cNvSpPr>
            <a:spLocks noChangeArrowheads="1"/>
          </p:cNvSpPr>
          <p:nvPr/>
        </p:nvSpPr>
        <p:spPr bwMode="auto">
          <a:xfrm>
            <a:off x="111392" y="3717201"/>
            <a:ext cx="3276600" cy="889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21" name="Line 40"/>
          <p:cNvSpPr>
            <a:spLocks noChangeShapeType="1"/>
          </p:cNvSpPr>
          <p:nvPr/>
        </p:nvSpPr>
        <p:spPr bwMode="auto">
          <a:xfrm>
            <a:off x="124092" y="2605951"/>
            <a:ext cx="0" cy="1181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22" name="Line 41"/>
          <p:cNvSpPr>
            <a:spLocks noChangeShapeType="1"/>
          </p:cNvSpPr>
          <p:nvPr/>
        </p:nvSpPr>
        <p:spPr bwMode="auto">
          <a:xfrm>
            <a:off x="849470" y="1412151"/>
            <a:ext cx="4872" cy="1009650"/>
          </a:xfrm>
          <a:prstGeom prst="line">
            <a:avLst/>
          </a:prstGeom>
          <a:noFill/>
          <a:ln w="381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23" name="Line 42"/>
          <p:cNvSpPr>
            <a:spLocks noChangeShapeType="1"/>
          </p:cNvSpPr>
          <p:nvPr/>
        </p:nvSpPr>
        <p:spPr bwMode="auto">
          <a:xfrm flipH="1" flipV="1">
            <a:off x="1654442" y="3793401"/>
            <a:ext cx="0" cy="400050"/>
          </a:xfrm>
          <a:prstGeom prst="line">
            <a:avLst/>
          </a:prstGeom>
          <a:noFill/>
          <a:ln w="381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24" name="Text Box 43"/>
          <p:cNvSpPr txBox="1">
            <a:spLocks noChangeArrowheads="1"/>
          </p:cNvSpPr>
          <p:nvPr/>
        </p:nvSpPr>
        <p:spPr bwMode="auto">
          <a:xfrm>
            <a:off x="2302142" y="1335951"/>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ru-RU" altLang="ru-RU" sz="2000" b="1"/>
              <a:t>С</a:t>
            </a:r>
            <a:endParaRPr lang="ru-RU" altLang="ru-RU"/>
          </a:p>
        </p:txBody>
      </p:sp>
      <p:sp>
        <p:nvSpPr>
          <p:cNvPr id="25" name="Text Box 44"/>
          <p:cNvSpPr txBox="1">
            <a:spLocks noChangeArrowheads="1"/>
          </p:cNvSpPr>
          <p:nvPr/>
        </p:nvSpPr>
        <p:spPr bwMode="auto">
          <a:xfrm>
            <a:off x="435242" y="1335951"/>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ru-RU" altLang="ru-RU" sz="2000" b="1"/>
              <a:t>И</a:t>
            </a:r>
            <a:endParaRPr lang="ru-RU" altLang="ru-RU"/>
          </a:p>
        </p:txBody>
      </p:sp>
      <p:sp>
        <p:nvSpPr>
          <p:cNvPr id="26" name="Text Box 45"/>
          <p:cNvSpPr txBox="1">
            <a:spLocks noChangeArrowheads="1"/>
          </p:cNvSpPr>
          <p:nvPr/>
        </p:nvSpPr>
        <p:spPr bwMode="auto">
          <a:xfrm>
            <a:off x="1330592" y="1335951"/>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ru-RU" altLang="ru-RU" sz="2000" b="1"/>
              <a:t>З</a:t>
            </a:r>
            <a:endParaRPr lang="ru-RU" altLang="ru-RU"/>
          </a:p>
        </p:txBody>
      </p:sp>
      <p:sp>
        <p:nvSpPr>
          <p:cNvPr id="27" name="Line 46"/>
          <p:cNvSpPr>
            <a:spLocks noChangeShapeType="1"/>
          </p:cNvSpPr>
          <p:nvPr/>
        </p:nvSpPr>
        <p:spPr bwMode="auto">
          <a:xfrm flipH="1">
            <a:off x="2187842" y="1812201"/>
            <a:ext cx="1276350" cy="514350"/>
          </a:xfrm>
          <a:prstGeom prst="line">
            <a:avLst/>
          </a:prstGeom>
          <a:noFill/>
          <a:ln w="3810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28" name="Line 47"/>
          <p:cNvSpPr>
            <a:spLocks noChangeShapeType="1"/>
          </p:cNvSpPr>
          <p:nvPr/>
        </p:nvSpPr>
        <p:spPr bwMode="auto">
          <a:xfrm flipH="1">
            <a:off x="3254642" y="2498001"/>
            <a:ext cx="552450" cy="57150"/>
          </a:xfrm>
          <a:prstGeom prst="line">
            <a:avLst/>
          </a:prstGeom>
          <a:noFill/>
          <a:ln w="3810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29" name="Text Box 48"/>
          <p:cNvSpPr txBox="1">
            <a:spLocks noChangeArrowheads="1"/>
          </p:cNvSpPr>
          <p:nvPr/>
        </p:nvSpPr>
        <p:spPr bwMode="auto">
          <a:xfrm>
            <a:off x="3807092" y="2231301"/>
            <a:ext cx="11049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ru-RU" sz="2000">
                <a:latin typeface="Times New Roman" pitchFamily="18" charset="0"/>
              </a:rPr>
              <a:t>SiO2</a:t>
            </a:r>
            <a:endParaRPr lang="ru-RU" altLang="ru-RU" sz="2000"/>
          </a:p>
        </p:txBody>
      </p:sp>
      <p:sp>
        <p:nvSpPr>
          <p:cNvPr id="30" name="Text Box 49"/>
          <p:cNvSpPr txBox="1">
            <a:spLocks noChangeArrowheads="1"/>
          </p:cNvSpPr>
          <p:nvPr/>
        </p:nvSpPr>
        <p:spPr bwMode="auto">
          <a:xfrm>
            <a:off x="1378217" y="3194162"/>
            <a:ext cx="74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ru-RU" sz="2400" dirty="0" smtClean="0"/>
              <a:t>p</a:t>
            </a:r>
            <a:endParaRPr lang="ru-RU" altLang="ru-RU" dirty="0"/>
          </a:p>
        </p:txBody>
      </p:sp>
      <p:sp>
        <p:nvSpPr>
          <p:cNvPr id="31" name="Text Box 50"/>
          <p:cNvSpPr txBox="1">
            <a:spLocks noChangeArrowheads="1"/>
          </p:cNvSpPr>
          <p:nvPr/>
        </p:nvSpPr>
        <p:spPr bwMode="auto">
          <a:xfrm>
            <a:off x="3763979" y="2871374"/>
            <a:ext cx="2286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ru-RU" sz="2000">
                <a:latin typeface="Times New Roman" panose="02020603050405020304" pitchFamily="18" charset="0"/>
                <a:cs typeface="Times New Roman" panose="02020603050405020304" pitchFamily="18" charset="0"/>
              </a:rPr>
              <a:t>p-</a:t>
            </a:r>
            <a:r>
              <a:rPr lang="ru-RU" altLang="ru-RU" sz="2000">
                <a:latin typeface="Times New Roman" panose="02020603050405020304" pitchFamily="18" charset="0"/>
                <a:cs typeface="Times New Roman" panose="02020603050405020304" pitchFamily="18" charset="0"/>
              </a:rPr>
              <a:t>типа </a:t>
            </a:r>
            <a:r>
              <a:rPr lang="en-US" altLang="ru-RU" sz="2000">
                <a:latin typeface="Times New Roman" pitchFamily="18" charset="0"/>
                <a:cs typeface="Times New Roman" panose="02020603050405020304" pitchFamily="18" charset="0"/>
              </a:rPr>
              <a:t>GaAs</a:t>
            </a:r>
            <a:endParaRPr lang="ru-RU" altLang="ru-RU" sz="2000">
              <a:latin typeface="Times New Roman" panose="02020603050405020304" pitchFamily="18" charset="0"/>
              <a:cs typeface="Times New Roman" panose="02020603050405020304" pitchFamily="18" charset="0"/>
            </a:endParaRPr>
          </a:p>
        </p:txBody>
      </p:sp>
      <p:sp>
        <p:nvSpPr>
          <p:cNvPr id="32" name="Line 51"/>
          <p:cNvSpPr>
            <a:spLocks noChangeShapeType="1"/>
          </p:cNvSpPr>
          <p:nvPr/>
        </p:nvSpPr>
        <p:spPr bwMode="auto">
          <a:xfrm flipH="1">
            <a:off x="3114942" y="3196501"/>
            <a:ext cx="673100" cy="146050"/>
          </a:xfrm>
          <a:prstGeom prst="line">
            <a:avLst/>
          </a:prstGeom>
          <a:noFill/>
          <a:ln w="3810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33" name="Text Box 59"/>
          <p:cNvSpPr txBox="1">
            <a:spLocks noChangeArrowheads="1"/>
          </p:cNvSpPr>
          <p:nvPr/>
        </p:nvSpPr>
        <p:spPr bwMode="auto">
          <a:xfrm>
            <a:off x="3788042" y="3755301"/>
            <a:ext cx="201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ru-RU" altLang="ru-RU" sz="2400" b="1"/>
              <a:t>П</a:t>
            </a:r>
            <a:r>
              <a:rPr lang="ru-RU" altLang="ru-RU" sz="2400"/>
              <a:t> -подложка </a:t>
            </a:r>
            <a:endParaRPr lang="ru-RU" altLang="ru-RU"/>
          </a:p>
        </p:txBody>
      </p:sp>
      <p:sp>
        <p:nvSpPr>
          <p:cNvPr id="34" name="Line 60"/>
          <p:cNvSpPr>
            <a:spLocks noChangeShapeType="1"/>
          </p:cNvSpPr>
          <p:nvPr/>
        </p:nvSpPr>
        <p:spPr bwMode="auto">
          <a:xfrm flipH="1" flipV="1">
            <a:off x="3006992" y="3812451"/>
            <a:ext cx="762000" cy="209550"/>
          </a:xfrm>
          <a:prstGeom prst="line">
            <a:avLst/>
          </a:prstGeom>
          <a:noFill/>
          <a:ln w="38100">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35" name="Rectangle 61"/>
          <p:cNvSpPr>
            <a:spLocks noChangeArrowheads="1"/>
          </p:cNvSpPr>
          <p:nvPr/>
        </p:nvSpPr>
        <p:spPr bwMode="auto">
          <a:xfrm>
            <a:off x="1273442" y="2269401"/>
            <a:ext cx="914400" cy="1905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36" name="Line 62"/>
          <p:cNvSpPr>
            <a:spLocks noChangeShapeType="1"/>
          </p:cNvSpPr>
          <p:nvPr/>
        </p:nvSpPr>
        <p:spPr bwMode="auto">
          <a:xfrm flipV="1">
            <a:off x="2657742" y="1462951"/>
            <a:ext cx="0" cy="971550"/>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37" name="Rectangle 64"/>
          <p:cNvSpPr>
            <a:spLocks noChangeArrowheads="1"/>
          </p:cNvSpPr>
          <p:nvPr/>
        </p:nvSpPr>
        <p:spPr bwMode="auto">
          <a:xfrm>
            <a:off x="1260742" y="1837601"/>
            <a:ext cx="914400" cy="1905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ru-RU" altLang="ru-RU"/>
          </a:p>
        </p:txBody>
      </p:sp>
      <p:sp>
        <p:nvSpPr>
          <p:cNvPr id="38" name="Rectangle 70"/>
          <p:cNvSpPr>
            <a:spLocks noChangeArrowheads="1"/>
          </p:cNvSpPr>
          <p:nvPr/>
        </p:nvSpPr>
        <p:spPr bwMode="auto">
          <a:xfrm>
            <a:off x="3459430" y="1440002"/>
            <a:ext cx="15101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ru-RU" altLang="ru-RU" sz="2000" dirty="0" smtClean="0">
                <a:latin typeface="Times New Roman" pitchFamily="18" charset="0"/>
              </a:rPr>
              <a:t>Плавающий</a:t>
            </a:r>
          </a:p>
          <a:p>
            <a:pPr eaLnBrk="1" hangingPunct="1"/>
            <a:r>
              <a:rPr lang="ru-RU" altLang="ru-RU" sz="2000" dirty="0" smtClean="0">
                <a:latin typeface="Times New Roman" pitchFamily="18" charset="0"/>
              </a:rPr>
              <a:t>затвор</a:t>
            </a:r>
            <a:endParaRPr lang="ru-RU" altLang="ru-RU" sz="2000" dirty="0">
              <a:latin typeface="Times New Roman" pitchFamily="18" charset="0"/>
            </a:endParaRPr>
          </a:p>
        </p:txBody>
      </p:sp>
      <p:sp>
        <p:nvSpPr>
          <p:cNvPr id="39" name="TextBox 38"/>
          <p:cNvSpPr txBox="1"/>
          <p:nvPr/>
        </p:nvSpPr>
        <p:spPr>
          <a:xfrm>
            <a:off x="580807" y="2668876"/>
            <a:ext cx="537327" cy="584775"/>
          </a:xfrm>
          <a:prstGeom prst="rect">
            <a:avLst/>
          </a:prstGeom>
          <a:noFill/>
        </p:spPr>
        <p:txBody>
          <a:bodyPr wrap="none" rtlCol="0">
            <a:spAutoFit/>
          </a:bodyPr>
          <a:lstStyle/>
          <a:p>
            <a:r>
              <a:rPr lang="en-US" sz="3200" b="1" dirty="0" smtClean="0"/>
              <a:t>n</a:t>
            </a:r>
            <a:r>
              <a:rPr lang="en-US" sz="3200" b="1" baseline="30000" dirty="0" smtClean="0"/>
              <a:t>+</a:t>
            </a:r>
            <a:endParaRPr lang="ru-RU" sz="3200" b="1" baseline="30000" dirty="0"/>
          </a:p>
        </p:txBody>
      </p:sp>
      <p:sp>
        <p:nvSpPr>
          <p:cNvPr id="40" name="TextBox 39"/>
          <p:cNvSpPr txBox="1"/>
          <p:nvPr/>
        </p:nvSpPr>
        <p:spPr>
          <a:xfrm>
            <a:off x="2325239" y="2652406"/>
            <a:ext cx="537327" cy="584775"/>
          </a:xfrm>
          <a:prstGeom prst="rect">
            <a:avLst/>
          </a:prstGeom>
          <a:noFill/>
        </p:spPr>
        <p:txBody>
          <a:bodyPr wrap="none" rtlCol="0">
            <a:spAutoFit/>
          </a:bodyPr>
          <a:lstStyle/>
          <a:p>
            <a:r>
              <a:rPr lang="en-US" sz="3200" b="1" dirty="0" smtClean="0"/>
              <a:t>n</a:t>
            </a:r>
            <a:r>
              <a:rPr lang="en-US" sz="3200" b="1" baseline="30000" dirty="0" smtClean="0"/>
              <a:t>+</a:t>
            </a:r>
            <a:endParaRPr lang="ru-RU" sz="3200" b="1" baseline="30000" dirty="0"/>
          </a:p>
        </p:txBody>
      </p:sp>
      <p:sp>
        <p:nvSpPr>
          <p:cNvPr id="41" name="Прямоугольник 40"/>
          <p:cNvSpPr/>
          <p:nvPr/>
        </p:nvSpPr>
        <p:spPr>
          <a:xfrm>
            <a:off x="5615608" y="-12581"/>
            <a:ext cx="3528392" cy="5078313"/>
          </a:xfrm>
          <a:prstGeom prst="rect">
            <a:avLst/>
          </a:prstGeom>
        </p:spPr>
        <p:txBody>
          <a:bodyPr wrap="square">
            <a:spAutoFit/>
          </a:bodyPr>
          <a:lstStyle/>
          <a:p>
            <a:r>
              <a:rPr lang="ru-RU" altLang="ru-RU" dirty="0"/>
              <a:t> При </a:t>
            </a:r>
            <a:r>
              <a:rPr lang="ru-RU" altLang="ru-RU" b="1" dirty="0"/>
              <a:t>записи информации </a:t>
            </a:r>
            <a:r>
              <a:rPr lang="ru-RU" altLang="ru-RU" dirty="0"/>
              <a:t>в ячейку памяти на затвор подается импульс напряжения. </a:t>
            </a:r>
            <a:br>
              <a:rPr lang="ru-RU" altLang="ru-RU" dirty="0"/>
            </a:br>
            <a:r>
              <a:rPr lang="ru-RU" altLang="ru-RU" dirty="0"/>
              <a:t>В результате происходит пробой тонкого слоя изоляции. Электроны получают дополнительную энергию и туннельным эффектом переходят в плавающий затвор. Затвор заряжается отрицательно. Пороговое напряжение увеличивается.</a:t>
            </a:r>
          </a:p>
          <a:p>
            <a:r>
              <a:rPr lang="ru-RU" altLang="ru-RU" dirty="0"/>
              <a:t>     При обращении к транзистору такой ячейки он </a:t>
            </a:r>
            <a:r>
              <a:rPr lang="ru-RU" altLang="ru-RU" dirty="0" smtClean="0"/>
              <a:t>будет восприниматься как выключенный </a:t>
            </a:r>
            <a:r>
              <a:rPr lang="ru-RU" altLang="ru-RU" dirty="0"/>
              <a:t>(ток стока равен нулю). Это соответствует записи одного бита – единицы.</a:t>
            </a:r>
            <a:endParaRPr lang="ru-RU" dirty="0"/>
          </a:p>
        </p:txBody>
      </p:sp>
      <p:sp>
        <p:nvSpPr>
          <p:cNvPr id="42" name="Прямоугольник 41"/>
          <p:cNvSpPr/>
          <p:nvPr/>
        </p:nvSpPr>
        <p:spPr>
          <a:xfrm>
            <a:off x="136792" y="5064717"/>
            <a:ext cx="8899704" cy="1477328"/>
          </a:xfrm>
          <a:prstGeom prst="rect">
            <a:avLst/>
          </a:prstGeom>
        </p:spPr>
        <p:txBody>
          <a:bodyPr wrap="square">
            <a:spAutoFit/>
          </a:bodyPr>
          <a:lstStyle/>
          <a:p>
            <a:r>
              <a:rPr lang="ru-RU" altLang="ru-RU" dirty="0"/>
              <a:t>При </a:t>
            </a:r>
            <a:r>
              <a:rPr lang="ru-RU" altLang="ru-RU" b="1" dirty="0"/>
              <a:t>стирании информации </a:t>
            </a:r>
            <a:r>
              <a:rPr lang="ru-RU" altLang="ru-RU" b="1" dirty="0" smtClean="0"/>
              <a:t> </a:t>
            </a:r>
            <a:r>
              <a:rPr lang="ru-RU" altLang="ru-RU" dirty="0" smtClean="0"/>
              <a:t>УФ-излучение ионизирует диэлектрический слой между плавающим затвором и стоком. Электроны </a:t>
            </a:r>
            <a:r>
              <a:rPr lang="ru-RU" altLang="ru-RU" dirty="0"/>
              <a:t>уходят с </a:t>
            </a:r>
            <a:r>
              <a:rPr lang="ru-RU" altLang="ru-RU" dirty="0" smtClean="0"/>
              <a:t> плавающего </a:t>
            </a:r>
            <a:r>
              <a:rPr lang="ru-RU" altLang="ru-RU" dirty="0"/>
              <a:t>затвора </a:t>
            </a:r>
            <a:r>
              <a:rPr lang="ru-RU" altLang="ru-RU" dirty="0" smtClean="0"/>
              <a:t>в </a:t>
            </a:r>
            <a:r>
              <a:rPr lang="ru-RU" altLang="ru-RU" dirty="0"/>
              <a:t>область </a:t>
            </a:r>
            <a:r>
              <a:rPr lang="ru-RU" altLang="ru-RU" dirty="0" smtClean="0"/>
              <a:t>истока. Транзистор </a:t>
            </a:r>
            <a:r>
              <a:rPr lang="ru-RU" altLang="ru-RU" dirty="0"/>
              <a:t>в этом случае воспринимается при считывании информации как включенный. Что соответствует записи логического нуля. </a:t>
            </a:r>
            <a:r>
              <a:rPr lang="ru-RU" altLang="ru-RU" dirty="0" smtClean="0"/>
              <a:t> Циклов </a:t>
            </a:r>
            <a:r>
              <a:rPr lang="ru-RU" altLang="ru-RU" dirty="0"/>
              <a:t>записи-считывания может быть сотни </a:t>
            </a:r>
            <a:r>
              <a:rPr lang="ru-RU" altLang="ru-RU" dirty="0" smtClean="0"/>
              <a:t>тысяч. Записанное </a:t>
            </a:r>
            <a:r>
              <a:rPr lang="ru-RU" altLang="ru-RU" dirty="0"/>
              <a:t>состояние ячейки может храниться десятки лет.</a:t>
            </a:r>
          </a:p>
        </p:txBody>
      </p:sp>
    </p:spTree>
    <p:extLst>
      <p:ext uri="{BB962C8B-B14F-4D97-AF65-F5344CB8AC3E}">
        <p14:creationId xmlns:p14="http://schemas.microsoft.com/office/powerpoint/2010/main" val="3717362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Группа 42"/>
          <p:cNvGrpSpPr/>
          <p:nvPr/>
        </p:nvGrpSpPr>
        <p:grpSpPr>
          <a:xfrm>
            <a:off x="3025986" y="1134439"/>
            <a:ext cx="2376264" cy="3371359"/>
            <a:chOff x="4125899" y="3082900"/>
            <a:chExt cx="2376264" cy="3371359"/>
          </a:xfrm>
        </p:grpSpPr>
        <p:cxnSp>
          <p:nvCxnSpPr>
            <p:cNvPr id="4" name="Прямая соединительная линия 3"/>
            <p:cNvCxnSpPr/>
            <p:nvPr/>
          </p:nvCxnSpPr>
          <p:spPr>
            <a:xfrm>
              <a:off x="4125899" y="4171934"/>
              <a:ext cx="23762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Группа 17"/>
            <p:cNvGrpSpPr/>
            <p:nvPr/>
          </p:nvGrpSpPr>
          <p:grpSpPr>
            <a:xfrm>
              <a:off x="5062003" y="3082900"/>
              <a:ext cx="1358190" cy="3371359"/>
              <a:chOff x="3995936" y="908720"/>
              <a:chExt cx="1358190" cy="3371359"/>
            </a:xfrm>
          </p:grpSpPr>
          <p:grpSp>
            <p:nvGrpSpPr>
              <p:cNvPr id="19" name="Группа 18"/>
              <p:cNvGrpSpPr/>
              <p:nvPr/>
            </p:nvGrpSpPr>
            <p:grpSpPr>
              <a:xfrm>
                <a:off x="4289574" y="2348880"/>
                <a:ext cx="556405" cy="960026"/>
                <a:chOff x="4203513" y="764704"/>
                <a:chExt cx="556405" cy="960026"/>
              </a:xfrm>
            </p:grpSpPr>
            <p:cxnSp>
              <p:nvCxnSpPr>
                <p:cNvPr id="23" name="Прямая соединительная линия 22"/>
                <p:cNvCxnSpPr/>
                <p:nvPr/>
              </p:nvCxnSpPr>
              <p:spPr>
                <a:xfrm>
                  <a:off x="4499992" y="764704"/>
                  <a:ext cx="0" cy="648072"/>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a:off x="4499992" y="76470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a:off x="4499992" y="14127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a:off x="4203513" y="764704"/>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p:nvPr/>
              </p:nvCxnSpPr>
              <p:spPr>
                <a:xfrm flipH="1">
                  <a:off x="4499992" y="1088740"/>
                  <a:ext cx="14401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4653970" y="1106742"/>
                  <a:ext cx="0" cy="6120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4543894" y="1724730"/>
                  <a:ext cx="21602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Прямая соединительная линия 19"/>
              <p:cNvCxnSpPr/>
              <p:nvPr/>
            </p:nvCxnSpPr>
            <p:spPr>
              <a:xfrm>
                <a:off x="5354126" y="908720"/>
                <a:ext cx="0" cy="33713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Соединительная линия уступом 20"/>
              <p:cNvCxnSpPr/>
              <p:nvPr/>
            </p:nvCxnSpPr>
            <p:spPr>
              <a:xfrm rot="16200000" flipV="1">
                <a:off x="3674704" y="2404013"/>
                <a:ext cx="1008112" cy="221629"/>
              </a:xfrm>
              <a:prstGeom prst="bentConnector3">
                <a:avLst>
                  <a:gd name="adj1" fmla="val 30837"/>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Овал 21"/>
              <p:cNvSpPr/>
              <p:nvPr/>
            </p:nvSpPr>
            <p:spPr>
              <a:xfrm>
                <a:off x="3995936" y="194259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31" name="Прямая соединительная линия 30"/>
            <p:cNvCxnSpPr/>
            <p:nvPr/>
          </p:nvCxnSpPr>
          <p:spPr>
            <a:xfrm>
              <a:off x="5652120" y="4523060"/>
              <a:ext cx="7920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Овал 31"/>
            <p:cNvSpPr/>
            <p:nvPr/>
          </p:nvSpPr>
          <p:spPr>
            <a:xfrm>
              <a:off x="6351708" y="4449991"/>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1" name="Прямая соединительная линия 40"/>
            <p:cNvCxnSpPr/>
            <p:nvPr/>
          </p:nvCxnSpPr>
          <p:spPr>
            <a:xfrm>
              <a:off x="5508041" y="4520912"/>
              <a:ext cx="0" cy="648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Прямоугольник 43"/>
          <p:cNvSpPr/>
          <p:nvPr/>
        </p:nvSpPr>
        <p:spPr>
          <a:xfrm>
            <a:off x="3203848" y="311079"/>
            <a:ext cx="3744871" cy="369332"/>
          </a:xfrm>
          <a:prstGeom prst="rect">
            <a:avLst/>
          </a:prstGeom>
        </p:spPr>
        <p:txBody>
          <a:bodyPr wrap="none">
            <a:spAutoFit/>
          </a:bodyPr>
          <a:lstStyle/>
          <a:p>
            <a:r>
              <a:rPr lang="ru-RU" b="1" dirty="0" smtClean="0"/>
              <a:t>Пример реализации ячейки </a:t>
            </a:r>
            <a:r>
              <a:rPr lang="en-US" b="1" dirty="0" smtClean="0"/>
              <a:t>EPROM</a:t>
            </a:r>
            <a:endParaRPr lang="en-US" b="1" dirty="0"/>
          </a:p>
        </p:txBody>
      </p:sp>
      <p:sp>
        <p:nvSpPr>
          <p:cNvPr id="46" name="TextBox 45"/>
          <p:cNvSpPr txBox="1"/>
          <p:nvPr/>
        </p:nvSpPr>
        <p:spPr>
          <a:xfrm>
            <a:off x="4864035" y="4499828"/>
            <a:ext cx="960519" cy="369332"/>
          </a:xfrm>
          <a:prstGeom prst="rect">
            <a:avLst/>
          </a:prstGeom>
          <a:noFill/>
        </p:spPr>
        <p:txBody>
          <a:bodyPr wrap="none" rtlCol="0">
            <a:spAutoFit/>
          </a:bodyPr>
          <a:lstStyle/>
          <a:p>
            <a:r>
              <a:rPr lang="ru-RU" dirty="0" smtClean="0"/>
              <a:t>Данные</a:t>
            </a:r>
            <a:endParaRPr lang="ru-RU" dirty="0"/>
          </a:p>
        </p:txBody>
      </p:sp>
      <p:sp>
        <p:nvSpPr>
          <p:cNvPr id="47" name="TextBox 46"/>
          <p:cNvSpPr txBox="1"/>
          <p:nvPr/>
        </p:nvSpPr>
        <p:spPr>
          <a:xfrm>
            <a:off x="2635494" y="1772816"/>
            <a:ext cx="780983" cy="369332"/>
          </a:xfrm>
          <a:prstGeom prst="rect">
            <a:avLst/>
          </a:prstGeom>
          <a:noFill/>
        </p:spPr>
        <p:txBody>
          <a:bodyPr wrap="none" rtlCol="0">
            <a:spAutoFit/>
          </a:bodyPr>
          <a:lstStyle/>
          <a:p>
            <a:r>
              <a:rPr lang="ru-RU" dirty="0" smtClean="0"/>
              <a:t>Адрес</a:t>
            </a:r>
            <a:endParaRPr lang="ru-RU" dirty="0"/>
          </a:p>
        </p:txBody>
      </p:sp>
    </p:spTree>
    <p:extLst>
      <p:ext uri="{BB962C8B-B14F-4D97-AF65-F5344CB8AC3E}">
        <p14:creationId xmlns:p14="http://schemas.microsoft.com/office/powerpoint/2010/main" val="42802931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9923" y="773996"/>
            <a:ext cx="8885360" cy="3139321"/>
          </a:xfrm>
          <a:prstGeom prst="rect">
            <a:avLst/>
          </a:prstGeom>
        </p:spPr>
        <p:txBody>
          <a:bodyPr wrap="square">
            <a:spAutoFit/>
          </a:bodyPr>
          <a:lstStyle/>
          <a:p>
            <a:r>
              <a:rPr lang="ru-RU" dirty="0"/>
              <a:t>Э</a:t>
            </a:r>
            <a:r>
              <a:rPr lang="ru-RU" dirty="0" smtClean="0"/>
              <a:t>лектрически </a:t>
            </a:r>
            <a:r>
              <a:rPr lang="ru-RU" dirty="0"/>
              <a:t>стираемые ППЗУ </a:t>
            </a:r>
            <a:r>
              <a:rPr lang="ru-RU" dirty="0" smtClean="0"/>
              <a:t>были разработаны </a:t>
            </a:r>
            <a:r>
              <a:rPr lang="ru-RU" dirty="0"/>
              <a:t>в 1979 году в той же </a:t>
            </a:r>
            <a:r>
              <a:rPr lang="ru-RU" dirty="0" err="1"/>
              <a:t>Intel</a:t>
            </a:r>
            <a:r>
              <a:rPr lang="ru-RU" dirty="0"/>
              <a:t>. В 1983 году вышел </a:t>
            </a:r>
            <a:r>
              <a:rPr lang="ru-RU" dirty="0" smtClean="0"/>
              <a:t>первый 16 </a:t>
            </a:r>
            <a:r>
              <a:rPr lang="ru-RU" dirty="0"/>
              <a:t>Кбит образец, изготовленный на основе FLOTOX-транзисторов</a:t>
            </a:r>
          </a:p>
          <a:p>
            <a:r>
              <a:rPr lang="ru-RU" dirty="0"/>
              <a:t>(</a:t>
            </a:r>
            <a:r>
              <a:rPr lang="ru-RU" dirty="0" err="1"/>
              <a:t>Floating</a:t>
            </a:r>
            <a:r>
              <a:rPr lang="ru-RU" dirty="0"/>
              <a:t> </a:t>
            </a:r>
            <a:r>
              <a:rPr lang="ru-RU" dirty="0" err="1"/>
              <a:t>Gate</a:t>
            </a:r>
            <a:r>
              <a:rPr lang="ru-RU" dirty="0"/>
              <a:t> </a:t>
            </a:r>
            <a:r>
              <a:rPr lang="ru-RU" dirty="0" err="1"/>
              <a:t>Tunnel-OXide</a:t>
            </a:r>
            <a:r>
              <a:rPr lang="ru-RU" dirty="0"/>
              <a:t> – «плавающий» затвор с </a:t>
            </a:r>
            <a:r>
              <a:rPr lang="ru-RU" dirty="0" err="1"/>
              <a:t>туннелированием</a:t>
            </a:r>
            <a:endParaRPr lang="ru-RU" dirty="0"/>
          </a:p>
          <a:p>
            <a:r>
              <a:rPr lang="ru-RU" dirty="0"/>
              <a:t>в окисле). </a:t>
            </a:r>
            <a:r>
              <a:rPr lang="ru-RU" dirty="0" smtClean="0"/>
              <a:t>Главной </a:t>
            </a:r>
            <a:r>
              <a:rPr lang="ru-RU" dirty="0"/>
              <a:t>отличительной особенностью EEPROM </a:t>
            </a:r>
            <a:r>
              <a:rPr lang="ru-RU" dirty="0" smtClean="0"/>
              <a:t>от ранее </a:t>
            </a:r>
            <a:r>
              <a:rPr lang="ru-RU" dirty="0"/>
              <a:t>рассмотренных </a:t>
            </a:r>
            <a:r>
              <a:rPr lang="ru-RU" dirty="0" smtClean="0"/>
              <a:t>типов </a:t>
            </a:r>
            <a:r>
              <a:rPr lang="ru-RU" dirty="0"/>
              <a:t>энергонезависимой памяти </a:t>
            </a:r>
            <a:r>
              <a:rPr lang="ru-RU" dirty="0" smtClean="0"/>
              <a:t>является  возможность </a:t>
            </a:r>
            <a:r>
              <a:rPr lang="ru-RU" dirty="0"/>
              <a:t>перепрограммирования при подключении к </a:t>
            </a:r>
            <a:r>
              <a:rPr lang="ru-RU" dirty="0" smtClean="0"/>
              <a:t>стандартной системной </a:t>
            </a:r>
            <a:r>
              <a:rPr lang="ru-RU" dirty="0"/>
              <a:t>шине микропроцессорного устройства. В </a:t>
            </a:r>
            <a:r>
              <a:rPr lang="ru-RU" dirty="0" smtClean="0"/>
              <a:t>EEPROM появилась </a:t>
            </a:r>
            <a:r>
              <a:rPr lang="ru-RU" dirty="0"/>
              <a:t>возможность производить стирание отдельной ячейки при</a:t>
            </a:r>
          </a:p>
          <a:p>
            <a:r>
              <a:rPr lang="ru-RU" dirty="0"/>
              <a:t>помощи электрического тока. Для EEPROM стирание каждой </a:t>
            </a:r>
            <a:r>
              <a:rPr lang="ru-RU" dirty="0" smtClean="0"/>
              <a:t>ячейки выполняется </a:t>
            </a:r>
            <a:r>
              <a:rPr lang="ru-RU" dirty="0"/>
              <a:t>автоматически при записи в нее новой информации, т. </a:t>
            </a:r>
            <a:r>
              <a:rPr lang="ru-RU" dirty="0" smtClean="0"/>
              <a:t>е. можно </a:t>
            </a:r>
            <a:r>
              <a:rPr lang="ru-RU" dirty="0"/>
              <a:t>изменить данные в любой ячейке, не затрагивая </a:t>
            </a:r>
            <a:r>
              <a:rPr lang="ru-RU" dirty="0" smtClean="0"/>
              <a:t>остальные. Процедура </a:t>
            </a:r>
            <a:r>
              <a:rPr lang="ru-RU" dirty="0"/>
              <a:t>стирания обычно существенно более длительная, </a:t>
            </a:r>
            <a:r>
              <a:rPr lang="ru-RU" dirty="0" smtClean="0"/>
              <a:t>чем процедура </a:t>
            </a:r>
            <a:r>
              <a:rPr lang="ru-RU" dirty="0"/>
              <a:t>записи</a:t>
            </a:r>
            <a:r>
              <a:rPr lang="ru-RU" dirty="0" smtClean="0"/>
              <a:t>.</a:t>
            </a:r>
            <a:endParaRPr lang="ru-RU" dirty="0"/>
          </a:p>
        </p:txBody>
      </p:sp>
      <p:sp>
        <p:nvSpPr>
          <p:cNvPr id="5" name="Прямоугольник 4"/>
          <p:cNvSpPr/>
          <p:nvPr/>
        </p:nvSpPr>
        <p:spPr>
          <a:xfrm>
            <a:off x="3203848" y="195504"/>
            <a:ext cx="3213829" cy="369332"/>
          </a:xfrm>
          <a:prstGeom prst="rect">
            <a:avLst/>
          </a:prstGeom>
        </p:spPr>
        <p:txBody>
          <a:bodyPr wrap="none">
            <a:spAutoFit/>
          </a:bodyPr>
          <a:lstStyle/>
          <a:p>
            <a:r>
              <a:rPr lang="ru-RU" b="1" dirty="0" smtClean="0"/>
              <a:t>EEPROM (</a:t>
            </a:r>
            <a:r>
              <a:rPr lang="ru-RU" dirty="0" err="1" smtClean="0"/>
              <a:t>Electronically</a:t>
            </a:r>
            <a:r>
              <a:rPr lang="ru-RU" dirty="0" smtClean="0"/>
              <a:t> EPROM)</a:t>
            </a:r>
            <a:endParaRPr lang="ru-RU" b="1" dirty="0"/>
          </a:p>
        </p:txBody>
      </p:sp>
    </p:spTree>
    <p:extLst>
      <p:ext uri="{BB962C8B-B14F-4D97-AF65-F5344CB8AC3E}">
        <p14:creationId xmlns:p14="http://schemas.microsoft.com/office/powerpoint/2010/main" val="2296446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5459" y="631953"/>
            <a:ext cx="8784976" cy="646331"/>
          </a:xfrm>
          <a:prstGeom prst="rect">
            <a:avLst/>
          </a:prstGeom>
        </p:spPr>
        <p:txBody>
          <a:bodyPr wrap="square">
            <a:spAutoFit/>
          </a:bodyPr>
          <a:lstStyle/>
          <a:p>
            <a:r>
              <a:rPr lang="ru-RU" dirty="0" smtClean="0"/>
              <a:t>Флэш-память </a:t>
            </a:r>
            <a:r>
              <a:rPr lang="ru-RU" dirty="0"/>
              <a:t>исторически происходит от ROM-памяти, но</a:t>
            </a:r>
          </a:p>
          <a:p>
            <a:r>
              <a:rPr lang="ru-RU" dirty="0"/>
              <a:t>функционирует подобно </a:t>
            </a:r>
            <a:r>
              <a:rPr lang="ru-RU" dirty="0" smtClean="0"/>
              <a:t>RAM.</a:t>
            </a:r>
            <a:endParaRPr lang="ru-RU" dirty="0"/>
          </a:p>
        </p:txBody>
      </p:sp>
      <p:sp>
        <p:nvSpPr>
          <p:cNvPr id="5" name="Прямоугольник 4"/>
          <p:cNvSpPr/>
          <p:nvPr/>
        </p:nvSpPr>
        <p:spPr>
          <a:xfrm>
            <a:off x="3494167" y="260648"/>
            <a:ext cx="2123402" cy="369332"/>
          </a:xfrm>
          <a:prstGeom prst="rect">
            <a:avLst/>
          </a:prstGeom>
        </p:spPr>
        <p:txBody>
          <a:bodyPr wrap="none">
            <a:spAutoFit/>
          </a:bodyPr>
          <a:lstStyle/>
          <a:p>
            <a:r>
              <a:rPr lang="en-US" b="1" dirty="0"/>
              <a:t>Flash Erase EEPROM</a:t>
            </a:r>
            <a:endParaRPr lang="ru-RU" b="1" dirty="0"/>
          </a:p>
        </p:txBody>
      </p:sp>
      <p:sp>
        <p:nvSpPr>
          <p:cNvPr id="6" name="Прямоугольник 5"/>
          <p:cNvSpPr/>
          <p:nvPr/>
        </p:nvSpPr>
        <p:spPr>
          <a:xfrm>
            <a:off x="190927" y="1278284"/>
            <a:ext cx="8764736" cy="1200329"/>
          </a:xfrm>
          <a:prstGeom prst="rect">
            <a:avLst/>
          </a:prstGeom>
        </p:spPr>
        <p:txBody>
          <a:bodyPr wrap="square">
            <a:spAutoFit/>
          </a:bodyPr>
          <a:lstStyle/>
          <a:p>
            <a:r>
              <a:rPr lang="ru-RU" dirty="0"/>
              <a:t>В</a:t>
            </a:r>
            <a:r>
              <a:rPr lang="ru-RU" dirty="0" smtClean="0"/>
              <a:t>первые была разработана </a:t>
            </a:r>
            <a:r>
              <a:rPr lang="ru-RU" dirty="0"/>
              <a:t>компанией </a:t>
            </a:r>
            <a:r>
              <a:rPr lang="ru-RU" dirty="0" err="1"/>
              <a:t>Toshiba</a:t>
            </a:r>
            <a:r>
              <a:rPr lang="ru-RU" dirty="0"/>
              <a:t> в 1984 году, </a:t>
            </a:r>
            <a:r>
              <a:rPr lang="ru-RU" dirty="0" smtClean="0"/>
              <a:t>1985 было </a:t>
            </a:r>
            <a:r>
              <a:rPr lang="ru-RU" dirty="0"/>
              <a:t>начато производство 256 Кбит микросхем </a:t>
            </a:r>
            <a:r>
              <a:rPr lang="ru-RU" dirty="0" err="1"/>
              <a:t>flash</a:t>
            </a:r>
            <a:r>
              <a:rPr lang="ru-RU" dirty="0"/>
              <a:t>-памяти </a:t>
            </a:r>
            <a:r>
              <a:rPr lang="ru-RU" dirty="0" smtClean="0"/>
              <a:t>в промышленных </a:t>
            </a:r>
            <a:r>
              <a:rPr lang="ru-RU" dirty="0"/>
              <a:t>масштабах. В 1988 году </a:t>
            </a:r>
            <a:r>
              <a:rPr lang="ru-RU" dirty="0" err="1" smtClean="0"/>
              <a:t>Intel</a:t>
            </a:r>
            <a:r>
              <a:rPr lang="ru-RU" dirty="0"/>
              <a:t> </a:t>
            </a:r>
            <a:r>
              <a:rPr lang="ru-RU" dirty="0" smtClean="0"/>
              <a:t>разработала собственный вариант </a:t>
            </a:r>
            <a:r>
              <a:rPr lang="ru-RU" dirty="0"/>
              <a:t>флэш-памяти</a:t>
            </a:r>
            <a:r>
              <a:rPr lang="ru-RU" dirty="0" smtClean="0"/>
              <a:t>. </a:t>
            </a:r>
          </a:p>
          <a:p>
            <a:r>
              <a:rPr lang="ru-RU" dirty="0" smtClean="0"/>
              <a:t>В основе ячейки -- МДП-транзистор с плавающим затвором.</a:t>
            </a:r>
            <a:endParaRPr lang="ru-RU" dirty="0"/>
          </a:p>
        </p:txBody>
      </p:sp>
      <p:sp>
        <p:nvSpPr>
          <p:cNvPr id="7" name="Прямоугольник 6"/>
          <p:cNvSpPr/>
          <p:nvPr/>
        </p:nvSpPr>
        <p:spPr>
          <a:xfrm>
            <a:off x="140232" y="2852936"/>
            <a:ext cx="8815431" cy="2862322"/>
          </a:xfrm>
          <a:prstGeom prst="rect">
            <a:avLst/>
          </a:prstGeom>
        </p:spPr>
        <p:txBody>
          <a:bodyPr wrap="square">
            <a:spAutoFit/>
          </a:bodyPr>
          <a:lstStyle/>
          <a:p>
            <a:r>
              <a:rPr lang="ru-RU" dirty="0"/>
              <a:t>Основное отличие флэш-памяти от обычной EEPROM </a:t>
            </a:r>
            <a:r>
              <a:rPr lang="ru-RU" dirty="0" smtClean="0"/>
              <a:t>заключается в </a:t>
            </a:r>
            <a:r>
              <a:rPr lang="ru-RU" dirty="0"/>
              <a:t>том, что стирание содержимого ячеек выполняется либо для </a:t>
            </a:r>
            <a:r>
              <a:rPr lang="ru-RU" dirty="0" smtClean="0"/>
              <a:t>всей микросхемы</a:t>
            </a:r>
            <a:r>
              <a:rPr lang="ru-RU" dirty="0"/>
              <a:t>, либо для определенного блока (кластера, кадра </a:t>
            </a:r>
            <a:r>
              <a:rPr lang="ru-RU" dirty="0" smtClean="0"/>
              <a:t>или страницы</a:t>
            </a:r>
            <a:r>
              <a:rPr lang="ru-RU" dirty="0"/>
              <a:t>). Обычный размер такого блока составляет 256 или 512 </a:t>
            </a:r>
            <a:r>
              <a:rPr lang="ru-RU" dirty="0" smtClean="0"/>
              <a:t>байт, однако </a:t>
            </a:r>
            <a:r>
              <a:rPr lang="ru-RU" dirty="0"/>
              <a:t>в некоторых видах флэш-памяти объем блока может достигать</a:t>
            </a:r>
          </a:p>
          <a:p>
            <a:r>
              <a:rPr lang="ru-RU" dirty="0"/>
              <a:t>256 КБ. Следует заметить, что существуют микросхемы, </a:t>
            </a:r>
            <a:r>
              <a:rPr lang="ru-RU" dirty="0" smtClean="0"/>
              <a:t>позволяющие работать </a:t>
            </a:r>
            <a:r>
              <a:rPr lang="ru-RU" dirty="0"/>
              <a:t>с блоками разных размеров (для </a:t>
            </a:r>
            <a:r>
              <a:rPr lang="ru-RU" dirty="0" smtClean="0"/>
              <a:t>оптимизации быстродействия</a:t>
            </a:r>
            <a:r>
              <a:rPr lang="ru-RU" dirty="0"/>
              <a:t>). Стирать можно как блок, так и содержимое </a:t>
            </a:r>
            <a:r>
              <a:rPr lang="ru-RU" dirty="0" smtClean="0"/>
              <a:t>всей микросхемы </a:t>
            </a:r>
            <a:r>
              <a:rPr lang="ru-RU" dirty="0"/>
              <a:t>сразу. В</a:t>
            </a:r>
            <a:r>
              <a:rPr lang="ru-RU" dirty="0" smtClean="0"/>
              <a:t> </a:t>
            </a:r>
            <a:r>
              <a:rPr lang="ru-RU" dirty="0"/>
              <a:t>общем случае, для того, </a:t>
            </a:r>
            <a:r>
              <a:rPr lang="ru-RU" dirty="0" smtClean="0"/>
              <a:t>чтобы изменить </a:t>
            </a:r>
            <a:r>
              <a:rPr lang="ru-RU" dirty="0"/>
              <a:t>один байт, сначала в буфер считывается весь блок, </a:t>
            </a:r>
            <a:r>
              <a:rPr lang="ru-RU" dirty="0" smtClean="0"/>
              <a:t>где содержится </a:t>
            </a:r>
            <a:r>
              <a:rPr lang="ru-RU" dirty="0"/>
              <a:t>подлежащий изменению байт, стирается содержимое </a:t>
            </a:r>
            <a:r>
              <a:rPr lang="ru-RU" dirty="0" smtClean="0"/>
              <a:t>блока, изменяется </a:t>
            </a:r>
            <a:r>
              <a:rPr lang="ru-RU" dirty="0"/>
              <a:t>значение байта в буфере, после чего производится </a:t>
            </a:r>
            <a:r>
              <a:rPr lang="ru-RU" dirty="0" smtClean="0"/>
              <a:t>запись измененного </a:t>
            </a:r>
            <a:r>
              <a:rPr lang="ru-RU" dirty="0"/>
              <a:t>в буфере блока. </a:t>
            </a:r>
          </a:p>
        </p:txBody>
      </p:sp>
    </p:spTree>
    <p:extLst>
      <p:ext uri="{BB962C8B-B14F-4D97-AF65-F5344CB8AC3E}">
        <p14:creationId xmlns:p14="http://schemas.microsoft.com/office/powerpoint/2010/main" val="42074940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extLst>
              <p:ext uri="{D42A27DB-BD31-4B8C-83A1-F6EECF244321}">
                <p14:modId xmlns:p14="http://schemas.microsoft.com/office/powerpoint/2010/main" val="361553175"/>
              </p:ext>
            </p:extLst>
          </p:nvPr>
        </p:nvGraphicFramePr>
        <p:xfrm>
          <a:off x="611560" y="1340768"/>
          <a:ext cx="7152456" cy="2936240"/>
        </p:xfrm>
        <a:graphic>
          <a:graphicData uri="http://schemas.openxmlformats.org/drawingml/2006/table">
            <a:tbl>
              <a:tblPr firstRow="1" bandRow="1">
                <a:tableStyleId>{5C22544A-7EE6-4342-B048-85BDC9FD1C3A}</a:tableStyleId>
              </a:tblPr>
              <a:tblGrid>
                <a:gridCol w="2384152"/>
                <a:gridCol w="2384152"/>
                <a:gridCol w="2384152"/>
              </a:tblGrid>
              <a:tr h="370840">
                <a:tc>
                  <a:txBody>
                    <a:bodyPr/>
                    <a:lstStyle/>
                    <a:p>
                      <a:r>
                        <a:rPr lang="ru-RU" dirty="0" smtClean="0"/>
                        <a:t>Обозначение</a:t>
                      </a:r>
                      <a:endParaRPr lang="ru-RU" dirty="0"/>
                    </a:p>
                  </a:txBody>
                  <a:tcPr/>
                </a:tc>
                <a:tc>
                  <a:txBody>
                    <a:bodyPr/>
                    <a:lstStyle/>
                    <a:p>
                      <a:r>
                        <a:rPr lang="ru-RU" dirty="0" smtClean="0"/>
                        <a:t>Программирование</a:t>
                      </a:r>
                      <a:endParaRPr lang="ru-RU" dirty="0"/>
                    </a:p>
                  </a:txBody>
                  <a:tcPr/>
                </a:tc>
                <a:tc>
                  <a:txBody>
                    <a:bodyPr/>
                    <a:lstStyle/>
                    <a:p>
                      <a:r>
                        <a:rPr lang="ru-RU" dirty="0" smtClean="0"/>
                        <a:t>Стирание</a:t>
                      </a:r>
                      <a:endParaRPr lang="ru-RU" dirty="0"/>
                    </a:p>
                  </a:txBody>
                  <a:tcPr/>
                </a:tc>
              </a:tr>
              <a:tr h="370840">
                <a:tc>
                  <a:txBody>
                    <a:bodyPr/>
                    <a:lstStyle/>
                    <a:p>
                      <a:r>
                        <a:rPr lang="en-US" dirty="0" smtClean="0"/>
                        <a:t>ROM</a:t>
                      </a:r>
                      <a:endParaRPr lang="ru-RU" dirty="0"/>
                    </a:p>
                  </a:txBody>
                  <a:tcPr/>
                </a:tc>
                <a:tc>
                  <a:txBody>
                    <a:bodyPr/>
                    <a:lstStyle/>
                    <a:p>
                      <a:r>
                        <a:rPr lang="ru-RU" dirty="0" smtClean="0"/>
                        <a:t>Маска,</a:t>
                      </a:r>
                      <a:r>
                        <a:rPr lang="ru-RU" baseline="0" dirty="0" smtClean="0"/>
                        <a:t> однократное</a:t>
                      </a:r>
                      <a:endParaRPr lang="ru-RU" dirty="0"/>
                    </a:p>
                  </a:txBody>
                  <a:tcPr/>
                </a:tc>
                <a:tc>
                  <a:txBody>
                    <a:bodyPr/>
                    <a:lstStyle/>
                    <a:p>
                      <a:r>
                        <a:rPr lang="ru-RU" dirty="0" smtClean="0"/>
                        <a:t>Невозможно</a:t>
                      </a:r>
                      <a:endParaRPr lang="ru-RU"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PROM</a:t>
                      </a:r>
                      <a:endParaRPr lang="ru-RU" dirty="0" smtClean="0"/>
                    </a:p>
                  </a:txBody>
                  <a:tcPr/>
                </a:tc>
                <a:tc>
                  <a:txBody>
                    <a:bodyPr/>
                    <a:lstStyle/>
                    <a:p>
                      <a:r>
                        <a:rPr lang="ru-RU" dirty="0" smtClean="0"/>
                        <a:t>Электрическое,</a:t>
                      </a:r>
                      <a:r>
                        <a:rPr lang="ru-RU" baseline="0" dirty="0" smtClean="0"/>
                        <a:t> однократное</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Невозможно</a:t>
                      </a:r>
                    </a:p>
                    <a:p>
                      <a:endParaRPr lang="ru-RU"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Е</a:t>
                      </a:r>
                      <a:r>
                        <a:rPr lang="en-US" dirty="0" smtClean="0"/>
                        <a:t>PROM</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Электрическое,</a:t>
                      </a:r>
                      <a:r>
                        <a:rPr lang="ru-RU" baseline="0" dirty="0" smtClean="0"/>
                        <a:t> многократное</a:t>
                      </a:r>
                      <a:endParaRPr lang="ru-RU" dirty="0" smtClean="0"/>
                    </a:p>
                  </a:txBody>
                  <a:tcPr/>
                </a:tc>
                <a:tc>
                  <a:txBody>
                    <a:bodyPr/>
                    <a:lstStyle/>
                    <a:p>
                      <a:r>
                        <a:rPr lang="ru-RU" dirty="0" smtClean="0"/>
                        <a:t>УФ-излучение, все</a:t>
                      </a:r>
                      <a:r>
                        <a:rPr lang="ru-RU" baseline="0" dirty="0" smtClean="0"/>
                        <a:t> содержимое</a:t>
                      </a:r>
                      <a:endParaRPr lang="ru-RU"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Е</a:t>
                      </a:r>
                      <a:r>
                        <a:rPr lang="en-US" dirty="0" smtClean="0"/>
                        <a:t>PROM</a:t>
                      </a:r>
                      <a:endParaRPr lang="ru-RU"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Флэш</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Электрическое,</a:t>
                      </a:r>
                      <a:r>
                        <a:rPr lang="ru-RU" baseline="0" dirty="0" smtClean="0"/>
                        <a:t> многократное</a:t>
                      </a:r>
                      <a:endParaRPr lang="ru-RU" dirty="0" smtClean="0"/>
                    </a:p>
                  </a:txBody>
                  <a:tcPr/>
                </a:tc>
                <a:tc>
                  <a:txBody>
                    <a:bodyPr/>
                    <a:lstStyle/>
                    <a:p>
                      <a:r>
                        <a:rPr lang="ru-RU" dirty="0" smtClean="0"/>
                        <a:t>Электрическое, все или частичное</a:t>
                      </a:r>
                      <a:r>
                        <a:rPr lang="ru-RU" baseline="0" dirty="0" smtClean="0"/>
                        <a:t> до 1 ячейки (бита)</a:t>
                      </a:r>
                      <a:endParaRPr lang="ru-RU" dirty="0"/>
                    </a:p>
                  </a:txBody>
                  <a:tcPr/>
                </a:tc>
              </a:tr>
            </a:tbl>
          </a:graphicData>
        </a:graphic>
      </p:graphicFrame>
      <p:sp>
        <p:nvSpPr>
          <p:cNvPr id="5" name="TextBox 4"/>
          <p:cNvSpPr txBox="1"/>
          <p:nvPr/>
        </p:nvSpPr>
        <p:spPr>
          <a:xfrm>
            <a:off x="3203848" y="733346"/>
            <a:ext cx="2282613" cy="369332"/>
          </a:xfrm>
          <a:prstGeom prst="rect">
            <a:avLst/>
          </a:prstGeom>
          <a:noFill/>
        </p:spPr>
        <p:txBody>
          <a:bodyPr wrap="none" rtlCol="0">
            <a:spAutoFit/>
          </a:bodyPr>
          <a:lstStyle/>
          <a:p>
            <a:r>
              <a:rPr lang="ru-RU" dirty="0" smtClean="0"/>
              <a:t>Сводная таблица ПЗУ</a:t>
            </a:r>
            <a:endParaRPr lang="ru-RU" dirty="0"/>
          </a:p>
        </p:txBody>
      </p:sp>
    </p:spTree>
    <p:extLst>
      <p:ext uri="{BB962C8B-B14F-4D97-AF65-F5344CB8AC3E}">
        <p14:creationId xmlns:p14="http://schemas.microsoft.com/office/powerpoint/2010/main" val="37217985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7120" y="237002"/>
            <a:ext cx="4422942" cy="369332"/>
          </a:xfrm>
          <a:prstGeom prst="rect">
            <a:avLst/>
          </a:prstGeom>
          <a:noFill/>
        </p:spPr>
        <p:txBody>
          <a:bodyPr wrap="none" rtlCol="0">
            <a:spAutoFit/>
          </a:bodyPr>
          <a:lstStyle/>
          <a:p>
            <a:r>
              <a:rPr lang="ru-RU" b="1" dirty="0" smtClean="0"/>
              <a:t>Графическое обозначение </a:t>
            </a:r>
            <a:r>
              <a:rPr lang="ru-RU" b="1" dirty="0" err="1" smtClean="0"/>
              <a:t>микрсхем</a:t>
            </a:r>
            <a:r>
              <a:rPr lang="ru-RU" b="1" dirty="0" smtClean="0"/>
              <a:t> </a:t>
            </a:r>
            <a:r>
              <a:rPr lang="en-US" b="1" dirty="0" smtClean="0"/>
              <a:t>ROM</a:t>
            </a:r>
            <a:endParaRPr lang="ru-RU" b="1" dirty="0"/>
          </a:p>
        </p:txBody>
      </p:sp>
      <p:sp>
        <p:nvSpPr>
          <p:cNvPr id="5" name="Прямоугольник 4"/>
          <p:cNvSpPr/>
          <p:nvPr/>
        </p:nvSpPr>
        <p:spPr>
          <a:xfrm>
            <a:off x="3624448" y="759337"/>
            <a:ext cx="864096" cy="165618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p:cNvSpPr txBox="1"/>
          <p:nvPr/>
        </p:nvSpPr>
        <p:spPr>
          <a:xfrm>
            <a:off x="3831633" y="761297"/>
            <a:ext cx="500586" cy="276999"/>
          </a:xfrm>
          <a:prstGeom prst="rect">
            <a:avLst/>
          </a:prstGeom>
          <a:noFill/>
        </p:spPr>
        <p:txBody>
          <a:bodyPr wrap="none" rtlCol="0">
            <a:spAutoFit/>
          </a:bodyPr>
          <a:lstStyle/>
          <a:p>
            <a:r>
              <a:rPr lang="en-US" sz="1200" dirty="0" smtClean="0"/>
              <a:t>ROM</a:t>
            </a:r>
            <a:endParaRPr lang="ru-RU" sz="1200" dirty="0"/>
          </a:p>
        </p:txBody>
      </p:sp>
      <p:cxnSp>
        <p:nvCxnSpPr>
          <p:cNvPr id="7" name="Прямая соединительная линия 6"/>
          <p:cNvCxnSpPr/>
          <p:nvPr/>
        </p:nvCxnSpPr>
        <p:spPr>
          <a:xfrm>
            <a:off x="3882893" y="767237"/>
            <a:ext cx="13424" cy="16482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624448" y="753624"/>
            <a:ext cx="317716" cy="369332"/>
          </a:xfrm>
          <a:prstGeom prst="rect">
            <a:avLst/>
          </a:prstGeom>
          <a:noFill/>
        </p:spPr>
        <p:txBody>
          <a:bodyPr wrap="none" rtlCol="0">
            <a:spAutoFit/>
          </a:bodyPr>
          <a:lstStyle/>
          <a:p>
            <a:r>
              <a:rPr lang="en-US" dirty="0" smtClean="0"/>
              <a:t>A</a:t>
            </a:r>
            <a:endParaRPr lang="ru-RU" dirty="0"/>
          </a:p>
        </p:txBody>
      </p:sp>
      <p:cxnSp>
        <p:nvCxnSpPr>
          <p:cNvPr id="9" name="Прямая соединительная линия 8"/>
          <p:cNvCxnSpPr/>
          <p:nvPr/>
        </p:nvCxnSpPr>
        <p:spPr>
          <a:xfrm>
            <a:off x="4282822" y="781934"/>
            <a:ext cx="13424" cy="16482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226992" y="753624"/>
            <a:ext cx="327334" cy="369332"/>
          </a:xfrm>
          <a:prstGeom prst="rect">
            <a:avLst/>
          </a:prstGeom>
          <a:noFill/>
        </p:spPr>
        <p:txBody>
          <a:bodyPr wrap="none" rtlCol="0">
            <a:spAutoFit/>
          </a:bodyPr>
          <a:lstStyle/>
          <a:p>
            <a:r>
              <a:rPr lang="en-US" dirty="0"/>
              <a:t>D</a:t>
            </a:r>
            <a:endParaRPr lang="ru-RU" dirty="0"/>
          </a:p>
        </p:txBody>
      </p:sp>
      <p:cxnSp>
        <p:nvCxnSpPr>
          <p:cNvPr id="11" name="Прямая соединительная линия 10"/>
          <p:cNvCxnSpPr/>
          <p:nvPr/>
        </p:nvCxnSpPr>
        <p:spPr>
          <a:xfrm rot="5400000">
            <a:off x="5021123" y="1054850"/>
            <a:ext cx="0" cy="10651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Группа 11"/>
          <p:cNvGrpSpPr/>
          <p:nvPr/>
        </p:nvGrpSpPr>
        <p:grpSpPr>
          <a:xfrm>
            <a:off x="4778737" y="1006346"/>
            <a:ext cx="333746" cy="734128"/>
            <a:chOff x="3597924" y="1445745"/>
            <a:chExt cx="333746" cy="734128"/>
          </a:xfrm>
        </p:grpSpPr>
        <p:sp>
          <p:nvSpPr>
            <p:cNvPr id="13" name="TextBox 12"/>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14" name="TextBox 13"/>
            <p:cNvSpPr txBox="1"/>
            <p:nvPr/>
          </p:nvSpPr>
          <p:spPr>
            <a:xfrm>
              <a:off x="3597924" y="1445745"/>
              <a:ext cx="333746" cy="369332"/>
            </a:xfrm>
            <a:prstGeom prst="rect">
              <a:avLst/>
            </a:prstGeom>
            <a:noFill/>
          </p:spPr>
          <p:txBody>
            <a:bodyPr wrap="none" rtlCol="0">
              <a:spAutoFit/>
            </a:bodyPr>
            <a:lstStyle/>
            <a:p>
              <a:r>
                <a:rPr lang="en-US" dirty="0"/>
                <a:t>N</a:t>
              </a:r>
              <a:endParaRPr lang="ru-RU" dirty="0"/>
            </a:p>
          </p:txBody>
        </p:sp>
      </p:grpSp>
      <p:cxnSp>
        <p:nvCxnSpPr>
          <p:cNvPr id="15" name="Прямая соединительная линия 14"/>
          <p:cNvCxnSpPr/>
          <p:nvPr/>
        </p:nvCxnSpPr>
        <p:spPr>
          <a:xfrm rot="5400000">
            <a:off x="3091869" y="857493"/>
            <a:ext cx="0" cy="10651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Группа 15"/>
          <p:cNvGrpSpPr/>
          <p:nvPr/>
        </p:nvGrpSpPr>
        <p:grpSpPr>
          <a:xfrm>
            <a:off x="2924996" y="809658"/>
            <a:ext cx="317716" cy="734128"/>
            <a:chOff x="3597924" y="1445745"/>
            <a:chExt cx="317716" cy="734128"/>
          </a:xfrm>
        </p:grpSpPr>
        <p:sp>
          <p:nvSpPr>
            <p:cNvPr id="17" name="TextBox 16"/>
            <p:cNvSpPr txBox="1"/>
            <p:nvPr/>
          </p:nvSpPr>
          <p:spPr>
            <a:xfrm>
              <a:off x="3627580" y="1810541"/>
              <a:ext cx="274434" cy="369332"/>
            </a:xfrm>
            <a:prstGeom prst="rect">
              <a:avLst/>
            </a:prstGeom>
            <a:noFill/>
          </p:spPr>
          <p:txBody>
            <a:bodyPr wrap="none" rtlCol="0">
              <a:spAutoFit/>
            </a:bodyPr>
            <a:lstStyle/>
            <a:p>
              <a:r>
                <a:rPr lang="en-US" dirty="0"/>
                <a:t>/</a:t>
              </a:r>
              <a:endParaRPr lang="ru-RU" dirty="0"/>
            </a:p>
          </p:txBody>
        </p:sp>
        <p:sp>
          <p:nvSpPr>
            <p:cNvPr id="18" name="TextBox 17"/>
            <p:cNvSpPr txBox="1"/>
            <p:nvPr/>
          </p:nvSpPr>
          <p:spPr>
            <a:xfrm>
              <a:off x="3597924" y="1445745"/>
              <a:ext cx="317716" cy="369332"/>
            </a:xfrm>
            <a:prstGeom prst="rect">
              <a:avLst/>
            </a:prstGeom>
            <a:noFill/>
          </p:spPr>
          <p:txBody>
            <a:bodyPr wrap="none" rtlCol="0">
              <a:spAutoFit/>
            </a:bodyPr>
            <a:lstStyle/>
            <a:p>
              <a:r>
                <a:rPr lang="en-US" dirty="0" smtClean="0"/>
                <a:t>A</a:t>
              </a:r>
              <a:endParaRPr lang="ru-RU" dirty="0"/>
            </a:p>
          </p:txBody>
        </p:sp>
      </p:grpSp>
      <p:cxnSp>
        <p:nvCxnSpPr>
          <p:cNvPr id="20" name="Прямая соединительная линия 19"/>
          <p:cNvCxnSpPr/>
          <p:nvPr/>
        </p:nvCxnSpPr>
        <p:spPr>
          <a:xfrm>
            <a:off x="2771800" y="2203797"/>
            <a:ext cx="85264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570294" y="2004268"/>
            <a:ext cx="413896" cy="369332"/>
          </a:xfrm>
          <a:prstGeom prst="rect">
            <a:avLst/>
          </a:prstGeom>
          <a:noFill/>
        </p:spPr>
        <p:txBody>
          <a:bodyPr wrap="none" rtlCol="0">
            <a:spAutoFit/>
          </a:bodyPr>
          <a:lstStyle/>
          <a:p>
            <a:r>
              <a:rPr lang="en-US" dirty="0" smtClean="0"/>
              <a:t>CS</a:t>
            </a:r>
            <a:endParaRPr lang="ru-RU" dirty="0"/>
          </a:p>
        </p:txBody>
      </p:sp>
      <p:sp>
        <p:nvSpPr>
          <p:cNvPr id="22" name="TextBox 21"/>
          <p:cNvSpPr txBox="1"/>
          <p:nvPr/>
        </p:nvSpPr>
        <p:spPr>
          <a:xfrm>
            <a:off x="2195736" y="2245552"/>
            <a:ext cx="1356012" cy="369332"/>
          </a:xfrm>
          <a:prstGeom prst="rect">
            <a:avLst/>
          </a:prstGeom>
          <a:noFill/>
        </p:spPr>
        <p:txBody>
          <a:bodyPr wrap="none" rtlCol="0">
            <a:spAutoFit/>
          </a:bodyPr>
          <a:lstStyle/>
          <a:p>
            <a:r>
              <a:rPr lang="ru-RU" dirty="0" smtClean="0"/>
              <a:t>Управление</a:t>
            </a:r>
            <a:endParaRPr lang="ru-RU" dirty="0"/>
          </a:p>
        </p:txBody>
      </p:sp>
      <p:sp>
        <p:nvSpPr>
          <p:cNvPr id="23" name="TextBox 22"/>
          <p:cNvSpPr txBox="1"/>
          <p:nvPr/>
        </p:nvSpPr>
        <p:spPr>
          <a:xfrm>
            <a:off x="2092759" y="899796"/>
            <a:ext cx="780983" cy="369332"/>
          </a:xfrm>
          <a:prstGeom prst="rect">
            <a:avLst/>
          </a:prstGeom>
          <a:noFill/>
        </p:spPr>
        <p:txBody>
          <a:bodyPr wrap="none" rtlCol="0">
            <a:spAutoFit/>
          </a:bodyPr>
          <a:lstStyle/>
          <a:p>
            <a:r>
              <a:rPr lang="ru-RU" dirty="0" smtClean="0"/>
              <a:t>Адрес</a:t>
            </a:r>
            <a:endParaRPr lang="ru-RU" dirty="0"/>
          </a:p>
        </p:txBody>
      </p:sp>
      <p:sp>
        <p:nvSpPr>
          <p:cNvPr id="24" name="TextBox 23"/>
          <p:cNvSpPr txBox="1"/>
          <p:nvPr/>
        </p:nvSpPr>
        <p:spPr>
          <a:xfrm>
            <a:off x="5231326" y="1120107"/>
            <a:ext cx="960519" cy="369332"/>
          </a:xfrm>
          <a:prstGeom prst="rect">
            <a:avLst/>
          </a:prstGeom>
          <a:noFill/>
        </p:spPr>
        <p:txBody>
          <a:bodyPr wrap="none" rtlCol="0">
            <a:spAutoFit/>
          </a:bodyPr>
          <a:lstStyle/>
          <a:p>
            <a:r>
              <a:rPr lang="ru-RU" dirty="0" smtClean="0"/>
              <a:t>Данные</a:t>
            </a:r>
            <a:endParaRPr lang="ru-RU" dirty="0"/>
          </a:p>
        </p:txBody>
      </p:sp>
      <p:sp>
        <p:nvSpPr>
          <p:cNvPr id="25" name="Прямоугольник 24"/>
          <p:cNvSpPr/>
          <p:nvPr/>
        </p:nvSpPr>
        <p:spPr>
          <a:xfrm>
            <a:off x="505529" y="2575937"/>
            <a:ext cx="4572000" cy="646331"/>
          </a:xfrm>
          <a:prstGeom prst="rect">
            <a:avLst/>
          </a:prstGeom>
        </p:spPr>
        <p:txBody>
          <a:bodyPr>
            <a:spAutoFit/>
          </a:bodyPr>
          <a:lstStyle/>
          <a:p>
            <a:r>
              <a:rPr lang="ru-RU" dirty="0" smtClean="0"/>
              <a:t>Входов управления может  </a:t>
            </a:r>
            <a:r>
              <a:rPr lang="ru-RU" dirty="0"/>
              <a:t>быть несколько, объединенных по функции </a:t>
            </a:r>
            <a:r>
              <a:rPr lang="ru-RU" dirty="0" smtClean="0"/>
              <a:t>И</a:t>
            </a:r>
            <a:endParaRPr lang="ru-RU" dirty="0"/>
          </a:p>
        </p:txBody>
      </p:sp>
      <p:sp>
        <p:nvSpPr>
          <p:cNvPr id="26" name="TextBox 25"/>
          <p:cNvSpPr txBox="1"/>
          <p:nvPr/>
        </p:nvSpPr>
        <p:spPr>
          <a:xfrm>
            <a:off x="6732240" y="1421410"/>
            <a:ext cx="1464696" cy="369332"/>
          </a:xfrm>
          <a:prstGeom prst="rect">
            <a:avLst/>
          </a:prstGeom>
          <a:noFill/>
        </p:spPr>
        <p:txBody>
          <a:bodyPr wrap="none" rtlCol="0">
            <a:spAutoFit/>
          </a:bodyPr>
          <a:lstStyle/>
          <a:p>
            <a:r>
              <a:rPr lang="ru-RU" dirty="0" smtClean="0"/>
              <a:t>Организация</a:t>
            </a:r>
            <a:endParaRPr lang="ru-RU" dirty="0"/>
          </a:p>
        </p:txBody>
      </p:sp>
      <p:pic>
        <p:nvPicPr>
          <p:cNvPr id="27" name="Рисунок 26" descr="Примеры микросхем ППЗУ отечественного производства"/>
          <p:cNvPicPr/>
          <p:nvPr/>
        </p:nvPicPr>
        <p:blipFill>
          <a:blip r:embed="rId2">
            <a:extLst>
              <a:ext uri="{28A0092B-C50C-407E-A947-70E740481C1C}">
                <a14:useLocalDpi xmlns:a14="http://schemas.microsoft.com/office/drawing/2010/main" val="0"/>
              </a:ext>
            </a:extLst>
          </a:blip>
          <a:srcRect/>
          <a:stretch>
            <a:fillRect/>
          </a:stretch>
        </p:blipFill>
        <p:spPr bwMode="auto">
          <a:xfrm>
            <a:off x="1388423" y="3222268"/>
            <a:ext cx="5769719" cy="2913236"/>
          </a:xfrm>
          <a:prstGeom prst="rect">
            <a:avLst/>
          </a:prstGeom>
          <a:noFill/>
          <a:ln>
            <a:noFill/>
          </a:ln>
        </p:spPr>
      </p:pic>
      <p:sp>
        <p:nvSpPr>
          <p:cNvPr id="29" name="TextBox 28"/>
          <p:cNvSpPr txBox="1"/>
          <p:nvPr/>
        </p:nvSpPr>
        <p:spPr>
          <a:xfrm>
            <a:off x="7040433" y="1790742"/>
            <a:ext cx="848309" cy="369332"/>
          </a:xfrm>
          <a:prstGeom prst="rect">
            <a:avLst/>
          </a:prstGeom>
          <a:noFill/>
        </p:spPr>
        <p:txBody>
          <a:bodyPr wrap="none" rtlCol="0">
            <a:spAutoFit/>
          </a:bodyPr>
          <a:lstStyle/>
          <a:p>
            <a:r>
              <a:rPr lang="en-US" dirty="0" smtClean="0"/>
              <a:t>(A)x(N)</a:t>
            </a:r>
            <a:endParaRPr lang="ru-RU" dirty="0"/>
          </a:p>
        </p:txBody>
      </p:sp>
      <p:sp>
        <p:nvSpPr>
          <p:cNvPr id="30" name="TextBox 29"/>
          <p:cNvSpPr txBox="1"/>
          <p:nvPr/>
        </p:nvSpPr>
        <p:spPr>
          <a:xfrm>
            <a:off x="45585" y="5941682"/>
            <a:ext cx="5758821" cy="369332"/>
          </a:xfrm>
          <a:prstGeom prst="rect">
            <a:avLst/>
          </a:prstGeom>
          <a:noFill/>
        </p:spPr>
        <p:txBody>
          <a:bodyPr wrap="none" rtlCol="0">
            <a:spAutoFit/>
          </a:bodyPr>
          <a:lstStyle/>
          <a:p>
            <a:r>
              <a:rPr lang="en-US" dirty="0" smtClean="0"/>
              <a:t>CS</a:t>
            </a:r>
            <a:r>
              <a:rPr lang="ru-RU" dirty="0" smtClean="0"/>
              <a:t> в «0» - выбор микросхемы , чтение памяти возможно</a:t>
            </a:r>
            <a:endParaRPr lang="ru-RU" dirty="0"/>
          </a:p>
        </p:txBody>
      </p:sp>
      <p:sp>
        <p:nvSpPr>
          <p:cNvPr id="31" name="TextBox 30"/>
          <p:cNvSpPr txBox="1"/>
          <p:nvPr/>
        </p:nvSpPr>
        <p:spPr>
          <a:xfrm>
            <a:off x="112927" y="6311014"/>
            <a:ext cx="3935308" cy="369332"/>
          </a:xfrm>
          <a:prstGeom prst="rect">
            <a:avLst/>
          </a:prstGeom>
          <a:noFill/>
        </p:spPr>
        <p:txBody>
          <a:bodyPr wrap="none" rtlCol="0">
            <a:spAutoFit/>
          </a:bodyPr>
          <a:lstStyle/>
          <a:p>
            <a:r>
              <a:rPr lang="en-US" dirty="0" smtClean="0"/>
              <a:t>CS</a:t>
            </a:r>
            <a:r>
              <a:rPr lang="ru-RU" dirty="0" smtClean="0"/>
              <a:t> в «1» - все выходы</a:t>
            </a:r>
            <a:r>
              <a:rPr lang="en-US" dirty="0" smtClean="0"/>
              <a:t> </a:t>
            </a:r>
            <a:r>
              <a:rPr lang="ru-RU" dirty="0" smtClean="0"/>
              <a:t>данных  </a:t>
            </a:r>
            <a:r>
              <a:rPr lang="en-US" dirty="0" smtClean="0"/>
              <a:t>D</a:t>
            </a:r>
            <a:r>
              <a:rPr lang="ru-RU" dirty="0" smtClean="0"/>
              <a:t> в «</a:t>
            </a:r>
            <a:r>
              <a:rPr lang="en-US" dirty="0" smtClean="0"/>
              <a:t>1</a:t>
            </a:r>
            <a:r>
              <a:rPr lang="ru-RU" dirty="0" smtClean="0"/>
              <a:t>»</a:t>
            </a:r>
            <a:r>
              <a:rPr lang="en-US" dirty="0" smtClean="0"/>
              <a:t> </a:t>
            </a:r>
            <a:endParaRPr lang="ru-RU" dirty="0"/>
          </a:p>
        </p:txBody>
      </p:sp>
    </p:spTree>
    <p:extLst>
      <p:ext uri="{BB962C8B-B14F-4D97-AF65-F5344CB8AC3E}">
        <p14:creationId xmlns:p14="http://schemas.microsoft.com/office/powerpoint/2010/main" val="26159682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404664"/>
            <a:ext cx="8496944" cy="1477328"/>
          </a:xfrm>
          <a:prstGeom prst="rect">
            <a:avLst/>
          </a:prstGeom>
        </p:spPr>
        <p:txBody>
          <a:bodyPr wrap="square">
            <a:spAutoFit/>
          </a:bodyPr>
          <a:lstStyle/>
          <a:p>
            <a:r>
              <a:rPr lang="ru-RU" dirty="0"/>
              <a:t>Содержимое </a:t>
            </a:r>
            <a:r>
              <a:rPr lang="ru-RU" i="1" dirty="0"/>
              <a:t>ПЗУ</a:t>
            </a:r>
            <a:r>
              <a:rPr lang="ru-RU" dirty="0"/>
              <a:t> обычно изображается в виде специальной таблицы, называемой </a:t>
            </a:r>
            <a:r>
              <a:rPr lang="ru-RU" b="1" dirty="0"/>
              <a:t>картой прошивки памяти</a:t>
            </a:r>
            <a:r>
              <a:rPr lang="ru-RU" dirty="0"/>
              <a:t>. В таблице показывается содержимое всех ячеек памяти, причем в каждой строке записывается содержимое 16 (или 32) последовательно идущих (при нарастании кода адреса) ячеек. При этом, как правило, используется 16-ричное </a:t>
            </a:r>
            <a:r>
              <a:rPr lang="ru-RU" i="1" dirty="0"/>
              <a:t>кодирование</a:t>
            </a:r>
            <a:r>
              <a:rPr lang="ru-RU" dirty="0"/>
              <a:t>.</a:t>
            </a:r>
          </a:p>
        </p:txBody>
      </p:sp>
      <p:graphicFrame>
        <p:nvGraphicFramePr>
          <p:cNvPr id="5" name="Таблица 4"/>
          <p:cNvGraphicFramePr>
            <a:graphicFrameLocks noGrp="1"/>
          </p:cNvGraphicFramePr>
          <p:nvPr>
            <p:extLst>
              <p:ext uri="{D42A27DB-BD31-4B8C-83A1-F6EECF244321}">
                <p14:modId xmlns:p14="http://schemas.microsoft.com/office/powerpoint/2010/main" val="1862359533"/>
              </p:ext>
            </p:extLst>
          </p:nvPr>
        </p:nvGraphicFramePr>
        <p:xfrm>
          <a:off x="385193" y="1881984"/>
          <a:ext cx="8229598" cy="4229658"/>
        </p:xfrm>
        <a:graphic>
          <a:graphicData uri="http://schemas.openxmlformats.org/drawingml/2006/table">
            <a:tbl>
              <a:tblPr firstRow="1" firstCol="1" bandRow="1">
                <a:tableStyleId>{5C22544A-7EE6-4342-B048-85BDC9FD1C3A}</a:tableStyleId>
              </a:tblPr>
              <a:tblGrid>
                <a:gridCol w="484094"/>
                <a:gridCol w="484094"/>
                <a:gridCol w="484094"/>
                <a:gridCol w="484094"/>
                <a:gridCol w="484094"/>
                <a:gridCol w="484094"/>
                <a:gridCol w="484094"/>
                <a:gridCol w="484094"/>
                <a:gridCol w="484094"/>
                <a:gridCol w="484094"/>
                <a:gridCol w="484094"/>
                <a:gridCol w="484094"/>
                <a:gridCol w="484094"/>
                <a:gridCol w="484094"/>
                <a:gridCol w="484094"/>
                <a:gridCol w="484094"/>
                <a:gridCol w="484094"/>
              </a:tblGrid>
              <a:tr h="234981">
                <a:tc gridSpan="17">
                  <a:txBody>
                    <a:bodyPr/>
                    <a:lstStyle/>
                    <a:p>
                      <a:pPr algn="ctr">
                        <a:lnSpc>
                          <a:spcPct val="115000"/>
                        </a:lnSpc>
                        <a:spcAft>
                          <a:spcPts val="0"/>
                        </a:spcAft>
                      </a:pPr>
                      <a:r>
                        <a:rPr lang="ru-RU" sz="1200" dirty="0" smtClean="0">
                          <a:effectLst/>
                        </a:rPr>
                        <a:t>Пример </a:t>
                      </a:r>
                      <a:r>
                        <a:rPr lang="ru-RU" sz="1200" dirty="0">
                          <a:effectLst/>
                        </a:rPr>
                        <a:t>карты прошивки ПЗУ</a:t>
                      </a:r>
                      <a:endParaRPr lang="ru-RU" sz="1200" dirty="0">
                        <a:effectLst/>
                        <a:latin typeface="Times New Roman"/>
                        <a:ea typeface="Calibri"/>
                        <a:cs typeface="Times New Roman"/>
                      </a:endParaRPr>
                    </a:p>
                  </a:txBody>
                  <a:tcPr marL="0" marR="0" marT="0" marB="0" anchor="ct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234981">
                <a:tc>
                  <a:txBody>
                    <a:bodyPr/>
                    <a:lstStyle/>
                    <a:p>
                      <a:pPr algn="ctr">
                        <a:lnSpc>
                          <a:spcPct val="115000"/>
                        </a:lnSpc>
                        <a:spcAft>
                          <a:spcPts val="0"/>
                        </a:spcAft>
                      </a:pPr>
                      <a:r>
                        <a:rPr lang="ru-RU" sz="1200">
                          <a:effectLst/>
                        </a:rPr>
                        <a:t>Адрес</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0</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1</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2</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3</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4</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5</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dirty="0">
                          <a:effectLst/>
                        </a:rPr>
                        <a:t>6</a:t>
                      </a:r>
                      <a:endParaRPr lang="ru-RU" sz="12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7</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8</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9</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A</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B</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C</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D</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E</a:t>
                      </a:r>
                      <a:endParaRPr lang="ru-RU" sz="120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1200">
                          <a:effectLst/>
                        </a:rPr>
                        <a:t>F</a:t>
                      </a:r>
                      <a:endParaRPr lang="ru-RU" sz="1200">
                        <a:effectLst/>
                        <a:latin typeface="Times New Roman"/>
                        <a:ea typeface="Calibri"/>
                        <a:cs typeface="Times New Roman"/>
                      </a:endParaRPr>
                    </a:p>
                  </a:txBody>
                  <a:tcPr marL="0" marR="0" marT="0" marB="0" anchor="ctr"/>
                </a:tc>
              </a:tr>
              <a:tr h="234981">
                <a:tc>
                  <a:txBody>
                    <a:bodyPr/>
                    <a:lstStyle/>
                    <a:p>
                      <a:pPr algn="ctr">
                        <a:lnSpc>
                          <a:spcPct val="115000"/>
                        </a:lnSpc>
                        <a:spcAft>
                          <a:spcPts val="0"/>
                        </a:spcAft>
                      </a:pPr>
                      <a:r>
                        <a:rPr lang="ru-RU" sz="1200">
                          <a:effectLst/>
                        </a:rPr>
                        <a:t>00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10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20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30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40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50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60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70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80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90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A0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B0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C0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D0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E0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r>
              <a:tr h="234981">
                <a:tc>
                  <a:txBody>
                    <a:bodyPr/>
                    <a:lstStyle/>
                    <a:p>
                      <a:pPr algn="ctr">
                        <a:lnSpc>
                          <a:spcPct val="115000"/>
                        </a:lnSpc>
                        <a:spcAft>
                          <a:spcPts val="0"/>
                        </a:spcAft>
                      </a:pPr>
                      <a:r>
                        <a:rPr lang="ru-RU" sz="1200">
                          <a:effectLst/>
                        </a:rPr>
                        <a:t>F0</a:t>
                      </a:r>
                      <a:endParaRPr lang="ru-RU" sz="120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a:effectLst/>
                        </a:rPr>
                        <a:t>FF</a:t>
                      </a:r>
                      <a:endParaRPr lang="ru-RU" sz="1200">
                        <a:effectLst/>
                        <a:latin typeface="Times New Roman"/>
                        <a:ea typeface="Calibri"/>
                        <a:cs typeface="Times New Roman"/>
                      </a:endParaRPr>
                    </a:p>
                  </a:txBody>
                  <a:tcPr marL="0" marR="0" marT="0" marB="0"/>
                </a:tc>
                <a:tc>
                  <a:txBody>
                    <a:bodyPr/>
                    <a:lstStyle/>
                    <a:p>
                      <a:pPr>
                        <a:lnSpc>
                          <a:spcPct val="115000"/>
                        </a:lnSpc>
                        <a:spcAft>
                          <a:spcPts val="0"/>
                        </a:spcAft>
                      </a:pPr>
                      <a:r>
                        <a:rPr lang="ru-RU" sz="1200" dirty="0">
                          <a:effectLst/>
                        </a:rPr>
                        <a:t>FF</a:t>
                      </a:r>
                      <a:endParaRPr lang="ru-RU" sz="1200" dirty="0">
                        <a:effectLst/>
                        <a:latin typeface="Times New Roman"/>
                        <a:ea typeface="Calibri"/>
                        <a:cs typeface="Times New Roman"/>
                      </a:endParaRPr>
                    </a:p>
                  </a:txBody>
                  <a:tcPr marL="0" marR="0" marT="0" marB="0"/>
                </a:tc>
              </a:tr>
            </a:tbl>
          </a:graphicData>
        </a:graphic>
      </p:graphicFrame>
    </p:spTree>
    <p:extLst>
      <p:ext uri="{BB962C8B-B14F-4D97-AF65-F5344CB8AC3E}">
        <p14:creationId xmlns:p14="http://schemas.microsoft.com/office/powerpoint/2010/main" val="22319286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02057" y="1124744"/>
            <a:ext cx="8424936" cy="1754326"/>
          </a:xfrm>
          <a:prstGeom prst="rect">
            <a:avLst/>
          </a:prstGeom>
        </p:spPr>
        <p:txBody>
          <a:bodyPr wrap="square">
            <a:spAutoFit/>
          </a:bodyPr>
          <a:lstStyle/>
          <a:p>
            <a:r>
              <a:rPr lang="ru-RU" dirty="0"/>
              <a:t>Любые микросхемы </a:t>
            </a:r>
            <a:r>
              <a:rPr lang="ru-RU" i="1" dirty="0"/>
              <a:t>ПЗУ</a:t>
            </a:r>
            <a:r>
              <a:rPr lang="ru-RU" dirty="0"/>
              <a:t> легко можно включать так, чтобы уменьшать или увеличивать количество адресных разрядов, то есть уменьшать или увеличивать количество используемых ячеек памяти. </a:t>
            </a:r>
            <a:r>
              <a:rPr lang="ru-RU" dirty="0" smtClean="0"/>
              <a:t>Для </a:t>
            </a:r>
            <a:r>
              <a:rPr lang="ru-RU" dirty="0"/>
              <a:t>уменьшения количества адресных разрядов необходимо на нужное число старших адресных входов подать нулевые сигналы. Каждый отключенный таким образом адресный разряд уменьшает количество ячеек </a:t>
            </a:r>
            <a:r>
              <a:rPr lang="ru-RU" i="1" dirty="0"/>
              <a:t>ПЗУ</a:t>
            </a:r>
            <a:r>
              <a:rPr lang="ru-RU" dirty="0"/>
              <a:t> вдвое. </a:t>
            </a:r>
          </a:p>
        </p:txBody>
      </p:sp>
      <p:pic>
        <p:nvPicPr>
          <p:cNvPr id="5" name="Рисунок 4" descr="Уменьшение количества адресных разрядов ПЗУ"/>
          <p:cNvPicPr/>
          <p:nvPr/>
        </p:nvPicPr>
        <p:blipFill>
          <a:blip r:embed="rId2">
            <a:extLst>
              <a:ext uri="{28A0092B-C50C-407E-A947-70E740481C1C}">
                <a14:useLocalDpi xmlns:a14="http://schemas.microsoft.com/office/drawing/2010/main" val="0"/>
              </a:ext>
            </a:extLst>
          </a:blip>
          <a:srcRect/>
          <a:stretch>
            <a:fillRect/>
          </a:stretch>
        </p:blipFill>
        <p:spPr bwMode="auto">
          <a:xfrm>
            <a:off x="2254888" y="4114998"/>
            <a:ext cx="4457700" cy="2524125"/>
          </a:xfrm>
          <a:prstGeom prst="rect">
            <a:avLst/>
          </a:prstGeom>
          <a:noFill/>
          <a:ln>
            <a:noFill/>
          </a:ln>
        </p:spPr>
      </p:pic>
      <p:sp>
        <p:nvSpPr>
          <p:cNvPr id="6" name="Прямоугольник 5"/>
          <p:cNvSpPr/>
          <p:nvPr/>
        </p:nvSpPr>
        <p:spPr>
          <a:xfrm>
            <a:off x="3691938" y="3518609"/>
            <a:ext cx="643125" cy="369332"/>
          </a:xfrm>
          <a:prstGeom prst="rect">
            <a:avLst/>
          </a:prstGeom>
        </p:spPr>
        <p:txBody>
          <a:bodyPr wrap="none">
            <a:spAutoFit/>
          </a:bodyPr>
          <a:lstStyle/>
          <a:p>
            <a:r>
              <a:rPr lang="ru-RU" dirty="0"/>
              <a:t>2Кх8</a:t>
            </a:r>
          </a:p>
        </p:txBody>
      </p:sp>
      <p:cxnSp>
        <p:nvCxnSpPr>
          <p:cNvPr id="8" name="Прямая со стрелкой 7"/>
          <p:cNvCxnSpPr/>
          <p:nvPr/>
        </p:nvCxnSpPr>
        <p:spPr>
          <a:xfrm>
            <a:off x="4335063" y="3708676"/>
            <a:ext cx="57946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Прямоугольник 8"/>
          <p:cNvSpPr/>
          <p:nvPr/>
        </p:nvSpPr>
        <p:spPr>
          <a:xfrm>
            <a:off x="4925964" y="3579584"/>
            <a:ext cx="752129" cy="369332"/>
          </a:xfrm>
          <a:prstGeom prst="rect">
            <a:avLst/>
          </a:prstGeom>
        </p:spPr>
        <p:txBody>
          <a:bodyPr wrap="none">
            <a:spAutoFit/>
          </a:bodyPr>
          <a:lstStyle/>
          <a:p>
            <a:r>
              <a:rPr lang="ru-RU" dirty="0"/>
              <a:t>512х8</a:t>
            </a:r>
          </a:p>
        </p:txBody>
      </p:sp>
      <p:sp>
        <p:nvSpPr>
          <p:cNvPr id="10" name="TextBox 9"/>
          <p:cNvSpPr txBox="1"/>
          <p:nvPr/>
        </p:nvSpPr>
        <p:spPr>
          <a:xfrm>
            <a:off x="2390642" y="3210252"/>
            <a:ext cx="4670125" cy="369332"/>
          </a:xfrm>
          <a:prstGeom prst="rect">
            <a:avLst/>
          </a:prstGeom>
          <a:noFill/>
        </p:spPr>
        <p:txBody>
          <a:bodyPr wrap="none" rtlCol="0">
            <a:spAutoFit/>
          </a:bodyPr>
          <a:lstStyle/>
          <a:p>
            <a:r>
              <a:rPr lang="ru-RU" b="1" dirty="0" smtClean="0"/>
              <a:t>Пример уменьшения адресной разрядности</a:t>
            </a:r>
            <a:endParaRPr lang="ru-RU" b="1" dirty="0"/>
          </a:p>
        </p:txBody>
      </p:sp>
      <p:sp>
        <p:nvSpPr>
          <p:cNvPr id="11" name="TextBox 10"/>
          <p:cNvSpPr txBox="1"/>
          <p:nvPr/>
        </p:nvSpPr>
        <p:spPr>
          <a:xfrm>
            <a:off x="2005359" y="476672"/>
            <a:ext cx="5365315" cy="369332"/>
          </a:xfrm>
          <a:prstGeom prst="rect">
            <a:avLst/>
          </a:prstGeom>
          <a:noFill/>
        </p:spPr>
        <p:txBody>
          <a:bodyPr wrap="none" rtlCol="0">
            <a:spAutoFit/>
          </a:bodyPr>
          <a:lstStyle/>
          <a:p>
            <a:r>
              <a:rPr lang="ru-RU" b="1" dirty="0" smtClean="0"/>
              <a:t>Уменьшение и увеличение адресных разрядов ПЗУ</a:t>
            </a:r>
            <a:endParaRPr lang="ru-RU" b="1" dirty="0"/>
          </a:p>
        </p:txBody>
      </p:sp>
    </p:spTree>
    <p:extLst>
      <p:ext uri="{BB962C8B-B14F-4D97-AF65-F5344CB8AC3E}">
        <p14:creationId xmlns:p14="http://schemas.microsoft.com/office/powerpoint/2010/main" val="8336908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4173" y="116632"/>
            <a:ext cx="9126760" cy="2862322"/>
          </a:xfrm>
          <a:prstGeom prst="rect">
            <a:avLst/>
          </a:prstGeom>
        </p:spPr>
        <p:txBody>
          <a:bodyPr wrap="square">
            <a:spAutoFit/>
          </a:bodyPr>
          <a:lstStyle/>
          <a:p>
            <a:r>
              <a:rPr lang="ru-RU" dirty="0"/>
              <a:t>Задача увеличения количества адресных разрядов </a:t>
            </a:r>
            <a:r>
              <a:rPr lang="ru-RU" i="1" dirty="0"/>
              <a:t>ПЗУ</a:t>
            </a:r>
            <a:r>
              <a:rPr lang="ru-RU" dirty="0"/>
              <a:t> встречается значительно чаще задачи уменьшения количества адресных разрядов. В результате такого увеличения возрастает объем </a:t>
            </a:r>
            <a:r>
              <a:rPr lang="ru-RU" i="1" dirty="0"/>
              <a:t>ПЗУ</a:t>
            </a:r>
            <a:r>
              <a:rPr lang="ru-RU" dirty="0"/>
              <a:t>, объемы отдельных микросхем суммируются. Для увеличения адресных разрядов обычно применяются микросхемы </a:t>
            </a:r>
            <a:r>
              <a:rPr lang="ru-RU" dirty="0" smtClean="0"/>
              <a:t>дешифраторов .Младшие </a:t>
            </a:r>
            <a:r>
              <a:rPr lang="ru-RU" dirty="0"/>
              <a:t>разряды </a:t>
            </a:r>
            <a:r>
              <a:rPr lang="ru-RU" i="1" dirty="0"/>
              <a:t>шины адреса</a:t>
            </a:r>
            <a:r>
              <a:rPr lang="ru-RU" dirty="0"/>
              <a:t> при этом подаются на объединенные адресные входы всех микросхем, а старшие — на </a:t>
            </a:r>
            <a:r>
              <a:rPr lang="ru-RU" i="1" dirty="0"/>
              <a:t>управляющие</a:t>
            </a:r>
            <a:r>
              <a:rPr lang="ru-RU" dirty="0"/>
              <a:t> (адресные) входы </a:t>
            </a:r>
            <a:r>
              <a:rPr lang="ru-RU" i="1" dirty="0"/>
              <a:t>дешифратора</a:t>
            </a:r>
            <a:r>
              <a:rPr lang="ru-RU" dirty="0"/>
              <a:t>. Выходные сигналы </a:t>
            </a:r>
            <a:r>
              <a:rPr lang="ru-RU" i="1" dirty="0"/>
              <a:t>дешифратора</a:t>
            </a:r>
            <a:r>
              <a:rPr lang="ru-RU" dirty="0"/>
              <a:t> разрешают работу всегда только одной микросхемы памяти. В результате на </a:t>
            </a:r>
            <a:r>
              <a:rPr lang="ru-RU" i="1" dirty="0"/>
              <a:t>общую шину</a:t>
            </a:r>
            <a:r>
              <a:rPr lang="ru-RU" dirty="0"/>
              <a:t> данных всех </a:t>
            </a:r>
            <a:r>
              <a:rPr lang="ru-RU" i="1" dirty="0"/>
              <a:t>ПЗУ</a:t>
            </a:r>
            <a:r>
              <a:rPr lang="ru-RU" dirty="0"/>
              <a:t> выдает свою информацию только одна микросхема. </a:t>
            </a:r>
            <a:r>
              <a:rPr lang="ru-RU" dirty="0" smtClean="0"/>
              <a:t>В </a:t>
            </a:r>
            <a:r>
              <a:rPr lang="ru-RU" dirty="0"/>
              <a:t>результате подобного объединения микросхем </a:t>
            </a:r>
            <a:r>
              <a:rPr lang="ru-RU" i="1" dirty="0"/>
              <a:t>ПЗУ</a:t>
            </a:r>
            <a:r>
              <a:rPr lang="ru-RU" dirty="0"/>
              <a:t> может </a:t>
            </a:r>
            <a:r>
              <a:rPr lang="ru-RU" b="1" dirty="0"/>
              <a:t>увеличиться время выборки адреса </a:t>
            </a:r>
            <a:r>
              <a:rPr lang="ru-RU" dirty="0"/>
              <a:t>полученного единого </a:t>
            </a:r>
            <a:r>
              <a:rPr lang="ru-RU" i="1" dirty="0"/>
              <a:t>ПЗУ</a:t>
            </a:r>
            <a:r>
              <a:rPr lang="ru-RU" dirty="0"/>
              <a:t>. </a:t>
            </a:r>
          </a:p>
        </p:txBody>
      </p:sp>
      <p:pic>
        <p:nvPicPr>
          <p:cNvPr id="5" name="Рисунок 4" descr="Увеличение количества адресных разрядов ПЗУ с помощью дешифратора"/>
          <p:cNvPicPr/>
          <p:nvPr/>
        </p:nvPicPr>
        <p:blipFill>
          <a:blip r:embed="rId2">
            <a:extLst>
              <a:ext uri="{28A0092B-C50C-407E-A947-70E740481C1C}">
                <a14:useLocalDpi xmlns:a14="http://schemas.microsoft.com/office/drawing/2010/main" val="0"/>
              </a:ext>
            </a:extLst>
          </a:blip>
          <a:srcRect/>
          <a:stretch>
            <a:fillRect/>
          </a:stretch>
        </p:blipFill>
        <p:spPr bwMode="auto">
          <a:xfrm>
            <a:off x="179512" y="2978954"/>
            <a:ext cx="5616624" cy="3724736"/>
          </a:xfrm>
          <a:prstGeom prst="rect">
            <a:avLst/>
          </a:prstGeom>
          <a:noFill/>
          <a:ln>
            <a:noFill/>
          </a:ln>
        </p:spPr>
      </p:pic>
      <p:sp>
        <p:nvSpPr>
          <p:cNvPr id="6" name="TextBox 5"/>
          <p:cNvSpPr txBox="1"/>
          <p:nvPr/>
        </p:nvSpPr>
        <p:spPr>
          <a:xfrm>
            <a:off x="5580112" y="3140968"/>
            <a:ext cx="3447932" cy="646331"/>
          </a:xfrm>
          <a:prstGeom prst="rect">
            <a:avLst/>
          </a:prstGeom>
          <a:noFill/>
        </p:spPr>
        <p:txBody>
          <a:bodyPr wrap="none" rtlCol="0">
            <a:spAutoFit/>
          </a:bodyPr>
          <a:lstStyle/>
          <a:p>
            <a:r>
              <a:rPr lang="ru-RU" b="1" dirty="0" smtClean="0"/>
              <a:t>Пример увеличения количества </a:t>
            </a:r>
          </a:p>
          <a:p>
            <a:r>
              <a:rPr lang="ru-RU" b="1" dirty="0" smtClean="0"/>
              <a:t>адресных разрядов</a:t>
            </a:r>
            <a:endParaRPr lang="ru-RU" b="1" dirty="0"/>
          </a:p>
        </p:txBody>
      </p:sp>
    </p:spTree>
    <p:extLst>
      <p:ext uri="{BB962C8B-B14F-4D97-AF65-F5344CB8AC3E}">
        <p14:creationId xmlns:p14="http://schemas.microsoft.com/office/powerpoint/2010/main" val="10118483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5616" y="724414"/>
            <a:ext cx="5666359" cy="646331"/>
          </a:xfrm>
          <a:prstGeom prst="rect">
            <a:avLst/>
          </a:prstGeom>
          <a:noFill/>
        </p:spPr>
        <p:txBody>
          <a:bodyPr wrap="none" rtlCol="0">
            <a:spAutoFit/>
          </a:bodyPr>
          <a:lstStyle/>
          <a:p>
            <a:r>
              <a:rPr lang="ru-RU" b="1" dirty="0" smtClean="0">
                <a:solidFill>
                  <a:srgbClr val="FF0000"/>
                </a:solidFill>
              </a:rPr>
              <a:t>Как увеличить объем памяти вдвое без дешифратора, </a:t>
            </a:r>
          </a:p>
          <a:p>
            <a:r>
              <a:rPr lang="ru-RU" b="1" dirty="0" smtClean="0">
                <a:solidFill>
                  <a:srgbClr val="FF0000"/>
                </a:solidFill>
              </a:rPr>
              <a:t>если используются 2 одинаковые схемы ПЗУ? (схема)</a:t>
            </a:r>
            <a:endParaRPr lang="ru-RU" b="1" dirty="0">
              <a:solidFill>
                <a:srgbClr val="FF0000"/>
              </a:solidFill>
            </a:endParaRPr>
          </a:p>
        </p:txBody>
      </p:sp>
      <p:sp>
        <p:nvSpPr>
          <p:cNvPr id="5" name="TextBox 4"/>
          <p:cNvSpPr txBox="1"/>
          <p:nvPr/>
        </p:nvSpPr>
        <p:spPr>
          <a:xfrm>
            <a:off x="1296498" y="2492896"/>
            <a:ext cx="5304594" cy="369332"/>
          </a:xfrm>
          <a:prstGeom prst="rect">
            <a:avLst/>
          </a:prstGeom>
          <a:noFill/>
        </p:spPr>
        <p:txBody>
          <a:bodyPr wrap="none" rtlCol="0">
            <a:spAutoFit/>
          </a:bodyPr>
          <a:lstStyle/>
          <a:p>
            <a:r>
              <a:rPr lang="ru-RU" b="1" dirty="0" smtClean="0">
                <a:solidFill>
                  <a:srgbClr val="FF0000"/>
                </a:solidFill>
              </a:rPr>
              <a:t>Как увеличить разрядность шины данных? </a:t>
            </a:r>
            <a:r>
              <a:rPr lang="ru-RU" b="1" dirty="0">
                <a:solidFill>
                  <a:srgbClr val="FF0000"/>
                </a:solidFill>
              </a:rPr>
              <a:t>(схема)</a:t>
            </a:r>
          </a:p>
        </p:txBody>
      </p:sp>
    </p:spTree>
    <p:extLst>
      <p:ext uri="{BB962C8B-B14F-4D97-AF65-F5344CB8AC3E}">
        <p14:creationId xmlns:p14="http://schemas.microsoft.com/office/powerpoint/2010/main" val="10470567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95736" y="260648"/>
            <a:ext cx="4968220" cy="400110"/>
          </a:xfrm>
          <a:prstGeom prst="rect">
            <a:avLst/>
          </a:prstGeom>
          <a:noFill/>
        </p:spPr>
        <p:txBody>
          <a:bodyPr wrap="none" rtlCol="0">
            <a:spAutoFit/>
          </a:bodyPr>
          <a:lstStyle/>
          <a:p>
            <a:r>
              <a:rPr lang="ru-RU" sz="2000" b="1" dirty="0" smtClean="0"/>
              <a:t>Функциональные элементы на основе ПЗУ</a:t>
            </a:r>
            <a:endParaRPr lang="ru-RU" sz="2000" b="1" dirty="0"/>
          </a:p>
        </p:txBody>
      </p:sp>
      <p:sp>
        <p:nvSpPr>
          <p:cNvPr id="5" name="TextBox 4"/>
          <p:cNvSpPr txBox="1"/>
          <p:nvPr/>
        </p:nvSpPr>
        <p:spPr>
          <a:xfrm>
            <a:off x="2195736" y="815489"/>
            <a:ext cx="4715522" cy="369332"/>
          </a:xfrm>
          <a:prstGeom prst="rect">
            <a:avLst/>
          </a:prstGeom>
          <a:noFill/>
        </p:spPr>
        <p:txBody>
          <a:bodyPr wrap="none" rtlCol="0">
            <a:spAutoFit/>
          </a:bodyPr>
          <a:lstStyle/>
          <a:p>
            <a:r>
              <a:rPr lang="ru-RU" i="1" u="sng" dirty="0" smtClean="0"/>
              <a:t>Универсальная  комбинационная микросхема</a:t>
            </a:r>
            <a:endParaRPr lang="ru-RU" i="1" u="sng" dirty="0"/>
          </a:p>
        </p:txBody>
      </p:sp>
      <p:sp>
        <p:nvSpPr>
          <p:cNvPr id="6" name="Прямоугольник 5"/>
          <p:cNvSpPr/>
          <p:nvPr/>
        </p:nvSpPr>
        <p:spPr>
          <a:xfrm>
            <a:off x="323528" y="1188574"/>
            <a:ext cx="8296597" cy="369332"/>
          </a:xfrm>
          <a:prstGeom prst="rect">
            <a:avLst/>
          </a:prstGeom>
        </p:spPr>
        <p:txBody>
          <a:bodyPr wrap="square">
            <a:spAutoFit/>
          </a:bodyPr>
          <a:lstStyle/>
          <a:p>
            <a:r>
              <a:rPr lang="ru-RU" b="1" dirty="0" smtClean="0"/>
              <a:t>Цель</a:t>
            </a:r>
            <a:r>
              <a:rPr lang="ru-RU" dirty="0" smtClean="0"/>
              <a:t> -</a:t>
            </a:r>
            <a:r>
              <a:rPr lang="ru-RU" dirty="0"/>
              <a:t> замена </a:t>
            </a:r>
            <a:r>
              <a:rPr lang="ru-RU" dirty="0" smtClean="0"/>
              <a:t>сложных</a:t>
            </a:r>
            <a:r>
              <a:rPr lang="ru-RU" dirty="0"/>
              <a:t> </a:t>
            </a:r>
            <a:r>
              <a:rPr lang="ru-RU" i="1" dirty="0"/>
              <a:t>комбинационных </a:t>
            </a:r>
            <a:r>
              <a:rPr lang="ru-RU" i="1" dirty="0" smtClean="0"/>
              <a:t>схем логики </a:t>
            </a:r>
            <a:r>
              <a:rPr lang="ru-RU" dirty="0" smtClean="0"/>
              <a:t>микросхемой</a:t>
            </a:r>
            <a:r>
              <a:rPr lang="ru-RU" dirty="0"/>
              <a:t> </a:t>
            </a:r>
            <a:r>
              <a:rPr lang="ru-RU" i="1" dirty="0"/>
              <a:t>ПЗУ</a:t>
            </a:r>
            <a:r>
              <a:rPr lang="ru-RU" dirty="0"/>
              <a:t> </a:t>
            </a:r>
            <a:r>
              <a:rPr lang="ru-RU" dirty="0" smtClean="0"/>
              <a:t> </a:t>
            </a:r>
            <a:endParaRPr lang="ru-RU" dirty="0"/>
          </a:p>
        </p:txBody>
      </p:sp>
      <p:sp>
        <p:nvSpPr>
          <p:cNvPr id="7" name="Прямоугольник 6"/>
          <p:cNvSpPr/>
          <p:nvPr/>
        </p:nvSpPr>
        <p:spPr>
          <a:xfrm>
            <a:off x="293530" y="4005064"/>
            <a:ext cx="8568952" cy="923330"/>
          </a:xfrm>
          <a:prstGeom prst="rect">
            <a:avLst/>
          </a:prstGeom>
        </p:spPr>
        <p:txBody>
          <a:bodyPr wrap="square">
            <a:spAutoFit/>
          </a:bodyPr>
          <a:lstStyle/>
          <a:p>
            <a:r>
              <a:rPr lang="ru-RU" b="1" dirty="0" smtClean="0"/>
              <a:t>Преимущество</a:t>
            </a:r>
            <a:r>
              <a:rPr lang="ru-RU" dirty="0" smtClean="0"/>
              <a:t>  данного подхода - упрощение проектируемых устройств,  снижение  количества </a:t>
            </a:r>
            <a:r>
              <a:rPr lang="ru-RU" dirty="0"/>
              <a:t>используемых комбинационных микросхем, </a:t>
            </a:r>
            <a:r>
              <a:rPr lang="ru-RU" dirty="0" smtClean="0"/>
              <a:t>уменьшение потребляемой мощности, увеличение быстродействия схем. </a:t>
            </a:r>
            <a:endParaRPr lang="ru-RU" dirty="0"/>
          </a:p>
        </p:txBody>
      </p:sp>
      <p:sp>
        <p:nvSpPr>
          <p:cNvPr id="8" name="Прямоугольник 7"/>
          <p:cNvSpPr/>
          <p:nvPr/>
        </p:nvSpPr>
        <p:spPr>
          <a:xfrm>
            <a:off x="313454" y="1691320"/>
            <a:ext cx="8480086" cy="1200329"/>
          </a:xfrm>
          <a:prstGeom prst="rect">
            <a:avLst/>
          </a:prstGeom>
        </p:spPr>
        <p:txBody>
          <a:bodyPr wrap="square">
            <a:spAutoFit/>
          </a:bodyPr>
          <a:lstStyle/>
          <a:p>
            <a:r>
              <a:rPr lang="ru-RU" b="1" dirty="0" smtClean="0"/>
              <a:t>Основная идея</a:t>
            </a:r>
            <a:r>
              <a:rPr lang="ru-RU" dirty="0" smtClean="0"/>
              <a:t> - адресные </a:t>
            </a:r>
            <a:r>
              <a:rPr lang="ru-RU" dirty="0"/>
              <a:t>входы микросхемы </a:t>
            </a:r>
            <a:r>
              <a:rPr lang="ru-RU" i="1" dirty="0"/>
              <a:t>ПЗУ</a:t>
            </a:r>
            <a:r>
              <a:rPr lang="ru-RU" dirty="0"/>
              <a:t> </a:t>
            </a:r>
            <a:r>
              <a:rPr lang="ru-RU" dirty="0" smtClean="0"/>
              <a:t> рассматриваются как </a:t>
            </a:r>
            <a:r>
              <a:rPr lang="ru-RU" b="1" dirty="0">
                <a:solidFill>
                  <a:srgbClr val="FF0000"/>
                </a:solidFill>
              </a:rPr>
              <a:t>входы</a:t>
            </a:r>
            <a:r>
              <a:rPr lang="ru-RU" b="1" dirty="0"/>
              <a:t> </a:t>
            </a:r>
            <a:r>
              <a:rPr lang="ru-RU" i="1" dirty="0"/>
              <a:t>комбинационной схемы</a:t>
            </a:r>
            <a:r>
              <a:rPr lang="ru-RU" dirty="0"/>
              <a:t>, а разряды данных — как </a:t>
            </a:r>
            <a:r>
              <a:rPr lang="ru-RU" b="1" dirty="0">
                <a:solidFill>
                  <a:srgbClr val="FF0000"/>
                </a:solidFill>
              </a:rPr>
              <a:t>выходы</a:t>
            </a:r>
            <a:r>
              <a:rPr lang="ru-RU" dirty="0"/>
              <a:t> этой </a:t>
            </a:r>
            <a:r>
              <a:rPr lang="ru-RU" i="1" dirty="0"/>
              <a:t>комбинационной </a:t>
            </a:r>
            <a:r>
              <a:rPr lang="ru-RU" i="1" dirty="0" smtClean="0"/>
              <a:t>схемы</a:t>
            </a:r>
            <a:r>
              <a:rPr lang="ru-RU" dirty="0"/>
              <a:t>.</a:t>
            </a:r>
            <a:r>
              <a:rPr lang="ru-RU" dirty="0" smtClean="0"/>
              <a:t> </a:t>
            </a:r>
            <a:r>
              <a:rPr lang="ru-RU" i="1" dirty="0" smtClean="0"/>
              <a:t>Таблица </a:t>
            </a:r>
            <a:r>
              <a:rPr lang="ru-RU" i="1" dirty="0"/>
              <a:t>истинности</a:t>
            </a:r>
            <a:r>
              <a:rPr lang="ru-RU" dirty="0"/>
              <a:t> данной </a:t>
            </a:r>
            <a:r>
              <a:rPr lang="ru-RU" i="1" dirty="0"/>
              <a:t>комбинационной </a:t>
            </a:r>
            <a:r>
              <a:rPr lang="ru-RU" i="1" dirty="0" smtClean="0"/>
              <a:t>схемы</a:t>
            </a:r>
            <a:r>
              <a:rPr lang="ru-RU" dirty="0" smtClean="0"/>
              <a:t> </a:t>
            </a:r>
            <a:r>
              <a:rPr lang="ru-RU" dirty="0"/>
              <a:t> </a:t>
            </a:r>
            <a:r>
              <a:rPr lang="ru-RU" dirty="0" smtClean="0"/>
              <a:t>формируется путем прошивки (программирования) ПЗУ.</a:t>
            </a:r>
            <a:endParaRPr lang="ru-RU" dirty="0"/>
          </a:p>
        </p:txBody>
      </p:sp>
      <p:sp>
        <p:nvSpPr>
          <p:cNvPr id="9" name="Прямоугольник 8"/>
          <p:cNvSpPr/>
          <p:nvPr/>
        </p:nvSpPr>
        <p:spPr>
          <a:xfrm>
            <a:off x="326519" y="2891649"/>
            <a:ext cx="8208912" cy="923330"/>
          </a:xfrm>
          <a:prstGeom prst="rect">
            <a:avLst/>
          </a:prstGeom>
        </p:spPr>
        <p:txBody>
          <a:bodyPr wrap="square">
            <a:spAutoFit/>
          </a:bodyPr>
          <a:lstStyle/>
          <a:p>
            <a:r>
              <a:rPr lang="ru-RU" b="1" dirty="0" smtClean="0"/>
              <a:t>Необходимое условие для реализации </a:t>
            </a:r>
            <a:r>
              <a:rPr lang="ru-RU" dirty="0" smtClean="0"/>
              <a:t>-количество </a:t>
            </a:r>
            <a:r>
              <a:rPr lang="ru-RU" dirty="0"/>
              <a:t>требуемых входов не </a:t>
            </a:r>
            <a:r>
              <a:rPr lang="ru-RU" dirty="0" smtClean="0"/>
              <a:t>превышает </a:t>
            </a:r>
            <a:r>
              <a:rPr lang="ru-RU" dirty="0"/>
              <a:t>количества адресных разрядов </a:t>
            </a:r>
            <a:r>
              <a:rPr lang="ru-RU" i="1" dirty="0" smtClean="0"/>
              <a:t>ПЗУ</a:t>
            </a:r>
            <a:r>
              <a:rPr lang="ru-RU" dirty="0" smtClean="0"/>
              <a:t>, количество </a:t>
            </a:r>
            <a:r>
              <a:rPr lang="ru-RU" dirty="0"/>
              <a:t>требуемых выходов не </a:t>
            </a:r>
            <a:r>
              <a:rPr lang="ru-RU" dirty="0" smtClean="0"/>
              <a:t>превышает разрядность</a:t>
            </a:r>
            <a:r>
              <a:rPr lang="ru-RU" dirty="0"/>
              <a:t> </a:t>
            </a:r>
            <a:r>
              <a:rPr lang="ru-RU" i="1" dirty="0"/>
              <a:t>шины данных</a:t>
            </a:r>
            <a:r>
              <a:rPr lang="ru-RU" dirty="0"/>
              <a:t> </a:t>
            </a:r>
            <a:r>
              <a:rPr lang="ru-RU" i="1" dirty="0"/>
              <a:t>ПЗУ</a:t>
            </a:r>
            <a:endParaRPr lang="ru-RU" dirty="0"/>
          </a:p>
        </p:txBody>
      </p:sp>
    </p:spTree>
    <p:extLst>
      <p:ext uri="{BB962C8B-B14F-4D97-AF65-F5344CB8AC3E}">
        <p14:creationId xmlns:p14="http://schemas.microsoft.com/office/powerpoint/2010/main" val="34745615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404664"/>
            <a:ext cx="7762979"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3528" y="3532366"/>
            <a:ext cx="1639936" cy="369332"/>
          </a:xfrm>
          <a:prstGeom prst="rect">
            <a:avLst/>
          </a:prstGeom>
          <a:noFill/>
        </p:spPr>
        <p:txBody>
          <a:bodyPr wrap="none" rtlCol="0">
            <a:spAutoFit/>
          </a:bodyPr>
          <a:lstStyle/>
          <a:p>
            <a:r>
              <a:rPr lang="ru-RU" dirty="0" smtClean="0"/>
              <a:t>Логика работы</a:t>
            </a:r>
            <a:endParaRPr lang="ru-RU" dirty="0"/>
          </a:p>
        </p:txBody>
      </p:sp>
      <p:sp>
        <p:nvSpPr>
          <p:cNvPr id="5" name="TextBox 4"/>
          <p:cNvSpPr txBox="1"/>
          <p:nvPr/>
        </p:nvSpPr>
        <p:spPr>
          <a:xfrm>
            <a:off x="358679" y="3931217"/>
            <a:ext cx="4185698" cy="369332"/>
          </a:xfrm>
          <a:prstGeom prst="rect">
            <a:avLst/>
          </a:prstGeom>
          <a:noFill/>
        </p:spPr>
        <p:txBody>
          <a:bodyPr wrap="none" rtlCol="0">
            <a:spAutoFit/>
          </a:bodyPr>
          <a:lstStyle/>
          <a:p>
            <a:r>
              <a:rPr lang="ru-RU" dirty="0" smtClean="0"/>
              <a:t>-</a:t>
            </a:r>
            <a:r>
              <a:rPr lang="ru-RU" dirty="0" err="1" smtClean="0"/>
              <a:t>Разр</a:t>
            </a:r>
            <a:r>
              <a:rPr lang="ru-RU" dirty="0" smtClean="0"/>
              <a:t>. – сигнал разрешения работы  0 (</a:t>
            </a:r>
            <a:r>
              <a:rPr lang="en-US" dirty="0" smtClean="0"/>
              <a:t>L)</a:t>
            </a:r>
            <a:endParaRPr lang="ru-RU" dirty="0"/>
          </a:p>
        </p:txBody>
      </p:sp>
      <p:sp>
        <p:nvSpPr>
          <p:cNvPr id="6" name="TextBox 5"/>
          <p:cNvSpPr txBox="1"/>
          <p:nvPr/>
        </p:nvSpPr>
        <p:spPr>
          <a:xfrm>
            <a:off x="433430" y="4396462"/>
            <a:ext cx="1596463" cy="369332"/>
          </a:xfrm>
          <a:prstGeom prst="rect">
            <a:avLst/>
          </a:prstGeom>
          <a:noFill/>
        </p:spPr>
        <p:txBody>
          <a:bodyPr wrap="none" rtlCol="0">
            <a:spAutoFit/>
          </a:bodyPr>
          <a:lstStyle/>
          <a:p>
            <a:r>
              <a:rPr lang="ru-RU" dirty="0" smtClean="0"/>
              <a:t>Входные коды</a:t>
            </a:r>
            <a:endParaRPr lang="ru-RU" dirty="0"/>
          </a:p>
        </p:txBody>
      </p:sp>
      <p:sp>
        <p:nvSpPr>
          <p:cNvPr id="7" name="TextBox 6"/>
          <p:cNvSpPr txBox="1"/>
          <p:nvPr/>
        </p:nvSpPr>
        <p:spPr>
          <a:xfrm>
            <a:off x="3131840" y="177493"/>
            <a:ext cx="593432" cy="369332"/>
          </a:xfrm>
          <a:prstGeom prst="rect">
            <a:avLst/>
          </a:prstGeom>
          <a:noFill/>
        </p:spPr>
        <p:txBody>
          <a:bodyPr wrap="none" rtlCol="0">
            <a:spAutoFit/>
          </a:bodyPr>
          <a:lstStyle/>
          <a:p>
            <a:r>
              <a:rPr lang="en-US" b="1" dirty="0" smtClean="0">
                <a:solidFill>
                  <a:srgbClr val="FF0000"/>
                </a:solidFill>
              </a:rPr>
              <a:t>DD1</a:t>
            </a:r>
            <a:endParaRPr lang="ru-RU" b="1" dirty="0">
              <a:solidFill>
                <a:srgbClr val="FF0000"/>
              </a:solidFill>
            </a:endParaRPr>
          </a:p>
        </p:txBody>
      </p:sp>
      <p:sp>
        <p:nvSpPr>
          <p:cNvPr id="9" name="TextBox 8"/>
          <p:cNvSpPr txBox="1"/>
          <p:nvPr/>
        </p:nvSpPr>
        <p:spPr>
          <a:xfrm>
            <a:off x="5216866" y="388778"/>
            <a:ext cx="593432" cy="369332"/>
          </a:xfrm>
          <a:prstGeom prst="rect">
            <a:avLst/>
          </a:prstGeom>
          <a:noFill/>
        </p:spPr>
        <p:txBody>
          <a:bodyPr wrap="none" rtlCol="0">
            <a:spAutoFit/>
          </a:bodyPr>
          <a:lstStyle/>
          <a:p>
            <a:r>
              <a:rPr lang="en-US" b="1" dirty="0" smtClean="0">
                <a:solidFill>
                  <a:srgbClr val="FF0000"/>
                </a:solidFill>
              </a:rPr>
              <a:t>DD2</a:t>
            </a:r>
            <a:endParaRPr lang="ru-RU" b="1" dirty="0">
              <a:solidFill>
                <a:srgbClr val="FF0000"/>
              </a:solidFill>
            </a:endParaRPr>
          </a:p>
        </p:txBody>
      </p:sp>
      <p:sp>
        <p:nvSpPr>
          <p:cNvPr id="8" name="TextBox 7"/>
          <p:cNvSpPr txBox="1"/>
          <p:nvPr/>
        </p:nvSpPr>
        <p:spPr>
          <a:xfrm>
            <a:off x="433429" y="5007796"/>
            <a:ext cx="769763" cy="369332"/>
          </a:xfrm>
          <a:prstGeom prst="rect">
            <a:avLst/>
          </a:prstGeom>
          <a:noFill/>
        </p:spPr>
        <p:txBody>
          <a:bodyPr wrap="none" rtlCol="0">
            <a:spAutoFit/>
          </a:bodyPr>
          <a:lstStyle/>
          <a:p>
            <a:r>
              <a:rPr lang="ru-RU" dirty="0" smtClean="0"/>
              <a:t>11001</a:t>
            </a:r>
            <a:endParaRPr lang="ru-RU" dirty="0"/>
          </a:p>
        </p:txBody>
      </p:sp>
      <p:sp>
        <p:nvSpPr>
          <p:cNvPr id="11" name="TextBox 10"/>
          <p:cNvSpPr txBox="1"/>
          <p:nvPr/>
        </p:nvSpPr>
        <p:spPr>
          <a:xfrm>
            <a:off x="474485" y="5610544"/>
            <a:ext cx="769763" cy="369332"/>
          </a:xfrm>
          <a:prstGeom prst="rect">
            <a:avLst/>
          </a:prstGeom>
          <a:noFill/>
        </p:spPr>
        <p:txBody>
          <a:bodyPr wrap="none" rtlCol="0">
            <a:spAutoFit/>
          </a:bodyPr>
          <a:lstStyle/>
          <a:p>
            <a:r>
              <a:rPr lang="ru-RU" dirty="0" smtClean="0"/>
              <a:t>10011</a:t>
            </a:r>
            <a:endParaRPr lang="ru-RU" dirty="0"/>
          </a:p>
        </p:txBody>
      </p:sp>
      <p:sp>
        <p:nvSpPr>
          <p:cNvPr id="10" name="TextBox 9"/>
          <p:cNvSpPr txBox="1"/>
          <p:nvPr/>
        </p:nvSpPr>
        <p:spPr>
          <a:xfrm>
            <a:off x="2771800" y="4318401"/>
            <a:ext cx="2241576" cy="369332"/>
          </a:xfrm>
          <a:prstGeom prst="rect">
            <a:avLst/>
          </a:prstGeom>
          <a:noFill/>
        </p:spPr>
        <p:txBody>
          <a:bodyPr wrap="none" rtlCol="0">
            <a:spAutoFit/>
          </a:bodyPr>
          <a:lstStyle/>
          <a:p>
            <a:r>
              <a:rPr lang="ru-RU" dirty="0" smtClean="0"/>
              <a:t>Выходные состояния</a:t>
            </a:r>
            <a:endParaRPr lang="ru-RU" dirty="0"/>
          </a:p>
        </p:txBody>
      </p:sp>
      <p:sp>
        <p:nvSpPr>
          <p:cNvPr id="13" name="TextBox 12"/>
          <p:cNvSpPr txBox="1"/>
          <p:nvPr/>
        </p:nvSpPr>
        <p:spPr>
          <a:xfrm>
            <a:off x="2835124" y="4602554"/>
            <a:ext cx="593432" cy="369332"/>
          </a:xfrm>
          <a:prstGeom prst="rect">
            <a:avLst/>
          </a:prstGeom>
          <a:noFill/>
        </p:spPr>
        <p:txBody>
          <a:bodyPr wrap="none" rtlCol="0">
            <a:spAutoFit/>
          </a:bodyPr>
          <a:lstStyle/>
          <a:p>
            <a:r>
              <a:rPr lang="en-US" b="1" dirty="0" smtClean="0">
                <a:solidFill>
                  <a:srgbClr val="FF0000"/>
                </a:solidFill>
              </a:rPr>
              <a:t>DD1</a:t>
            </a:r>
            <a:endParaRPr lang="ru-RU" b="1" dirty="0">
              <a:solidFill>
                <a:srgbClr val="FF0000"/>
              </a:solidFill>
            </a:endParaRPr>
          </a:p>
        </p:txBody>
      </p:sp>
      <p:sp>
        <p:nvSpPr>
          <p:cNvPr id="12" name="TextBox 11"/>
          <p:cNvSpPr txBox="1"/>
          <p:nvPr/>
        </p:nvSpPr>
        <p:spPr>
          <a:xfrm>
            <a:off x="2971167" y="4971886"/>
            <a:ext cx="301686" cy="369332"/>
          </a:xfrm>
          <a:prstGeom prst="rect">
            <a:avLst/>
          </a:prstGeom>
          <a:noFill/>
        </p:spPr>
        <p:txBody>
          <a:bodyPr wrap="none" rtlCol="0">
            <a:spAutoFit/>
          </a:bodyPr>
          <a:lstStyle/>
          <a:p>
            <a:r>
              <a:rPr lang="ru-RU" dirty="0" smtClean="0"/>
              <a:t>0</a:t>
            </a:r>
            <a:endParaRPr lang="ru-RU" dirty="0"/>
          </a:p>
        </p:txBody>
      </p:sp>
      <p:sp>
        <p:nvSpPr>
          <p:cNvPr id="15" name="TextBox 14"/>
          <p:cNvSpPr txBox="1"/>
          <p:nvPr/>
        </p:nvSpPr>
        <p:spPr>
          <a:xfrm>
            <a:off x="3892588" y="4613927"/>
            <a:ext cx="593432" cy="369332"/>
          </a:xfrm>
          <a:prstGeom prst="rect">
            <a:avLst/>
          </a:prstGeom>
          <a:noFill/>
        </p:spPr>
        <p:txBody>
          <a:bodyPr wrap="none" rtlCol="0">
            <a:spAutoFit/>
          </a:bodyPr>
          <a:lstStyle/>
          <a:p>
            <a:r>
              <a:rPr lang="en-US" b="1" dirty="0" smtClean="0">
                <a:solidFill>
                  <a:srgbClr val="FF0000"/>
                </a:solidFill>
              </a:rPr>
              <a:t>DD</a:t>
            </a:r>
            <a:r>
              <a:rPr lang="ru-RU" b="1" dirty="0" smtClean="0">
                <a:solidFill>
                  <a:srgbClr val="FF0000"/>
                </a:solidFill>
              </a:rPr>
              <a:t>2</a:t>
            </a:r>
            <a:endParaRPr lang="ru-RU" b="1" dirty="0">
              <a:solidFill>
                <a:srgbClr val="FF0000"/>
              </a:solidFill>
            </a:endParaRPr>
          </a:p>
        </p:txBody>
      </p:sp>
      <p:sp>
        <p:nvSpPr>
          <p:cNvPr id="16" name="TextBox 15"/>
          <p:cNvSpPr txBox="1"/>
          <p:nvPr/>
        </p:nvSpPr>
        <p:spPr>
          <a:xfrm>
            <a:off x="4010170" y="4971886"/>
            <a:ext cx="301686" cy="369332"/>
          </a:xfrm>
          <a:prstGeom prst="rect">
            <a:avLst/>
          </a:prstGeom>
          <a:noFill/>
        </p:spPr>
        <p:txBody>
          <a:bodyPr wrap="none" rtlCol="0">
            <a:spAutoFit/>
          </a:bodyPr>
          <a:lstStyle/>
          <a:p>
            <a:r>
              <a:rPr lang="ru-RU" dirty="0"/>
              <a:t>1</a:t>
            </a:r>
          </a:p>
        </p:txBody>
      </p:sp>
      <p:sp>
        <p:nvSpPr>
          <p:cNvPr id="17" name="TextBox 16"/>
          <p:cNvSpPr txBox="1"/>
          <p:nvPr/>
        </p:nvSpPr>
        <p:spPr>
          <a:xfrm>
            <a:off x="2980997" y="5493618"/>
            <a:ext cx="301686" cy="369332"/>
          </a:xfrm>
          <a:prstGeom prst="rect">
            <a:avLst/>
          </a:prstGeom>
          <a:noFill/>
        </p:spPr>
        <p:txBody>
          <a:bodyPr wrap="none" rtlCol="0">
            <a:spAutoFit/>
          </a:bodyPr>
          <a:lstStyle/>
          <a:p>
            <a:r>
              <a:rPr lang="ru-RU" dirty="0" smtClean="0"/>
              <a:t>1</a:t>
            </a:r>
            <a:endParaRPr lang="ru-RU" dirty="0"/>
          </a:p>
        </p:txBody>
      </p:sp>
      <p:sp>
        <p:nvSpPr>
          <p:cNvPr id="18" name="TextBox 17"/>
          <p:cNvSpPr txBox="1"/>
          <p:nvPr/>
        </p:nvSpPr>
        <p:spPr>
          <a:xfrm>
            <a:off x="3995861" y="5493618"/>
            <a:ext cx="301686" cy="369332"/>
          </a:xfrm>
          <a:prstGeom prst="rect">
            <a:avLst/>
          </a:prstGeom>
          <a:noFill/>
        </p:spPr>
        <p:txBody>
          <a:bodyPr wrap="none" rtlCol="0">
            <a:spAutoFit/>
          </a:bodyPr>
          <a:lstStyle/>
          <a:p>
            <a:r>
              <a:rPr lang="ru-RU" dirty="0" smtClean="0"/>
              <a:t>0</a:t>
            </a:r>
            <a:endParaRPr lang="ru-RU" dirty="0"/>
          </a:p>
        </p:txBody>
      </p:sp>
      <p:sp>
        <p:nvSpPr>
          <p:cNvPr id="14" name="TextBox 13"/>
          <p:cNvSpPr txBox="1"/>
          <p:nvPr/>
        </p:nvSpPr>
        <p:spPr>
          <a:xfrm>
            <a:off x="467544" y="6237312"/>
            <a:ext cx="1253869" cy="369332"/>
          </a:xfrm>
          <a:prstGeom prst="rect">
            <a:avLst/>
          </a:prstGeom>
          <a:noFill/>
        </p:spPr>
        <p:txBody>
          <a:bodyPr wrap="none" rtlCol="0">
            <a:spAutoFit/>
          </a:bodyPr>
          <a:lstStyle/>
          <a:p>
            <a:r>
              <a:rPr lang="ru-RU" dirty="0" smtClean="0"/>
              <a:t>Остальные</a:t>
            </a:r>
            <a:endParaRPr lang="ru-RU" dirty="0"/>
          </a:p>
        </p:txBody>
      </p:sp>
      <p:sp>
        <p:nvSpPr>
          <p:cNvPr id="20" name="TextBox 19"/>
          <p:cNvSpPr txBox="1"/>
          <p:nvPr/>
        </p:nvSpPr>
        <p:spPr>
          <a:xfrm>
            <a:off x="2980997" y="6237312"/>
            <a:ext cx="301686" cy="369332"/>
          </a:xfrm>
          <a:prstGeom prst="rect">
            <a:avLst/>
          </a:prstGeom>
          <a:noFill/>
        </p:spPr>
        <p:txBody>
          <a:bodyPr wrap="none" rtlCol="0">
            <a:spAutoFit/>
          </a:bodyPr>
          <a:lstStyle/>
          <a:p>
            <a:r>
              <a:rPr lang="ru-RU" dirty="0"/>
              <a:t>1</a:t>
            </a:r>
          </a:p>
        </p:txBody>
      </p:sp>
      <p:sp>
        <p:nvSpPr>
          <p:cNvPr id="21" name="TextBox 20"/>
          <p:cNvSpPr txBox="1"/>
          <p:nvPr/>
        </p:nvSpPr>
        <p:spPr>
          <a:xfrm>
            <a:off x="4047347" y="6237312"/>
            <a:ext cx="301686" cy="369332"/>
          </a:xfrm>
          <a:prstGeom prst="rect">
            <a:avLst/>
          </a:prstGeom>
          <a:noFill/>
        </p:spPr>
        <p:txBody>
          <a:bodyPr wrap="none" rtlCol="0">
            <a:spAutoFit/>
          </a:bodyPr>
          <a:lstStyle/>
          <a:p>
            <a:r>
              <a:rPr lang="ru-RU" dirty="0"/>
              <a:t>1</a:t>
            </a:r>
          </a:p>
        </p:txBody>
      </p:sp>
      <p:sp>
        <p:nvSpPr>
          <p:cNvPr id="19" name="TextBox 18"/>
          <p:cNvSpPr txBox="1"/>
          <p:nvPr/>
        </p:nvSpPr>
        <p:spPr>
          <a:xfrm>
            <a:off x="5486762" y="4518222"/>
            <a:ext cx="2010487" cy="369332"/>
          </a:xfrm>
          <a:prstGeom prst="rect">
            <a:avLst/>
          </a:prstGeom>
          <a:noFill/>
        </p:spPr>
        <p:txBody>
          <a:bodyPr wrap="none" rtlCol="0">
            <a:spAutoFit/>
          </a:bodyPr>
          <a:lstStyle/>
          <a:p>
            <a:r>
              <a:rPr lang="ru-RU" dirty="0" smtClean="0"/>
              <a:t>Вых1=</a:t>
            </a:r>
            <a:r>
              <a:rPr lang="en-US" dirty="0" smtClean="0"/>
              <a:t>DD2+</a:t>
            </a:r>
            <a:r>
              <a:rPr lang="ru-RU" dirty="0" smtClean="0"/>
              <a:t>Строб1</a:t>
            </a:r>
            <a:endParaRPr lang="ru-RU" dirty="0"/>
          </a:p>
        </p:txBody>
      </p:sp>
      <p:sp>
        <p:nvSpPr>
          <p:cNvPr id="23" name="TextBox 22"/>
          <p:cNvSpPr txBox="1"/>
          <p:nvPr/>
        </p:nvSpPr>
        <p:spPr>
          <a:xfrm>
            <a:off x="5524187" y="4963322"/>
            <a:ext cx="2010487" cy="369332"/>
          </a:xfrm>
          <a:prstGeom prst="rect">
            <a:avLst/>
          </a:prstGeom>
          <a:noFill/>
        </p:spPr>
        <p:txBody>
          <a:bodyPr wrap="none" rtlCol="0">
            <a:spAutoFit/>
          </a:bodyPr>
          <a:lstStyle/>
          <a:p>
            <a:r>
              <a:rPr lang="ru-RU" dirty="0" smtClean="0"/>
              <a:t>Вых2=</a:t>
            </a:r>
            <a:r>
              <a:rPr lang="en-US" dirty="0" smtClean="0"/>
              <a:t>DD2+</a:t>
            </a:r>
            <a:r>
              <a:rPr lang="ru-RU" dirty="0" smtClean="0"/>
              <a:t>Строб2</a:t>
            </a:r>
            <a:endParaRPr lang="ru-RU" dirty="0"/>
          </a:p>
        </p:txBody>
      </p:sp>
      <p:sp>
        <p:nvSpPr>
          <p:cNvPr id="24" name="TextBox 23"/>
          <p:cNvSpPr txBox="1"/>
          <p:nvPr/>
        </p:nvSpPr>
        <p:spPr>
          <a:xfrm>
            <a:off x="5552443" y="5352851"/>
            <a:ext cx="2010487" cy="369332"/>
          </a:xfrm>
          <a:prstGeom prst="rect">
            <a:avLst/>
          </a:prstGeom>
          <a:noFill/>
        </p:spPr>
        <p:txBody>
          <a:bodyPr wrap="none" rtlCol="0">
            <a:spAutoFit/>
          </a:bodyPr>
          <a:lstStyle/>
          <a:p>
            <a:r>
              <a:rPr lang="ru-RU" dirty="0" smtClean="0"/>
              <a:t>Вых3=</a:t>
            </a:r>
            <a:r>
              <a:rPr lang="en-US" dirty="0" smtClean="0"/>
              <a:t>DD</a:t>
            </a:r>
            <a:r>
              <a:rPr lang="ru-RU" dirty="0" smtClean="0"/>
              <a:t>1</a:t>
            </a:r>
            <a:r>
              <a:rPr lang="en-US" dirty="0" smtClean="0"/>
              <a:t>+</a:t>
            </a:r>
            <a:r>
              <a:rPr lang="ru-RU" dirty="0" smtClean="0"/>
              <a:t>Строб1</a:t>
            </a:r>
            <a:endParaRPr lang="ru-RU" dirty="0"/>
          </a:p>
        </p:txBody>
      </p:sp>
      <p:sp>
        <p:nvSpPr>
          <p:cNvPr id="25" name="TextBox 24"/>
          <p:cNvSpPr txBox="1"/>
          <p:nvPr/>
        </p:nvSpPr>
        <p:spPr>
          <a:xfrm>
            <a:off x="5585889" y="5729866"/>
            <a:ext cx="2010487" cy="369332"/>
          </a:xfrm>
          <a:prstGeom prst="rect">
            <a:avLst/>
          </a:prstGeom>
          <a:noFill/>
        </p:spPr>
        <p:txBody>
          <a:bodyPr wrap="none" rtlCol="0">
            <a:spAutoFit/>
          </a:bodyPr>
          <a:lstStyle/>
          <a:p>
            <a:r>
              <a:rPr lang="ru-RU" dirty="0" smtClean="0"/>
              <a:t>Вых4=</a:t>
            </a:r>
            <a:r>
              <a:rPr lang="en-US" dirty="0" smtClean="0"/>
              <a:t>DD</a:t>
            </a:r>
            <a:r>
              <a:rPr lang="ru-RU" dirty="0" smtClean="0"/>
              <a:t>1</a:t>
            </a:r>
            <a:r>
              <a:rPr lang="en-US" dirty="0" smtClean="0"/>
              <a:t>+</a:t>
            </a:r>
            <a:r>
              <a:rPr lang="ru-RU" dirty="0" smtClean="0"/>
              <a:t>Строб2</a:t>
            </a:r>
            <a:endParaRPr lang="ru-RU" dirty="0"/>
          </a:p>
        </p:txBody>
      </p:sp>
    </p:spTree>
    <p:extLst>
      <p:ext uri="{BB962C8B-B14F-4D97-AF65-F5344CB8AC3E}">
        <p14:creationId xmlns:p14="http://schemas.microsoft.com/office/powerpoint/2010/main" val="11713532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Включение ПЗУ для замены комбинационной схемы, показанной на рис. 11.5"/>
          <p:cNvPicPr/>
          <p:nvPr/>
        </p:nvPicPr>
        <p:blipFill>
          <a:blip r:embed="rId2">
            <a:extLst>
              <a:ext uri="{28A0092B-C50C-407E-A947-70E740481C1C}">
                <a14:useLocalDpi xmlns:a14="http://schemas.microsoft.com/office/drawing/2010/main" val="0"/>
              </a:ext>
            </a:extLst>
          </a:blip>
          <a:srcRect/>
          <a:stretch>
            <a:fillRect/>
          </a:stretch>
        </p:blipFill>
        <p:spPr bwMode="auto">
          <a:xfrm>
            <a:off x="1115616" y="764704"/>
            <a:ext cx="6624736" cy="2952328"/>
          </a:xfrm>
          <a:prstGeom prst="rect">
            <a:avLst/>
          </a:prstGeom>
          <a:noFill/>
          <a:ln>
            <a:noFill/>
          </a:ln>
        </p:spPr>
      </p:pic>
      <p:sp>
        <p:nvSpPr>
          <p:cNvPr id="5" name="TextBox 4"/>
          <p:cNvSpPr txBox="1"/>
          <p:nvPr/>
        </p:nvSpPr>
        <p:spPr>
          <a:xfrm>
            <a:off x="2123728" y="292006"/>
            <a:ext cx="4075668" cy="369332"/>
          </a:xfrm>
          <a:prstGeom prst="rect">
            <a:avLst/>
          </a:prstGeom>
          <a:noFill/>
        </p:spPr>
        <p:txBody>
          <a:bodyPr wrap="none" rtlCol="0">
            <a:spAutoFit/>
          </a:bodyPr>
          <a:lstStyle/>
          <a:p>
            <a:r>
              <a:rPr lang="ru-RU" dirty="0" smtClean="0"/>
              <a:t>Замена комбинационной схемы на ПЗУ</a:t>
            </a:r>
            <a:endParaRPr lang="ru-RU" dirty="0"/>
          </a:p>
        </p:txBody>
      </p:sp>
      <p:sp>
        <p:nvSpPr>
          <p:cNvPr id="6" name="TextBox 5"/>
          <p:cNvSpPr txBox="1"/>
          <p:nvPr/>
        </p:nvSpPr>
        <p:spPr>
          <a:xfrm>
            <a:off x="6618891" y="2348880"/>
            <a:ext cx="2242922" cy="646331"/>
          </a:xfrm>
          <a:prstGeom prst="rect">
            <a:avLst/>
          </a:prstGeom>
          <a:noFill/>
        </p:spPr>
        <p:txBody>
          <a:bodyPr wrap="none" rtlCol="0">
            <a:spAutoFit/>
          </a:bodyPr>
          <a:lstStyle/>
          <a:p>
            <a:r>
              <a:rPr lang="ru-RU" dirty="0" smtClean="0"/>
              <a:t>Активные выходы 0</a:t>
            </a:r>
          </a:p>
          <a:p>
            <a:r>
              <a:rPr lang="ru-RU" dirty="0" smtClean="0"/>
              <a:t>Пассивные выходы 1</a:t>
            </a:r>
            <a:endParaRPr lang="ru-RU" dirty="0"/>
          </a:p>
        </p:txBody>
      </p:sp>
      <p:sp>
        <p:nvSpPr>
          <p:cNvPr id="7" name="TextBox 6"/>
          <p:cNvSpPr txBox="1"/>
          <p:nvPr/>
        </p:nvSpPr>
        <p:spPr>
          <a:xfrm>
            <a:off x="2915816" y="4365104"/>
            <a:ext cx="2380332" cy="369332"/>
          </a:xfrm>
          <a:prstGeom prst="rect">
            <a:avLst/>
          </a:prstGeom>
          <a:noFill/>
        </p:spPr>
        <p:txBody>
          <a:bodyPr wrap="none" rtlCol="0">
            <a:spAutoFit/>
          </a:bodyPr>
          <a:lstStyle/>
          <a:p>
            <a:r>
              <a:rPr lang="ru-RU" b="1" dirty="0" smtClean="0">
                <a:solidFill>
                  <a:srgbClr val="FF0000"/>
                </a:solidFill>
              </a:rPr>
              <a:t>Карта прошивки ПЗУ</a:t>
            </a:r>
            <a:r>
              <a:rPr lang="ru-RU" b="1" dirty="0">
                <a:solidFill>
                  <a:srgbClr val="FF0000"/>
                </a:solidFill>
              </a:rPr>
              <a:t>?</a:t>
            </a:r>
          </a:p>
        </p:txBody>
      </p:sp>
    </p:spTree>
    <p:extLst>
      <p:ext uri="{BB962C8B-B14F-4D97-AF65-F5344CB8AC3E}">
        <p14:creationId xmlns:p14="http://schemas.microsoft.com/office/powerpoint/2010/main" val="1563367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extLst>
              <p:ext uri="{D42A27DB-BD31-4B8C-83A1-F6EECF244321}">
                <p14:modId xmlns:p14="http://schemas.microsoft.com/office/powerpoint/2010/main" val="3021119046"/>
              </p:ext>
            </p:extLst>
          </p:nvPr>
        </p:nvGraphicFramePr>
        <p:xfrm>
          <a:off x="643812" y="1719792"/>
          <a:ext cx="8320684" cy="629088"/>
        </p:xfrm>
        <a:graphic>
          <a:graphicData uri="http://schemas.openxmlformats.org/drawingml/2006/table">
            <a:tbl>
              <a:tblPr firstRow="1" firstCol="1" bandRow="1">
                <a:tableStyleId>{5C22544A-7EE6-4342-B048-85BDC9FD1C3A}</a:tableStyleId>
              </a:tblPr>
              <a:tblGrid>
                <a:gridCol w="489452"/>
                <a:gridCol w="489452"/>
                <a:gridCol w="489452"/>
                <a:gridCol w="489452"/>
                <a:gridCol w="489452"/>
                <a:gridCol w="489452"/>
                <a:gridCol w="489452"/>
                <a:gridCol w="489452"/>
                <a:gridCol w="489452"/>
                <a:gridCol w="489452"/>
                <a:gridCol w="489452"/>
                <a:gridCol w="489452"/>
                <a:gridCol w="489452"/>
                <a:gridCol w="489452"/>
                <a:gridCol w="489452"/>
                <a:gridCol w="489452"/>
                <a:gridCol w="489452"/>
              </a:tblGrid>
              <a:tr h="629088">
                <a:tc>
                  <a:txBody>
                    <a:bodyPr/>
                    <a:lstStyle/>
                    <a:p>
                      <a:pPr algn="ctr">
                        <a:lnSpc>
                          <a:spcPct val="115000"/>
                        </a:lnSpc>
                        <a:spcAft>
                          <a:spcPts val="0"/>
                        </a:spcAft>
                      </a:pPr>
                      <a:r>
                        <a:rPr lang="ru-RU" sz="2000" b="1" dirty="0">
                          <a:effectLst/>
                        </a:rPr>
                        <a:t>50</a:t>
                      </a:r>
                      <a:endParaRPr lang="ru-RU" sz="2000" b="1"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solidFill>
                            <a:srgbClr val="FF0000"/>
                          </a:solidFill>
                          <a:effectLst/>
                        </a:rPr>
                        <a:t>7</a:t>
                      </a:r>
                      <a:endParaRPr lang="ru-RU" sz="2000" b="1" dirty="0">
                        <a:solidFill>
                          <a:srgbClr val="FF0000"/>
                        </a:solidFill>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solidFill>
                            <a:srgbClr val="FF0000"/>
                          </a:solidFill>
                          <a:effectLst/>
                        </a:rPr>
                        <a:t>D</a:t>
                      </a:r>
                      <a:endParaRPr lang="ru-RU" sz="2000" b="1" dirty="0">
                        <a:solidFill>
                          <a:srgbClr val="FF0000"/>
                        </a:solidFill>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tc>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1473279839"/>
              </p:ext>
            </p:extLst>
          </p:nvPr>
        </p:nvGraphicFramePr>
        <p:xfrm>
          <a:off x="611560" y="764704"/>
          <a:ext cx="8352933" cy="720080"/>
        </p:xfrm>
        <a:graphic>
          <a:graphicData uri="http://schemas.openxmlformats.org/drawingml/2006/table">
            <a:tbl>
              <a:tblPr firstRow="1" firstCol="1" bandRow="1">
                <a:tableStyleId>{5C22544A-7EE6-4342-B048-85BDC9FD1C3A}</a:tableStyleId>
              </a:tblPr>
              <a:tblGrid>
                <a:gridCol w="491349"/>
                <a:gridCol w="491349"/>
                <a:gridCol w="491349"/>
                <a:gridCol w="491349"/>
                <a:gridCol w="491349"/>
                <a:gridCol w="491349"/>
                <a:gridCol w="491349"/>
                <a:gridCol w="491349"/>
                <a:gridCol w="491349"/>
                <a:gridCol w="491349"/>
                <a:gridCol w="491349"/>
                <a:gridCol w="491349"/>
                <a:gridCol w="491349"/>
                <a:gridCol w="491349"/>
                <a:gridCol w="491349"/>
                <a:gridCol w="491349"/>
                <a:gridCol w="491349"/>
              </a:tblGrid>
              <a:tr h="720080">
                <a:tc>
                  <a:txBody>
                    <a:bodyPr/>
                    <a:lstStyle/>
                    <a:p>
                      <a:pPr algn="ctr">
                        <a:lnSpc>
                          <a:spcPct val="115000"/>
                        </a:lnSpc>
                        <a:spcAft>
                          <a:spcPts val="0"/>
                        </a:spcAft>
                      </a:pPr>
                      <a:r>
                        <a:rPr lang="ru-RU" sz="2000" dirty="0">
                          <a:effectLst/>
                        </a:rPr>
                        <a:t>Адрес</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0</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1</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2</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3</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4</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5</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6</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7</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8</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9</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A</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B</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C</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D</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E</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dirty="0">
                          <a:effectLst/>
                        </a:rPr>
                        <a:t>F</a:t>
                      </a:r>
                      <a:endParaRPr lang="ru-RU" sz="2000" dirty="0">
                        <a:effectLst/>
                        <a:latin typeface="Times New Roman"/>
                        <a:ea typeface="Calibri"/>
                        <a:cs typeface="Times New Roman"/>
                      </a:endParaRPr>
                    </a:p>
                  </a:txBody>
                  <a:tcPr marL="0" marR="0" marT="0" marB="0" anchor="ctr"/>
                </a:tc>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665547900"/>
              </p:ext>
            </p:extLst>
          </p:nvPr>
        </p:nvGraphicFramePr>
        <p:xfrm>
          <a:off x="632316" y="2492896"/>
          <a:ext cx="8352933" cy="576064"/>
        </p:xfrm>
        <a:graphic>
          <a:graphicData uri="http://schemas.openxmlformats.org/drawingml/2006/table">
            <a:tbl>
              <a:tblPr firstRow="1" firstCol="1" bandRow="1">
                <a:tableStyleId>{5C22544A-7EE6-4342-B048-85BDC9FD1C3A}</a:tableStyleId>
              </a:tblPr>
              <a:tblGrid>
                <a:gridCol w="491349"/>
                <a:gridCol w="491349"/>
                <a:gridCol w="491349"/>
                <a:gridCol w="491349"/>
                <a:gridCol w="491349"/>
                <a:gridCol w="491349"/>
                <a:gridCol w="491349"/>
                <a:gridCol w="491349"/>
                <a:gridCol w="491349"/>
                <a:gridCol w="491349"/>
                <a:gridCol w="491349"/>
                <a:gridCol w="491349"/>
                <a:gridCol w="491349"/>
                <a:gridCol w="491349"/>
                <a:gridCol w="491349"/>
                <a:gridCol w="491349"/>
                <a:gridCol w="491349"/>
              </a:tblGrid>
              <a:tr h="576064">
                <a:tc>
                  <a:txBody>
                    <a:bodyPr/>
                    <a:lstStyle/>
                    <a:p>
                      <a:pPr algn="ctr">
                        <a:lnSpc>
                          <a:spcPct val="115000"/>
                        </a:lnSpc>
                        <a:spcAft>
                          <a:spcPts val="0"/>
                        </a:spcAft>
                      </a:pPr>
                      <a:r>
                        <a:rPr lang="ru-RU" sz="2000" dirty="0">
                          <a:effectLst/>
                        </a:rPr>
                        <a:t>90</a:t>
                      </a:r>
                      <a:endParaRPr lang="ru-RU" sz="2000"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dirty="0">
                          <a:solidFill>
                            <a:srgbClr val="FF0000"/>
                          </a:solidFill>
                          <a:effectLst/>
                        </a:rPr>
                        <a:t>B</a:t>
                      </a:r>
                      <a:endParaRPr lang="ru-RU" sz="2000" dirty="0">
                        <a:solidFill>
                          <a:srgbClr val="FF0000"/>
                        </a:solidFill>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dirty="0">
                          <a:solidFill>
                            <a:srgbClr val="FF0000"/>
                          </a:solidFill>
                          <a:effectLst/>
                        </a:rPr>
                        <a:t>E</a:t>
                      </a:r>
                      <a:endParaRPr lang="ru-RU" sz="2000" dirty="0">
                        <a:solidFill>
                          <a:srgbClr val="FF0000"/>
                        </a:solidFill>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a:effectLst/>
                        </a:rPr>
                        <a:t>F</a:t>
                      </a:r>
                      <a:endParaRPr lang="ru-RU" sz="200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dirty="0">
                          <a:effectLst/>
                        </a:rPr>
                        <a:t>F</a:t>
                      </a:r>
                      <a:endParaRPr lang="ru-RU" sz="2000" dirty="0">
                        <a:effectLst/>
                        <a:latin typeface="Times New Roman"/>
                        <a:ea typeface="Calibri"/>
                        <a:cs typeface="Times New Roman"/>
                      </a:endParaRPr>
                    </a:p>
                  </a:txBody>
                  <a:tcPr marL="0" marR="0" marT="0" marB="0"/>
                </a:tc>
              </a:tr>
            </a:tbl>
          </a:graphicData>
        </a:graphic>
      </p:graphicFrame>
      <p:sp>
        <p:nvSpPr>
          <p:cNvPr id="7" name="Прямоугольник 6"/>
          <p:cNvSpPr/>
          <p:nvPr/>
        </p:nvSpPr>
        <p:spPr>
          <a:xfrm>
            <a:off x="4060835" y="3258104"/>
            <a:ext cx="1120820" cy="369332"/>
          </a:xfrm>
          <a:prstGeom prst="rect">
            <a:avLst/>
          </a:prstGeom>
        </p:spPr>
        <p:txBody>
          <a:bodyPr wrap="none">
            <a:spAutoFit/>
          </a:bodyPr>
          <a:lstStyle/>
          <a:p>
            <a:r>
              <a:rPr lang="ru-RU" dirty="0"/>
              <a:t>10011001</a:t>
            </a:r>
          </a:p>
        </p:txBody>
      </p:sp>
      <p:sp>
        <p:nvSpPr>
          <p:cNvPr id="8" name="Прямоугольник 7"/>
          <p:cNvSpPr/>
          <p:nvPr/>
        </p:nvSpPr>
        <p:spPr>
          <a:xfrm>
            <a:off x="5652120" y="3240157"/>
            <a:ext cx="418704" cy="369332"/>
          </a:xfrm>
          <a:prstGeom prst="rect">
            <a:avLst/>
          </a:prstGeom>
        </p:spPr>
        <p:txBody>
          <a:bodyPr wrap="none">
            <a:spAutoFit/>
          </a:bodyPr>
          <a:lstStyle/>
          <a:p>
            <a:r>
              <a:rPr lang="ru-RU" dirty="0"/>
              <a:t>‭99‬</a:t>
            </a:r>
          </a:p>
        </p:txBody>
      </p:sp>
      <p:sp>
        <p:nvSpPr>
          <p:cNvPr id="9" name="Прямоугольник 8"/>
          <p:cNvSpPr/>
          <p:nvPr/>
        </p:nvSpPr>
        <p:spPr>
          <a:xfrm>
            <a:off x="4126850" y="4125630"/>
            <a:ext cx="1120820" cy="369332"/>
          </a:xfrm>
          <a:prstGeom prst="rect">
            <a:avLst/>
          </a:prstGeom>
        </p:spPr>
        <p:txBody>
          <a:bodyPr wrap="none">
            <a:spAutoFit/>
          </a:bodyPr>
          <a:lstStyle/>
          <a:p>
            <a:r>
              <a:rPr lang="ru-RU" dirty="0" smtClean="0"/>
              <a:t>01011001</a:t>
            </a:r>
            <a:endParaRPr lang="ru-RU" dirty="0"/>
          </a:p>
        </p:txBody>
      </p:sp>
      <p:sp>
        <p:nvSpPr>
          <p:cNvPr id="10" name="Прямоугольник 9"/>
          <p:cNvSpPr/>
          <p:nvPr/>
        </p:nvSpPr>
        <p:spPr>
          <a:xfrm>
            <a:off x="5766092" y="4104514"/>
            <a:ext cx="418704" cy="369332"/>
          </a:xfrm>
          <a:prstGeom prst="rect">
            <a:avLst/>
          </a:prstGeom>
        </p:spPr>
        <p:txBody>
          <a:bodyPr wrap="none">
            <a:spAutoFit/>
          </a:bodyPr>
          <a:lstStyle/>
          <a:p>
            <a:r>
              <a:rPr lang="ru-RU" dirty="0" smtClean="0"/>
              <a:t>‭59</a:t>
            </a:r>
            <a:r>
              <a:rPr lang="ru-RU" dirty="0"/>
              <a:t>‬</a:t>
            </a:r>
          </a:p>
        </p:txBody>
      </p:sp>
    </p:spTree>
    <p:extLst>
      <p:ext uri="{BB962C8B-B14F-4D97-AF65-F5344CB8AC3E}">
        <p14:creationId xmlns:p14="http://schemas.microsoft.com/office/powerpoint/2010/main" val="8147417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99792" y="354374"/>
            <a:ext cx="4037900" cy="369332"/>
          </a:xfrm>
          <a:prstGeom prst="rect">
            <a:avLst/>
          </a:prstGeom>
          <a:noFill/>
        </p:spPr>
        <p:txBody>
          <a:bodyPr wrap="none" rtlCol="0">
            <a:spAutoFit/>
          </a:bodyPr>
          <a:lstStyle/>
          <a:p>
            <a:r>
              <a:rPr lang="ru-RU" dirty="0" smtClean="0"/>
              <a:t>Табличный вычислитель на основе ПЗУ</a:t>
            </a:r>
            <a:endParaRPr lang="ru-RU" dirty="0"/>
          </a:p>
        </p:txBody>
      </p:sp>
      <p:sp>
        <p:nvSpPr>
          <p:cNvPr id="6" name="TextBox 5"/>
          <p:cNvSpPr txBox="1"/>
          <p:nvPr/>
        </p:nvSpPr>
        <p:spPr>
          <a:xfrm>
            <a:off x="2555776" y="827420"/>
            <a:ext cx="3723840" cy="369332"/>
          </a:xfrm>
          <a:prstGeom prst="rect">
            <a:avLst/>
          </a:prstGeom>
          <a:noFill/>
        </p:spPr>
        <p:txBody>
          <a:bodyPr wrap="none" rtlCol="0">
            <a:spAutoFit/>
          </a:bodyPr>
          <a:lstStyle/>
          <a:p>
            <a:r>
              <a:rPr lang="ru-RU" dirty="0" smtClean="0"/>
              <a:t>Вычисление квадратов целых чисел</a:t>
            </a:r>
            <a:endParaRPr lang="ru-RU" dirty="0"/>
          </a:p>
        </p:txBody>
      </p:sp>
      <p:pic>
        <p:nvPicPr>
          <p:cNvPr id="7" name="Рисунок 6" descr="Вычислитель квадратов входных чисел"/>
          <p:cNvPicPr/>
          <p:nvPr/>
        </p:nvPicPr>
        <p:blipFill>
          <a:blip r:embed="rId2">
            <a:extLst>
              <a:ext uri="{28A0092B-C50C-407E-A947-70E740481C1C}">
                <a14:useLocalDpi xmlns:a14="http://schemas.microsoft.com/office/drawing/2010/main" val="0"/>
              </a:ext>
            </a:extLst>
          </a:blip>
          <a:srcRect/>
          <a:stretch>
            <a:fillRect/>
          </a:stretch>
        </p:blipFill>
        <p:spPr bwMode="auto">
          <a:xfrm>
            <a:off x="1313526" y="1257604"/>
            <a:ext cx="6208340" cy="2481238"/>
          </a:xfrm>
          <a:prstGeom prst="rect">
            <a:avLst/>
          </a:prstGeom>
          <a:noFill/>
          <a:ln>
            <a:noFill/>
          </a:ln>
        </p:spPr>
      </p:pic>
      <p:graphicFrame>
        <p:nvGraphicFramePr>
          <p:cNvPr id="8" name="Таблица 7"/>
          <p:cNvGraphicFramePr>
            <a:graphicFrameLocks noGrp="1"/>
          </p:cNvGraphicFramePr>
          <p:nvPr>
            <p:extLst>
              <p:ext uri="{D42A27DB-BD31-4B8C-83A1-F6EECF244321}">
                <p14:modId xmlns:p14="http://schemas.microsoft.com/office/powerpoint/2010/main" val="960310212"/>
              </p:ext>
            </p:extLst>
          </p:nvPr>
        </p:nvGraphicFramePr>
        <p:xfrm>
          <a:off x="603943" y="4077072"/>
          <a:ext cx="8229598" cy="1752600"/>
        </p:xfrm>
        <a:graphic>
          <a:graphicData uri="http://schemas.openxmlformats.org/drawingml/2006/table">
            <a:tbl>
              <a:tblPr firstRow="1" firstCol="1" bandRow="1">
                <a:tableStyleId>{5C22544A-7EE6-4342-B048-85BDC9FD1C3A}</a:tableStyleId>
              </a:tblPr>
              <a:tblGrid>
                <a:gridCol w="484094"/>
                <a:gridCol w="484094"/>
                <a:gridCol w="484094"/>
                <a:gridCol w="484094"/>
                <a:gridCol w="484094"/>
                <a:gridCol w="484094"/>
                <a:gridCol w="484094"/>
                <a:gridCol w="484094"/>
                <a:gridCol w="484094"/>
                <a:gridCol w="484094"/>
                <a:gridCol w="484094"/>
                <a:gridCol w="484094"/>
                <a:gridCol w="484094"/>
                <a:gridCol w="484094"/>
                <a:gridCol w="484094"/>
                <a:gridCol w="484094"/>
                <a:gridCol w="484094"/>
              </a:tblGrid>
              <a:tr h="0">
                <a:tc gridSpan="17">
                  <a:txBody>
                    <a:bodyPr/>
                    <a:lstStyle/>
                    <a:p>
                      <a:pPr algn="ctr">
                        <a:lnSpc>
                          <a:spcPct val="115000"/>
                        </a:lnSpc>
                        <a:spcAft>
                          <a:spcPts val="0"/>
                        </a:spcAft>
                      </a:pPr>
                      <a:r>
                        <a:rPr lang="ru-RU" sz="2000" b="1" dirty="0" smtClean="0">
                          <a:effectLst/>
                        </a:rPr>
                        <a:t>Карта </a:t>
                      </a:r>
                      <a:r>
                        <a:rPr lang="ru-RU" sz="2000" b="1" dirty="0">
                          <a:effectLst/>
                        </a:rPr>
                        <a:t>прошивки ПЗУ-вычислителя </a:t>
                      </a:r>
                      <a:r>
                        <a:rPr lang="ru-RU" sz="2000" b="1" dirty="0" smtClean="0">
                          <a:effectLst/>
                        </a:rPr>
                        <a:t>квадратов двоичных</a:t>
                      </a:r>
                      <a:r>
                        <a:rPr lang="ru-RU" sz="2000" b="1" baseline="0" dirty="0" smtClean="0">
                          <a:effectLst/>
                        </a:rPr>
                        <a:t> чисел</a:t>
                      </a:r>
                      <a:endParaRPr lang="ru-RU" sz="2000" b="1" dirty="0">
                        <a:effectLst/>
                        <a:latin typeface="Times New Roman"/>
                        <a:ea typeface="Calibri"/>
                        <a:cs typeface="Times New Roman"/>
                      </a:endParaRPr>
                    </a:p>
                  </a:txBody>
                  <a:tcPr marL="0" marR="0" marT="0" marB="0" anchor="ct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0">
                <a:tc>
                  <a:txBody>
                    <a:bodyPr/>
                    <a:lstStyle/>
                    <a:p>
                      <a:pPr algn="ctr">
                        <a:lnSpc>
                          <a:spcPct val="115000"/>
                        </a:lnSpc>
                        <a:spcAft>
                          <a:spcPts val="0"/>
                        </a:spcAft>
                      </a:pPr>
                      <a:r>
                        <a:rPr lang="ru-RU" sz="2000" b="1" dirty="0">
                          <a:effectLst/>
                        </a:rPr>
                        <a:t>Адрес</a:t>
                      </a:r>
                      <a:endParaRPr lang="ru-RU" sz="2000" b="1"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0</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1</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2</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3</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4</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5</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6</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7</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8</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9</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A</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B</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C</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D</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E</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F</a:t>
                      </a:r>
                      <a:endParaRPr lang="ru-RU" sz="2000" b="1">
                        <a:effectLst/>
                        <a:latin typeface="Times New Roman"/>
                        <a:ea typeface="Calibri"/>
                        <a:cs typeface="Times New Roman"/>
                      </a:endParaRPr>
                    </a:p>
                  </a:txBody>
                  <a:tcPr marL="0" marR="0" marT="0" marB="0" anchor="ctr"/>
                </a:tc>
              </a:tr>
              <a:tr h="0">
                <a:tc>
                  <a:txBody>
                    <a:bodyPr/>
                    <a:lstStyle/>
                    <a:p>
                      <a:pPr algn="ctr">
                        <a:lnSpc>
                          <a:spcPct val="115000"/>
                        </a:lnSpc>
                        <a:spcAft>
                          <a:spcPts val="0"/>
                        </a:spcAft>
                      </a:pPr>
                      <a:r>
                        <a:rPr lang="ru-RU" sz="2000" b="1" dirty="0">
                          <a:effectLst/>
                        </a:rPr>
                        <a:t>00</a:t>
                      </a:r>
                      <a:endParaRPr lang="ru-RU" sz="2000" b="1" dirty="0">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2000" b="1" dirty="0">
                          <a:effectLst/>
                        </a:rPr>
                        <a:t>00</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01</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04</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09</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10</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19</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24</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31</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40</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51</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64</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79</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90</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A9</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C4</a:t>
                      </a:r>
                      <a:endParaRPr lang="ru-RU" sz="2000" b="1">
                        <a:effectLst/>
                        <a:latin typeface="Times New Roman"/>
                        <a:ea typeface="Calibri"/>
                        <a:cs typeface="Times New Roman"/>
                      </a:endParaRPr>
                    </a:p>
                  </a:txBody>
                  <a:tcPr marL="0" marR="0" marT="0" marB="0"/>
                </a:tc>
                <a:tc>
                  <a:txBody>
                    <a:bodyPr/>
                    <a:lstStyle/>
                    <a:p>
                      <a:pPr>
                        <a:lnSpc>
                          <a:spcPct val="115000"/>
                        </a:lnSpc>
                        <a:spcAft>
                          <a:spcPts val="0"/>
                        </a:spcAft>
                      </a:pPr>
                      <a:r>
                        <a:rPr lang="ru-RU" sz="2000" b="1">
                          <a:effectLst/>
                        </a:rPr>
                        <a:t>E1</a:t>
                      </a:r>
                      <a:endParaRPr lang="ru-RU" sz="2000" b="1">
                        <a:effectLst/>
                        <a:latin typeface="Times New Roman"/>
                        <a:ea typeface="Calibri"/>
                        <a:cs typeface="Times New Roman"/>
                      </a:endParaRPr>
                    </a:p>
                  </a:txBody>
                  <a:tcPr marL="0" marR="0" marT="0" marB="0"/>
                </a:tc>
              </a:tr>
              <a:tr h="0">
                <a:tc>
                  <a:txBody>
                    <a:bodyPr/>
                    <a:lstStyle/>
                    <a:p>
                      <a:pPr algn="ctr">
                        <a:lnSpc>
                          <a:spcPct val="115000"/>
                        </a:lnSpc>
                        <a:spcAft>
                          <a:spcPts val="0"/>
                        </a:spcAft>
                      </a:pPr>
                      <a:r>
                        <a:rPr lang="ru-RU" sz="2000" b="1">
                          <a:effectLst/>
                        </a:rPr>
                        <a:t>10</a:t>
                      </a:r>
                      <a:endParaRPr lang="ru-RU" sz="2000" b="1">
                        <a:effectLst/>
                        <a:latin typeface="Times New Roman"/>
                        <a:ea typeface="Calibri"/>
                        <a:cs typeface="Times New Roman"/>
                      </a:endParaRPr>
                    </a:p>
                  </a:txBody>
                  <a:tcPr marL="0" marR="0" marT="0" marB="0" anchor="ctr"/>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r>
            </a:tbl>
          </a:graphicData>
        </a:graphic>
      </p:graphicFrame>
      <p:sp>
        <p:nvSpPr>
          <p:cNvPr id="9" name="Прямоугольник 8"/>
          <p:cNvSpPr/>
          <p:nvPr/>
        </p:nvSpPr>
        <p:spPr>
          <a:xfrm>
            <a:off x="1835696" y="6021288"/>
            <a:ext cx="5112568" cy="729430"/>
          </a:xfrm>
          <a:prstGeom prst="rect">
            <a:avLst/>
          </a:prstGeom>
        </p:spPr>
        <p:txBody>
          <a:bodyPr wrap="square">
            <a:spAutoFit/>
          </a:bodyPr>
          <a:lstStyle/>
          <a:p>
            <a:pPr algn="ctr">
              <a:lnSpc>
                <a:spcPct val="115000"/>
              </a:lnSpc>
              <a:spcAft>
                <a:spcPts val="0"/>
              </a:spcAft>
            </a:pPr>
            <a:r>
              <a:rPr lang="ru-RU" b="1" dirty="0">
                <a:solidFill>
                  <a:srgbClr val="FF0000"/>
                </a:solidFill>
              </a:rPr>
              <a:t>Карта прошивки ПЗУ-вычислителя </a:t>
            </a:r>
            <a:r>
              <a:rPr lang="ru-RU" b="1" dirty="0" smtClean="0">
                <a:solidFill>
                  <a:srgbClr val="FF0000"/>
                </a:solidFill>
              </a:rPr>
              <a:t>квадратов в двоично-десятичном коде?</a:t>
            </a:r>
            <a:endParaRPr lang="ru-RU" b="1" dirty="0">
              <a:solidFill>
                <a:srgbClr val="FF0000"/>
              </a:solidFill>
              <a:latin typeface="Times New Roman"/>
              <a:ea typeface="Calibri"/>
              <a:cs typeface="Times New Roman"/>
            </a:endParaRPr>
          </a:p>
        </p:txBody>
      </p:sp>
    </p:spTree>
    <p:extLst>
      <p:ext uri="{BB962C8B-B14F-4D97-AF65-F5344CB8AC3E}">
        <p14:creationId xmlns:p14="http://schemas.microsoft.com/office/powerpoint/2010/main" val="30018765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67744" y="314617"/>
            <a:ext cx="4753865" cy="369332"/>
          </a:xfrm>
          <a:prstGeom prst="rect">
            <a:avLst/>
          </a:prstGeom>
          <a:noFill/>
        </p:spPr>
        <p:txBody>
          <a:bodyPr wrap="none" rtlCol="0">
            <a:spAutoFit/>
          </a:bodyPr>
          <a:lstStyle/>
          <a:p>
            <a:r>
              <a:rPr lang="ru-RU" dirty="0" smtClean="0"/>
              <a:t>ПЗУ как преобразователь кодов (дешифратор)</a:t>
            </a:r>
            <a:endParaRPr lang="ru-RU" dirty="0"/>
          </a:p>
        </p:txBody>
      </p:sp>
      <p:sp>
        <p:nvSpPr>
          <p:cNvPr id="5" name="Прямоугольник 4"/>
          <p:cNvSpPr/>
          <p:nvPr/>
        </p:nvSpPr>
        <p:spPr>
          <a:xfrm>
            <a:off x="703161" y="836712"/>
            <a:ext cx="6534472" cy="923330"/>
          </a:xfrm>
          <a:prstGeom prst="rect">
            <a:avLst/>
          </a:prstGeom>
        </p:spPr>
        <p:txBody>
          <a:bodyPr wrap="square">
            <a:spAutoFit/>
          </a:bodyPr>
          <a:lstStyle/>
          <a:p>
            <a:r>
              <a:rPr lang="ru-RU" dirty="0"/>
              <a:t>П</a:t>
            </a:r>
            <a:r>
              <a:rPr lang="ru-RU" dirty="0" smtClean="0"/>
              <a:t>рименение</a:t>
            </a:r>
            <a:r>
              <a:rPr lang="ru-RU" dirty="0"/>
              <a:t> </a:t>
            </a:r>
            <a:r>
              <a:rPr lang="ru-RU" dirty="0" smtClean="0"/>
              <a:t> </a:t>
            </a:r>
            <a:r>
              <a:rPr lang="ru-RU" dirty="0"/>
              <a:t>— это </a:t>
            </a:r>
            <a:r>
              <a:rPr lang="ru-RU" dirty="0" smtClean="0"/>
              <a:t>всевозможных </a:t>
            </a:r>
            <a:r>
              <a:rPr lang="ru-RU" dirty="0"/>
              <a:t>индикаторов, отображающих на экране буквы и цифры. </a:t>
            </a:r>
            <a:r>
              <a:rPr lang="ru-RU" i="1" dirty="0"/>
              <a:t>ПЗУ</a:t>
            </a:r>
            <a:r>
              <a:rPr lang="ru-RU" dirty="0"/>
              <a:t> в данном случае переводит код (номер) буквы или цифры в ее изображение. </a:t>
            </a:r>
          </a:p>
        </p:txBody>
      </p:sp>
      <p:pic>
        <p:nvPicPr>
          <p:cNvPr id="6" name="Рисунок 5" descr="Дешифратор знакового семисегментного индикатора на ПЗУ"/>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988840"/>
            <a:ext cx="6241678" cy="3377530"/>
          </a:xfrm>
          <a:prstGeom prst="rect">
            <a:avLst/>
          </a:prstGeom>
          <a:noFill/>
          <a:ln>
            <a:noFill/>
          </a:ln>
        </p:spPr>
      </p:pic>
      <p:sp>
        <p:nvSpPr>
          <p:cNvPr id="7" name="TextBox 6"/>
          <p:cNvSpPr txBox="1"/>
          <p:nvPr/>
        </p:nvSpPr>
        <p:spPr>
          <a:xfrm>
            <a:off x="7021609" y="3907051"/>
            <a:ext cx="1975092" cy="646331"/>
          </a:xfrm>
          <a:prstGeom prst="rect">
            <a:avLst/>
          </a:prstGeom>
          <a:noFill/>
        </p:spPr>
        <p:txBody>
          <a:bodyPr wrap="none" rtlCol="0">
            <a:spAutoFit/>
          </a:bodyPr>
          <a:lstStyle/>
          <a:p>
            <a:r>
              <a:rPr lang="ru-RU" b="1" dirty="0" err="1" smtClean="0">
                <a:solidFill>
                  <a:srgbClr val="FF0000"/>
                </a:solidFill>
              </a:rPr>
              <a:t>Семисегментный</a:t>
            </a:r>
            <a:r>
              <a:rPr lang="ru-RU" b="1" dirty="0" smtClean="0">
                <a:solidFill>
                  <a:srgbClr val="FF0000"/>
                </a:solidFill>
              </a:rPr>
              <a:t> </a:t>
            </a:r>
          </a:p>
          <a:p>
            <a:r>
              <a:rPr lang="ru-RU" b="1" dirty="0" smtClean="0">
                <a:solidFill>
                  <a:srgbClr val="FF0000"/>
                </a:solidFill>
              </a:rPr>
              <a:t>индикатор</a:t>
            </a:r>
            <a:endParaRPr lang="ru-RU" b="1" dirty="0">
              <a:solidFill>
                <a:srgbClr val="FF0000"/>
              </a:solidFill>
            </a:endParaRPr>
          </a:p>
        </p:txBody>
      </p:sp>
      <p:sp>
        <p:nvSpPr>
          <p:cNvPr id="8" name="Прямоугольник 7"/>
          <p:cNvSpPr/>
          <p:nvPr/>
        </p:nvSpPr>
        <p:spPr>
          <a:xfrm>
            <a:off x="0" y="5661248"/>
            <a:ext cx="9144000" cy="646331"/>
          </a:xfrm>
          <a:prstGeom prst="rect">
            <a:avLst/>
          </a:prstGeom>
        </p:spPr>
        <p:txBody>
          <a:bodyPr wrap="square">
            <a:spAutoFit/>
          </a:bodyPr>
          <a:lstStyle/>
          <a:p>
            <a:r>
              <a:rPr lang="ru-RU" dirty="0"/>
              <a:t>Нулевой сигнал на каждом из выходов данных </a:t>
            </a:r>
            <a:r>
              <a:rPr lang="ru-RU" i="1" dirty="0"/>
              <a:t>ПЗУ </a:t>
            </a:r>
            <a:r>
              <a:rPr lang="ru-RU" dirty="0" smtClean="0"/>
              <a:t>включает </a:t>
            </a:r>
            <a:r>
              <a:rPr lang="ru-RU" dirty="0"/>
              <a:t>соответствующий ему </a:t>
            </a:r>
            <a:r>
              <a:rPr lang="ru-RU" dirty="0" smtClean="0"/>
              <a:t>сегмент.</a:t>
            </a:r>
            <a:endParaRPr lang="ru-RU" dirty="0"/>
          </a:p>
        </p:txBody>
      </p:sp>
      <p:sp>
        <p:nvSpPr>
          <p:cNvPr id="9" name="TextBox 8"/>
          <p:cNvSpPr txBox="1"/>
          <p:nvPr/>
        </p:nvSpPr>
        <p:spPr>
          <a:xfrm>
            <a:off x="1272172" y="6268670"/>
            <a:ext cx="2581989" cy="369332"/>
          </a:xfrm>
          <a:prstGeom prst="rect">
            <a:avLst/>
          </a:prstGeom>
          <a:noFill/>
        </p:spPr>
        <p:txBody>
          <a:bodyPr wrap="none" rtlCol="0">
            <a:spAutoFit/>
          </a:bodyPr>
          <a:lstStyle/>
          <a:p>
            <a:r>
              <a:rPr lang="ru-RU" b="1" dirty="0" smtClean="0">
                <a:solidFill>
                  <a:srgbClr val="FF0000"/>
                </a:solidFill>
              </a:rPr>
              <a:t>Пример для кодов 0 и 7</a:t>
            </a:r>
            <a:endParaRPr lang="ru-RU" b="1" dirty="0">
              <a:solidFill>
                <a:srgbClr val="FF0000"/>
              </a:solidFill>
            </a:endParaRPr>
          </a:p>
        </p:txBody>
      </p:sp>
    </p:spTree>
    <p:extLst>
      <p:ext uri="{BB962C8B-B14F-4D97-AF65-F5344CB8AC3E}">
        <p14:creationId xmlns:p14="http://schemas.microsoft.com/office/powerpoint/2010/main" val="29268030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extLst>
              <p:ext uri="{D42A27DB-BD31-4B8C-83A1-F6EECF244321}">
                <p14:modId xmlns:p14="http://schemas.microsoft.com/office/powerpoint/2010/main" val="2978429685"/>
              </p:ext>
            </p:extLst>
          </p:nvPr>
        </p:nvGraphicFramePr>
        <p:xfrm>
          <a:off x="539552" y="476672"/>
          <a:ext cx="8229598" cy="1752600"/>
        </p:xfrm>
        <a:graphic>
          <a:graphicData uri="http://schemas.openxmlformats.org/drawingml/2006/table">
            <a:tbl>
              <a:tblPr firstRow="1" firstCol="1" bandRow="1">
                <a:tableStyleId>{5C22544A-7EE6-4342-B048-85BDC9FD1C3A}</a:tableStyleId>
              </a:tblPr>
              <a:tblGrid>
                <a:gridCol w="484094"/>
                <a:gridCol w="484094"/>
                <a:gridCol w="484094"/>
                <a:gridCol w="484094"/>
                <a:gridCol w="484094"/>
                <a:gridCol w="484094"/>
                <a:gridCol w="484094"/>
                <a:gridCol w="484094"/>
                <a:gridCol w="484094"/>
                <a:gridCol w="484094"/>
                <a:gridCol w="484094"/>
                <a:gridCol w="484094"/>
                <a:gridCol w="484094"/>
                <a:gridCol w="484094"/>
                <a:gridCol w="484094"/>
                <a:gridCol w="484094"/>
                <a:gridCol w="484094"/>
              </a:tblGrid>
              <a:tr h="0">
                <a:tc gridSpan="17">
                  <a:txBody>
                    <a:bodyPr/>
                    <a:lstStyle/>
                    <a:p>
                      <a:pPr algn="ctr">
                        <a:lnSpc>
                          <a:spcPct val="115000"/>
                        </a:lnSpc>
                        <a:spcAft>
                          <a:spcPts val="0"/>
                        </a:spcAft>
                      </a:pPr>
                      <a:r>
                        <a:rPr lang="ru-RU" sz="2000" dirty="0" smtClean="0">
                          <a:effectLst/>
                        </a:rPr>
                        <a:t>Карта </a:t>
                      </a:r>
                      <a:r>
                        <a:rPr lang="ru-RU" sz="2000" dirty="0">
                          <a:effectLst/>
                        </a:rPr>
                        <a:t>прошивки ПЗУ для дешифратора знакового индикатора</a:t>
                      </a:r>
                      <a:endParaRPr lang="ru-RU" sz="2000" dirty="0">
                        <a:effectLst/>
                        <a:latin typeface="Times New Roman"/>
                        <a:ea typeface="Calibri"/>
                        <a:cs typeface="Times New Roman"/>
                      </a:endParaRPr>
                    </a:p>
                  </a:txBody>
                  <a:tcPr marL="0" marR="0" marT="0" marB="0" anchor="ct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0">
                <a:tc>
                  <a:txBody>
                    <a:bodyPr/>
                    <a:lstStyle/>
                    <a:p>
                      <a:pPr algn="ctr">
                        <a:lnSpc>
                          <a:spcPct val="115000"/>
                        </a:lnSpc>
                        <a:spcAft>
                          <a:spcPts val="0"/>
                        </a:spcAft>
                      </a:pPr>
                      <a:r>
                        <a:rPr lang="ru-RU" sz="2000" b="1">
                          <a:effectLst/>
                        </a:rPr>
                        <a:t>Адрес</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0</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1</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2</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3</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dirty="0">
                          <a:effectLst/>
                        </a:rPr>
                        <a:t>4</a:t>
                      </a:r>
                      <a:endParaRPr lang="ru-RU" sz="2000" b="1"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dirty="0">
                          <a:effectLst/>
                        </a:rPr>
                        <a:t>5</a:t>
                      </a:r>
                      <a:endParaRPr lang="ru-RU" sz="2000" b="1"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dirty="0">
                          <a:effectLst/>
                        </a:rPr>
                        <a:t>6</a:t>
                      </a:r>
                      <a:endParaRPr lang="ru-RU" sz="2000" b="1"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7</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8</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9</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A</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B</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C</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D</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E</a:t>
                      </a:r>
                      <a:endParaRPr lang="ru-RU" sz="2000" b="1">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dirty="0">
                          <a:effectLst/>
                        </a:rPr>
                        <a:t>F</a:t>
                      </a:r>
                      <a:endParaRPr lang="ru-RU" sz="2000" b="1" dirty="0">
                        <a:effectLst/>
                        <a:latin typeface="Times New Roman"/>
                        <a:ea typeface="Calibri"/>
                        <a:cs typeface="Times New Roman"/>
                      </a:endParaRPr>
                    </a:p>
                  </a:txBody>
                  <a:tcPr marL="0" marR="0" marT="0" marB="0" anchor="ctr"/>
                </a:tc>
              </a:tr>
              <a:tr h="0">
                <a:tc>
                  <a:txBody>
                    <a:bodyPr/>
                    <a:lstStyle/>
                    <a:p>
                      <a:pPr algn="ctr">
                        <a:lnSpc>
                          <a:spcPct val="115000"/>
                        </a:lnSpc>
                        <a:spcAft>
                          <a:spcPts val="0"/>
                        </a:spcAft>
                      </a:pPr>
                      <a:r>
                        <a:rPr lang="ru-RU" sz="2000" b="1" dirty="0">
                          <a:effectLst/>
                        </a:rPr>
                        <a:t>00</a:t>
                      </a:r>
                      <a:endParaRPr lang="ru-RU" sz="2000" b="1"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a:effectLst/>
                        </a:rPr>
                        <a:t>40</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79</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24</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30</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19</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12</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02</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78</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00</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10</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08</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03</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46</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21</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06</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0E</a:t>
                      </a:r>
                      <a:endParaRPr lang="ru-RU" sz="2000" b="1">
                        <a:effectLst/>
                        <a:latin typeface="Times New Roman"/>
                        <a:ea typeface="Calibri"/>
                        <a:cs typeface="Times New Roman"/>
                      </a:endParaRPr>
                    </a:p>
                  </a:txBody>
                  <a:tcPr marL="0" marR="0" marT="0" marB="0"/>
                </a:tc>
              </a:tr>
              <a:tr h="0">
                <a:tc>
                  <a:txBody>
                    <a:bodyPr/>
                    <a:lstStyle/>
                    <a:p>
                      <a:pPr algn="ctr">
                        <a:lnSpc>
                          <a:spcPct val="115000"/>
                        </a:lnSpc>
                        <a:spcAft>
                          <a:spcPts val="0"/>
                        </a:spcAft>
                      </a:pPr>
                      <a:r>
                        <a:rPr lang="ru-RU" sz="2000" b="1" dirty="0">
                          <a:effectLst/>
                        </a:rPr>
                        <a:t>10</a:t>
                      </a:r>
                      <a:endParaRPr lang="ru-RU" sz="2000" b="1" dirty="0">
                        <a:effectLst/>
                        <a:latin typeface="Times New Roman"/>
                        <a:ea typeface="Calibri"/>
                        <a:cs typeface="Times New Roman"/>
                      </a:endParaRPr>
                    </a:p>
                  </a:txBody>
                  <a:tcPr marL="0" marR="0" marT="0" marB="0" anchor="ctr"/>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a:effectLst/>
                        </a:rPr>
                        <a:t>XX</a:t>
                      </a:r>
                      <a:endParaRPr lang="ru-RU" sz="2000" b="1">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c>
                  <a:txBody>
                    <a:bodyPr/>
                    <a:lstStyle/>
                    <a:p>
                      <a:pPr algn="ctr">
                        <a:lnSpc>
                          <a:spcPct val="115000"/>
                        </a:lnSpc>
                        <a:spcAft>
                          <a:spcPts val="0"/>
                        </a:spcAft>
                      </a:pPr>
                      <a:r>
                        <a:rPr lang="ru-RU" sz="2000" b="1" dirty="0">
                          <a:effectLst/>
                        </a:rPr>
                        <a:t>XX</a:t>
                      </a:r>
                      <a:endParaRPr lang="ru-RU" sz="2000" b="1" dirty="0">
                        <a:effectLst/>
                        <a:latin typeface="Times New Roman"/>
                        <a:ea typeface="Calibri"/>
                        <a:cs typeface="Times New Roman"/>
                      </a:endParaRPr>
                    </a:p>
                  </a:txBody>
                  <a:tcPr marL="0" marR="0" marT="0" marB="0"/>
                </a:tc>
              </a:tr>
            </a:tbl>
          </a:graphicData>
        </a:graphic>
      </p:graphicFrame>
    </p:spTree>
    <p:extLst>
      <p:ext uri="{BB962C8B-B14F-4D97-AF65-F5344CB8AC3E}">
        <p14:creationId xmlns:p14="http://schemas.microsoft.com/office/powerpoint/2010/main" val="28260367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30955" y="260648"/>
            <a:ext cx="3934347" cy="369332"/>
          </a:xfrm>
          <a:prstGeom prst="rect">
            <a:avLst/>
          </a:prstGeom>
        </p:spPr>
        <p:txBody>
          <a:bodyPr wrap="none">
            <a:spAutoFit/>
          </a:bodyPr>
          <a:lstStyle/>
          <a:p>
            <a:r>
              <a:rPr lang="ru-RU" b="1" dirty="0" smtClean="0"/>
              <a:t>Матричный </a:t>
            </a:r>
            <a:r>
              <a:rPr lang="ru-RU" b="1" i="1" dirty="0" smtClean="0"/>
              <a:t>знакогенератор</a:t>
            </a:r>
            <a:r>
              <a:rPr lang="ru-RU" b="1" dirty="0"/>
              <a:t> на </a:t>
            </a:r>
            <a:r>
              <a:rPr lang="ru-RU" b="1" i="1" dirty="0"/>
              <a:t>ПЗУ</a:t>
            </a:r>
            <a:r>
              <a:rPr lang="ru-RU" b="1" dirty="0"/>
              <a:t> </a:t>
            </a:r>
          </a:p>
        </p:txBody>
      </p:sp>
      <p:pic>
        <p:nvPicPr>
          <p:cNvPr id="5" name="Рисунок 4" descr="Матричный знакогенератор на ПЗУ"/>
          <p:cNvPicPr/>
          <p:nvPr/>
        </p:nvPicPr>
        <p:blipFill>
          <a:blip r:embed="rId2">
            <a:extLst>
              <a:ext uri="{28A0092B-C50C-407E-A947-70E740481C1C}">
                <a14:useLocalDpi xmlns:a14="http://schemas.microsoft.com/office/drawing/2010/main" val="0"/>
              </a:ext>
            </a:extLst>
          </a:blip>
          <a:srcRect/>
          <a:stretch>
            <a:fillRect/>
          </a:stretch>
        </p:blipFill>
        <p:spPr bwMode="auto">
          <a:xfrm>
            <a:off x="311786" y="629980"/>
            <a:ext cx="6601718" cy="2801466"/>
          </a:xfrm>
          <a:prstGeom prst="rect">
            <a:avLst/>
          </a:prstGeom>
          <a:noFill/>
          <a:ln>
            <a:noFill/>
          </a:ln>
        </p:spPr>
      </p:pic>
      <p:sp>
        <p:nvSpPr>
          <p:cNvPr id="6" name="TextBox 5"/>
          <p:cNvSpPr txBox="1"/>
          <p:nvPr/>
        </p:nvSpPr>
        <p:spPr>
          <a:xfrm>
            <a:off x="6372200" y="836712"/>
            <a:ext cx="1356975" cy="646331"/>
          </a:xfrm>
          <a:prstGeom prst="rect">
            <a:avLst/>
          </a:prstGeom>
          <a:noFill/>
        </p:spPr>
        <p:txBody>
          <a:bodyPr wrap="none" rtlCol="0">
            <a:spAutoFit/>
          </a:bodyPr>
          <a:lstStyle/>
          <a:p>
            <a:pPr algn="ctr"/>
            <a:r>
              <a:rPr lang="ru-RU" b="1" dirty="0" smtClean="0"/>
              <a:t>Знакоместо</a:t>
            </a:r>
            <a:endParaRPr lang="ru-RU" b="1" dirty="0"/>
          </a:p>
          <a:p>
            <a:pPr algn="ctr"/>
            <a:r>
              <a:rPr lang="ru-RU" b="1" dirty="0" smtClean="0"/>
              <a:t>8х8 точек</a:t>
            </a:r>
            <a:endParaRPr lang="ru-RU" b="1" dirty="0"/>
          </a:p>
        </p:txBody>
      </p:sp>
      <p:sp>
        <p:nvSpPr>
          <p:cNvPr id="7" name="Прямоугольник 6"/>
          <p:cNvSpPr/>
          <p:nvPr/>
        </p:nvSpPr>
        <p:spPr>
          <a:xfrm>
            <a:off x="0" y="3587531"/>
            <a:ext cx="9144000" cy="3139321"/>
          </a:xfrm>
          <a:prstGeom prst="rect">
            <a:avLst/>
          </a:prstGeom>
        </p:spPr>
        <p:txBody>
          <a:bodyPr wrap="square">
            <a:spAutoFit/>
          </a:bodyPr>
          <a:lstStyle/>
          <a:p>
            <a:r>
              <a:rPr lang="ru-RU" dirty="0" err="1"/>
              <a:t>З</a:t>
            </a:r>
            <a:r>
              <a:rPr lang="ru-RU" dirty="0" err="1" smtClean="0"/>
              <a:t>накоместная</a:t>
            </a:r>
            <a:r>
              <a:rPr lang="ru-RU" dirty="0" smtClean="0"/>
              <a:t> </a:t>
            </a:r>
            <a:r>
              <a:rPr lang="ru-RU" dirty="0"/>
              <a:t>матрица из 8 строк и 8 столбцов. В каждую ячейку </a:t>
            </a:r>
            <a:r>
              <a:rPr lang="ru-RU" i="1" dirty="0"/>
              <a:t>ПЗУ</a:t>
            </a:r>
            <a:r>
              <a:rPr lang="ru-RU" dirty="0"/>
              <a:t> записывается код изображения одной из 8 строк одного из 256 символов. Изображение одного символа занимает 8 последовательно расположенных ячеек в </a:t>
            </a:r>
            <a:r>
              <a:rPr lang="ru-RU" i="1" dirty="0"/>
              <a:t>ПЗУ</a:t>
            </a:r>
            <a:r>
              <a:rPr lang="ru-RU" dirty="0"/>
              <a:t>.  </a:t>
            </a:r>
            <a:r>
              <a:rPr lang="ru-RU" dirty="0" smtClean="0"/>
              <a:t>В </a:t>
            </a:r>
            <a:r>
              <a:rPr lang="ru-RU" dirty="0"/>
              <a:t>случае матричного светодиодного индикатора перебор строк может осуществляться 3-разрядным </a:t>
            </a:r>
            <a:r>
              <a:rPr lang="ru-RU" dirty="0" smtClean="0"/>
              <a:t>счетчиком. </a:t>
            </a:r>
            <a:r>
              <a:rPr lang="ru-RU" dirty="0"/>
              <a:t>В случае телевизионного монитора перебор строк осуществляется с помощью генератора вертикальной </a:t>
            </a:r>
            <a:r>
              <a:rPr lang="ru-RU" i="1" dirty="0"/>
              <a:t>развертки</a:t>
            </a:r>
            <a:r>
              <a:rPr lang="ru-RU" dirty="0"/>
              <a:t> </a:t>
            </a:r>
            <a:r>
              <a:rPr lang="ru-RU" dirty="0" smtClean="0"/>
              <a:t>изображения. </a:t>
            </a:r>
            <a:r>
              <a:rPr lang="ru-RU" dirty="0"/>
              <a:t>А</a:t>
            </a:r>
            <a:r>
              <a:rPr lang="ru-RU" dirty="0" smtClean="0"/>
              <a:t>ктивному </a:t>
            </a:r>
            <a:r>
              <a:rPr lang="ru-RU" dirty="0"/>
              <a:t>(зажженному) элементу изображения соответствует </a:t>
            </a:r>
            <a:r>
              <a:rPr lang="ru-RU" dirty="0" smtClean="0"/>
              <a:t>единичный сигнал</a:t>
            </a:r>
            <a:r>
              <a:rPr lang="ru-RU" dirty="0"/>
              <a:t> </a:t>
            </a:r>
            <a:r>
              <a:rPr lang="ru-RU" dirty="0" smtClean="0"/>
              <a:t>«1» .</a:t>
            </a:r>
          </a:p>
          <a:p>
            <a:r>
              <a:rPr lang="ru-RU" dirty="0" smtClean="0"/>
              <a:t>Пример для символа </a:t>
            </a:r>
            <a:r>
              <a:rPr lang="ru-RU" dirty="0"/>
              <a:t>"М"</a:t>
            </a:r>
            <a:endParaRPr lang="ru-RU" dirty="0" smtClean="0"/>
          </a:p>
          <a:p>
            <a:r>
              <a:rPr lang="ru-RU" dirty="0" smtClean="0"/>
              <a:t>0 строка </a:t>
            </a:r>
            <a:r>
              <a:rPr lang="ru-RU" dirty="0"/>
              <a:t>— </a:t>
            </a:r>
            <a:r>
              <a:rPr lang="ru-RU" dirty="0" smtClean="0"/>
              <a:t>10000010</a:t>
            </a:r>
            <a:r>
              <a:rPr lang="ru-RU" dirty="0"/>
              <a:t>, </a:t>
            </a:r>
          </a:p>
          <a:p>
            <a:r>
              <a:rPr lang="ru-RU" dirty="0"/>
              <a:t>1</a:t>
            </a:r>
            <a:r>
              <a:rPr lang="ru-RU" dirty="0" smtClean="0"/>
              <a:t> строка </a:t>
            </a:r>
            <a:r>
              <a:rPr lang="ru-RU" dirty="0"/>
              <a:t>— </a:t>
            </a:r>
            <a:r>
              <a:rPr lang="ru-RU" dirty="0" smtClean="0"/>
              <a:t>11000110</a:t>
            </a:r>
            <a:r>
              <a:rPr lang="ru-RU" dirty="0"/>
              <a:t>, </a:t>
            </a:r>
            <a:endParaRPr lang="ru-RU" dirty="0" smtClean="0"/>
          </a:p>
          <a:p>
            <a:r>
              <a:rPr lang="ru-RU" dirty="0" smtClean="0"/>
              <a:t>2 </a:t>
            </a:r>
            <a:r>
              <a:rPr lang="ru-RU" dirty="0"/>
              <a:t>строка</a:t>
            </a:r>
            <a:r>
              <a:rPr lang="ru-RU" dirty="0" smtClean="0"/>
              <a:t> </a:t>
            </a:r>
            <a:r>
              <a:rPr lang="ru-RU" dirty="0"/>
              <a:t>— </a:t>
            </a:r>
            <a:r>
              <a:rPr lang="ru-RU" dirty="0" smtClean="0"/>
              <a:t>10101010и </a:t>
            </a:r>
            <a:r>
              <a:rPr lang="ru-RU" dirty="0"/>
              <a:t>т.д.  </a:t>
            </a:r>
          </a:p>
        </p:txBody>
      </p:sp>
    </p:spTree>
    <p:extLst>
      <p:ext uri="{BB962C8B-B14F-4D97-AF65-F5344CB8AC3E}">
        <p14:creationId xmlns:p14="http://schemas.microsoft.com/office/powerpoint/2010/main" val="31615182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75656" y="188640"/>
            <a:ext cx="6606480" cy="369332"/>
          </a:xfrm>
          <a:prstGeom prst="rect">
            <a:avLst/>
          </a:prstGeom>
        </p:spPr>
        <p:txBody>
          <a:bodyPr wrap="square">
            <a:spAutoFit/>
          </a:bodyPr>
          <a:lstStyle/>
          <a:p>
            <a:r>
              <a:rPr lang="ru-RU" b="1" dirty="0"/>
              <a:t>ПЗУ в генераторах импульсных последовательностей  </a:t>
            </a:r>
            <a:endParaRPr lang="ru-RU" dirty="0"/>
          </a:p>
        </p:txBody>
      </p:sp>
      <p:pic>
        <p:nvPicPr>
          <p:cNvPr id="5" name="Рисунок 4" descr="Пример структуры генератора последовательностей сигналов на ПЗУ"/>
          <p:cNvPicPr/>
          <p:nvPr/>
        </p:nvPicPr>
        <p:blipFill>
          <a:blip r:embed="rId2">
            <a:extLst>
              <a:ext uri="{28A0092B-C50C-407E-A947-70E740481C1C}">
                <a14:useLocalDpi xmlns:a14="http://schemas.microsoft.com/office/drawing/2010/main" val="0"/>
              </a:ext>
            </a:extLst>
          </a:blip>
          <a:srcRect/>
          <a:stretch>
            <a:fillRect/>
          </a:stretch>
        </p:blipFill>
        <p:spPr bwMode="auto">
          <a:xfrm>
            <a:off x="1331640" y="692696"/>
            <a:ext cx="5934596" cy="1777157"/>
          </a:xfrm>
          <a:prstGeom prst="rect">
            <a:avLst/>
          </a:prstGeom>
          <a:noFill/>
          <a:ln>
            <a:noFill/>
          </a:ln>
        </p:spPr>
      </p:pic>
      <p:pic>
        <p:nvPicPr>
          <p:cNvPr id="6" name="Рисунок 5" descr="Временная диаграмма формируемых выходных сигналов"/>
          <p:cNvPicPr/>
          <p:nvPr/>
        </p:nvPicPr>
        <p:blipFill>
          <a:blip r:embed="rId3">
            <a:extLst>
              <a:ext uri="{28A0092B-C50C-407E-A947-70E740481C1C}">
                <a14:useLocalDpi xmlns:a14="http://schemas.microsoft.com/office/drawing/2010/main" val="0"/>
              </a:ext>
            </a:extLst>
          </a:blip>
          <a:srcRect/>
          <a:stretch>
            <a:fillRect/>
          </a:stretch>
        </p:blipFill>
        <p:spPr bwMode="auto">
          <a:xfrm>
            <a:off x="539552" y="3284984"/>
            <a:ext cx="7853833" cy="3096344"/>
          </a:xfrm>
          <a:prstGeom prst="rect">
            <a:avLst/>
          </a:prstGeom>
          <a:noFill/>
          <a:ln>
            <a:noFill/>
          </a:ln>
        </p:spPr>
      </p:pic>
      <p:sp>
        <p:nvSpPr>
          <p:cNvPr id="7" name="TextBox 6"/>
          <p:cNvSpPr txBox="1"/>
          <p:nvPr/>
        </p:nvSpPr>
        <p:spPr>
          <a:xfrm>
            <a:off x="1143507" y="2791081"/>
            <a:ext cx="7368877" cy="369332"/>
          </a:xfrm>
          <a:prstGeom prst="rect">
            <a:avLst/>
          </a:prstGeom>
          <a:noFill/>
        </p:spPr>
        <p:txBody>
          <a:bodyPr wrap="none" rtlCol="0">
            <a:spAutoFit/>
          </a:bodyPr>
          <a:lstStyle/>
          <a:p>
            <a:r>
              <a:rPr lang="ru-RU" dirty="0" smtClean="0"/>
              <a:t>Цель- получить временные реализации для 6-и выходных сигналов вида</a:t>
            </a:r>
            <a:endParaRPr lang="ru-RU" dirty="0"/>
          </a:p>
        </p:txBody>
      </p:sp>
      <p:sp>
        <p:nvSpPr>
          <p:cNvPr id="8" name="TextBox 7"/>
          <p:cNvSpPr txBox="1"/>
          <p:nvPr/>
        </p:nvSpPr>
        <p:spPr>
          <a:xfrm>
            <a:off x="3291385" y="585068"/>
            <a:ext cx="2015103" cy="369332"/>
          </a:xfrm>
          <a:prstGeom prst="rect">
            <a:avLst/>
          </a:prstGeom>
          <a:noFill/>
        </p:spPr>
        <p:txBody>
          <a:bodyPr wrap="none" rtlCol="0">
            <a:spAutoFit/>
          </a:bodyPr>
          <a:lstStyle/>
          <a:p>
            <a:r>
              <a:rPr lang="ru-RU" dirty="0" smtClean="0"/>
              <a:t>Структурная схема</a:t>
            </a:r>
            <a:endParaRPr lang="ru-RU" dirty="0"/>
          </a:p>
        </p:txBody>
      </p:sp>
    </p:spTree>
    <p:extLst>
      <p:ext uri="{BB962C8B-B14F-4D97-AF65-F5344CB8AC3E}">
        <p14:creationId xmlns:p14="http://schemas.microsoft.com/office/powerpoint/2010/main" val="31829836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91680" y="1772816"/>
            <a:ext cx="5665462" cy="1754326"/>
          </a:xfrm>
          <a:prstGeom prst="rect">
            <a:avLst/>
          </a:prstGeom>
          <a:noFill/>
        </p:spPr>
        <p:txBody>
          <a:bodyPr wrap="none" rtlCol="0">
            <a:spAutoFit/>
          </a:bodyPr>
          <a:lstStyle/>
          <a:p>
            <a:r>
              <a:rPr lang="ru-RU" dirty="0" smtClean="0"/>
              <a:t>Задача разбивается на этапы</a:t>
            </a:r>
            <a:r>
              <a:rPr lang="en-US" dirty="0" smtClean="0"/>
              <a:t>: </a:t>
            </a:r>
            <a:endParaRPr lang="ru-RU" dirty="0" smtClean="0"/>
          </a:p>
          <a:p>
            <a:pPr marL="342900" indent="-342900">
              <a:buFont typeface="+mj-lt"/>
              <a:buAutoNum type="arabicPeriod"/>
            </a:pPr>
            <a:r>
              <a:rPr lang="ru-RU" dirty="0" smtClean="0"/>
              <a:t>Подобрать параметры ГТИ</a:t>
            </a:r>
            <a:r>
              <a:rPr lang="en-US" dirty="0" smtClean="0"/>
              <a:t> (</a:t>
            </a:r>
            <a:r>
              <a:rPr lang="ru-RU" dirty="0" smtClean="0"/>
              <a:t> период </a:t>
            </a:r>
            <a:r>
              <a:rPr lang="en-US" dirty="0" smtClean="0"/>
              <a:t> T</a:t>
            </a:r>
            <a:r>
              <a:rPr lang="ru-RU" dirty="0" smtClean="0"/>
              <a:t> или частоту </a:t>
            </a:r>
            <a:r>
              <a:rPr lang="en-US" dirty="0" smtClean="0"/>
              <a:t>f)</a:t>
            </a:r>
            <a:endParaRPr lang="ru-RU" dirty="0" smtClean="0"/>
          </a:p>
          <a:p>
            <a:pPr marL="342900" indent="-342900">
              <a:buFont typeface="+mj-lt"/>
              <a:buAutoNum type="arabicPeriod"/>
            </a:pPr>
            <a:r>
              <a:rPr lang="ru-RU" dirty="0" smtClean="0"/>
              <a:t>Подобрать параметры ПЗУ , </a:t>
            </a:r>
          </a:p>
          <a:p>
            <a:pPr marL="342900" indent="-342900">
              <a:buFont typeface="+mj-lt"/>
              <a:buAutoNum type="arabicPeriod"/>
            </a:pPr>
            <a:r>
              <a:rPr lang="ru-RU" dirty="0" smtClean="0"/>
              <a:t>Подобрать параметры счетчика</a:t>
            </a:r>
          </a:p>
          <a:p>
            <a:pPr marL="342900" indent="-342900">
              <a:buFont typeface="+mj-lt"/>
              <a:buAutoNum type="arabicPeriod"/>
            </a:pPr>
            <a:r>
              <a:rPr lang="ru-RU" dirty="0"/>
              <a:t>П</a:t>
            </a:r>
            <a:r>
              <a:rPr lang="ru-RU" dirty="0" smtClean="0"/>
              <a:t>редложить схему  реализации генератора, </a:t>
            </a:r>
          </a:p>
          <a:p>
            <a:pPr marL="342900" indent="-342900">
              <a:buFont typeface="+mj-lt"/>
              <a:buAutoNum type="arabicPeriod"/>
            </a:pPr>
            <a:r>
              <a:rPr lang="ru-RU" dirty="0"/>
              <a:t>П</a:t>
            </a:r>
            <a:r>
              <a:rPr lang="ru-RU" dirty="0" smtClean="0"/>
              <a:t>олучить карту прошивки </a:t>
            </a:r>
            <a:endParaRPr lang="ru-RU" dirty="0"/>
          </a:p>
        </p:txBody>
      </p:sp>
    </p:spTree>
    <p:extLst>
      <p:ext uri="{BB962C8B-B14F-4D97-AF65-F5344CB8AC3E}">
        <p14:creationId xmlns:p14="http://schemas.microsoft.com/office/powerpoint/2010/main" val="37511843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267744" y="251705"/>
            <a:ext cx="4540217" cy="400110"/>
          </a:xfrm>
          <a:prstGeom prst="rect">
            <a:avLst/>
          </a:prstGeom>
        </p:spPr>
        <p:txBody>
          <a:bodyPr wrap="none">
            <a:spAutoFit/>
          </a:bodyPr>
          <a:lstStyle/>
          <a:p>
            <a:r>
              <a:rPr lang="ru-RU" sz="2000" b="1" dirty="0">
                <a:solidFill>
                  <a:srgbClr val="FF0000"/>
                </a:solidFill>
              </a:rPr>
              <a:t>Микропрограммные автоматы на ПЗУ </a:t>
            </a:r>
            <a:endParaRPr lang="ru-RU" sz="2000" dirty="0">
              <a:solidFill>
                <a:srgbClr val="FF0000"/>
              </a:solidFill>
            </a:endParaRPr>
          </a:p>
        </p:txBody>
      </p:sp>
      <p:sp>
        <p:nvSpPr>
          <p:cNvPr id="3" name="Прямоугольник 2"/>
          <p:cNvSpPr/>
          <p:nvPr/>
        </p:nvSpPr>
        <p:spPr>
          <a:xfrm>
            <a:off x="630273" y="836712"/>
            <a:ext cx="8406680" cy="3970318"/>
          </a:xfrm>
          <a:prstGeom prst="rect">
            <a:avLst/>
          </a:prstGeom>
        </p:spPr>
        <p:txBody>
          <a:bodyPr wrap="square">
            <a:spAutoFit/>
          </a:bodyPr>
          <a:lstStyle/>
          <a:p>
            <a:r>
              <a:rPr lang="ru-RU" i="1" dirty="0"/>
              <a:t>Микропрограммные автоматы</a:t>
            </a:r>
            <a:r>
              <a:rPr lang="ru-RU" dirty="0"/>
              <a:t> </a:t>
            </a:r>
            <a:r>
              <a:rPr lang="ru-RU" dirty="0" smtClean="0"/>
              <a:t> (</a:t>
            </a:r>
            <a:r>
              <a:rPr lang="ru-RU" b="1" dirty="0" smtClean="0"/>
              <a:t>МПА</a:t>
            </a:r>
            <a:r>
              <a:rPr lang="ru-RU" dirty="0" smtClean="0"/>
              <a:t>) представляют </a:t>
            </a:r>
            <a:r>
              <a:rPr lang="ru-RU" dirty="0"/>
              <a:t>собой следующий шаг по пути усложнения интеллекта цифровых схем. </a:t>
            </a:r>
            <a:endParaRPr lang="ru-RU" dirty="0" smtClean="0"/>
          </a:p>
          <a:p>
            <a:endParaRPr lang="ru-RU" dirty="0" smtClean="0"/>
          </a:p>
          <a:p>
            <a:r>
              <a:rPr lang="ru-RU" dirty="0" smtClean="0"/>
              <a:t>На </a:t>
            </a:r>
            <a:r>
              <a:rPr lang="ru-RU" dirty="0"/>
              <a:t>основе </a:t>
            </a:r>
            <a:r>
              <a:rPr lang="ru-RU" b="1" dirty="0" smtClean="0"/>
              <a:t>МПА</a:t>
            </a:r>
            <a:r>
              <a:rPr lang="ru-RU" dirty="0" smtClean="0"/>
              <a:t> </a:t>
            </a:r>
            <a:r>
              <a:rPr lang="ru-RU" dirty="0"/>
              <a:t>можно строить устройства, которые работают по </a:t>
            </a:r>
            <a:r>
              <a:rPr lang="ru-RU" dirty="0" smtClean="0"/>
              <a:t>сложным </a:t>
            </a:r>
            <a:r>
              <a:rPr lang="ru-RU" dirty="0"/>
              <a:t>алгоритмам, выполняют различные функции, определяемые входными сигналами, выдают сложные последовательности выходных сигналов. </a:t>
            </a:r>
            <a:endParaRPr lang="ru-RU" dirty="0" smtClean="0"/>
          </a:p>
          <a:p>
            <a:endParaRPr lang="ru-RU" dirty="0"/>
          </a:p>
          <a:p>
            <a:r>
              <a:rPr lang="ru-RU" dirty="0"/>
              <a:t>А</a:t>
            </a:r>
            <a:r>
              <a:rPr lang="ru-RU" dirty="0" smtClean="0"/>
              <a:t>лгоритм </a:t>
            </a:r>
            <a:r>
              <a:rPr lang="ru-RU" dirty="0"/>
              <a:t>работы</a:t>
            </a:r>
            <a:r>
              <a:rPr lang="ru-RU" b="1" dirty="0"/>
              <a:t> </a:t>
            </a:r>
            <a:r>
              <a:rPr lang="ru-RU" b="1" dirty="0" smtClean="0"/>
              <a:t>МПА</a:t>
            </a:r>
            <a:r>
              <a:rPr lang="ru-RU" dirty="0"/>
              <a:t> может быть </a:t>
            </a:r>
            <a:r>
              <a:rPr lang="ru-RU" dirty="0" smtClean="0"/>
              <a:t>изменен </a:t>
            </a:r>
            <a:r>
              <a:rPr lang="ru-RU" dirty="0"/>
              <a:t>заменой прошивки ПЗУ. </a:t>
            </a:r>
            <a:r>
              <a:rPr lang="ru-RU" dirty="0" smtClean="0"/>
              <a:t> Т.е. </a:t>
            </a:r>
            <a:r>
              <a:rPr lang="ru-RU" b="1" dirty="0" smtClean="0"/>
              <a:t>МПА</a:t>
            </a:r>
            <a:r>
              <a:rPr lang="ru-RU" dirty="0"/>
              <a:t> </a:t>
            </a:r>
            <a:r>
              <a:rPr lang="ru-RU" dirty="0" smtClean="0"/>
              <a:t>на основе одной </a:t>
            </a:r>
            <a:r>
              <a:rPr lang="ru-RU" dirty="0"/>
              <a:t>и той же схемы могут выполнять </a:t>
            </a:r>
            <a:r>
              <a:rPr lang="ru-RU" dirty="0" smtClean="0"/>
              <a:t>разные функции. Проектировать</a:t>
            </a:r>
            <a:r>
              <a:rPr lang="ru-RU" b="1" dirty="0" smtClean="0"/>
              <a:t> МПА</a:t>
            </a:r>
            <a:r>
              <a:rPr lang="ru-RU" dirty="0"/>
              <a:t> с точки зрения </a:t>
            </a:r>
            <a:r>
              <a:rPr lang="ru-RU" dirty="0" err="1"/>
              <a:t>схемотехники</a:t>
            </a:r>
            <a:r>
              <a:rPr lang="ru-RU" dirty="0"/>
              <a:t> </a:t>
            </a:r>
            <a:r>
              <a:rPr lang="ru-RU" dirty="0" smtClean="0"/>
              <a:t>достаточно просто</a:t>
            </a:r>
            <a:r>
              <a:rPr lang="ru-RU" dirty="0"/>
              <a:t>. </a:t>
            </a:r>
            <a:endParaRPr lang="ru-RU" dirty="0" smtClean="0"/>
          </a:p>
          <a:p>
            <a:endParaRPr lang="ru-RU" dirty="0" smtClean="0"/>
          </a:p>
          <a:p>
            <a:r>
              <a:rPr lang="ru-RU" dirty="0" smtClean="0"/>
              <a:t>Недостатком </a:t>
            </a:r>
            <a:r>
              <a:rPr lang="ru-RU" dirty="0"/>
              <a:t>любого </a:t>
            </a:r>
            <a:r>
              <a:rPr lang="ru-RU" b="1" dirty="0" smtClean="0"/>
              <a:t>МПА</a:t>
            </a:r>
            <a:r>
              <a:rPr lang="ru-RU" dirty="0"/>
              <a:t> по сравнению со схемами на "жесткой" логике является меньшее </a:t>
            </a:r>
            <a:r>
              <a:rPr lang="ru-RU" i="1" dirty="0"/>
              <a:t>предельное быстродействие </a:t>
            </a:r>
            <a:r>
              <a:rPr lang="ru-RU" dirty="0"/>
              <a:t>и необходимость </a:t>
            </a:r>
            <a:r>
              <a:rPr lang="ru-RU" i="1" dirty="0"/>
              <a:t>составления карты прошивки ПЗУ </a:t>
            </a:r>
            <a:r>
              <a:rPr lang="ru-RU" dirty="0"/>
              <a:t> </a:t>
            </a:r>
            <a:r>
              <a:rPr lang="ru-RU" dirty="0" smtClean="0"/>
              <a:t>(</a:t>
            </a:r>
            <a:r>
              <a:rPr lang="ru-RU" i="1" dirty="0" smtClean="0"/>
              <a:t>микропрограмму)</a:t>
            </a:r>
            <a:r>
              <a:rPr lang="ru-RU" dirty="0"/>
              <a:t>.</a:t>
            </a:r>
            <a:r>
              <a:rPr lang="ru-RU" dirty="0" smtClean="0"/>
              <a:t> </a:t>
            </a:r>
            <a:endParaRPr lang="ru-RU" dirty="0"/>
          </a:p>
        </p:txBody>
      </p:sp>
    </p:spTree>
    <p:extLst>
      <p:ext uri="{BB962C8B-B14F-4D97-AF65-F5344CB8AC3E}">
        <p14:creationId xmlns:p14="http://schemas.microsoft.com/office/powerpoint/2010/main" val="33390773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91067" y="127085"/>
            <a:ext cx="8208912" cy="707886"/>
          </a:xfrm>
          <a:prstGeom prst="rect">
            <a:avLst/>
          </a:prstGeom>
        </p:spPr>
        <p:txBody>
          <a:bodyPr wrap="square">
            <a:spAutoFit/>
          </a:bodyPr>
          <a:lstStyle/>
          <a:p>
            <a:pPr algn="ctr"/>
            <a:r>
              <a:rPr lang="ru-RU" sz="2000" b="1" dirty="0" smtClean="0">
                <a:solidFill>
                  <a:srgbClr val="FF0000"/>
                </a:solidFill>
              </a:rPr>
              <a:t>Типичная структура</a:t>
            </a:r>
            <a:r>
              <a:rPr lang="ru-RU" sz="2000" b="1" dirty="0">
                <a:solidFill>
                  <a:srgbClr val="FF0000"/>
                </a:solidFill>
              </a:rPr>
              <a:t> </a:t>
            </a:r>
            <a:r>
              <a:rPr lang="ru-RU" sz="2000" b="1" dirty="0" smtClean="0">
                <a:solidFill>
                  <a:srgbClr val="FF0000"/>
                </a:solidFill>
              </a:rPr>
              <a:t>МПА</a:t>
            </a:r>
            <a:r>
              <a:rPr lang="ru-RU" sz="2000" b="1" dirty="0">
                <a:solidFill>
                  <a:srgbClr val="FF0000"/>
                </a:solidFill>
              </a:rPr>
              <a:t> </a:t>
            </a:r>
            <a:r>
              <a:rPr lang="ru-RU" sz="2000" b="1" dirty="0" smtClean="0">
                <a:solidFill>
                  <a:srgbClr val="FF0000"/>
                </a:solidFill>
              </a:rPr>
              <a:t> </a:t>
            </a:r>
            <a:r>
              <a:rPr lang="ru-RU" sz="2000" b="1" dirty="0">
                <a:solidFill>
                  <a:srgbClr val="FF0000"/>
                </a:solidFill>
              </a:rPr>
              <a:t>включает в себя </a:t>
            </a:r>
            <a:r>
              <a:rPr lang="ru-RU" sz="2000" b="1" dirty="0" smtClean="0">
                <a:solidFill>
                  <a:srgbClr val="FF0000"/>
                </a:solidFill>
              </a:rPr>
              <a:t>:</a:t>
            </a:r>
          </a:p>
          <a:p>
            <a:pPr algn="ctr"/>
            <a:r>
              <a:rPr lang="ru-RU" sz="2000" b="1" dirty="0" smtClean="0">
                <a:solidFill>
                  <a:srgbClr val="FF0000"/>
                </a:solidFill>
              </a:rPr>
              <a:t> </a:t>
            </a:r>
            <a:r>
              <a:rPr lang="ru-RU" sz="2000" b="1" dirty="0">
                <a:solidFill>
                  <a:srgbClr val="FF0000"/>
                </a:solidFill>
              </a:rPr>
              <a:t>ПЗУ, </a:t>
            </a:r>
            <a:r>
              <a:rPr lang="ru-RU" sz="2000" b="1" dirty="0" smtClean="0">
                <a:solidFill>
                  <a:srgbClr val="FF0000"/>
                </a:solidFill>
              </a:rPr>
              <a:t>регистр </a:t>
            </a:r>
            <a:r>
              <a:rPr lang="ru-RU" sz="2000" b="1" dirty="0">
                <a:solidFill>
                  <a:srgbClr val="FF0000"/>
                </a:solidFill>
              </a:rPr>
              <a:t>и тактовый генератор.</a:t>
            </a:r>
          </a:p>
        </p:txBody>
      </p:sp>
      <p:pic>
        <p:nvPicPr>
          <p:cNvPr id="5" name="Рисунок 4" descr="Структура микропрограммного автомата"/>
          <p:cNvPicPr/>
          <p:nvPr/>
        </p:nvPicPr>
        <p:blipFill>
          <a:blip r:embed="rId2">
            <a:extLst>
              <a:ext uri="{28A0092B-C50C-407E-A947-70E740481C1C}">
                <a14:useLocalDpi xmlns:a14="http://schemas.microsoft.com/office/drawing/2010/main" val="0"/>
              </a:ext>
            </a:extLst>
          </a:blip>
          <a:srcRect/>
          <a:stretch>
            <a:fillRect/>
          </a:stretch>
        </p:blipFill>
        <p:spPr bwMode="auto">
          <a:xfrm>
            <a:off x="624438" y="834971"/>
            <a:ext cx="7488832" cy="3484074"/>
          </a:xfrm>
          <a:prstGeom prst="rect">
            <a:avLst/>
          </a:prstGeom>
          <a:noFill/>
          <a:ln>
            <a:noFill/>
          </a:ln>
        </p:spPr>
      </p:pic>
      <p:sp>
        <p:nvSpPr>
          <p:cNvPr id="6" name="TextBox 5"/>
          <p:cNvSpPr txBox="1"/>
          <p:nvPr/>
        </p:nvSpPr>
        <p:spPr>
          <a:xfrm>
            <a:off x="274078" y="4259383"/>
            <a:ext cx="3110339" cy="369332"/>
          </a:xfrm>
          <a:prstGeom prst="rect">
            <a:avLst/>
          </a:prstGeom>
          <a:noFill/>
        </p:spPr>
        <p:txBody>
          <a:bodyPr wrap="none" rtlCol="0">
            <a:spAutoFit/>
          </a:bodyPr>
          <a:lstStyle/>
          <a:p>
            <a:r>
              <a:rPr lang="en-US" b="1" dirty="0" smtClean="0"/>
              <a:t>ROM- </a:t>
            </a:r>
            <a:r>
              <a:rPr lang="ru-RU" dirty="0" smtClean="0"/>
              <a:t>организация (2</a:t>
            </a:r>
            <a:r>
              <a:rPr lang="ru-RU" baseline="30000" dirty="0" smtClean="0"/>
              <a:t>(</a:t>
            </a:r>
            <a:r>
              <a:rPr lang="en-US" baseline="30000" dirty="0" smtClean="0"/>
              <a:t>L+M)</a:t>
            </a:r>
            <a:r>
              <a:rPr lang="ru-RU" dirty="0" smtClean="0"/>
              <a:t>)</a:t>
            </a:r>
            <a:r>
              <a:rPr lang="en-US" dirty="0" smtClean="0"/>
              <a:t>x(N</a:t>
            </a:r>
            <a:r>
              <a:rPr lang="en-US" b="1" dirty="0" smtClean="0"/>
              <a:t>)</a:t>
            </a:r>
            <a:endParaRPr lang="ru-RU" b="1" dirty="0"/>
          </a:p>
        </p:txBody>
      </p:sp>
      <p:sp>
        <p:nvSpPr>
          <p:cNvPr id="7" name="TextBox 6"/>
          <p:cNvSpPr txBox="1"/>
          <p:nvPr/>
        </p:nvSpPr>
        <p:spPr>
          <a:xfrm>
            <a:off x="5717042" y="3337796"/>
            <a:ext cx="2175596" cy="369332"/>
          </a:xfrm>
          <a:prstGeom prst="rect">
            <a:avLst/>
          </a:prstGeom>
          <a:noFill/>
        </p:spPr>
        <p:txBody>
          <a:bodyPr wrap="none" rtlCol="0">
            <a:spAutoFit/>
          </a:bodyPr>
          <a:lstStyle/>
          <a:p>
            <a:r>
              <a:rPr lang="en-US" b="1" dirty="0" smtClean="0"/>
              <a:t>L- </a:t>
            </a:r>
            <a:r>
              <a:rPr lang="ru-RU" dirty="0" smtClean="0"/>
              <a:t>коды управления</a:t>
            </a:r>
            <a:endParaRPr lang="ru-RU" dirty="0"/>
          </a:p>
        </p:txBody>
      </p:sp>
      <p:sp>
        <p:nvSpPr>
          <p:cNvPr id="8" name="TextBox 7"/>
          <p:cNvSpPr txBox="1"/>
          <p:nvPr/>
        </p:nvSpPr>
        <p:spPr>
          <a:xfrm>
            <a:off x="5717042" y="3762732"/>
            <a:ext cx="3397790" cy="369332"/>
          </a:xfrm>
          <a:prstGeom prst="rect">
            <a:avLst/>
          </a:prstGeom>
          <a:noFill/>
        </p:spPr>
        <p:txBody>
          <a:bodyPr wrap="none" rtlCol="0">
            <a:spAutoFit/>
          </a:bodyPr>
          <a:lstStyle/>
          <a:p>
            <a:r>
              <a:rPr lang="ru-RU" b="1" dirty="0" smtClean="0"/>
              <a:t>М- </a:t>
            </a:r>
            <a:r>
              <a:rPr lang="ru-RU" dirty="0" smtClean="0"/>
              <a:t>коды адресов с выхода </a:t>
            </a:r>
            <a:r>
              <a:rPr lang="en-US" dirty="0" smtClean="0"/>
              <a:t>ROM</a:t>
            </a:r>
            <a:endParaRPr lang="ru-RU" dirty="0"/>
          </a:p>
        </p:txBody>
      </p:sp>
      <p:sp>
        <p:nvSpPr>
          <p:cNvPr id="10" name="TextBox 9"/>
          <p:cNvSpPr txBox="1"/>
          <p:nvPr/>
        </p:nvSpPr>
        <p:spPr>
          <a:xfrm>
            <a:off x="274078" y="4535322"/>
            <a:ext cx="2547749" cy="646331"/>
          </a:xfrm>
          <a:prstGeom prst="rect">
            <a:avLst/>
          </a:prstGeom>
          <a:noFill/>
        </p:spPr>
        <p:txBody>
          <a:bodyPr wrap="none" rtlCol="0">
            <a:spAutoFit/>
          </a:bodyPr>
          <a:lstStyle/>
          <a:p>
            <a:r>
              <a:rPr lang="en-US" b="1" dirty="0" smtClean="0"/>
              <a:t>RG- </a:t>
            </a:r>
            <a:r>
              <a:rPr lang="ru-RU" dirty="0" smtClean="0"/>
              <a:t>разрядность </a:t>
            </a:r>
            <a:r>
              <a:rPr lang="en-US" dirty="0" smtClean="0"/>
              <a:t>L+N</a:t>
            </a:r>
          </a:p>
          <a:p>
            <a:r>
              <a:rPr lang="ru-RU" b="1" dirty="0" smtClean="0"/>
              <a:t>Срабатывает по фронту</a:t>
            </a:r>
            <a:endParaRPr lang="ru-RU" b="1" dirty="0"/>
          </a:p>
        </p:txBody>
      </p:sp>
      <p:sp>
        <p:nvSpPr>
          <p:cNvPr id="11" name="TextBox 10"/>
          <p:cNvSpPr txBox="1"/>
          <p:nvPr/>
        </p:nvSpPr>
        <p:spPr>
          <a:xfrm>
            <a:off x="5717042" y="4187668"/>
            <a:ext cx="3329181" cy="923330"/>
          </a:xfrm>
          <a:prstGeom prst="rect">
            <a:avLst/>
          </a:prstGeom>
          <a:noFill/>
        </p:spPr>
        <p:txBody>
          <a:bodyPr wrap="none" rtlCol="0">
            <a:spAutoFit/>
          </a:bodyPr>
          <a:lstStyle/>
          <a:p>
            <a:r>
              <a:rPr lang="ru-RU" b="1" dirty="0" smtClean="0"/>
              <a:t>Комбинация</a:t>
            </a:r>
          </a:p>
          <a:p>
            <a:r>
              <a:rPr lang="en-US" b="1" dirty="0" smtClean="0"/>
              <a:t>L+M </a:t>
            </a:r>
            <a:r>
              <a:rPr lang="ru-RU" dirty="0" smtClean="0"/>
              <a:t>формирует адрес ПЗУ для </a:t>
            </a:r>
          </a:p>
          <a:p>
            <a:r>
              <a:rPr lang="ru-RU" dirty="0" smtClean="0"/>
              <a:t>следующего такта</a:t>
            </a:r>
            <a:endParaRPr lang="ru-RU" dirty="0"/>
          </a:p>
        </p:txBody>
      </p:sp>
      <p:sp>
        <p:nvSpPr>
          <p:cNvPr id="12" name="TextBox 11"/>
          <p:cNvSpPr txBox="1"/>
          <p:nvPr/>
        </p:nvSpPr>
        <p:spPr>
          <a:xfrm>
            <a:off x="5717042" y="5166601"/>
            <a:ext cx="3404650" cy="369332"/>
          </a:xfrm>
          <a:prstGeom prst="rect">
            <a:avLst/>
          </a:prstGeom>
          <a:noFill/>
        </p:spPr>
        <p:txBody>
          <a:bodyPr wrap="none" rtlCol="0">
            <a:spAutoFit/>
          </a:bodyPr>
          <a:lstStyle/>
          <a:p>
            <a:r>
              <a:rPr lang="ru-RU" b="1" dirty="0" smtClean="0"/>
              <a:t>(</a:t>
            </a:r>
            <a:r>
              <a:rPr lang="en-US" b="1" dirty="0" smtClean="0"/>
              <a:t>N-M</a:t>
            </a:r>
            <a:r>
              <a:rPr lang="ru-RU" b="1" dirty="0" smtClean="0"/>
              <a:t>)</a:t>
            </a:r>
            <a:r>
              <a:rPr lang="en-US" b="1" dirty="0" smtClean="0"/>
              <a:t>-  </a:t>
            </a:r>
            <a:r>
              <a:rPr lang="ru-RU" dirty="0" smtClean="0"/>
              <a:t>коды выходных сигналов</a:t>
            </a:r>
            <a:endParaRPr lang="ru-RU" dirty="0"/>
          </a:p>
        </p:txBody>
      </p:sp>
      <p:sp>
        <p:nvSpPr>
          <p:cNvPr id="14" name="Прямоугольник 13"/>
          <p:cNvSpPr/>
          <p:nvPr/>
        </p:nvSpPr>
        <p:spPr>
          <a:xfrm>
            <a:off x="137464" y="5349285"/>
            <a:ext cx="4572000" cy="1200329"/>
          </a:xfrm>
          <a:prstGeom prst="rect">
            <a:avLst/>
          </a:prstGeom>
        </p:spPr>
        <p:txBody>
          <a:bodyPr>
            <a:spAutoFit/>
          </a:bodyPr>
          <a:lstStyle/>
          <a:p>
            <a:r>
              <a:rPr lang="ru-RU" dirty="0"/>
              <a:t>А</a:t>
            </a:r>
            <a:r>
              <a:rPr lang="ru-RU" dirty="0" smtClean="0"/>
              <a:t>дреса </a:t>
            </a:r>
            <a:r>
              <a:rPr lang="ru-RU" dirty="0"/>
              <a:t>могут перебираться не только последовательно </a:t>
            </a:r>
            <a:r>
              <a:rPr lang="ru-RU" dirty="0" smtClean="0"/>
              <a:t>, </a:t>
            </a:r>
            <a:r>
              <a:rPr lang="ru-RU" dirty="0"/>
              <a:t>но и в произвольном порядке, который определяется прошивкой </a:t>
            </a:r>
            <a:r>
              <a:rPr lang="ru-RU" dirty="0" smtClean="0"/>
              <a:t>ПЗУ (микропрограммой</a:t>
            </a:r>
            <a:r>
              <a:rPr lang="ru-RU" dirty="0"/>
              <a:t>)</a:t>
            </a:r>
          </a:p>
        </p:txBody>
      </p:sp>
      <p:sp>
        <p:nvSpPr>
          <p:cNvPr id="15" name="Прямоугольник 14"/>
          <p:cNvSpPr/>
          <p:nvPr/>
        </p:nvSpPr>
        <p:spPr>
          <a:xfrm>
            <a:off x="4670710" y="5589554"/>
            <a:ext cx="4572000" cy="923330"/>
          </a:xfrm>
          <a:prstGeom prst="rect">
            <a:avLst/>
          </a:prstGeom>
        </p:spPr>
        <p:txBody>
          <a:bodyPr>
            <a:spAutoFit/>
          </a:bodyPr>
          <a:lstStyle/>
          <a:p>
            <a:r>
              <a:rPr lang="ru-RU" b="1" dirty="0" smtClean="0"/>
              <a:t>Условие </a:t>
            </a:r>
            <a:r>
              <a:rPr lang="ru-RU" b="1" dirty="0"/>
              <a:t>правильной работы </a:t>
            </a:r>
            <a:r>
              <a:rPr lang="ru-RU" b="1" dirty="0" smtClean="0"/>
              <a:t>схемы</a:t>
            </a:r>
            <a:r>
              <a:rPr lang="en-US" dirty="0" smtClean="0"/>
              <a:t>:</a:t>
            </a:r>
            <a:r>
              <a:rPr lang="ru-RU" dirty="0" smtClean="0"/>
              <a:t> </a:t>
            </a:r>
            <a:r>
              <a:rPr lang="ru-RU" dirty="0"/>
              <a:t>з</a:t>
            </a:r>
            <a:r>
              <a:rPr lang="ru-RU" dirty="0" smtClean="0"/>
              <a:t>а </a:t>
            </a:r>
            <a:r>
              <a:rPr lang="ru-RU" dirty="0"/>
              <a:t>один период </a:t>
            </a:r>
            <a:r>
              <a:rPr lang="ru-RU" i="1" dirty="0"/>
              <a:t>тактового сигнала</a:t>
            </a:r>
            <a:r>
              <a:rPr lang="ru-RU" dirty="0"/>
              <a:t> должны успеть сработать регистр и ПЗУ</a:t>
            </a:r>
            <a:r>
              <a:rPr lang="ru-RU" dirty="0" smtClean="0"/>
              <a:t>.</a:t>
            </a:r>
            <a:endParaRPr lang="ru-RU" dirty="0"/>
          </a:p>
        </p:txBody>
      </p:sp>
    </p:spTree>
    <p:extLst>
      <p:ext uri="{BB962C8B-B14F-4D97-AF65-F5344CB8AC3E}">
        <p14:creationId xmlns:p14="http://schemas.microsoft.com/office/powerpoint/2010/main" val="38865919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23728" y="332656"/>
            <a:ext cx="4572000" cy="707886"/>
          </a:xfrm>
          <a:prstGeom prst="rect">
            <a:avLst/>
          </a:prstGeom>
        </p:spPr>
        <p:txBody>
          <a:bodyPr>
            <a:spAutoFit/>
          </a:bodyPr>
          <a:lstStyle/>
          <a:p>
            <a:pPr algn="ctr"/>
            <a:r>
              <a:rPr lang="ru-RU" sz="2000" b="1" dirty="0">
                <a:solidFill>
                  <a:srgbClr val="FF0000"/>
                </a:solidFill>
              </a:rPr>
              <a:t>Элементарные функции микропрограммного </a:t>
            </a:r>
            <a:r>
              <a:rPr lang="ru-RU" sz="2000" b="1" dirty="0" smtClean="0">
                <a:solidFill>
                  <a:srgbClr val="FF0000"/>
                </a:solidFill>
              </a:rPr>
              <a:t>автомата</a:t>
            </a:r>
            <a:endParaRPr lang="ru-RU" sz="2000" b="1" dirty="0">
              <a:solidFill>
                <a:srgbClr val="FF0000"/>
              </a:solidFill>
            </a:endParaRPr>
          </a:p>
        </p:txBody>
      </p:sp>
      <p:cxnSp>
        <p:nvCxnSpPr>
          <p:cNvPr id="6" name="Прямая со стрелкой 5"/>
          <p:cNvCxnSpPr/>
          <p:nvPr/>
        </p:nvCxnSpPr>
        <p:spPr>
          <a:xfrm>
            <a:off x="755576" y="2060848"/>
            <a:ext cx="3384376" cy="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915597" y="2072148"/>
            <a:ext cx="1318694" cy="369332"/>
          </a:xfrm>
          <a:prstGeom prst="rect">
            <a:avLst/>
          </a:prstGeom>
          <a:noFill/>
        </p:spPr>
        <p:txBody>
          <a:bodyPr wrap="none" rtlCol="0">
            <a:spAutoFit/>
          </a:bodyPr>
          <a:lstStyle/>
          <a:p>
            <a:r>
              <a:rPr lang="ru-RU" dirty="0" smtClean="0"/>
              <a:t>Адреса ПЗУ</a:t>
            </a:r>
            <a:endParaRPr lang="ru-RU" dirty="0"/>
          </a:p>
        </p:txBody>
      </p:sp>
      <p:sp>
        <p:nvSpPr>
          <p:cNvPr id="8" name="Выгнутая вверх стрелка 7"/>
          <p:cNvSpPr/>
          <p:nvPr/>
        </p:nvSpPr>
        <p:spPr>
          <a:xfrm>
            <a:off x="755576" y="1700808"/>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9" name="Выгнутая вверх стрелка 8"/>
          <p:cNvSpPr/>
          <p:nvPr/>
        </p:nvSpPr>
        <p:spPr>
          <a:xfrm>
            <a:off x="1547664" y="1691149"/>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0" name="Выгнутая вверх стрелка 9"/>
          <p:cNvSpPr/>
          <p:nvPr/>
        </p:nvSpPr>
        <p:spPr>
          <a:xfrm>
            <a:off x="2331421" y="1691149"/>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1" name="Выгнутая вверх стрелка 10"/>
          <p:cNvSpPr/>
          <p:nvPr/>
        </p:nvSpPr>
        <p:spPr>
          <a:xfrm>
            <a:off x="3123509" y="1691149"/>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2" name="TextBox 11"/>
          <p:cNvSpPr txBox="1"/>
          <p:nvPr/>
        </p:nvSpPr>
        <p:spPr>
          <a:xfrm>
            <a:off x="5076056" y="1665620"/>
            <a:ext cx="3896964" cy="369332"/>
          </a:xfrm>
          <a:prstGeom prst="rect">
            <a:avLst/>
          </a:prstGeom>
          <a:noFill/>
        </p:spPr>
        <p:txBody>
          <a:bodyPr wrap="none" rtlCol="0">
            <a:spAutoFit/>
          </a:bodyPr>
          <a:lstStyle/>
          <a:p>
            <a:r>
              <a:rPr lang="ru-RU" b="1" dirty="0" smtClean="0"/>
              <a:t>Последовательный перебор адресов</a:t>
            </a:r>
            <a:endParaRPr lang="ru-RU" b="1" dirty="0"/>
          </a:p>
        </p:txBody>
      </p:sp>
      <p:cxnSp>
        <p:nvCxnSpPr>
          <p:cNvPr id="13" name="Прямая со стрелкой 12"/>
          <p:cNvCxnSpPr/>
          <p:nvPr/>
        </p:nvCxnSpPr>
        <p:spPr>
          <a:xfrm>
            <a:off x="755576" y="3942715"/>
            <a:ext cx="3384376" cy="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915597" y="3982998"/>
            <a:ext cx="1318694" cy="369332"/>
          </a:xfrm>
          <a:prstGeom prst="rect">
            <a:avLst/>
          </a:prstGeom>
          <a:noFill/>
        </p:spPr>
        <p:txBody>
          <a:bodyPr wrap="none" rtlCol="0">
            <a:spAutoFit/>
          </a:bodyPr>
          <a:lstStyle/>
          <a:p>
            <a:r>
              <a:rPr lang="ru-RU" dirty="0" smtClean="0"/>
              <a:t>Адреса ПЗУ</a:t>
            </a:r>
            <a:endParaRPr lang="ru-RU" dirty="0"/>
          </a:p>
        </p:txBody>
      </p:sp>
      <p:sp>
        <p:nvSpPr>
          <p:cNvPr id="15" name="Выгнутая вверх стрелка 14"/>
          <p:cNvSpPr/>
          <p:nvPr/>
        </p:nvSpPr>
        <p:spPr>
          <a:xfrm>
            <a:off x="755576" y="3582675"/>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6" name="Выгнутая вверх стрелка 15"/>
          <p:cNvSpPr/>
          <p:nvPr/>
        </p:nvSpPr>
        <p:spPr>
          <a:xfrm>
            <a:off x="1547664" y="3573016"/>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7" name="Выгнутая вверх стрелка 16"/>
          <p:cNvSpPr/>
          <p:nvPr/>
        </p:nvSpPr>
        <p:spPr>
          <a:xfrm>
            <a:off x="2331421" y="3573016"/>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8" name="Выгнутая вверх стрелка 17"/>
          <p:cNvSpPr/>
          <p:nvPr/>
        </p:nvSpPr>
        <p:spPr>
          <a:xfrm>
            <a:off x="3123509" y="3573016"/>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9" name="Прямоугольник 18"/>
          <p:cNvSpPr/>
          <p:nvPr/>
        </p:nvSpPr>
        <p:spPr>
          <a:xfrm>
            <a:off x="5076056" y="3613666"/>
            <a:ext cx="2788456" cy="369332"/>
          </a:xfrm>
          <a:prstGeom prst="rect">
            <a:avLst/>
          </a:prstGeom>
        </p:spPr>
        <p:txBody>
          <a:bodyPr wrap="none">
            <a:spAutoFit/>
          </a:bodyPr>
          <a:lstStyle/>
          <a:p>
            <a:r>
              <a:rPr lang="ru-RU" b="1" dirty="0"/>
              <a:t>Ц</a:t>
            </a:r>
            <a:r>
              <a:rPr lang="ru-RU" b="1" dirty="0" smtClean="0"/>
              <a:t>иклическое </a:t>
            </a:r>
            <a:r>
              <a:rPr lang="ru-RU" b="1" dirty="0"/>
              <a:t>повторение </a:t>
            </a:r>
          </a:p>
        </p:txBody>
      </p:sp>
      <p:sp>
        <p:nvSpPr>
          <p:cNvPr id="20" name="Выгнутая вниз стрелка 19"/>
          <p:cNvSpPr/>
          <p:nvPr/>
        </p:nvSpPr>
        <p:spPr>
          <a:xfrm flipH="1">
            <a:off x="1403647" y="4100302"/>
            <a:ext cx="2511949" cy="504056"/>
          </a:xfrm>
          <a:prstGeom prst="curved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1" name="Прямоугольник 20"/>
          <p:cNvSpPr/>
          <p:nvPr/>
        </p:nvSpPr>
        <p:spPr>
          <a:xfrm>
            <a:off x="5076056" y="5413866"/>
            <a:ext cx="2462982" cy="369332"/>
          </a:xfrm>
          <a:prstGeom prst="rect">
            <a:avLst/>
          </a:prstGeom>
        </p:spPr>
        <p:txBody>
          <a:bodyPr wrap="none">
            <a:spAutoFit/>
          </a:bodyPr>
          <a:lstStyle/>
          <a:p>
            <a:r>
              <a:rPr lang="ru-RU" b="1" dirty="0" smtClean="0"/>
              <a:t>Остановка (ожидание)</a:t>
            </a:r>
            <a:endParaRPr lang="ru-RU" b="1" dirty="0"/>
          </a:p>
        </p:txBody>
      </p:sp>
      <p:cxnSp>
        <p:nvCxnSpPr>
          <p:cNvPr id="22" name="Прямая со стрелкой 21"/>
          <p:cNvCxnSpPr/>
          <p:nvPr/>
        </p:nvCxnSpPr>
        <p:spPr>
          <a:xfrm>
            <a:off x="687732" y="5799455"/>
            <a:ext cx="3384376" cy="0"/>
          </a:xfrm>
          <a:prstGeom prst="straightConnector1">
            <a:avLst/>
          </a:prstGeom>
          <a:ln w="381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847753" y="5810755"/>
            <a:ext cx="1318694" cy="369332"/>
          </a:xfrm>
          <a:prstGeom prst="rect">
            <a:avLst/>
          </a:prstGeom>
          <a:noFill/>
        </p:spPr>
        <p:txBody>
          <a:bodyPr wrap="none" rtlCol="0">
            <a:spAutoFit/>
          </a:bodyPr>
          <a:lstStyle/>
          <a:p>
            <a:r>
              <a:rPr lang="ru-RU" dirty="0" smtClean="0"/>
              <a:t>Адреса ПЗУ</a:t>
            </a:r>
            <a:endParaRPr lang="ru-RU" dirty="0"/>
          </a:p>
        </p:txBody>
      </p:sp>
      <p:sp>
        <p:nvSpPr>
          <p:cNvPr id="24" name="Выгнутая вверх стрелка 23"/>
          <p:cNvSpPr/>
          <p:nvPr/>
        </p:nvSpPr>
        <p:spPr>
          <a:xfrm>
            <a:off x="687732" y="5439415"/>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5" name="Выгнутая вверх стрелка 24"/>
          <p:cNvSpPr/>
          <p:nvPr/>
        </p:nvSpPr>
        <p:spPr>
          <a:xfrm>
            <a:off x="1479820" y="5429756"/>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6" name="Выгнутая вверх стрелка 25"/>
          <p:cNvSpPr/>
          <p:nvPr/>
        </p:nvSpPr>
        <p:spPr>
          <a:xfrm>
            <a:off x="2263577" y="5429756"/>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7" name="Выгнутая вверх стрелка 26"/>
          <p:cNvSpPr/>
          <p:nvPr/>
        </p:nvSpPr>
        <p:spPr>
          <a:xfrm>
            <a:off x="3055665" y="5429756"/>
            <a:ext cx="792088" cy="36004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31" name="Полилиния 30"/>
          <p:cNvSpPr/>
          <p:nvPr/>
        </p:nvSpPr>
        <p:spPr>
          <a:xfrm>
            <a:off x="3679261" y="5017275"/>
            <a:ext cx="378405" cy="743471"/>
          </a:xfrm>
          <a:custGeom>
            <a:avLst/>
            <a:gdLst>
              <a:gd name="connsiteX0" fmla="*/ 233793 w 697908"/>
              <a:gd name="connsiteY0" fmla="*/ 730592 h 743471"/>
              <a:gd name="connsiteX1" fmla="*/ 1974 w 697908"/>
              <a:gd name="connsiteY1" fmla="*/ 447257 h 743471"/>
              <a:gd name="connsiteX2" fmla="*/ 143641 w 697908"/>
              <a:gd name="connsiteY2" fmla="*/ 73769 h 743471"/>
              <a:gd name="connsiteX3" fmla="*/ 504250 w 697908"/>
              <a:gd name="connsiteY3" fmla="*/ 35133 h 743471"/>
              <a:gd name="connsiteX4" fmla="*/ 697433 w 697908"/>
              <a:gd name="connsiteY4" fmla="*/ 473015 h 743471"/>
              <a:gd name="connsiteX5" fmla="*/ 452734 w 697908"/>
              <a:gd name="connsiteY5" fmla="*/ 743471 h 743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908" h="743471">
                <a:moveTo>
                  <a:pt x="233793" y="730592"/>
                </a:moveTo>
                <a:cubicBezTo>
                  <a:pt x="125396" y="643659"/>
                  <a:pt x="16999" y="556727"/>
                  <a:pt x="1974" y="447257"/>
                </a:cubicBezTo>
                <a:cubicBezTo>
                  <a:pt x="-13051" y="337787"/>
                  <a:pt x="59928" y="142456"/>
                  <a:pt x="143641" y="73769"/>
                </a:cubicBezTo>
                <a:cubicBezTo>
                  <a:pt x="227354" y="5082"/>
                  <a:pt x="411951" y="-31408"/>
                  <a:pt x="504250" y="35133"/>
                </a:cubicBezTo>
                <a:cubicBezTo>
                  <a:pt x="596549" y="101674"/>
                  <a:pt x="706019" y="354959"/>
                  <a:pt x="697433" y="473015"/>
                </a:cubicBezTo>
                <a:cubicBezTo>
                  <a:pt x="688847" y="591071"/>
                  <a:pt x="570790" y="667271"/>
                  <a:pt x="452734" y="743471"/>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8299847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Пример практической схемы микропрограммного автомата на ПЗУ"/>
          <p:cNvPicPr/>
          <p:nvPr/>
        </p:nvPicPr>
        <p:blipFill>
          <a:blip r:embed="rId2">
            <a:extLst>
              <a:ext uri="{28A0092B-C50C-407E-A947-70E740481C1C}">
                <a14:useLocalDpi xmlns:a14="http://schemas.microsoft.com/office/drawing/2010/main" val="0"/>
              </a:ext>
            </a:extLst>
          </a:blip>
          <a:srcRect/>
          <a:stretch>
            <a:fillRect/>
          </a:stretch>
        </p:blipFill>
        <p:spPr bwMode="auto">
          <a:xfrm>
            <a:off x="563530" y="764704"/>
            <a:ext cx="7560840" cy="3456384"/>
          </a:xfrm>
          <a:prstGeom prst="rect">
            <a:avLst/>
          </a:prstGeom>
          <a:noFill/>
          <a:ln>
            <a:noFill/>
          </a:ln>
        </p:spPr>
      </p:pic>
      <p:sp>
        <p:nvSpPr>
          <p:cNvPr id="5" name="TextBox 4"/>
          <p:cNvSpPr txBox="1"/>
          <p:nvPr/>
        </p:nvSpPr>
        <p:spPr>
          <a:xfrm>
            <a:off x="2915816" y="246684"/>
            <a:ext cx="3139962" cy="369332"/>
          </a:xfrm>
          <a:prstGeom prst="rect">
            <a:avLst/>
          </a:prstGeom>
          <a:noFill/>
        </p:spPr>
        <p:txBody>
          <a:bodyPr wrap="none" rtlCol="0">
            <a:spAutoFit/>
          </a:bodyPr>
          <a:lstStyle/>
          <a:p>
            <a:r>
              <a:rPr lang="ru-RU" b="1" dirty="0" smtClean="0">
                <a:solidFill>
                  <a:srgbClr val="FF0000"/>
                </a:solidFill>
              </a:rPr>
              <a:t>Конкретная реализация МПА</a:t>
            </a:r>
            <a:endParaRPr lang="ru-RU" b="1" dirty="0">
              <a:solidFill>
                <a:srgbClr val="FF0000"/>
              </a:solidFill>
            </a:endParaRPr>
          </a:p>
        </p:txBody>
      </p:sp>
      <p:sp>
        <p:nvSpPr>
          <p:cNvPr id="6" name="Прямоугольник 5"/>
          <p:cNvSpPr/>
          <p:nvPr/>
        </p:nvSpPr>
        <p:spPr>
          <a:xfrm>
            <a:off x="827584" y="4509120"/>
            <a:ext cx="8136904" cy="1477328"/>
          </a:xfrm>
          <a:prstGeom prst="rect">
            <a:avLst/>
          </a:prstGeom>
        </p:spPr>
        <p:txBody>
          <a:bodyPr wrap="square">
            <a:spAutoFit/>
          </a:bodyPr>
          <a:lstStyle/>
          <a:p>
            <a:r>
              <a:rPr lang="ru-RU" dirty="0"/>
              <a:t>В</a:t>
            </a:r>
            <a:r>
              <a:rPr lang="ru-RU" dirty="0" smtClean="0"/>
              <a:t>ыбор </a:t>
            </a:r>
            <a:r>
              <a:rPr lang="ru-RU" dirty="0"/>
              <a:t>той или иной строки </a:t>
            </a:r>
            <a:r>
              <a:rPr lang="ru-RU" dirty="0" smtClean="0"/>
              <a:t>таблицы прошивки  определяется старшими </a:t>
            </a:r>
            <a:r>
              <a:rPr lang="ru-RU" dirty="0"/>
              <a:t>разрядами кода адреса </a:t>
            </a:r>
            <a:r>
              <a:rPr lang="ru-RU" i="1" dirty="0"/>
              <a:t>ПЗУ</a:t>
            </a:r>
            <a:r>
              <a:rPr lang="ru-RU" dirty="0"/>
              <a:t>, </a:t>
            </a:r>
            <a:r>
              <a:rPr lang="ru-RU" dirty="0" smtClean="0"/>
              <a:t>т. е.  входными </a:t>
            </a:r>
            <a:r>
              <a:rPr lang="ru-RU" dirty="0"/>
              <a:t>сигналами</a:t>
            </a:r>
            <a:r>
              <a:rPr lang="ru-RU" b="1" dirty="0"/>
              <a:t> </a:t>
            </a:r>
            <a:r>
              <a:rPr lang="ru-RU" b="1" dirty="0" smtClean="0"/>
              <a:t>МПА</a:t>
            </a:r>
            <a:r>
              <a:rPr lang="ru-RU" dirty="0" smtClean="0"/>
              <a:t>. </a:t>
            </a:r>
            <a:r>
              <a:rPr lang="ru-RU" dirty="0"/>
              <a:t>Л</a:t>
            </a:r>
            <a:r>
              <a:rPr lang="ru-RU" dirty="0" smtClean="0"/>
              <a:t>юбое </a:t>
            </a:r>
            <a:r>
              <a:rPr lang="ru-RU" dirty="0"/>
              <a:t>изменение входных сигналов приводит к переходу в карте прошивки на другую строку. Например, строка 00 будет соответствовать нулевым входным сигналам </a:t>
            </a:r>
            <a:r>
              <a:rPr lang="ru-RU" i="1" dirty="0" smtClean="0"/>
              <a:t>МПА (00)</a:t>
            </a:r>
            <a:r>
              <a:rPr lang="ru-RU" dirty="0" smtClean="0"/>
              <a:t>, а </a:t>
            </a:r>
            <a:r>
              <a:rPr lang="ru-RU" dirty="0"/>
              <a:t>строка 30 — единичным входным </a:t>
            </a:r>
            <a:r>
              <a:rPr lang="ru-RU" dirty="0" smtClean="0"/>
              <a:t>сигналам (11).</a:t>
            </a:r>
            <a:endParaRPr lang="ru-RU" dirty="0"/>
          </a:p>
        </p:txBody>
      </p:sp>
    </p:spTree>
    <p:extLst>
      <p:ext uri="{BB962C8B-B14F-4D97-AF65-F5344CB8AC3E}">
        <p14:creationId xmlns:p14="http://schemas.microsoft.com/office/powerpoint/2010/main" val="3264933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87824" y="354747"/>
            <a:ext cx="3301353" cy="400110"/>
          </a:xfrm>
          <a:prstGeom prst="rect">
            <a:avLst/>
          </a:prstGeom>
          <a:noFill/>
        </p:spPr>
        <p:txBody>
          <a:bodyPr wrap="none" rtlCol="0">
            <a:spAutoFit/>
          </a:bodyPr>
          <a:lstStyle/>
          <a:p>
            <a:r>
              <a:rPr lang="ru-RU" sz="2000" b="1" dirty="0" smtClean="0">
                <a:solidFill>
                  <a:srgbClr val="FF0000"/>
                </a:solidFill>
              </a:rPr>
              <a:t>Пример таблицы прошивки</a:t>
            </a:r>
            <a:endParaRPr lang="ru-RU" sz="2000" b="1" dirty="0">
              <a:solidFill>
                <a:srgbClr val="FF0000"/>
              </a:solidFill>
            </a:endParaRPr>
          </a:p>
        </p:txBody>
      </p:sp>
      <p:graphicFrame>
        <p:nvGraphicFramePr>
          <p:cNvPr id="5" name="Таблица 4"/>
          <p:cNvGraphicFramePr>
            <a:graphicFrameLocks noGrp="1"/>
          </p:cNvGraphicFramePr>
          <p:nvPr>
            <p:extLst>
              <p:ext uri="{D42A27DB-BD31-4B8C-83A1-F6EECF244321}">
                <p14:modId xmlns:p14="http://schemas.microsoft.com/office/powerpoint/2010/main" val="820664691"/>
              </p:ext>
            </p:extLst>
          </p:nvPr>
        </p:nvGraphicFramePr>
        <p:xfrm>
          <a:off x="523701" y="754857"/>
          <a:ext cx="8229598" cy="2944368"/>
        </p:xfrm>
        <a:graphic>
          <a:graphicData uri="http://schemas.openxmlformats.org/drawingml/2006/table">
            <a:tbl>
              <a:tblPr firstRow="1" firstCol="1" bandRow="1">
                <a:tableStyleId>{5C22544A-7EE6-4342-B048-85BDC9FD1C3A}</a:tableStyleId>
              </a:tblPr>
              <a:tblGrid>
                <a:gridCol w="484094"/>
                <a:gridCol w="484094"/>
                <a:gridCol w="484094"/>
                <a:gridCol w="484094"/>
                <a:gridCol w="484094"/>
                <a:gridCol w="484094"/>
                <a:gridCol w="484094"/>
                <a:gridCol w="484094"/>
                <a:gridCol w="484094"/>
                <a:gridCol w="484094"/>
                <a:gridCol w="484094"/>
                <a:gridCol w="484094"/>
                <a:gridCol w="484094"/>
                <a:gridCol w="484094"/>
                <a:gridCol w="484094"/>
                <a:gridCol w="484094"/>
                <a:gridCol w="484094"/>
              </a:tblGrid>
              <a:tr h="0">
                <a:tc gridSpan="17">
                  <a:txBody>
                    <a:bodyPr/>
                    <a:lstStyle/>
                    <a:p>
                      <a:pPr algn="ctr">
                        <a:lnSpc>
                          <a:spcPct val="115000"/>
                        </a:lnSpc>
                        <a:spcAft>
                          <a:spcPts val="0"/>
                        </a:spcAft>
                      </a:pPr>
                      <a:endParaRPr lang="ru-RU" sz="2400" dirty="0">
                        <a:effectLst/>
                        <a:latin typeface="+mn-lt"/>
                        <a:ea typeface="Calibri"/>
                        <a:cs typeface="Times New Roman"/>
                      </a:endParaRPr>
                    </a:p>
                  </a:txBody>
                  <a:tcPr marL="0" marR="0" marT="0" marB="0" anchor="ct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0">
                <a:tc>
                  <a:txBody>
                    <a:bodyPr/>
                    <a:lstStyle/>
                    <a:p>
                      <a:pPr algn="ctr">
                        <a:lnSpc>
                          <a:spcPct val="115000"/>
                        </a:lnSpc>
                        <a:spcAft>
                          <a:spcPts val="0"/>
                        </a:spcAft>
                      </a:pPr>
                      <a:r>
                        <a:rPr lang="ru-RU" sz="2400">
                          <a:effectLst/>
                          <a:latin typeface="+mn-lt"/>
                        </a:rPr>
                        <a:t>Адрес</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0</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1</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2</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3</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4</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5</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6</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7</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8</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9</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A</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B</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dirty="0">
                          <a:effectLst/>
                          <a:latin typeface="+mn-lt"/>
                        </a:rPr>
                        <a:t>C</a:t>
                      </a:r>
                      <a:endParaRPr lang="ru-RU" sz="2400" dirty="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D</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E</a:t>
                      </a:r>
                      <a:endParaRPr lang="ru-RU" sz="2400">
                        <a:effectLst/>
                        <a:latin typeface="+mn-lt"/>
                        <a:ea typeface="Calibri"/>
                        <a:cs typeface="Times New Roman"/>
                      </a:endParaRPr>
                    </a:p>
                  </a:txBody>
                  <a:tcPr marL="0" marR="0" marT="0" marB="0" anchor="ctr"/>
                </a:tc>
                <a:tc>
                  <a:txBody>
                    <a:bodyPr/>
                    <a:lstStyle/>
                    <a:p>
                      <a:pPr algn="ctr">
                        <a:lnSpc>
                          <a:spcPct val="115000"/>
                        </a:lnSpc>
                        <a:spcAft>
                          <a:spcPts val="0"/>
                        </a:spcAft>
                      </a:pPr>
                      <a:r>
                        <a:rPr lang="ru-RU" sz="2400">
                          <a:effectLst/>
                          <a:latin typeface="+mn-lt"/>
                        </a:rPr>
                        <a:t>F</a:t>
                      </a:r>
                      <a:endParaRPr lang="ru-RU" sz="2400">
                        <a:effectLst/>
                        <a:latin typeface="+mn-lt"/>
                        <a:ea typeface="Calibri"/>
                        <a:cs typeface="Times New Roman"/>
                      </a:endParaRPr>
                    </a:p>
                  </a:txBody>
                  <a:tcPr marL="0" marR="0" marT="0" marB="0" anchor="ctr"/>
                </a:tc>
              </a:tr>
              <a:tr h="0">
                <a:tc>
                  <a:txBody>
                    <a:bodyPr/>
                    <a:lstStyle/>
                    <a:p>
                      <a:pPr algn="ctr">
                        <a:lnSpc>
                          <a:spcPct val="115000"/>
                        </a:lnSpc>
                        <a:spcAft>
                          <a:spcPts val="0"/>
                        </a:spcAft>
                      </a:pPr>
                      <a:r>
                        <a:rPr lang="ru-RU" sz="2400">
                          <a:effectLst/>
                          <a:latin typeface="+mn-lt"/>
                        </a:rPr>
                        <a:t>00</a:t>
                      </a:r>
                      <a:endParaRPr lang="ru-RU" sz="2400">
                        <a:effectLst/>
                        <a:latin typeface="+mn-lt"/>
                        <a:ea typeface="Calibri"/>
                        <a:cs typeface="Times New Roman"/>
                      </a:endParaRPr>
                    </a:p>
                  </a:txBody>
                  <a:tcPr marL="0" marR="0" marT="0" marB="0" anchor="ctr"/>
                </a:tc>
                <a:tc>
                  <a:txBody>
                    <a:bodyPr/>
                    <a:lstStyle/>
                    <a:p>
                      <a:pPr>
                        <a:lnSpc>
                          <a:spcPct val="115000"/>
                        </a:lnSpc>
                        <a:spcAft>
                          <a:spcPts val="0"/>
                        </a:spcAft>
                      </a:pPr>
                      <a:r>
                        <a:rPr lang="ru-RU" sz="2400">
                          <a:effectLst/>
                          <a:latin typeface="+mn-lt"/>
                        </a:rPr>
                        <a:t>11</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22</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33</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44</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55</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66</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dirty="0">
                          <a:effectLst/>
                          <a:latin typeface="+mn-lt"/>
                        </a:rPr>
                        <a:t>77</a:t>
                      </a:r>
                      <a:endParaRPr lang="ru-RU" sz="2400" dirty="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88</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99</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AA</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BB</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CC</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DD</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EE</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FF</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00</a:t>
                      </a:r>
                      <a:endParaRPr lang="ru-RU" sz="2400">
                        <a:effectLst/>
                        <a:latin typeface="+mn-lt"/>
                        <a:ea typeface="Calibri"/>
                        <a:cs typeface="Times New Roman"/>
                      </a:endParaRPr>
                    </a:p>
                  </a:txBody>
                  <a:tcPr marL="0" marR="0" marT="0" marB="0"/>
                </a:tc>
              </a:tr>
              <a:tr h="0">
                <a:tc>
                  <a:txBody>
                    <a:bodyPr/>
                    <a:lstStyle/>
                    <a:p>
                      <a:pPr algn="ctr">
                        <a:lnSpc>
                          <a:spcPct val="115000"/>
                        </a:lnSpc>
                        <a:spcAft>
                          <a:spcPts val="0"/>
                        </a:spcAft>
                      </a:pPr>
                      <a:r>
                        <a:rPr lang="ru-RU" sz="2400">
                          <a:effectLst/>
                          <a:latin typeface="+mn-lt"/>
                        </a:rPr>
                        <a:t>10</a:t>
                      </a:r>
                      <a:endParaRPr lang="ru-RU" sz="2400">
                        <a:effectLst/>
                        <a:latin typeface="+mn-lt"/>
                        <a:ea typeface="Calibri"/>
                        <a:cs typeface="Times New Roman"/>
                      </a:endParaRPr>
                    </a:p>
                  </a:txBody>
                  <a:tcPr marL="0" marR="0" marT="0" marB="0" anchor="ctr"/>
                </a:tc>
                <a:tc>
                  <a:txBody>
                    <a:bodyPr/>
                    <a:lstStyle/>
                    <a:p>
                      <a:pPr>
                        <a:lnSpc>
                          <a:spcPct val="115000"/>
                        </a:lnSpc>
                        <a:spcAft>
                          <a:spcPts val="0"/>
                        </a:spcAft>
                      </a:pPr>
                      <a:r>
                        <a:rPr lang="ru-RU" sz="2400">
                          <a:effectLst/>
                          <a:latin typeface="+mn-lt"/>
                        </a:rPr>
                        <a:t>11</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22</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33</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44</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55</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66</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77</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88</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99</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55</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BB</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CC</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DD</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EE</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FF</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00</a:t>
                      </a:r>
                      <a:endParaRPr lang="ru-RU" sz="2400">
                        <a:effectLst/>
                        <a:latin typeface="+mn-lt"/>
                        <a:ea typeface="Calibri"/>
                        <a:cs typeface="Times New Roman"/>
                      </a:endParaRPr>
                    </a:p>
                  </a:txBody>
                  <a:tcPr marL="0" marR="0" marT="0" marB="0"/>
                </a:tc>
              </a:tr>
              <a:tr h="0">
                <a:tc>
                  <a:txBody>
                    <a:bodyPr/>
                    <a:lstStyle/>
                    <a:p>
                      <a:pPr algn="ctr">
                        <a:lnSpc>
                          <a:spcPct val="115000"/>
                        </a:lnSpc>
                        <a:spcAft>
                          <a:spcPts val="0"/>
                        </a:spcAft>
                      </a:pPr>
                      <a:r>
                        <a:rPr lang="ru-RU" sz="2400">
                          <a:effectLst/>
                          <a:latin typeface="+mn-lt"/>
                        </a:rPr>
                        <a:t>20</a:t>
                      </a:r>
                      <a:endParaRPr lang="ru-RU" sz="2400">
                        <a:effectLst/>
                        <a:latin typeface="+mn-lt"/>
                        <a:ea typeface="Calibri"/>
                        <a:cs typeface="Times New Roman"/>
                      </a:endParaRPr>
                    </a:p>
                  </a:txBody>
                  <a:tcPr marL="0" marR="0" marT="0" marB="0" anchor="ctr"/>
                </a:tc>
                <a:tc>
                  <a:txBody>
                    <a:bodyPr/>
                    <a:lstStyle/>
                    <a:p>
                      <a:pPr>
                        <a:lnSpc>
                          <a:spcPct val="115000"/>
                        </a:lnSpc>
                        <a:spcAft>
                          <a:spcPts val="0"/>
                        </a:spcAft>
                      </a:pPr>
                      <a:r>
                        <a:rPr lang="ru-RU" sz="2400">
                          <a:effectLst/>
                          <a:latin typeface="+mn-lt"/>
                        </a:rPr>
                        <a:t>10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21</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32</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43</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54</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65</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76</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87</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dirty="0">
                          <a:effectLst/>
                          <a:latin typeface="+mn-lt"/>
                        </a:rPr>
                        <a:t>98</a:t>
                      </a:r>
                      <a:endParaRPr lang="ru-RU" sz="2400" dirty="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A9</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BA</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CB</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DC</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ED</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FE</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0F</a:t>
                      </a:r>
                      <a:endParaRPr lang="ru-RU" sz="2400">
                        <a:effectLst/>
                        <a:latin typeface="+mn-lt"/>
                        <a:ea typeface="Calibri"/>
                        <a:cs typeface="Times New Roman"/>
                      </a:endParaRPr>
                    </a:p>
                  </a:txBody>
                  <a:tcPr marL="0" marR="0" marT="0" marB="0"/>
                </a:tc>
              </a:tr>
              <a:tr h="0">
                <a:tc>
                  <a:txBody>
                    <a:bodyPr/>
                    <a:lstStyle/>
                    <a:p>
                      <a:pPr algn="ctr">
                        <a:lnSpc>
                          <a:spcPct val="115000"/>
                        </a:lnSpc>
                        <a:spcAft>
                          <a:spcPts val="0"/>
                        </a:spcAft>
                      </a:pPr>
                      <a:r>
                        <a:rPr lang="ru-RU" sz="2400" dirty="0">
                          <a:effectLst/>
                          <a:latin typeface="+mn-lt"/>
                        </a:rPr>
                        <a:t>30</a:t>
                      </a:r>
                      <a:endParaRPr lang="ru-RU" sz="2400" dirty="0">
                        <a:effectLst/>
                        <a:latin typeface="+mn-lt"/>
                        <a:ea typeface="Calibri"/>
                        <a:cs typeface="Times New Roman"/>
                      </a:endParaRPr>
                    </a:p>
                  </a:txBody>
                  <a:tcPr marL="0" marR="0" marT="0" marB="0" anchor="ctr"/>
                </a:tc>
                <a:tc>
                  <a:txBody>
                    <a:bodyPr/>
                    <a:lstStyle/>
                    <a:p>
                      <a:pPr>
                        <a:lnSpc>
                          <a:spcPct val="115000"/>
                        </a:lnSpc>
                        <a:spcAft>
                          <a:spcPts val="0"/>
                        </a:spcAft>
                      </a:pPr>
                      <a:r>
                        <a:rPr lang="ru-RU" sz="2400">
                          <a:effectLst/>
                          <a:latin typeface="+mn-lt"/>
                        </a:rPr>
                        <a:t>10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20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30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40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50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60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70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80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90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A0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B0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C0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D0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E0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a:effectLst/>
                          <a:latin typeface="+mn-lt"/>
                        </a:rPr>
                        <a:t>F0</a:t>
                      </a:r>
                      <a:endParaRPr lang="ru-RU" sz="2400">
                        <a:effectLst/>
                        <a:latin typeface="+mn-lt"/>
                        <a:ea typeface="Calibri"/>
                        <a:cs typeface="Times New Roman"/>
                      </a:endParaRPr>
                    </a:p>
                  </a:txBody>
                  <a:tcPr marL="0" marR="0" marT="0" marB="0"/>
                </a:tc>
                <a:tc>
                  <a:txBody>
                    <a:bodyPr/>
                    <a:lstStyle/>
                    <a:p>
                      <a:pPr>
                        <a:lnSpc>
                          <a:spcPct val="115000"/>
                        </a:lnSpc>
                        <a:spcAft>
                          <a:spcPts val="0"/>
                        </a:spcAft>
                      </a:pPr>
                      <a:r>
                        <a:rPr lang="ru-RU" sz="2400" dirty="0">
                          <a:effectLst/>
                          <a:latin typeface="+mn-lt"/>
                        </a:rPr>
                        <a:t>00</a:t>
                      </a:r>
                      <a:endParaRPr lang="ru-RU" sz="2400" dirty="0">
                        <a:effectLst/>
                        <a:latin typeface="+mn-lt"/>
                        <a:ea typeface="Calibri"/>
                        <a:cs typeface="Times New Roman"/>
                      </a:endParaRPr>
                    </a:p>
                  </a:txBody>
                  <a:tcPr marL="0" marR="0" marT="0" marB="0"/>
                </a:tc>
              </a:tr>
            </a:tbl>
          </a:graphicData>
        </a:graphic>
      </p:graphicFrame>
      <p:sp>
        <p:nvSpPr>
          <p:cNvPr id="6" name="Стрелка вверх 5"/>
          <p:cNvSpPr/>
          <p:nvPr/>
        </p:nvSpPr>
        <p:spPr>
          <a:xfrm>
            <a:off x="683568" y="3789040"/>
            <a:ext cx="216024" cy="57606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281857" y="4371354"/>
            <a:ext cx="1019446" cy="646331"/>
          </a:xfrm>
          <a:prstGeom prst="rect">
            <a:avLst/>
          </a:prstGeom>
          <a:noFill/>
        </p:spPr>
        <p:txBody>
          <a:bodyPr wrap="none" rtlCol="0">
            <a:spAutoFit/>
          </a:bodyPr>
          <a:lstStyle/>
          <a:p>
            <a:pPr algn="ctr"/>
            <a:r>
              <a:rPr lang="ru-RU" dirty="0" smtClean="0"/>
              <a:t>Входной</a:t>
            </a:r>
          </a:p>
          <a:p>
            <a:pPr algn="ctr"/>
            <a:r>
              <a:rPr lang="ru-RU" dirty="0" smtClean="0"/>
              <a:t>код</a:t>
            </a:r>
            <a:endParaRPr lang="ru-RU" dirty="0"/>
          </a:p>
        </p:txBody>
      </p:sp>
      <p:sp>
        <p:nvSpPr>
          <p:cNvPr id="8" name="TextBox 7"/>
          <p:cNvSpPr txBox="1"/>
          <p:nvPr/>
        </p:nvSpPr>
        <p:spPr>
          <a:xfrm>
            <a:off x="2699792" y="3892406"/>
            <a:ext cx="2324739" cy="369332"/>
          </a:xfrm>
          <a:prstGeom prst="rect">
            <a:avLst/>
          </a:prstGeom>
          <a:noFill/>
        </p:spPr>
        <p:txBody>
          <a:bodyPr wrap="none" rtlCol="0">
            <a:spAutoFit/>
          </a:bodyPr>
          <a:lstStyle/>
          <a:p>
            <a:r>
              <a:rPr lang="ru-RU" b="1" dirty="0" smtClean="0"/>
              <a:t>Формат поля данных</a:t>
            </a:r>
            <a:endParaRPr lang="ru-RU" b="1" dirty="0"/>
          </a:p>
        </p:txBody>
      </p:sp>
      <p:sp>
        <p:nvSpPr>
          <p:cNvPr id="9" name="TextBox 8"/>
          <p:cNvSpPr txBox="1"/>
          <p:nvPr/>
        </p:nvSpPr>
        <p:spPr>
          <a:xfrm>
            <a:off x="3438557" y="4232854"/>
            <a:ext cx="1097108" cy="923330"/>
          </a:xfrm>
          <a:prstGeom prst="rect">
            <a:avLst/>
          </a:prstGeom>
          <a:noFill/>
        </p:spPr>
        <p:txBody>
          <a:bodyPr wrap="square" rtlCol="0">
            <a:spAutoFit/>
          </a:bodyPr>
          <a:lstStyle/>
          <a:p>
            <a:r>
              <a:rPr lang="en-US" sz="5400" dirty="0" smtClean="0"/>
              <a:t>XX</a:t>
            </a:r>
            <a:endParaRPr lang="ru-RU" sz="5400" dirty="0"/>
          </a:p>
        </p:txBody>
      </p:sp>
      <p:sp>
        <p:nvSpPr>
          <p:cNvPr id="11" name="TextBox 10"/>
          <p:cNvSpPr txBox="1"/>
          <p:nvPr/>
        </p:nvSpPr>
        <p:spPr>
          <a:xfrm>
            <a:off x="4535665" y="5147900"/>
            <a:ext cx="780983" cy="369332"/>
          </a:xfrm>
          <a:prstGeom prst="rect">
            <a:avLst/>
          </a:prstGeom>
          <a:noFill/>
        </p:spPr>
        <p:txBody>
          <a:bodyPr wrap="none" rtlCol="0">
            <a:spAutoFit/>
          </a:bodyPr>
          <a:lstStyle/>
          <a:p>
            <a:r>
              <a:rPr lang="ru-RU" dirty="0" smtClean="0"/>
              <a:t>Адрес</a:t>
            </a:r>
            <a:endParaRPr lang="ru-RU" dirty="0"/>
          </a:p>
        </p:txBody>
      </p:sp>
      <p:sp>
        <p:nvSpPr>
          <p:cNvPr id="14" name="TextBox 13"/>
          <p:cNvSpPr txBox="1"/>
          <p:nvPr/>
        </p:nvSpPr>
        <p:spPr>
          <a:xfrm>
            <a:off x="1824616" y="5147900"/>
            <a:ext cx="1750351" cy="369332"/>
          </a:xfrm>
          <a:prstGeom prst="rect">
            <a:avLst/>
          </a:prstGeom>
          <a:noFill/>
        </p:spPr>
        <p:txBody>
          <a:bodyPr wrap="none" rtlCol="0">
            <a:spAutoFit/>
          </a:bodyPr>
          <a:lstStyle/>
          <a:p>
            <a:r>
              <a:rPr lang="ru-RU" dirty="0" smtClean="0"/>
              <a:t>Выходные коды</a:t>
            </a:r>
            <a:endParaRPr lang="ru-RU" dirty="0"/>
          </a:p>
        </p:txBody>
      </p:sp>
      <p:cxnSp>
        <p:nvCxnSpPr>
          <p:cNvPr id="16" name="Прямая со стрелкой 15"/>
          <p:cNvCxnSpPr/>
          <p:nvPr/>
        </p:nvCxnSpPr>
        <p:spPr>
          <a:xfrm>
            <a:off x="4283968" y="5017685"/>
            <a:ext cx="354532" cy="13849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flipH="1">
            <a:off x="3059832" y="5017685"/>
            <a:ext cx="378725" cy="13849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67544" y="5877272"/>
            <a:ext cx="8060027" cy="369332"/>
          </a:xfrm>
          <a:prstGeom prst="rect">
            <a:avLst/>
          </a:prstGeom>
          <a:noFill/>
        </p:spPr>
        <p:txBody>
          <a:bodyPr wrap="none" rtlCol="0">
            <a:spAutoFit/>
          </a:bodyPr>
          <a:lstStyle/>
          <a:p>
            <a:r>
              <a:rPr lang="ru-RU" dirty="0" smtClean="0"/>
              <a:t>Какие элементарные функции реализует МПА при заданных входных сигналах?</a:t>
            </a:r>
            <a:endParaRPr lang="ru-RU" dirty="0"/>
          </a:p>
        </p:txBody>
      </p:sp>
      <p:sp>
        <p:nvSpPr>
          <p:cNvPr id="21" name="TextBox 20"/>
          <p:cNvSpPr txBox="1"/>
          <p:nvPr/>
        </p:nvSpPr>
        <p:spPr>
          <a:xfrm>
            <a:off x="431586" y="6246604"/>
            <a:ext cx="418704" cy="369332"/>
          </a:xfrm>
          <a:prstGeom prst="rect">
            <a:avLst/>
          </a:prstGeom>
          <a:noFill/>
        </p:spPr>
        <p:txBody>
          <a:bodyPr wrap="none" rtlCol="0">
            <a:spAutoFit/>
          </a:bodyPr>
          <a:lstStyle/>
          <a:p>
            <a:r>
              <a:rPr lang="ru-RU" dirty="0" smtClean="0"/>
              <a:t>00</a:t>
            </a:r>
            <a:endParaRPr lang="ru-RU" dirty="0"/>
          </a:p>
        </p:txBody>
      </p:sp>
      <p:sp>
        <p:nvSpPr>
          <p:cNvPr id="22" name="TextBox 21"/>
          <p:cNvSpPr txBox="1"/>
          <p:nvPr/>
        </p:nvSpPr>
        <p:spPr>
          <a:xfrm>
            <a:off x="1211023" y="6246604"/>
            <a:ext cx="418704" cy="369332"/>
          </a:xfrm>
          <a:prstGeom prst="rect">
            <a:avLst/>
          </a:prstGeom>
          <a:noFill/>
        </p:spPr>
        <p:txBody>
          <a:bodyPr wrap="none" rtlCol="0">
            <a:spAutoFit/>
          </a:bodyPr>
          <a:lstStyle/>
          <a:p>
            <a:r>
              <a:rPr lang="ru-RU" dirty="0" smtClean="0"/>
              <a:t>10</a:t>
            </a:r>
            <a:endParaRPr lang="ru-RU" dirty="0"/>
          </a:p>
        </p:txBody>
      </p:sp>
      <p:sp>
        <p:nvSpPr>
          <p:cNvPr id="23" name="TextBox 22"/>
          <p:cNvSpPr txBox="1"/>
          <p:nvPr/>
        </p:nvSpPr>
        <p:spPr>
          <a:xfrm>
            <a:off x="1990460" y="6246604"/>
            <a:ext cx="418704" cy="369332"/>
          </a:xfrm>
          <a:prstGeom prst="rect">
            <a:avLst/>
          </a:prstGeom>
          <a:noFill/>
        </p:spPr>
        <p:txBody>
          <a:bodyPr wrap="none" rtlCol="0">
            <a:spAutoFit/>
          </a:bodyPr>
          <a:lstStyle/>
          <a:p>
            <a:r>
              <a:rPr lang="ru-RU" dirty="0"/>
              <a:t>2</a:t>
            </a:r>
            <a:r>
              <a:rPr lang="ru-RU" dirty="0" smtClean="0"/>
              <a:t>0</a:t>
            </a:r>
            <a:endParaRPr lang="ru-RU" dirty="0"/>
          </a:p>
        </p:txBody>
      </p:sp>
      <p:sp>
        <p:nvSpPr>
          <p:cNvPr id="24" name="TextBox 23"/>
          <p:cNvSpPr txBox="1"/>
          <p:nvPr/>
        </p:nvSpPr>
        <p:spPr>
          <a:xfrm>
            <a:off x="2769897" y="6246604"/>
            <a:ext cx="418704" cy="369332"/>
          </a:xfrm>
          <a:prstGeom prst="rect">
            <a:avLst/>
          </a:prstGeom>
          <a:noFill/>
        </p:spPr>
        <p:txBody>
          <a:bodyPr wrap="none" rtlCol="0">
            <a:spAutoFit/>
          </a:bodyPr>
          <a:lstStyle/>
          <a:p>
            <a:r>
              <a:rPr lang="ru-RU" dirty="0"/>
              <a:t>3</a:t>
            </a:r>
            <a:r>
              <a:rPr lang="ru-RU" dirty="0" smtClean="0"/>
              <a:t>0</a:t>
            </a:r>
            <a:endParaRPr lang="ru-RU" dirty="0"/>
          </a:p>
        </p:txBody>
      </p:sp>
      <p:sp>
        <p:nvSpPr>
          <p:cNvPr id="25" name="TextBox 24"/>
          <p:cNvSpPr txBox="1"/>
          <p:nvPr/>
        </p:nvSpPr>
        <p:spPr>
          <a:xfrm>
            <a:off x="281857" y="4950835"/>
            <a:ext cx="920445" cy="369332"/>
          </a:xfrm>
          <a:prstGeom prst="rect">
            <a:avLst/>
          </a:prstGeom>
          <a:noFill/>
        </p:spPr>
        <p:txBody>
          <a:bodyPr wrap="none" rtlCol="0">
            <a:spAutoFit/>
          </a:bodyPr>
          <a:lstStyle/>
          <a:p>
            <a:r>
              <a:rPr lang="ru-RU" dirty="0" smtClean="0"/>
              <a:t>Вх2 Вх1</a:t>
            </a:r>
            <a:endParaRPr lang="ru-RU" dirty="0"/>
          </a:p>
        </p:txBody>
      </p:sp>
    </p:spTree>
    <p:extLst>
      <p:ext uri="{BB962C8B-B14F-4D97-AF65-F5344CB8AC3E}">
        <p14:creationId xmlns:p14="http://schemas.microsoft.com/office/powerpoint/2010/main" val="27848256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Диаграмма работы проектируемого микропрограммного автомата"/>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196752"/>
            <a:ext cx="6035179" cy="1503983"/>
          </a:xfrm>
          <a:prstGeom prst="rect">
            <a:avLst/>
          </a:prstGeom>
          <a:noFill/>
          <a:ln>
            <a:noFill/>
          </a:ln>
        </p:spPr>
      </p:pic>
      <p:sp>
        <p:nvSpPr>
          <p:cNvPr id="5" name="TextBox 4"/>
          <p:cNvSpPr txBox="1"/>
          <p:nvPr/>
        </p:nvSpPr>
        <p:spPr>
          <a:xfrm>
            <a:off x="1763688" y="205238"/>
            <a:ext cx="5752087" cy="707886"/>
          </a:xfrm>
          <a:prstGeom prst="rect">
            <a:avLst/>
          </a:prstGeom>
          <a:noFill/>
        </p:spPr>
        <p:txBody>
          <a:bodyPr wrap="none" rtlCol="0">
            <a:spAutoFit/>
          </a:bodyPr>
          <a:lstStyle/>
          <a:p>
            <a:r>
              <a:rPr lang="ru-RU" sz="2000" b="1" dirty="0" smtClean="0">
                <a:solidFill>
                  <a:srgbClr val="FF0000"/>
                </a:solidFill>
              </a:rPr>
              <a:t>Дана временная реализация выходных сигналов </a:t>
            </a:r>
          </a:p>
          <a:p>
            <a:pPr algn="ctr"/>
            <a:r>
              <a:rPr lang="ru-RU" sz="2000" b="1" dirty="0" smtClean="0">
                <a:solidFill>
                  <a:srgbClr val="FF0000"/>
                </a:solidFill>
              </a:rPr>
              <a:t>при заданном входном</a:t>
            </a:r>
            <a:endParaRPr lang="ru-RU" sz="2000" b="1" dirty="0">
              <a:solidFill>
                <a:srgbClr val="FF0000"/>
              </a:solidFill>
            </a:endParaRPr>
          </a:p>
        </p:txBody>
      </p:sp>
      <p:sp>
        <p:nvSpPr>
          <p:cNvPr id="6" name="TextBox 5"/>
          <p:cNvSpPr txBox="1"/>
          <p:nvPr/>
        </p:nvSpPr>
        <p:spPr>
          <a:xfrm>
            <a:off x="2123728" y="2926684"/>
            <a:ext cx="4185377" cy="646331"/>
          </a:xfrm>
          <a:prstGeom prst="rect">
            <a:avLst/>
          </a:prstGeom>
          <a:noFill/>
        </p:spPr>
        <p:txBody>
          <a:bodyPr wrap="none" rtlCol="0">
            <a:spAutoFit/>
          </a:bodyPr>
          <a:lstStyle/>
          <a:p>
            <a:pPr marL="342900" indent="-342900">
              <a:buAutoNum type="arabicPeriod"/>
            </a:pPr>
            <a:r>
              <a:rPr lang="ru-RU" dirty="0" smtClean="0"/>
              <a:t>Предложить структурную схему МПА</a:t>
            </a:r>
          </a:p>
          <a:p>
            <a:pPr marL="342900" indent="-342900">
              <a:buAutoNum type="arabicPeriod"/>
            </a:pPr>
            <a:r>
              <a:rPr lang="ru-RU" dirty="0" smtClean="0"/>
              <a:t>Предложить вариант прошивки МПА</a:t>
            </a:r>
            <a:endParaRPr lang="ru-RU" dirty="0"/>
          </a:p>
        </p:txBody>
      </p:sp>
    </p:spTree>
    <p:extLst>
      <p:ext uri="{BB962C8B-B14F-4D97-AF65-F5344CB8AC3E}">
        <p14:creationId xmlns:p14="http://schemas.microsoft.com/office/powerpoint/2010/main" val="5314542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Спроектированный микропрограммный автомат"/>
          <p:cNvPicPr/>
          <p:nvPr/>
        </p:nvPicPr>
        <p:blipFill>
          <a:blip r:embed="rId2">
            <a:extLst>
              <a:ext uri="{28A0092B-C50C-407E-A947-70E740481C1C}">
                <a14:useLocalDpi xmlns:a14="http://schemas.microsoft.com/office/drawing/2010/main" val="0"/>
              </a:ext>
            </a:extLst>
          </a:blip>
          <a:srcRect/>
          <a:stretch>
            <a:fillRect/>
          </a:stretch>
        </p:blipFill>
        <p:spPr bwMode="auto">
          <a:xfrm>
            <a:off x="827584" y="1052736"/>
            <a:ext cx="7182743" cy="2982441"/>
          </a:xfrm>
          <a:prstGeom prst="rect">
            <a:avLst/>
          </a:prstGeom>
          <a:noFill/>
          <a:ln>
            <a:noFill/>
          </a:ln>
        </p:spPr>
      </p:pic>
      <p:sp>
        <p:nvSpPr>
          <p:cNvPr id="6" name="TextBox 5"/>
          <p:cNvSpPr txBox="1"/>
          <p:nvPr/>
        </p:nvSpPr>
        <p:spPr>
          <a:xfrm>
            <a:off x="3130782" y="272442"/>
            <a:ext cx="2576346" cy="369332"/>
          </a:xfrm>
          <a:prstGeom prst="rect">
            <a:avLst/>
          </a:prstGeom>
          <a:noFill/>
        </p:spPr>
        <p:txBody>
          <a:bodyPr wrap="none" rtlCol="0">
            <a:spAutoFit/>
          </a:bodyPr>
          <a:lstStyle/>
          <a:p>
            <a:r>
              <a:rPr lang="ru-RU" dirty="0" smtClean="0"/>
              <a:t>Правильная реализация</a:t>
            </a:r>
            <a:endParaRPr lang="ru-RU" dirty="0"/>
          </a:p>
        </p:txBody>
      </p:sp>
      <p:graphicFrame>
        <p:nvGraphicFramePr>
          <p:cNvPr id="7" name="Таблица 6"/>
          <p:cNvGraphicFramePr>
            <a:graphicFrameLocks noGrp="1"/>
          </p:cNvGraphicFramePr>
          <p:nvPr>
            <p:extLst>
              <p:ext uri="{D42A27DB-BD31-4B8C-83A1-F6EECF244321}">
                <p14:modId xmlns:p14="http://schemas.microsoft.com/office/powerpoint/2010/main" val="1354185625"/>
              </p:ext>
            </p:extLst>
          </p:nvPr>
        </p:nvGraphicFramePr>
        <p:xfrm>
          <a:off x="135611" y="5013176"/>
          <a:ext cx="9036495" cy="1381760"/>
        </p:xfrm>
        <a:graphic>
          <a:graphicData uri="http://schemas.openxmlformats.org/drawingml/2006/table">
            <a:tbl>
              <a:tblPr firstRow="1" bandRow="1">
                <a:tableStyleId>{5C22544A-7EE6-4342-B048-85BDC9FD1C3A}</a:tableStyleId>
              </a:tblPr>
              <a:tblGrid>
                <a:gridCol w="611560"/>
                <a:gridCol w="593306"/>
                <a:gridCol w="602433"/>
                <a:gridCol w="602433"/>
                <a:gridCol w="602433"/>
                <a:gridCol w="602433"/>
                <a:gridCol w="602433"/>
                <a:gridCol w="602433"/>
                <a:gridCol w="602433"/>
                <a:gridCol w="602433"/>
                <a:gridCol w="602433"/>
                <a:gridCol w="602433"/>
                <a:gridCol w="602433"/>
                <a:gridCol w="602433"/>
                <a:gridCol w="602433"/>
              </a:tblGrid>
              <a:tr h="370840">
                <a:tc>
                  <a:txBody>
                    <a:bodyPr/>
                    <a:lstStyle/>
                    <a:p>
                      <a:r>
                        <a:rPr lang="ru-RU" sz="1400" dirty="0" smtClean="0"/>
                        <a:t>Вход</a:t>
                      </a:r>
                      <a:endParaRPr lang="ru-RU" sz="1400" dirty="0"/>
                    </a:p>
                  </a:txBody>
                  <a:tcPr/>
                </a:tc>
                <a:tc>
                  <a:txBody>
                    <a:bodyPr/>
                    <a:lstStyle/>
                    <a:p>
                      <a:r>
                        <a:rPr lang="en-US" dirty="0" smtClean="0"/>
                        <a:t>D</a:t>
                      </a:r>
                      <a:endParaRPr lang="ru-RU" dirty="0"/>
                    </a:p>
                  </a:txBody>
                  <a:tcPr/>
                </a:tc>
                <a:tc>
                  <a:txBody>
                    <a:bodyPr/>
                    <a:lstStyle/>
                    <a:p>
                      <a:r>
                        <a:rPr lang="ru-RU" dirty="0" smtClean="0"/>
                        <a:t>А</a:t>
                      </a:r>
                      <a:r>
                        <a:rPr lang="en-US" dirty="0" smtClean="0"/>
                        <a:t>0</a:t>
                      </a:r>
                      <a:endParaRPr lang="ru-RU" dirty="0"/>
                    </a:p>
                  </a:txBody>
                  <a:tcPr/>
                </a:tc>
                <a:tc>
                  <a:txBody>
                    <a:bodyPr/>
                    <a:lstStyle/>
                    <a:p>
                      <a:r>
                        <a:rPr lang="en-US" dirty="0" smtClean="0"/>
                        <a:t>D</a:t>
                      </a:r>
                      <a:endParaRPr lang="ru-RU" dirty="0"/>
                    </a:p>
                  </a:txBody>
                  <a:tcPr/>
                </a:tc>
                <a:tc>
                  <a:txBody>
                    <a:bodyPr/>
                    <a:lstStyle/>
                    <a:p>
                      <a:r>
                        <a:rPr lang="en-US" dirty="0" smtClean="0"/>
                        <a:t>A1</a:t>
                      </a:r>
                      <a:endParaRPr lang="ru-RU" dirty="0"/>
                    </a:p>
                  </a:txBody>
                  <a:tcPr/>
                </a:tc>
                <a:tc>
                  <a:txBody>
                    <a:bodyPr/>
                    <a:lstStyle/>
                    <a:p>
                      <a:r>
                        <a:rPr lang="en-US" dirty="0" smtClean="0"/>
                        <a:t>D</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A2</a:t>
                      </a:r>
                      <a:endParaRPr lang="ru-RU" dirty="0" smtClean="0"/>
                    </a:p>
                    <a:p>
                      <a:endParaRPr lang="ru-RU" dirty="0"/>
                    </a:p>
                  </a:txBody>
                  <a:tcPr/>
                </a:tc>
                <a:tc>
                  <a:txBody>
                    <a:bodyPr/>
                    <a:lstStyle/>
                    <a:p>
                      <a:r>
                        <a:rPr lang="en-US" dirty="0" smtClean="0"/>
                        <a:t>D</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A3</a:t>
                      </a:r>
                      <a:endParaRPr lang="ru-RU" dirty="0" smtClean="0"/>
                    </a:p>
                    <a:p>
                      <a:endParaRPr lang="ru-RU" dirty="0"/>
                    </a:p>
                  </a:txBody>
                  <a:tcPr/>
                </a:tc>
                <a:tc>
                  <a:txBody>
                    <a:bodyPr/>
                    <a:lstStyle/>
                    <a:p>
                      <a:r>
                        <a:rPr lang="en-US" dirty="0" smtClean="0"/>
                        <a:t>D</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A4</a:t>
                      </a:r>
                      <a:endParaRPr lang="ru-RU" dirty="0" smtClean="0"/>
                    </a:p>
                    <a:p>
                      <a:endParaRPr lang="ru-RU" dirty="0"/>
                    </a:p>
                  </a:txBody>
                  <a:tcPr/>
                </a:tc>
                <a:tc>
                  <a:txBody>
                    <a:bodyPr/>
                    <a:lstStyle/>
                    <a:p>
                      <a:r>
                        <a:rPr lang="en-US" dirty="0" smtClean="0"/>
                        <a:t>D</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A5</a:t>
                      </a:r>
                      <a:endParaRPr lang="ru-RU" dirty="0" smtClean="0"/>
                    </a:p>
                    <a:p>
                      <a:endParaRPr lang="ru-RU" dirty="0"/>
                    </a:p>
                  </a:txBody>
                  <a:tcPr/>
                </a:tc>
                <a:tc>
                  <a:txBody>
                    <a:bodyPr/>
                    <a:lstStyle/>
                    <a:p>
                      <a:r>
                        <a:rPr lang="en-US" dirty="0" smtClean="0"/>
                        <a:t>D</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A6</a:t>
                      </a:r>
                      <a:endParaRPr lang="ru-RU" dirty="0" smtClean="0"/>
                    </a:p>
                    <a:p>
                      <a:endParaRPr lang="ru-RU" dirty="0"/>
                    </a:p>
                  </a:txBody>
                  <a:tcPr/>
                </a:tc>
              </a:tr>
              <a:tr h="370840">
                <a:tc>
                  <a:txBody>
                    <a:bodyPr/>
                    <a:lstStyle/>
                    <a:p>
                      <a:r>
                        <a:rPr lang="ru-RU" dirty="0" smtClean="0"/>
                        <a:t>0</a:t>
                      </a:r>
                      <a:endParaRPr lang="ru-RU" dirty="0"/>
                    </a:p>
                  </a:txBody>
                  <a:tcPr/>
                </a:tc>
                <a:tc>
                  <a:txBody>
                    <a:bodyPr/>
                    <a:lstStyle/>
                    <a:p>
                      <a:r>
                        <a:rPr lang="en-US" dirty="0" smtClean="0"/>
                        <a:t>111</a:t>
                      </a:r>
                      <a:endParaRPr lang="ru-RU" dirty="0"/>
                    </a:p>
                  </a:txBody>
                  <a:tcPr/>
                </a:tc>
                <a:tc>
                  <a:txBody>
                    <a:bodyPr/>
                    <a:lstStyle/>
                    <a:p>
                      <a:r>
                        <a:rPr lang="en-US" dirty="0" smtClean="0"/>
                        <a:t>0</a:t>
                      </a:r>
                      <a:endParaRPr lang="ru-R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100</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2</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000</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3</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100</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4</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110</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5</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111</a:t>
                      </a:r>
                      <a:endParaRPr lang="ru-RU"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0</a:t>
                      </a:r>
                      <a:endParaRPr lang="ru-RU" dirty="0" smtClean="0"/>
                    </a:p>
                  </a:txBody>
                  <a:tcPr/>
                </a:tc>
                <a:tc>
                  <a:txBody>
                    <a:bodyPr/>
                    <a:lstStyle/>
                    <a:p>
                      <a:r>
                        <a:rPr lang="en-US" dirty="0" smtClean="0"/>
                        <a:t>111</a:t>
                      </a:r>
                      <a:endParaRPr lang="ru-RU" dirty="0"/>
                    </a:p>
                  </a:txBody>
                  <a:tcPr/>
                </a:tc>
                <a:tc>
                  <a:txBody>
                    <a:bodyPr/>
                    <a:lstStyle/>
                    <a:p>
                      <a:r>
                        <a:rPr lang="en-US" dirty="0" smtClean="0"/>
                        <a:t>0</a:t>
                      </a:r>
                      <a:endParaRPr lang="ru-RU" dirty="0"/>
                    </a:p>
                  </a:txBody>
                  <a:tcPr/>
                </a:tc>
              </a:tr>
              <a:tr h="370840">
                <a:tc>
                  <a:txBody>
                    <a:bodyPr/>
                    <a:lstStyle/>
                    <a:p>
                      <a:r>
                        <a:rPr lang="ru-RU" dirty="0" smtClean="0"/>
                        <a:t>1</a:t>
                      </a:r>
                      <a:endParaRPr lang="ru-RU" dirty="0"/>
                    </a:p>
                  </a:txBody>
                  <a:tcPr/>
                </a:tc>
                <a:tc>
                  <a:txBody>
                    <a:bodyPr/>
                    <a:lstStyle/>
                    <a:p>
                      <a:r>
                        <a:rPr lang="en-US" dirty="0" smtClean="0"/>
                        <a:t>110</a:t>
                      </a:r>
                      <a:endParaRPr lang="ru-RU" dirty="0"/>
                    </a:p>
                  </a:txBody>
                  <a:tcPr/>
                </a:tc>
                <a:tc>
                  <a:txBody>
                    <a:bodyPr/>
                    <a:lstStyle/>
                    <a:p>
                      <a:r>
                        <a:rPr lang="en-US" dirty="0" smtClean="0"/>
                        <a:t>1</a:t>
                      </a:r>
                      <a:endParaRPr lang="ru-RU" dirty="0"/>
                    </a:p>
                  </a:txBody>
                  <a:tcPr/>
                </a:tc>
                <a:tc>
                  <a:txBody>
                    <a:bodyPr/>
                    <a:lstStyle/>
                    <a:p>
                      <a:r>
                        <a:rPr lang="en-US" dirty="0" smtClean="0"/>
                        <a:t>100</a:t>
                      </a:r>
                      <a:endParaRPr lang="ru-RU" dirty="0"/>
                    </a:p>
                  </a:txBody>
                  <a:tcPr/>
                </a:tc>
                <a:tc>
                  <a:txBody>
                    <a:bodyPr/>
                    <a:lstStyle/>
                    <a:p>
                      <a:r>
                        <a:rPr lang="en-US" dirty="0" smtClean="0"/>
                        <a:t>2</a:t>
                      </a:r>
                      <a:endParaRPr lang="ru-RU" dirty="0"/>
                    </a:p>
                  </a:txBody>
                  <a:tcPr/>
                </a:tc>
                <a:tc>
                  <a:txBody>
                    <a:bodyPr/>
                    <a:lstStyle/>
                    <a:p>
                      <a:r>
                        <a:rPr lang="en-US" dirty="0" smtClean="0"/>
                        <a:t>000</a:t>
                      </a:r>
                      <a:endParaRPr lang="ru-RU" dirty="0"/>
                    </a:p>
                  </a:txBody>
                  <a:tcPr/>
                </a:tc>
                <a:tc>
                  <a:txBody>
                    <a:bodyPr/>
                    <a:lstStyle/>
                    <a:p>
                      <a:r>
                        <a:rPr lang="en-US" dirty="0" smtClean="0"/>
                        <a:t>3</a:t>
                      </a:r>
                      <a:endParaRPr lang="ru-RU" dirty="0"/>
                    </a:p>
                  </a:txBody>
                  <a:tcPr/>
                </a:tc>
                <a:tc>
                  <a:txBody>
                    <a:bodyPr/>
                    <a:lstStyle/>
                    <a:p>
                      <a:r>
                        <a:rPr lang="en-US" dirty="0" smtClean="0"/>
                        <a:t>100</a:t>
                      </a:r>
                      <a:endParaRPr lang="ru-RU" dirty="0"/>
                    </a:p>
                  </a:txBody>
                  <a:tcPr/>
                </a:tc>
                <a:tc>
                  <a:txBody>
                    <a:bodyPr/>
                    <a:lstStyle/>
                    <a:p>
                      <a:r>
                        <a:rPr lang="en-US" dirty="0" smtClean="0"/>
                        <a:t>4</a:t>
                      </a:r>
                      <a:endParaRPr lang="ru-RU" dirty="0"/>
                    </a:p>
                  </a:txBody>
                  <a:tcPr/>
                </a:tc>
                <a:tc>
                  <a:txBody>
                    <a:bodyPr/>
                    <a:lstStyle/>
                    <a:p>
                      <a:r>
                        <a:rPr lang="en-US" dirty="0" smtClean="0"/>
                        <a:t>110</a:t>
                      </a:r>
                      <a:endParaRPr lang="ru-RU" dirty="0"/>
                    </a:p>
                  </a:txBody>
                  <a:tcPr/>
                </a:tc>
                <a:tc>
                  <a:txBody>
                    <a:bodyPr/>
                    <a:lstStyle/>
                    <a:p>
                      <a:r>
                        <a:rPr lang="en-US" dirty="0" smtClean="0"/>
                        <a:t>5</a:t>
                      </a:r>
                      <a:endParaRPr lang="ru-RU" dirty="0"/>
                    </a:p>
                  </a:txBody>
                  <a:tcPr/>
                </a:tc>
                <a:tc>
                  <a:txBody>
                    <a:bodyPr/>
                    <a:lstStyle/>
                    <a:p>
                      <a:r>
                        <a:rPr lang="en-US" dirty="0" smtClean="0"/>
                        <a:t>111</a:t>
                      </a:r>
                      <a:endParaRPr lang="ru-RU" dirty="0"/>
                    </a:p>
                  </a:txBody>
                  <a:tcPr/>
                </a:tc>
                <a:tc>
                  <a:txBody>
                    <a:bodyPr/>
                    <a:lstStyle/>
                    <a:p>
                      <a:r>
                        <a:rPr lang="en-US" dirty="0" smtClean="0"/>
                        <a:t>5</a:t>
                      </a:r>
                      <a:endParaRPr lang="ru-RU" dirty="0"/>
                    </a:p>
                  </a:txBody>
                  <a:tcPr/>
                </a:tc>
                <a:tc>
                  <a:txBody>
                    <a:bodyPr/>
                    <a:lstStyle/>
                    <a:p>
                      <a:r>
                        <a:rPr lang="en-US" dirty="0" smtClean="0"/>
                        <a:t>111</a:t>
                      </a:r>
                      <a:endParaRPr lang="ru-RU" dirty="0"/>
                    </a:p>
                  </a:txBody>
                  <a:tcPr/>
                </a:tc>
                <a:tc>
                  <a:txBody>
                    <a:bodyPr/>
                    <a:lstStyle/>
                    <a:p>
                      <a:r>
                        <a:rPr lang="en-US" dirty="0" smtClean="0"/>
                        <a:t>0</a:t>
                      </a:r>
                      <a:endParaRPr lang="ru-RU" dirty="0"/>
                    </a:p>
                  </a:txBody>
                  <a:tcPr/>
                </a:tc>
              </a:tr>
            </a:tbl>
          </a:graphicData>
        </a:graphic>
      </p:graphicFrame>
      <p:sp>
        <p:nvSpPr>
          <p:cNvPr id="8" name="TextBox 7"/>
          <p:cNvSpPr txBox="1"/>
          <p:nvPr/>
        </p:nvSpPr>
        <p:spPr>
          <a:xfrm>
            <a:off x="2483768" y="4581128"/>
            <a:ext cx="2021707" cy="369332"/>
          </a:xfrm>
          <a:prstGeom prst="rect">
            <a:avLst/>
          </a:prstGeom>
          <a:noFill/>
        </p:spPr>
        <p:txBody>
          <a:bodyPr wrap="none" rtlCol="0">
            <a:spAutoFit/>
          </a:bodyPr>
          <a:lstStyle/>
          <a:p>
            <a:r>
              <a:rPr lang="ru-RU" dirty="0" smtClean="0"/>
              <a:t>Пример прошивки</a:t>
            </a:r>
            <a:endParaRPr lang="ru-RU" dirty="0"/>
          </a:p>
        </p:txBody>
      </p:sp>
      <p:sp>
        <p:nvSpPr>
          <p:cNvPr id="9" name="TextBox 8"/>
          <p:cNvSpPr txBox="1"/>
          <p:nvPr/>
        </p:nvSpPr>
        <p:spPr>
          <a:xfrm>
            <a:off x="179512" y="4211796"/>
            <a:ext cx="1776448" cy="369332"/>
          </a:xfrm>
          <a:prstGeom prst="rect">
            <a:avLst/>
          </a:prstGeom>
          <a:noFill/>
        </p:spPr>
        <p:txBody>
          <a:bodyPr wrap="none" rtlCol="0">
            <a:spAutoFit/>
          </a:bodyPr>
          <a:lstStyle/>
          <a:p>
            <a:r>
              <a:rPr lang="ru-RU" dirty="0" smtClean="0"/>
              <a:t>Вых3</a:t>
            </a:r>
            <a:r>
              <a:rPr lang="ru-RU" dirty="0"/>
              <a:t> </a:t>
            </a:r>
            <a:r>
              <a:rPr lang="ru-RU" dirty="0" smtClean="0"/>
              <a:t>Вых2 Вых1</a:t>
            </a:r>
            <a:endParaRPr lang="ru-RU" dirty="0"/>
          </a:p>
        </p:txBody>
      </p:sp>
      <p:cxnSp>
        <p:nvCxnSpPr>
          <p:cNvPr id="11" name="Прямая со стрелкой 10"/>
          <p:cNvCxnSpPr/>
          <p:nvPr/>
        </p:nvCxnSpPr>
        <p:spPr>
          <a:xfrm>
            <a:off x="179512" y="4581128"/>
            <a:ext cx="576064" cy="3693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p:nvPr/>
        </p:nvCxnSpPr>
        <p:spPr>
          <a:xfrm flipH="1">
            <a:off x="1403648" y="4581128"/>
            <a:ext cx="432048" cy="3693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929634" y="4211796"/>
            <a:ext cx="2736518" cy="369332"/>
          </a:xfrm>
          <a:prstGeom prst="rect">
            <a:avLst/>
          </a:prstGeom>
          <a:noFill/>
        </p:spPr>
        <p:txBody>
          <a:bodyPr wrap="none" rtlCol="0">
            <a:spAutoFit/>
          </a:bodyPr>
          <a:lstStyle/>
          <a:p>
            <a:r>
              <a:rPr lang="ru-RU" u="sng" dirty="0" smtClean="0"/>
              <a:t>Порядок бит поля данных</a:t>
            </a:r>
            <a:endParaRPr lang="ru-RU" u="sng" dirty="0"/>
          </a:p>
        </p:txBody>
      </p:sp>
    </p:spTree>
    <p:extLst>
      <p:ext uri="{BB962C8B-B14F-4D97-AF65-F5344CB8AC3E}">
        <p14:creationId xmlns:p14="http://schemas.microsoft.com/office/powerpoint/2010/main" val="12530275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23453" y="620688"/>
            <a:ext cx="8712968" cy="4247317"/>
          </a:xfrm>
          <a:prstGeom prst="rect">
            <a:avLst/>
          </a:prstGeom>
        </p:spPr>
        <p:txBody>
          <a:bodyPr wrap="square">
            <a:spAutoFit/>
          </a:bodyPr>
          <a:lstStyle/>
          <a:p>
            <a:pPr algn="ctr" fontAlgn="t"/>
            <a:r>
              <a:rPr lang="ru-RU" b="1" dirty="0">
                <a:solidFill>
                  <a:srgbClr val="FF0000"/>
                </a:solidFill>
              </a:rPr>
              <a:t>Оперативная память</a:t>
            </a:r>
          </a:p>
          <a:p>
            <a:pPr fontAlgn="t"/>
            <a:r>
              <a:rPr lang="ru-RU" dirty="0"/>
              <a:t>Основное отличие оперативной памяти (</a:t>
            </a:r>
            <a:r>
              <a:rPr lang="ru-RU" b="1" dirty="0"/>
              <a:t>RAM</a:t>
            </a:r>
            <a:r>
              <a:rPr lang="ru-RU" dirty="0"/>
              <a:t>) от постоянной ( ROM ) состоит в возможности оперативного изменения содержимого всех ячеек памяти с помощью дополнительного управляющего сигнала записи </a:t>
            </a:r>
            <a:r>
              <a:rPr lang="ru-RU" b="1" dirty="0"/>
              <a:t>WR</a:t>
            </a:r>
            <a:r>
              <a:rPr lang="ru-RU" dirty="0"/>
              <a:t>. </a:t>
            </a:r>
            <a:endParaRPr lang="ru-RU" dirty="0" smtClean="0"/>
          </a:p>
          <a:p>
            <a:pPr fontAlgn="t"/>
            <a:endParaRPr lang="ru-RU" dirty="0" smtClean="0"/>
          </a:p>
          <a:p>
            <a:pPr fontAlgn="t"/>
            <a:r>
              <a:rPr lang="ru-RU" dirty="0" smtClean="0"/>
              <a:t>Различают статическую </a:t>
            </a:r>
            <a:r>
              <a:rPr lang="en-US" b="1" dirty="0" smtClean="0"/>
              <a:t>RAM (SRAM) </a:t>
            </a:r>
            <a:r>
              <a:rPr lang="en-US" dirty="0" smtClean="0"/>
              <a:t> </a:t>
            </a:r>
            <a:r>
              <a:rPr lang="ru-RU" dirty="0" smtClean="0"/>
              <a:t>и динамическую </a:t>
            </a:r>
            <a:r>
              <a:rPr lang="en-US" b="1" dirty="0"/>
              <a:t>RAM </a:t>
            </a:r>
            <a:r>
              <a:rPr lang="ru-RU" b="1" dirty="0" smtClean="0"/>
              <a:t>(</a:t>
            </a:r>
            <a:r>
              <a:rPr lang="en-US" b="1" dirty="0" smtClean="0"/>
              <a:t>DRAM)</a:t>
            </a:r>
            <a:r>
              <a:rPr lang="en-US" dirty="0" smtClean="0"/>
              <a:t>.</a:t>
            </a:r>
            <a:endParaRPr lang="ru-RU" dirty="0"/>
          </a:p>
          <a:p>
            <a:pPr fontAlgn="t"/>
            <a:r>
              <a:rPr lang="ru-RU" dirty="0" smtClean="0"/>
              <a:t>Ячейка памяти </a:t>
            </a:r>
            <a:r>
              <a:rPr lang="en-US" b="1" dirty="0" smtClean="0"/>
              <a:t>SRAM</a:t>
            </a:r>
            <a:r>
              <a:rPr lang="ru-RU" b="1" dirty="0" smtClean="0"/>
              <a:t> </a:t>
            </a:r>
            <a:r>
              <a:rPr lang="ru-RU" dirty="0" smtClean="0"/>
              <a:t>представляет собой </a:t>
            </a:r>
            <a:r>
              <a:rPr lang="ru-RU" dirty="0"/>
              <a:t>регистр из триггерных ячеек, в который может быть </a:t>
            </a:r>
            <a:r>
              <a:rPr lang="ru-RU" dirty="0" smtClean="0"/>
              <a:t>записана(прочитана) информация. Выбор ячейки памяти </a:t>
            </a:r>
            <a:r>
              <a:rPr lang="ru-RU" dirty="0"/>
              <a:t>производится с помощью </a:t>
            </a:r>
            <a:r>
              <a:rPr lang="ru-RU" b="1" dirty="0"/>
              <a:t>кода адреса памяти</a:t>
            </a:r>
            <a:r>
              <a:rPr lang="ru-RU" dirty="0"/>
              <a:t>. </a:t>
            </a:r>
            <a:r>
              <a:rPr lang="ru-RU" dirty="0" smtClean="0"/>
              <a:t> </a:t>
            </a:r>
            <a:r>
              <a:rPr lang="ru-RU" dirty="0"/>
              <a:t>П</a:t>
            </a:r>
            <a:r>
              <a:rPr lang="ru-RU" dirty="0" smtClean="0"/>
              <a:t>ри </a:t>
            </a:r>
            <a:r>
              <a:rPr lang="ru-RU" dirty="0"/>
              <a:t>выключении питания вся информация из оперативной памяти пропадает (стирается), а при включении питания информация в оперативной памяти может быть произвольной.</a:t>
            </a:r>
          </a:p>
          <a:p>
            <a:pPr fontAlgn="t"/>
            <a:endParaRPr lang="ru-RU" dirty="0" smtClean="0"/>
          </a:p>
          <a:p>
            <a:pPr fontAlgn="t"/>
            <a:r>
              <a:rPr lang="ru-RU" dirty="0"/>
              <a:t>Ячейка памяти </a:t>
            </a:r>
            <a:r>
              <a:rPr lang="en-US" b="1" dirty="0" smtClean="0"/>
              <a:t>DRAM</a:t>
            </a:r>
            <a:r>
              <a:rPr lang="ru-RU" b="1" dirty="0" smtClean="0"/>
              <a:t> </a:t>
            </a:r>
            <a:r>
              <a:rPr lang="ru-RU" dirty="0" smtClean="0"/>
              <a:t>представляет собой конденсатор, информация хранится  </a:t>
            </a:r>
            <a:r>
              <a:rPr lang="ru-RU" dirty="0"/>
              <a:t>в виде заряда на конденсаторах. </a:t>
            </a:r>
            <a:r>
              <a:rPr lang="ru-RU" dirty="0" smtClean="0"/>
              <a:t> По сравнению с </a:t>
            </a:r>
            <a:r>
              <a:rPr lang="en-US" b="1" dirty="0" smtClean="0"/>
              <a:t>SRAM</a:t>
            </a:r>
            <a:r>
              <a:rPr lang="ru-RU" dirty="0" smtClean="0"/>
              <a:t>,</a:t>
            </a:r>
            <a:r>
              <a:rPr lang="ru-RU" b="1" dirty="0" smtClean="0"/>
              <a:t> </a:t>
            </a:r>
            <a:r>
              <a:rPr lang="en-US" dirty="0" smtClean="0"/>
              <a:t>DRAM</a:t>
            </a:r>
            <a:r>
              <a:rPr lang="ru-RU" dirty="0" smtClean="0"/>
              <a:t> имеет низкую стоимость, меньшее быстродействие и требует </a:t>
            </a:r>
            <a:r>
              <a:rPr lang="ru-RU" dirty="0"/>
              <a:t>регулярной регенерации ("</a:t>
            </a:r>
            <a:r>
              <a:rPr lang="ru-RU" dirty="0" err="1"/>
              <a:t>Refresh</a:t>
            </a:r>
            <a:r>
              <a:rPr lang="ru-RU" dirty="0"/>
              <a:t>" - "освежение</a:t>
            </a:r>
            <a:r>
              <a:rPr lang="ru-RU" dirty="0" smtClean="0"/>
              <a:t>")</a:t>
            </a:r>
            <a:endParaRPr lang="ru-RU" dirty="0"/>
          </a:p>
        </p:txBody>
      </p:sp>
    </p:spTree>
    <p:extLst>
      <p:ext uri="{BB962C8B-B14F-4D97-AF65-F5344CB8AC3E}">
        <p14:creationId xmlns:p14="http://schemas.microsoft.com/office/powerpoint/2010/main" val="28683222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s://upload.wikimedia.org/wikipedia/commons/thumb/7/77/6t-SRAM-cell.png/800px-6t-SRAM-cel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592" y="1232757"/>
            <a:ext cx="4476743" cy="38164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116335" y="1276099"/>
            <a:ext cx="1685077" cy="646331"/>
          </a:xfrm>
          <a:prstGeom prst="rect">
            <a:avLst/>
          </a:prstGeom>
          <a:noFill/>
        </p:spPr>
        <p:txBody>
          <a:bodyPr wrap="none" rtlCol="0">
            <a:spAutoFit/>
          </a:bodyPr>
          <a:lstStyle/>
          <a:p>
            <a:r>
              <a:rPr lang="ru-RU" dirty="0" smtClean="0"/>
              <a:t>Числовая шина</a:t>
            </a:r>
          </a:p>
          <a:p>
            <a:r>
              <a:rPr lang="en-US" dirty="0" smtClean="0"/>
              <a:t>Word Line (WL)</a:t>
            </a:r>
            <a:endParaRPr lang="ru-RU" dirty="0"/>
          </a:p>
        </p:txBody>
      </p:sp>
      <p:sp>
        <p:nvSpPr>
          <p:cNvPr id="6" name="TextBox 5"/>
          <p:cNvSpPr txBox="1"/>
          <p:nvPr/>
        </p:nvSpPr>
        <p:spPr>
          <a:xfrm>
            <a:off x="467544" y="5135605"/>
            <a:ext cx="1535998" cy="646331"/>
          </a:xfrm>
          <a:prstGeom prst="rect">
            <a:avLst/>
          </a:prstGeom>
          <a:noFill/>
        </p:spPr>
        <p:txBody>
          <a:bodyPr wrap="none" rtlCol="0">
            <a:spAutoFit/>
          </a:bodyPr>
          <a:lstStyle/>
          <a:p>
            <a:r>
              <a:rPr lang="ru-RU" dirty="0" smtClean="0"/>
              <a:t>Шина данных</a:t>
            </a:r>
            <a:endParaRPr lang="en-US" dirty="0" smtClean="0"/>
          </a:p>
          <a:p>
            <a:r>
              <a:rPr lang="en-US" dirty="0"/>
              <a:t>Bit Line (BL)</a:t>
            </a:r>
            <a:endParaRPr lang="ru-RU" dirty="0"/>
          </a:p>
        </p:txBody>
      </p:sp>
      <p:sp>
        <p:nvSpPr>
          <p:cNvPr id="8" name="TextBox 7"/>
          <p:cNvSpPr txBox="1"/>
          <p:nvPr/>
        </p:nvSpPr>
        <p:spPr>
          <a:xfrm>
            <a:off x="3589171" y="5049181"/>
            <a:ext cx="1535998" cy="646331"/>
          </a:xfrm>
          <a:prstGeom prst="rect">
            <a:avLst/>
          </a:prstGeom>
          <a:noFill/>
        </p:spPr>
        <p:txBody>
          <a:bodyPr wrap="none" rtlCol="0">
            <a:spAutoFit/>
          </a:bodyPr>
          <a:lstStyle/>
          <a:p>
            <a:r>
              <a:rPr lang="ru-RU" dirty="0" smtClean="0"/>
              <a:t>Шина данных</a:t>
            </a:r>
            <a:endParaRPr lang="en-US" dirty="0" smtClean="0"/>
          </a:p>
          <a:p>
            <a:r>
              <a:rPr lang="en-US" dirty="0" smtClean="0"/>
              <a:t>Bit Line (BL)</a:t>
            </a:r>
            <a:endParaRPr lang="ru-RU" dirty="0"/>
          </a:p>
        </p:txBody>
      </p:sp>
      <p:sp>
        <p:nvSpPr>
          <p:cNvPr id="7" name="Прямоугольник 6"/>
          <p:cNvSpPr/>
          <p:nvPr/>
        </p:nvSpPr>
        <p:spPr>
          <a:xfrm>
            <a:off x="5125169" y="1940640"/>
            <a:ext cx="4018831" cy="1477328"/>
          </a:xfrm>
          <a:prstGeom prst="rect">
            <a:avLst/>
          </a:prstGeom>
        </p:spPr>
        <p:txBody>
          <a:bodyPr wrap="square">
            <a:spAutoFit/>
          </a:bodyPr>
          <a:lstStyle/>
          <a:p>
            <a:r>
              <a:rPr lang="ru-RU" b="1" dirty="0"/>
              <a:t>Чтение. </a:t>
            </a:r>
            <a:r>
              <a:rPr lang="ru-RU" dirty="0"/>
              <a:t>При подаче «1» на линию WL открываются транзисторы M5 и M6, уровни, записанные в триггере, выставляются на линии BL и BL и попадают на схемы чтения.</a:t>
            </a:r>
          </a:p>
        </p:txBody>
      </p:sp>
      <p:sp>
        <p:nvSpPr>
          <p:cNvPr id="9" name="Прямоугольник 8"/>
          <p:cNvSpPr/>
          <p:nvPr/>
        </p:nvSpPr>
        <p:spPr>
          <a:xfrm>
            <a:off x="5125169" y="3341021"/>
            <a:ext cx="3600400" cy="2862322"/>
          </a:xfrm>
          <a:prstGeom prst="rect">
            <a:avLst/>
          </a:prstGeom>
        </p:spPr>
        <p:txBody>
          <a:bodyPr wrap="square">
            <a:spAutoFit/>
          </a:bodyPr>
          <a:lstStyle/>
          <a:p>
            <a:r>
              <a:rPr lang="ru-RU" b="1" dirty="0"/>
              <a:t>Запись. </a:t>
            </a:r>
            <a:r>
              <a:rPr lang="ru-RU" dirty="0"/>
              <a:t>При подаче «0» на линию BL или BL параллельно включенные транзисторные пары (M5 и M1) и (M6 и M3) образуют логические схемы 2ИЛИ, последующая подача «1» на линию WL открывает транзистор M5 или M6, что приводит к соответствующему переключению триггера.</a:t>
            </a:r>
          </a:p>
        </p:txBody>
      </p:sp>
      <p:sp>
        <p:nvSpPr>
          <p:cNvPr id="11" name="TextBox 10"/>
          <p:cNvSpPr txBox="1"/>
          <p:nvPr/>
        </p:nvSpPr>
        <p:spPr>
          <a:xfrm>
            <a:off x="2987824" y="364014"/>
            <a:ext cx="2385589" cy="369332"/>
          </a:xfrm>
          <a:prstGeom prst="rect">
            <a:avLst/>
          </a:prstGeom>
          <a:noFill/>
        </p:spPr>
        <p:txBody>
          <a:bodyPr wrap="none" rtlCol="0">
            <a:spAutoFit/>
          </a:bodyPr>
          <a:lstStyle/>
          <a:p>
            <a:r>
              <a:rPr lang="ru-RU" b="1" dirty="0" smtClean="0">
                <a:solidFill>
                  <a:srgbClr val="FF0000"/>
                </a:solidFill>
              </a:rPr>
              <a:t>Пример ячейки </a:t>
            </a:r>
            <a:r>
              <a:rPr lang="en-US" b="1" dirty="0" smtClean="0">
                <a:solidFill>
                  <a:srgbClr val="FF0000"/>
                </a:solidFill>
              </a:rPr>
              <a:t>SRAM</a:t>
            </a:r>
            <a:endParaRPr lang="ru-RU" b="1" dirty="0">
              <a:solidFill>
                <a:srgbClr val="FF0000"/>
              </a:solidFill>
            </a:endParaRPr>
          </a:p>
        </p:txBody>
      </p:sp>
    </p:spTree>
    <p:extLst>
      <p:ext uri="{BB962C8B-B14F-4D97-AF65-F5344CB8AC3E}">
        <p14:creationId xmlns:p14="http://schemas.microsoft.com/office/powerpoint/2010/main" val="42587077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ttps://upload.wikimedia.org/wikipedia/commons/3/3d/Square_array_of_mosfet_cells_rea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689514"/>
            <a:ext cx="6624736" cy="61653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555776" y="179348"/>
            <a:ext cx="4446025" cy="369332"/>
          </a:xfrm>
          <a:prstGeom prst="rect">
            <a:avLst/>
          </a:prstGeom>
          <a:noFill/>
        </p:spPr>
        <p:txBody>
          <a:bodyPr wrap="none" rtlCol="0">
            <a:spAutoFit/>
          </a:bodyPr>
          <a:lstStyle/>
          <a:p>
            <a:r>
              <a:rPr lang="ru-RU" b="1" dirty="0" smtClean="0">
                <a:solidFill>
                  <a:srgbClr val="FF0000"/>
                </a:solidFill>
              </a:rPr>
              <a:t>Пример организации памяти </a:t>
            </a:r>
            <a:r>
              <a:rPr lang="en-US" b="1" dirty="0" smtClean="0">
                <a:solidFill>
                  <a:srgbClr val="FF0000"/>
                </a:solidFill>
              </a:rPr>
              <a:t>DRAM (16x4)</a:t>
            </a:r>
            <a:endParaRPr lang="ru-RU" b="1" dirty="0">
              <a:solidFill>
                <a:srgbClr val="FF0000"/>
              </a:solidFill>
            </a:endParaRPr>
          </a:p>
        </p:txBody>
      </p:sp>
    </p:spTree>
    <p:extLst>
      <p:ext uri="{BB962C8B-B14F-4D97-AF65-F5344CB8AC3E}">
        <p14:creationId xmlns:p14="http://schemas.microsoft.com/office/powerpoint/2010/main" val="1771515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Примеры микросхем статических ОЗУ"/>
          <p:cNvPicPr/>
          <p:nvPr/>
        </p:nvPicPr>
        <p:blipFill>
          <a:blip r:embed="rId2">
            <a:extLst>
              <a:ext uri="{28A0092B-C50C-407E-A947-70E740481C1C}">
                <a14:useLocalDpi xmlns:a14="http://schemas.microsoft.com/office/drawing/2010/main" val="0"/>
              </a:ext>
            </a:extLst>
          </a:blip>
          <a:srcRect/>
          <a:stretch>
            <a:fillRect/>
          </a:stretch>
        </p:blipFill>
        <p:spPr bwMode="auto">
          <a:xfrm>
            <a:off x="972811" y="692696"/>
            <a:ext cx="7128792" cy="3938295"/>
          </a:xfrm>
          <a:prstGeom prst="rect">
            <a:avLst/>
          </a:prstGeom>
          <a:noFill/>
          <a:ln>
            <a:noFill/>
          </a:ln>
        </p:spPr>
      </p:pic>
      <p:sp>
        <p:nvSpPr>
          <p:cNvPr id="5" name="TextBox 4"/>
          <p:cNvSpPr txBox="1"/>
          <p:nvPr/>
        </p:nvSpPr>
        <p:spPr>
          <a:xfrm>
            <a:off x="2496077" y="219998"/>
            <a:ext cx="4079835" cy="369332"/>
          </a:xfrm>
          <a:prstGeom prst="rect">
            <a:avLst/>
          </a:prstGeom>
          <a:noFill/>
        </p:spPr>
        <p:txBody>
          <a:bodyPr wrap="none" rtlCol="0">
            <a:spAutoFit/>
          </a:bodyPr>
          <a:lstStyle/>
          <a:p>
            <a:r>
              <a:rPr lang="ru-RU" dirty="0" smtClean="0">
                <a:solidFill>
                  <a:srgbClr val="FF0000"/>
                </a:solidFill>
              </a:rPr>
              <a:t>Пример обозначений микросхем </a:t>
            </a:r>
            <a:r>
              <a:rPr lang="en-US" dirty="0" smtClean="0">
                <a:solidFill>
                  <a:srgbClr val="FF0000"/>
                </a:solidFill>
              </a:rPr>
              <a:t>SRAM</a:t>
            </a:r>
            <a:endParaRPr lang="ru-RU" dirty="0">
              <a:solidFill>
                <a:srgbClr val="FF0000"/>
              </a:solidFill>
            </a:endParaRPr>
          </a:p>
        </p:txBody>
      </p:sp>
      <p:sp>
        <p:nvSpPr>
          <p:cNvPr id="6" name="TextBox 5"/>
          <p:cNvSpPr txBox="1"/>
          <p:nvPr/>
        </p:nvSpPr>
        <p:spPr>
          <a:xfrm>
            <a:off x="179512" y="4773051"/>
            <a:ext cx="7827464" cy="2031325"/>
          </a:xfrm>
          <a:prstGeom prst="rect">
            <a:avLst/>
          </a:prstGeom>
          <a:noFill/>
        </p:spPr>
        <p:txBody>
          <a:bodyPr wrap="none" rtlCol="0">
            <a:spAutoFit/>
          </a:bodyPr>
          <a:lstStyle/>
          <a:p>
            <a:r>
              <a:rPr lang="en-US" b="1" dirty="0" smtClean="0"/>
              <a:t>DI, D0-</a:t>
            </a:r>
            <a:r>
              <a:rPr lang="ru-RU" b="1" dirty="0" smtClean="0"/>
              <a:t> </a:t>
            </a:r>
            <a:r>
              <a:rPr lang="ru-RU" dirty="0" smtClean="0"/>
              <a:t>данные вход, выход</a:t>
            </a:r>
          </a:p>
          <a:p>
            <a:r>
              <a:rPr lang="en-US" b="1" dirty="0" smtClean="0"/>
              <a:t>CS</a:t>
            </a:r>
            <a:r>
              <a:rPr lang="en-US" dirty="0" smtClean="0"/>
              <a:t>-</a:t>
            </a:r>
            <a:r>
              <a:rPr lang="ru-RU" dirty="0" smtClean="0"/>
              <a:t>выбор микросхемы (0)</a:t>
            </a:r>
          </a:p>
          <a:p>
            <a:r>
              <a:rPr lang="en-US" b="1" dirty="0" smtClean="0"/>
              <a:t>WR</a:t>
            </a:r>
            <a:r>
              <a:rPr lang="en-US" dirty="0" smtClean="0"/>
              <a:t>-</a:t>
            </a:r>
            <a:r>
              <a:rPr lang="ru-RU" dirty="0" smtClean="0"/>
              <a:t>запись (0)</a:t>
            </a:r>
          </a:p>
          <a:p>
            <a:r>
              <a:rPr lang="en-US" b="1" dirty="0" smtClean="0"/>
              <a:t>OE</a:t>
            </a:r>
            <a:r>
              <a:rPr lang="en-US" dirty="0" smtClean="0"/>
              <a:t>-</a:t>
            </a:r>
            <a:r>
              <a:rPr lang="ru-RU" dirty="0" smtClean="0"/>
              <a:t>сигнал разрешения выхода (0) </a:t>
            </a:r>
            <a:r>
              <a:rPr lang="ru-RU" dirty="0"/>
              <a:t>Когда этот сигнал </a:t>
            </a:r>
            <a:r>
              <a:rPr lang="ru-RU" dirty="0" smtClean="0"/>
              <a:t>пассивен</a:t>
            </a:r>
          </a:p>
          <a:p>
            <a:r>
              <a:rPr lang="ru-RU" dirty="0" smtClean="0"/>
              <a:t> </a:t>
            </a:r>
            <a:r>
              <a:rPr lang="ru-RU" dirty="0"/>
              <a:t>(равен единице), входы/выходы данных микросхемы находятся в состоянии </a:t>
            </a:r>
            <a:endParaRPr lang="ru-RU" dirty="0" smtClean="0"/>
          </a:p>
          <a:p>
            <a:r>
              <a:rPr lang="ru-RU" dirty="0" smtClean="0"/>
              <a:t>3С </a:t>
            </a:r>
            <a:r>
              <a:rPr lang="ru-RU" dirty="0"/>
              <a:t>независимо от режима работы</a:t>
            </a:r>
          </a:p>
          <a:p>
            <a:endParaRPr lang="ru-RU" dirty="0"/>
          </a:p>
        </p:txBody>
      </p:sp>
    </p:spTree>
    <p:extLst>
      <p:ext uri="{BB962C8B-B14F-4D97-AF65-F5344CB8AC3E}">
        <p14:creationId xmlns:p14="http://schemas.microsoft.com/office/powerpoint/2010/main" val="25187104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extLst>
              <p:ext uri="{D42A27DB-BD31-4B8C-83A1-F6EECF244321}">
                <p14:modId xmlns:p14="http://schemas.microsoft.com/office/powerpoint/2010/main" val="3099365717"/>
              </p:ext>
            </p:extLst>
          </p:nvPr>
        </p:nvGraphicFramePr>
        <p:xfrm>
          <a:off x="530427" y="701988"/>
          <a:ext cx="8023860" cy="2651760"/>
        </p:xfrm>
        <a:graphic>
          <a:graphicData uri="http://schemas.openxmlformats.org/drawingml/2006/table">
            <a:tbl>
              <a:tblPr firstRow="1" firstCol="1" bandRow="1">
                <a:tableStyleId>{5C22544A-7EE6-4342-B048-85BDC9FD1C3A}</a:tableStyleId>
              </a:tblPr>
              <a:tblGrid>
                <a:gridCol w="701285"/>
                <a:gridCol w="1242896"/>
                <a:gridCol w="1242896"/>
                <a:gridCol w="1242896"/>
                <a:gridCol w="1242896"/>
                <a:gridCol w="2350991"/>
              </a:tblGrid>
              <a:tr h="0">
                <a:tc gridSpan="5">
                  <a:txBody>
                    <a:bodyPr/>
                    <a:lstStyle/>
                    <a:p>
                      <a:pPr>
                        <a:lnSpc>
                          <a:spcPct val="115000"/>
                        </a:lnSpc>
                        <a:spcAft>
                          <a:spcPts val="0"/>
                        </a:spcAft>
                      </a:pPr>
                      <a:r>
                        <a:rPr lang="ru-RU" sz="2000" dirty="0">
                          <a:effectLst/>
                          <a:latin typeface="+mn-lt"/>
                        </a:rPr>
                        <a:t>Входы и выходы</a:t>
                      </a:r>
                      <a:endParaRPr lang="ru-RU" sz="2000" dirty="0">
                        <a:effectLst/>
                        <a:latin typeface="+mn-lt"/>
                        <a:ea typeface="Calibri"/>
                        <a:cs typeface="Times New Roman"/>
                      </a:endParaRPr>
                    </a:p>
                  </a:txBody>
                  <a:tcPr marL="76200" marR="76200" anchor="ct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nSpc>
                          <a:spcPct val="115000"/>
                        </a:lnSpc>
                        <a:spcAft>
                          <a:spcPts val="0"/>
                        </a:spcAft>
                      </a:pPr>
                      <a:r>
                        <a:rPr lang="ru-RU" sz="2000">
                          <a:effectLst/>
                          <a:latin typeface="+mn-lt"/>
                        </a:rPr>
                        <a:t>Режим работы</a:t>
                      </a:r>
                      <a:endParaRPr lang="ru-RU" sz="2000">
                        <a:effectLst/>
                        <a:latin typeface="+mn-lt"/>
                        <a:ea typeface="Calibri"/>
                        <a:cs typeface="Times New Roman"/>
                      </a:endParaRPr>
                    </a:p>
                  </a:txBody>
                  <a:tcPr marL="76200" marR="76200" anchor="ctr"/>
                </a:tc>
              </a:tr>
              <a:tr h="0">
                <a:tc>
                  <a:txBody>
                    <a:bodyPr/>
                    <a:lstStyle/>
                    <a:p>
                      <a:pPr>
                        <a:lnSpc>
                          <a:spcPct val="115000"/>
                        </a:lnSpc>
                        <a:spcAft>
                          <a:spcPts val="0"/>
                        </a:spcAft>
                      </a:pPr>
                      <a:r>
                        <a:rPr lang="ru-RU" sz="2000" dirty="0">
                          <a:effectLst/>
                          <a:latin typeface="+mn-lt"/>
                        </a:rPr>
                        <a:t>-CS</a:t>
                      </a:r>
                      <a:endParaRPr lang="ru-RU" sz="2000" dirty="0">
                        <a:effectLst/>
                        <a:latin typeface="+mn-lt"/>
                        <a:ea typeface="Calibri"/>
                        <a:cs typeface="Times New Roman"/>
                      </a:endParaRPr>
                    </a:p>
                  </a:txBody>
                  <a:tcPr marL="76200" marR="76200" anchor="ctr"/>
                </a:tc>
                <a:tc>
                  <a:txBody>
                    <a:bodyPr/>
                    <a:lstStyle/>
                    <a:p>
                      <a:pPr>
                        <a:lnSpc>
                          <a:spcPct val="115000"/>
                        </a:lnSpc>
                        <a:spcAft>
                          <a:spcPts val="0"/>
                        </a:spcAft>
                      </a:pPr>
                      <a:r>
                        <a:rPr lang="ru-RU" sz="2000">
                          <a:effectLst/>
                          <a:latin typeface="+mn-lt"/>
                        </a:rPr>
                        <a:t>-WR</a:t>
                      </a:r>
                      <a:endParaRPr lang="ru-RU" sz="2000">
                        <a:effectLst/>
                        <a:latin typeface="+mn-lt"/>
                        <a:ea typeface="Calibri"/>
                        <a:cs typeface="Times New Roman"/>
                      </a:endParaRPr>
                    </a:p>
                  </a:txBody>
                  <a:tcPr marL="76200" marR="76200" anchor="ctr"/>
                </a:tc>
                <a:tc>
                  <a:txBody>
                    <a:bodyPr/>
                    <a:lstStyle/>
                    <a:p>
                      <a:pPr>
                        <a:lnSpc>
                          <a:spcPct val="115000"/>
                        </a:lnSpc>
                        <a:spcAft>
                          <a:spcPts val="0"/>
                        </a:spcAft>
                      </a:pPr>
                      <a:r>
                        <a:rPr lang="ru-RU" sz="2000">
                          <a:effectLst/>
                          <a:latin typeface="+mn-lt"/>
                        </a:rPr>
                        <a:t>A0 A9</a:t>
                      </a:r>
                      <a:endParaRPr lang="ru-RU" sz="2000">
                        <a:effectLst/>
                        <a:latin typeface="+mn-lt"/>
                        <a:ea typeface="Calibri"/>
                        <a:cs typeface="Times New Roman"/>
                      </a:endParaRPr>
                    </a:p>
                  </a:txBody>
                  <a:tcPr marL="76200" marR="76200" anchor="ctr"/>
                </a:tc>
                <a:tc>
                  <a:txBody>
                    <a:bodyPr/>
                    <a:lstStyle/>
                    <a:p>
                      <a:pPr>
                        <a:lnSpc>
                          <a:spcPct val="115000"/>
                        </a:lnSpc>
                        <a:spcAft>
                          <a:spcPts val="0"/>
                        </a:spcAft>
                      </a:pPr>
                      <a:r>
                        <a:rPr lang="ru-RU" sz="2000">
                          <a:effectLst/>
                          <a:latin typeface="+mn-lt"/>
                        </a:rPr>
                        <a:t>DI</a:t>
                      </a:r>
                      <a:endParaRPr lang="ru-RU" sz="2000">
                        <a:effectLst/>
                        <a:latin typeface="+mn-lt"/>
                        <a:ea typeface="Calibri"/>
                        <a:cs typeface="Times New Roman"/>
                      </a:endParaRPr>
                    </a:p>
                  </a:txBody>
                  <a:tcPr marL="76200" marR="76200" anchor="ctr"/>
                </a:tc>
                <a:tc>
                  <a:txBody>
                    <a:bodyPr/>
                    <a:lstStyle/>
                    <a:p>
                      <a:pPr>
                        <a:lnSpc>
                          <a:spcPct val="115000"/>
                        </a:lnSpc>
                        <a:spcAft>
                          <a:spcPts val="0"/>
                        </a:spcAft>
                      </a:pPr>
                      <a:r>
                        <a:rPr lang="ru-RU" sz="2000">
                          <a:effectLst/>
                          <a:latin typeface="+mn-lt"/>
                        </a:rPr>
                        <a:t>DO</a:t>
                      </a:r>
                      <a:endParaRPr lang="ru-RU" sz="2000">
                        <a:effectLst/>
                        <a:latin typeface="+mn-lt"/>
                        <a:ea typeface="Calibri"/>
                        <a:cs typeface="Times New Roman"/>
                      </a:endParaRPr>
                    </a:p>
                  </a:txBody>
                  <a:tcPr marL="76200" marR="76200" anchor="ctr"/>
                </a:tc>
                <a:tc>
                  <a:txBody>
                    <a:bodyPr/>
                    <a:lstStyle/>
                    <a:p>
                      <a:pPr>
                        <a:lnSpc>
                          <a:spcPct val="115000"/>
                        </a:lnSpc>
                      </a:pPr>
                      <a:endParaRPr lang="ru-RU" sz="2000">
                        <a:effectLst/>
                        <a:latin typeface="+mn-lt"/>
                        <a:cs typeface="Times New Roman"/>
                      </a:endParaRPr>
                    </a:p>
                  </a:txBody>
                  <a:tcPr marL="76200" marR="76200" anchor="ctr"/>
                </a:tc>
              </a:tr>
              <a:tr h="243205">
                <a:tc>
                  <a:txBody>
                    <a:bodyPr/>
                    <a:lstStyle/>
                    <a:p>
                      <a:pPr>
                        <a:lnSpc>
                          <a:spcPct val="115000"/>
                        </a:lnSpc>
                        <a:spcAft>
                          <a:spcPts val="0"/>
                        </a:spcAft>
                      </a:pPr>
                      <a:r>
                        <a:rPr lang="ru-RU" sz="2000" dirty="0">
                          <a:effectLst/>
                          <a:latin typeface="+mn-lt"/>
                        </a:rPr>
                        <a:t>1</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Х</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Х</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Х</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3С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Хранение</a:t>
                      </a:r>
                      <a:endParaRPr lang="ru-RU" sz="2000">
                        <a:effectLst/>
                        <a:latin typeface="+mn-lt"/>
                        <a:ea typeface="Calibri"/>
                        <a:cs typeface="Times New Roman"/>
                      </a:endParaRPr>
                    </a:p>
                  </a:txBody>
                  <a:tcPr marL="76200" marR="76200"/>
                </a:tc>
              </a:tr>
              <a:tr h="0">
                <a:tc>
                  <a:txBody>
                    <a:bodyPr/>
                    <a:lstStyle/>
                    <a:p>
                      <a:pPr>
                        <a:lnSpc>
                          <a:spcPct val="115000"/>
                        </a:lnSpc>
                        <a:spcAft>
                          <a:spcPts val="0"/>
                        </a:spcAft>
                      </a:pPr>
                      <a:r>
                        <a:rPr lang="ru-RU" sz="2000">
                          <a:effectLst/>
                          <a:latin typeface="+mn-lt"/>
                        </a:rPr>
                        <a:t>0</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0</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Адрес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0</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3С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Запись 0</a:t>
                      </a:r>
                      <a:endParaRPr lang="ru-RU" sz="2000">
                        <a:effectLst/>
                        <a:latin typeface="+mn-lt"/>
                        <a:ea typeface="Calibri"/>
                        <a:cs typeface="Times New Roman"/>
                      </a:endParaRPr>
                    </a:p>
                  </a:txBody>
                  <a:tcPr marL="76200" marR="76200"/>
                </a:tc>
              </a:tr>
              <a:tr h="0">
                <a:tc>
                  <a:txBody>
                    <a:bodyPr/>
                    <a:lstStyle/>
                    <a:p>
                      <a:pPr>
                        <a:lnSpc>
                          <a:spcPct val="115000"/>
                        </a:lnSpc>
                        <a:spcAft>
                          <a:spcPts val="0"/>
                        </a:spcAft>
                      </a:pPr>
                      <a:r>
                        <a:rPr lang="ru-RU" sz="2000">
                          <a:effectLst/>
                          <a:latin typeface="+mn-lt"/>
                        </a:rPr>
                        <a:t>0</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0</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Адрес</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1</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3С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Запись 1</a:t>
                      </a:r>
                      <a:endParaRPr lang="ru-RU" sz="2000">
                        <a:effectLst/>
                        <a:latin typeface="+mn-lt"/>
                        <a:ea typeface="Calibri"/>
                        <a:cs typeface="Times New Roman"/>
                      </a:endParaRPr>
                    </a:p>
                  </a:txBody>
                  <a:tcPr marL="76200" marR="76200"/>
                </a:tc>
              </a:tr>
              <a:tr h="394335">
                <a:tc>
                  <a:txBody>
                    <a:bodyPr/>
                    <a:lstStyle/>
                    <a:p>
                      <a:pPr>
                        <a:lnSpc>
                          <a:spcPct val="115000"/>
                        </a:lnSpc>
                        <a:spcAft>
                          <a:spcPts val="0"/>
                        </a:spcAft>
                      </a:pPr>
                      <a:r>
                        <a:rPr lang="ru-RU" sz="2000">
                          <a:effectLst/>
                          <a:latin typeface="+mn-lt"/>
                        </a:rPr>
                        <a:t>0</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1</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Адрес</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Х</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Данные</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Чтение</a:t>
                      </a:r>
                      <a:endParaRPr lang="ru-RU" sz="2000" dirty="0">
                        <a:effectLst/>
                        <a:latin typeface="+mn-lt"/>
                        <a:ea typeface="Calibri"/>
                        <a:cs typeface="Times New Roman"/>
                      </a:endParaRPr>
                    </a:p>
                  </a:txBody>
                  <a:tcPr marL="76200" marR="76200"/>
                </a:tc>
              </a:tr>
            </a:tbl>
          </a:graphicData>
        </a:graphic>
      </p:graphicFrame>
      <p:pic>
        <p:nvPicPr>
          <p:cNvPr id="30721" name="Рисунок 2" descr="\do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88" y="2981325"/>
            <a:ext cx="276225" cy="38100"/>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331640" y="332656"/>
            <a:ext cx="6128152" cy="369332"/>
          </a:xfrm>
          <a:prstGeom prst="rect">
            <a:avLst/>
          </a:prstGeom>
        </p:spPr>
        <p:txBody>
          <a:bodyPr wrap="none">
            <a:spAutoFit/>
          </a:bodyPr>
          <a:lstStyle/>
          <a:p>
            <a:r>
              <a:rPr lang="ru-RU" b="1" dirty="0">
                <a:solidFill>
                  <a:srgbClr val="FF0000"/>
                </a:solidFill>
              </a:rPr>
              <a:t>Режимы работы оперативной </a:t>
            </a:r>
            <a:r>
              <a:rPr lang="ru-RU" b="1" dirty="0" smtClean="0">
                <a:solidFill>
                  <a:srgbClr val="FF0000"/>
                </a:solidFill>
              </a:rPr>
              <a:t>памяти на примере К155РУ7</a:t>
            </a:r>
            <a:endParaRPr lang="ru-RU" b="1" dirty="0">
              <a:solidFill>
                <a:srgbClr val="FF0000"/>
              </a:solidFill>
            </a:endParaRPr>
          </a:p>
        </p:txBody>
      </p:sp>
      <p:graphicFrame>
        <p:nvGraphicFramePr>
          <p:cNvPr id="6" name="Таблица 5"/>
          <p:cNvGraphicFramePr>
            <a:graphicFrameLocks noGrp="1"/>
          </p:cNvGraphicFramePr>
          <p:nvPr>
            <p:extLst>
              <p:ext uri="{D42A27DB-BD31-4B8C-83A1-F6EECF244321}">
                <p14:modId xmlns:p14="http://schemas.microsoft.com/office/powerpoint/2010/main" val="1220408590"/>
              </p:ext>
            </p:extLst>
          </p:nvPr>
        </p:nvGraphicFramePr>
        <p:xfrm>
          <a:off x="457200" y="3654316"/>
          <a:ext cx="8229600" cy="3002280"/>
        </p:xfrm>
        <a:graphic>
          <a:graphicData uri="http://schemas.openxmlformats.org/drawingml/2006/table">
            <a:tbl>
              <a:tblPr firstRow="1" firstCol="1" bandRow="1">
                <a:tableStyleId>{5C22544A-7EE6-4342-B048-85BDC9FD1C3A}</a:tableStyleId>
              </a:tblPr>
              <a:tblGrid>
                <a:gridCol w="1645920"/>
                <a:gridCol w="1645920"/>
                <a:gridCol w="1645920"/>
                <a:gridCol w="1645920"/>
                <a:gridCol w="1645920"/>
              </a:tblGrid>
              <a:tr h="0">
                <a:tc gridSpan="4">
                  <a:txBody>
                    <a:bodyPr/>
                    <a:lstStyle/>
                    <a:p>
                      <a:pPr>
                        <a:lnSpc>
                          <a:spcPct val="115000"/>
                        </a:lnSpc>
                        <a:spcAft>
                          <a:spcPts val="0"/>
                        </a:spcAft>
                      </a:pPr>
                      <a:r>
                        <a:rPr lang="ru-RU" sz="2000" dirty="0">
                          <a:effectLst/>
                          <a:latin typeface="+mn-lt"/>
                        </a:rPr>
                        <a:t>Входы и выходы</a:t>
                      </a:r>
                      <a:endParaRPr lang="ru-RU" sz="2000" dirty="0">
                        <a:effectLst/>
                        <a:latin typeface="+mn-lt"/>
                        <a:ea typeface="Calibri"/>
                        <a:cs typeface="Times New Roman"/>
                      </a:endParaRPr>
                    </a:p>
                  </a:txBody>
                  <a:tcPr marL="76200" marR="76200" anchor="ct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nSpc>
                          <a:spcPct val="115000"/>
                        </a:lnSpc>
                        <a:spcAft>
                          <a:spcPts val="0"/>
                        </a:spcAft>
                      </a:pPr>
                      <a:r>
                        <a:rPr lang="ru-RU" sz="2000">
                          <a:effectLst/>
                          <a:latin typeface="+mn-lt"/>
                        </a:rPr>
                        <a:t>Режим работы</a:t>
                      </a:r>
                      <a:endParaRPr lang="ru-RU" sz="2000">
                        <a:effectLst/>
                        <a:latin typeface="+mn-lt"/>
                        <a:ea typeface="Calibri"/>
                        <a:cs typeface="Times New Roman"/>
                      </a:endParaRPr>
                    </a:p>
                  </a:txBody>
                  <a:tcPr marL="76200" marR="76200" anchor="ctr"/>
                </a:tc>
              </a:tr>
              <a:tr h="0">
                <a:tc>
                  <a:txBody>
                    <a:bodyPr/>
                    <a:lstStyle/>
                    <a:p>
                      <a:pPr>
                        <a:lnSpc>
                          <a:spcPct val="115000"/>
                        </a:lnSpc>
                        <a:spcAft>
                          <a:spcPts val="0"/>
                        </a:spcAft>
                      </a:pPr>
                      <a:r>
                        <a:rPr lang="ru-RU" sz="2000" dirty="0">
                          <a:effectLst/>
                          <a:latin typeface="+mn-lt"/>
                        </a:rPr>
                        <a:t>-CS</a:t>
                      </a:r>
                      <a:endParaRPr lang="ru-RU" sz="2000" dirty="0">
                        <a:effectLst/>
                        <a:latin typeface="+mn-lt"/>
                        <a:ea typeface="Calibri"/>
                        <a:cs typeface="Times New Roman"/>
                      </a:endParaRPr>
                    </a:p>
                  </a:txBody>
                  <a:tcPr marL="76200" marR="76200" anchor="ctr"/>
                </a:tc>
                <a:tc>
                  <a:txBody>
                    <a:bodyPr/>
                    <a:lstStyle/>
                    <a:p>
                      <a:pPr>
                        <a:lnSpc>
                          <a:spcPct val="115000"/>
                        </a:lnSpc>
                        <a:spcAft>
                          <a:spcPts val="0"/>
                        </a:spcAft>
                      </a:pPr>
                      <a:r>
                        <a:rPr lang="ru-RU" sz="2000">
                          <a:effectLst/>
                          <a:latin typeface="+mn-lt"/>
                        </a:rPr>
                        <a:t>-WR</a:t>
                      </a:r>
                      <a:endParaRPr lang="ru-RU" sz="2000">
                        <a:effectLst/>
                        <a:latin typeface="+mn-lt"/>
                        <a:ea typeface="Calibri"/>
                        <a:cs typeface="Times New Roman"/>
                      </a:endParaRPr>
                    </a:p>
                  </a:txBody>
                  <a:tcPr marL="76200" marR="76200" anchor="ctr"/>
                </a:tc>
                <a:tc>
                  <a:txBody>
                    <a:bodyPr/>
                    <a:lstStyle/>
                    <a:p>
                      <a:pPr>
                        <a:lnSpc>
                          <a:spcPct val="115000"/>
                        </a:lnSpc>
                        <a:spcAft>
                          <a:spcPts val="0"/>
                        </a:spcAft>
                      </a:pPr>
                      <a:r>
                        <a:rPr lang="ru-RU" sz="2000">
                          <a:effectLst/>
                          <a:latin typeface="+mn-lt"/>
                        </a:rPr>
                        <a:t>A0 A9</a:t>
                      </a:r>
                      <a:endParaRPr lang="ru-RU" sz="2000">
                        <a:effectLst/>
                        <a:latin typeface="+mn-lt"/>
                        <a:ea typeface="Calibri"/>
                        <a:cs typeface="Times New Roman"/>
                      </a:endParaRPr>
                    </a:p>
                  </a:txBody>
                  <a:tcPr marL="76200" marR="76200" anchor="ctr"/>
                </a:tc>
                <a:tc>
                  <a:txBody>
                    <a:bodyPr/>
                    <a:lstStyle/>
                    <a:p>
                      <a:pPr>
                        <a:lnSpc>
                          <a:spcPct val="115000"/>
                        </a:lnSpc>
                        <a:spcAft>
                          <a:spcPts val="0"/>
                        </a:spcAft>
                      </a:pPr>
                      <a:r>
                        <a:rPr lang="ru-RU" sz="2000">
                          <a:effectLst/>
                          <a:latin typeface="+mn-lt"/>
                        </a:rPr>
                        <a:t>DIO0 DIO3</a:t>
                      </a:r>
                      <a:endParaRPr lang="ru-RU" sz="2000">
                        <a:effectLst/>
                        <a:latin typeface="+mn-lt"/>
                        <a:ea typeface="Calibri"/>
                        <a:cs typeface="Times New Roman"/>
                      </a:endParaRPr>
                    </a:p>
                  </a:txBody>
                  <a:tcPr marL="76200" marR="76200" anchor="ctr"/>
                </a:tc>
                <a:tc>
                  <a:txBody>
                    <a:bodyPr/>
                    <a:lstStyle/>
                    <a:p>
                      <a:pPr>
                        <a:lnSpc>
                          <a:spcPct val="115000"/>
                        </a:lnSpc>
                      </a:pPr>
                      <a:endParaRPr lang="ru-RU" sz="2000">
                        <a:effectLst/>
                        <a:latin typeface="+mn-lt"/>
                        <a:cs typeface="Times New Roman"/>
                      </a:endParaRPr>
                    </a:p>
                  </a:txBody>
                  <a:tcPr marL="76200" marR="76200" anchor="ctr"/>
                </a:tc>
              </a:tr>
              <a:tr h="0">
                <a:tc>
                  <a:txBody>
                    <a:bodyPr/>
                    <a:lstStyle/>
                    <a:p>
                      <a:pPr>
                        <a:lnSpc>
                          <a:spcPct val="115000"/>
                        </a:lnSpc>
                        <a:spcAft>
                          <a:spcPts val="0"/>
                        </a:spcAft>
                      </a:pPr>
                      <a:r>
                        <a:rPr lang="ru-RU" sz="2000" dirty="0">
                          <a:effectLst/>
                          <a:latin typeface="+mn-lt"/>
                        </a:rPr>
                        <a:t>1</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Х</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Х</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3С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Хранение</a:t>
                      </a:r>
                      <a:endParaRPr lang="ru-RU" sz="2000">
                        <a:effectLst/>
                        <a:latin typeface="+mn-lt"/>
                        <a:ea typeface="Calibri"/>
                        <a:cs typeface="Times New Roman"/>
                      </a:endParaRPr>
                    </a:p>
                  </a:txBody>
                  <a:tcPr marL="76200" marR="76200"/>
                </a:tc>
              </a:tr>
              <a:tr h="0">
                <a:tc>
                  <a:txBody>
                    <a:bodyPr/>
                    <a:lstStyle/>
                    <a:p>
                      <a:pPr>
                        <a:lnSpc>
                          <a:spcPct val="115000"/>
                        </a:lnSpc>
                        <a:spcAft>
                          <a:spcPts val="0"/>
                        </a:spcAft>
                      </a:pPr>
                      <a:r>
                        <a:rPr lang="ru-RU" sz="2000" dirty="0">
                          <a:effectLst/>
                          <a:latin typeface="+mn-lt"/>
                        </a:rPr>
                        <a:t>0</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0</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Адрес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3С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Запись 0</a:t>
                      </a:r>
                      <a:endParaRPr lang="ru-RU" sz="2000">
                        <a:effectLst/>
                        <a:latin typeface="+mn-lt"/>
                        <a:ea typeface="Calibri"/>
                        <a:cs typeface="Times New Roman"/>
                      </a:endParaRPr>
                    </a:p>
                  </a:txBody>
                  <a:tcPr marL="76200" marR="76200"/>
                </a:tc>
              </a:tr>
              <a:tr h="0">
                <a:tc>
                  <a:txBody>
                    <a:bodyPr/>
                    <a:lstStyle/>
                    <a:p>
                      <a:pPr>
                        <a:lnSpc>
                          <a:spcPct val="115000"/>
                        </a:lnSpc>
                        <a:spcAft>
                          <a:spcPts val="0"/>
                        </a:spcAft>
                      </a:pPr>
                      <a:r>
                        <a:rPr lang="ru-RU" sz="2000" dirty="0">
                          <a:effectLst/>
                          <a:latin typeface="+mn-lt"/>
                        </a:rPr>
                        <a:t>0</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0</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Адрес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3С</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a:effectLst/>
                          <a:latin typeface="+mn-lt"/>
                        </a:rPr>
                        <a:t>Запись 1</a:t>
                      </a:r>
                      <a:endParaRPr lang="ru-RU" sz="2000">
                        <a:effectLst/>
                        <a:latin typeface="+mn-lt"/>
                        <a:ea typeface="Calibri"/>
                        <a:cs typeface="Times New Roman"/>
                      </a:endParaRPr>
                    </a:p>
                  </a:txBody>
                  <a:tcPr marL="76200" marR="76200"/>
                </a:tc>
              </a:tr>
              <a:tr h="0">
                <a:tc>
                  <a:txBody>
                    <a:bodyPr/>
                    <a:lstStyle/>
                    <a:p>
                      <a:pPr>
                        <a:lnSpc>
                          <a:spcPct val="115000"/>
                        </a:lnSpc>
                        <a:spcAft>
                          <a:spcPts val="0"/>
                        </a:spcAft>
                      </a:pPr>
                      <a:r>
                        <a:rPr lang="ru-RU" sz="2000">
                          <a:effectLst/>
                          <a:latin typeface="+mn-lt"/>
                        </a:rPr>
                        <a:t>0</a:t>
                      </a:r>
                      <a:endParaRPr lang="ru-RU" sz="200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1</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Адрес</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Данные</a:t>
                      </a:r>
                      <a:endParaRPr lang="ru-RU" sz="2000" dirty="0">
                        <a:effectLst/>
                        <a:latin typeface="+mn-lt"/>
                        <a:ea typeface="Calibri"/>
                        <a:cs typeface="Times New Roman"/>
                      </a:endParaRPr>
                    </a:p>
                  </a:txBody>
                  <a:tcPr marL="76200" marR="76200"/>
                </a:tc>
                <a:tc>
                  <a:txBody>
                    <a:bodyPr/>
                    <a:lstStyle/>
                    <a:p>
                      <a:pPr>
                        <a:lnSpc>
                          <a:spcPct val="115000"/>
                        </a:lnSpc>
                        <a:spcAft>
                          <a:spcPts val="0"/>
                        </a:spcAft>
                      </a:pPr>
                      <a:r>
                        <a:rPr lang="ru-RU" sz="2000" dirty="0">
                          <a:effectLst/>
                          <a:latin typeface="+mn-lt"/>
                        </a:rPr>
                        <a:t>Чтение</a:t>
                      </a:r>
                      <a:endParaRPr lang="ru-RU" sz="2000" dirty="0">
                        <a:effectLst/>
                        <a:latin typeface="+mn-lt"/>
                        <a:ea typeface="Calibri"/>
                        <a:cs typeface="Times New Roman"/>
                      </a:endParaRPr>
                    </a:p>
                  </a:txBody>
                  <a:tcPr marL="76200" marR="76200"/>
                </a:tc>
              </a:tr>
            </a:tbl>
          </a:graphicData>
        </a:graphic>
      </p:graphicFrame>
      <p:pic>
        <p:nvPicPr>
          <p:cNvPr id="30723" name="Рисунок 4" descr="\do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57513"/>
            <a:ext cx="276225" cy="38100"/>
          </a:xfrm>
          <a:prstGeom prst="rect">
            <a:avLst/>
          </a:prstGeom>
          <a:noFill/>
          <a:extLst>
            <a:ext uri="{909E8E84-426E-40DD-AFC4-6F175D3DCCD1}">
              <a14:hiddenFill xmlns:a14="http://schemas.microsoft.com/office/drawing/2010/main">
                <a:solidFill>
                  <a:srgbClr val="FFFFFF"/>
                </a:solidFill>
              </a14:hiddenFill>
            </a:ext>
          </a:extLst>
        </p:spPr>
      </p:pic>
      <p:pic>
        <p:nvPicPr>
          <p:cNvPr id="30722" name="Рисунок 3" descr="\do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57513"/>
            <a:ext cx="276225" cy="38100"/>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1187624" y="3284984"/>
            <a:ext cx="7632847" cy="369332"/>
          </a:xfrm>
          <a:prstGeom prst="rect">
            <a:avLst/>
          </a:prstGeom>
        </p:spPr>
        <p:txBody>
          <a:bodyPr wrap="square">
            <a:spAutoFit/>
          </a:bodyPr>
          <a:lstStyle/>
          <a:p>
            <a:r>
              <a:rPr lang="ru-RU" b="1" dirty="0">
                <a:solidFill>
                  <a:srgbClr val="FF0000"/>
                </a:solidFill>
              </a:rPr>
              <a:t>Режимы работы оперативной памяти на примере КР541РУ2</a:t>
            </a:r>
          </a:p>
        </p:txBody>
      </p:sp>
    </p:spTree>
    <p:extLst>
      <p:ext uri="{BB962C8B-B14F-4D97-AF65-F5344CB8AC3E}">
        <p14:creationId xmlns:p14="http://schemas.microsoft.com/office/powerpoint/2010/main" val="37921512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402" y="188640"/>
            <a:ext cx="9001000" cy="5940088"/>
          </a:xfrm>
          <a:prstGeom prst="rect">
            <a:avLst/>
          </a:prstGeom>
        </p:spPr>
        <p:txBody>
          <a:bodyPr wrap="square">
            <a:spAutoFit/>
          </a:bodyPr>
          <a:lstStyle/>
          <a:p>
            <a:pPr fontAlgn="t"/>
            <a:r>
              <a:rPr lang="ru-RU" sz="2000" b="1" dirty="0"/>
              <a:t>Таблицы режимов работы </a:t>
            </a:r>
            <a:r>
              <a:rPr lang="ru-RU" sz="2000" dirty="0"/>
              <a:t>(таблицы истинности) микросхем памяти не дают достаточно информации для их практического использования. </a:t>
            </a:r>
            <a:endParaRPr lang="ru-RU" sz="2000" dirty="0" smtClean="0"/>
          </a:p>
          <a:p>
            <a:pPr fontAlgn="t"/>
            <a:endParaRPr lang="ru-RU" sz="2000" dirty="0"/>
          </a:p>
          <a:p>
            <a:pPr fontAlgn="t"/>
            <a:r>
              <a:rPr lang="ru-RU" sz="2000" dirty="0" smtClean="0"/>
              <a:t>Для </a:t>
            </a:r>
            <a:r>
              <a:rPr lang="ru-RU" sz="2000" dirty="0"/>
              <a:t>микросхем памяти очень важны </a:t>
            </a:r>
            <a:r>
              <a:rPr lang="ru-RU" sz="2000" b="1" dirty="0"/>
              <a:t>временные параметры </a:t>
            </a:r>
            <a:r>
              <a:rPr lang="ru-RU" sz="2000" dirty="0"/>
              <a:t>(задержки сигналов относительно друг друга) и </a:t>
            </a:r>
            <a:r>
              <a:rPr lang="ru-RU" sz="2000" b="1" dirty="0"/>
              <a:t>порядок выставления и снятия сигналов </a:t>
            </a:r>
            <a:r>
              <a:rPr lang="ru-RU" sz="2000" dirty="0"/>
              <a:t>адреса, данных и управления. </a:t>
            </a:r>
            <a:endParaRPr lang="ru-RU" sz="2000" dirty="0" smtClean="0"/>
          </a:p>
          <a:p>
            <a:pPr fontAlgn="t"/>
            <a:endParaRPr lang="ru-RU" sz="2000" dirty="0"/>
          </a:p>
          <a:p>
            <a:pPr fontAlgn="t"/>
            <a:r>
              <a:rPr lang="ru-RU" sz="2000" dirty="0" smtClean="0"/>
              <a:t>Всю </a:t>
            </a:r>
            <a:r>
              <a:rPr lang="ru-RU" sz="2000" dirty="0"/>
              <a:t>эту информацию дают временные диаграммы циклов записи в память и чтения (считывания) из памяти, приводимые в справочниках. </a:t>
            </a:r>
            <a:r>
              <a:rPr lang="ru-RU" sz="2000" dirty="0" smtClean="0"/>
              <a:t>Основные временные </a:t>
            </a:r>
            <a:r>
              <a:rPr lang="ru-RU" sz="2000" dirty="0"/>
              <a:t>параметры оперативной памяти </a:t>
            </a:r>
            <a:r>
              <a:rPr lang="ru-RU" sz="2000" dirty="0" smtClean="0"/>
              <a:t>:</a:t>
            </a:r>
            <a:endParaRPr lang="ru-RU" sz="2000" dirty="0"/>
          </a:p>
          <a:p>
            <a:pPr marL="342900" lvl="0" indent="-342900" fontAlgn="t">
              <a:buFont typeface="Arial" panose="020B0604020202020204" pitchFamily="34" charset="0"/>
              <a:buChar char="•"/>
            </a:pPr>
            <a:r>
              <a:rPr lang="ru-RU" sz="2000" dirty="0"/>
              <a:t>время выборки адреса (задержка между изменением адреса и выдачей данных);</a:t>
            </a:r>
          </a:p>
          <a:p>
            <a:pPr marL="342900" lvl="0" indent="-342900" fontAlgn="t">
              <a:buFont typeface="Arial" panose="020B0604020202020204" pitchFamily="34" charset="0"/>
              <a:buChar char="•"/>
            </a:pPr>
            <a:r>
              <a:rPr lang="ru-RU" sz="2000" dirty="0"/>
              <a:t>время выборки микросхемы (задержка выдачи данных по выставлению сигнала -CS);</a:t>
            </a:r>
          </a:p>
          <a:p>
            <a:pPr marL="342900" lvl="0" indent="-342900" fontAlgn="t">
              <a:buFont typeface="Arial" panose="020B0604020202020204" pitchFamily="34" charset="0"/>
              <a:buChar char="•"/>
            </a:pPr>
            <a:r>
              <a:rPr lang="ru-RU" sz="2000" dirty="0"/>
              <a:t>минимальная длительность сигнала записи -WR;</a:t>
            </a:r>
          </a:p>
          <a:p>
            <a:pPr marL="342900" lvl="0" indent="-342900" fontAlgn="t">
              <a:buFont typeface="Arial" panose="020B0604020202020204" pitchFamily="34" charset="0"/>
              <a:buChar char="•"/>
            </a:pPr>
            <a:r>
              <a:rPr lang="ru-RU" sz="2000" dirty="0"/>
              <a:t>минимальная длительность сигнала -CS.</a:t>
            </a:r>
          </a:p>
          <a:p>
            <a:pPr fontAlgn="t"/>
            <a:endParaRPr lang="ru-RU" sz="2000" dirty="0" smtClean="0"/>
          </a:p>
          <a:p>
            <a:pPr fontAlgn="t"/>
            <a:r>
              <a:rPr lang="ru-RU" sz="2000" dirty="0" smtClean="0"/>
              <a:t>Характерные </a:t>
            </a:r>
            <a:r>
              <a:rPr lang="ru-RU" sz="2000" dirty="0"/>
              <a:t>величины всех временных параметров памяти составляет от </a:t>
            </a:r>
            <a:r>
              <a:rPr lang="ru-RU" sz="2000" dirty="0" smtClean="0"/>
              <a:t>долей </a:t>
            </a:r>
            <a:r>
              <a:rPr lang="ru-RU" sz="2000" dirty="0"/>
              <a:t>наносекунд </a:t>
            </a:r>
            <a:r>
              <a:rPr lang="ru-RU" sz="2000" dirty="0" smtClean="0"/>
              <a:t> до </a:t>
            </a:r>
            <a:r>
              <a:rPr lang="ru-RU" sz="2000" dirty="0"/>
              <a:t>десятков наносекунд.</a:t>
            </a:r>
          </a:p>
        </p:txBody>
      </p:sp>
    </p:spTree>
    <p:extLst>
      <p:ext uri="{BB962C8B-B14F-4D97-AF65-F5344CB8AC3E}">
        <p14:creationId xmlns:p14="http://schemas.microsoft.com/office/powerpoint/2010/main" val="41818999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Типичные временные диаграммы записи в память (а) и чтения из памяти (б)"/>
          <p:cNvPicPr/>
          <p:nvPr/>
        </p:nvPicPr>
        <p:blipFill>
          <a:blip r:embed="rId2">
            <a:extLst>
              <a:ext uri="{28A0092B-C50C-407E-A947-70E740481C1C}">
                <a14:useLocalDpi xmlns:a14="http://schemas.microsoft.com/office/drawing/2010/main" val="0"/>
              </a:ext>
            </a:extLst>
          </a:blip>
          <a:srcRect/>
          <a:stretch>
            <a:fillRect/>
          </a:stretch>
        </p:blipFill>
        <p:spPr bwMode="auto">
          <a:xfrm>
            <a:off x="1259632" y="557972"/>
            <a:ext cx="6312733" cy="2991644"/>
          </a:xfrm>
          <a:prstGeom prst="rect">
            <a:avLst/>
          </a:prstGeom>
          <a:noFill/>
          <a:ln>
            <a:noFill/>
          </a:ln>
        </p:spPr>
      </p:pic>
      <p:sp>
        <p:nvSpPr>
          <p:cNvPr id="5" name="Прямоугольник 4"/>
          <p:cNvSpPr/>
          <p:nvPr/>
        </p:nvSpPr>
        <p:spPr>
          <a:xfrm>
            <a:off x="683568" y="188640"/>
            <a:ext cx="8136904" cy="369332"/>
          </a:xfrm>
          <a:prstGeom prst="rect">
            <a:avLst/>
          </a:prstGeom>
        </p:spPr>
        <p:txBody>
          <a:bodyPr wrap="square">
            <a:spAutoFit/>
          </a:bodyPr>
          <a:lstStyle/>
          <a:p>
            <a:r>
              <a:rPr lang="ru-RU" b="1" dirty="0">
                <a:solidFill>
                  <a:srgbClr val="FF0000"/>
                </a:solidFill>
              </a:rPr>
              <a:t>Типичные временные диаграммы записи в память (а) и чтения из памяти (б)</a:t>
            </a:r>
          </a:p>
        </p:txBody>
      </p:sp>
      <p:sp>
        <p:nvSpPr>
          <p:cNvPr id="6" name="Прямоугольник 5"/>
          <p:cNvSpPr/>
          <p:nvPr/>
        </p:nvSpPr>
        <p:spPr>
          <a:xfrm>
            <a:off x="0" y="3549616"/>
            <a:ext cx="9036496" cy="3416320"/>
          </a:xfrm>
          <a:prstGeom prst="rect">
            <a:avLst/>
          </a:prstGeom>
        </p:spPr>
        <p:txBody>
          <a:bodyPr wrap="square">
            <a:spAutoFit/>
          </a:bodyPr>
          <a:lstStyle/>
          <a:p>
            <a:pPr fontAlgn="t"/>
            <a:r>
              <a:rPr lang="ru-RU" b="1" dirty="0"/>
              <a:t>Для записи </a:t>
            </a:r>
            <a:r>
              <a:rPr lang="ru-RU" dirty="0"/>
              <a:t>информации в память надо выставить </a:t>
            </a:r>
            <a:r>
              <a:rPr lang="ru-RU" dirty="0">
                <a:solidFill>
                  <a:srgbClr val="FF0000"/>
                </a:solidFill>
              </a:rPr>
              <a:t>код адреса </a:t>
            </a:r>
            <a:r>
              <a:rPr lang="ru-RU" dirty="0"/>
              <a:t>на адресных входах, выставить код записываемых в этот адрес данных на входах данных, подать сигнал записи –WR и подать сигнал выбора микросхемы –CS. Порядок выставления сигналов </a:t>
            </a:r>
            <a:r>
              <a:rPr lang="ru-RU" dirty="0" smtClean="0"/>
              <a:t>      –</a:t>
            </a:r>
            <a:r>
              <a:rPr lang="ru-RU" dirty="0"/>
              <a:t>WR </a:t>
            </a:r>
            <a:r>
              <a:rPr lang="ru-RU" dirty="0" smtClean="0"/>
              <a:t> и –CS бывает </a:t>
            </a:r>
            <a:r>
              <a:rPr lang="ru-RU" dirty="0"/>
              <a:t>различным, он может быть существенным или несущественным </a:t>
            </a:r>
            <a:r>
              <a:rPr lang="ru-RU" dirty="0" smtClean="0"/>
              <a:t>. Собственно </a:t>
            </a:r>
            <a:r>
              <a:rPr lang="ru-RU" dirty="0"/>
              <a:t>запись обычно производится сигналом -WR или –CS, причем данные должны удерживаться в течение всего сигнала –WR (или –CS) и заданное время после его окончания.</a:t>
            </a:r>
          </a:p>
          <a:p>
            <a:pPr fontAlgn="t"/>
            <a:r>
              <a:rPr lang="ru-RU" dirty="0"/>
              <a:t>Сигнал –CS у некоторых микросхем памяти допускается держать активным (нулевым) для всех записываемых адресов и при этом подавать импульсы –WR для каждого адреса. Точно так же у некоторых микросхем допускается держать активным (нулевым) сигнал записи -WR, но при этом подавать импульсы –CS</a:t>
            </a:r>
            <a:r>
              <a:rPr lang="ru-RU" dirty="0" smtClean="0"/>
              <a:t>.</a:t>
            </a:r>
          </a:p>
          <a:p>
            <a:pPr fontAlgn="t"/>
            <a:endParaRPr lang="ru-RU" dirty="0"/>
          </a:p>
        </p:txBody>
      </p:sp>
    </p:spTree>
    <p:extLst>
      <p:ext uri="{BB962C8B-B14F-4D97-AF65-F5344CB8AC3E}">
        <p14:creationId xmlns:p14="http://schemas.microsoft.com/office/powerpoint/2010/main" val="34093468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4058" y="1844824"/>
            <a:ext cx="8856984" cy="3170099"/>
          </a:xfrm>
          <a:prstGeom prst="rect">
            <a:avLst/>
          </a:prstGeom>
        </p:spPr>
        <p:txBody>
          <a:bodyPr wrap="square">
            <a:spAutoFit/>
          </a:bodyPr>
          <a:lstStyle/>
          <a:p>
            <a:pPr fontAlgn="t"/>
            <a:r>
              <a:rPr lang="ru-RU" sz="2000" b="1" dirty="0" smtClean="0"/>
              <a:t>Для </a:t>
            </a:r>
            <a:r>
              <a:rPr lang="ru-RU" sz="2000" b="1" dirty="0"/>
              <a:t>чтения </a:t>
            </a:r>
            <a:r>
              <a:rPr lang="ru-RU" sz="2000" dirty="0"/>
              <a:t>информации из памяти надо выставить код адреса читаемой ячейки и подать сигналы –CS и –OE (если он имеется). Сигнал -WR в процессе чтения должен оставаться пассивным (равным единице). В некоторых микросхемах памяти (называемых </a:t>
            </a:r>
            <a:r>
              <a:rPr lang="ru-RU" sz="2000" b="1" dirty="0" err="1" smtClean="0"/>
              <a:t>нетактируемыми</a:t>
            </a:r>
            <a:r>
              <a:rPr lang="ru-RU" sz="2000" dirty="0" smtClean="0"/>
              <a:t>) </a:t>
            </a:r>
            <a:r>
              <a:rPr lang="ru-RU" sz="2000" dirty="0"/>
              <a:t>можно держать активным (нулевым) сигнал –CS для всех читаемых адресов. </a:t>
            </a:r>
            <a:endParaRPr lang="ru-RU" sz="2000" dirty="0" smtClean="0"/>
          </a:p>
          <a:p>
            <a:pPr fontAlgn="t"/>
            <a:endParaRPr lang="ru-RU" sz="2000" dirty="0" smtClean="0"/>
          </a:p>
          <a:p>
            <a:pPr fontAlgn="t"/>
            <a:r>
              <a:rPr lang="ru-RU" sz="2000" dirty="0" smtClean="0"/>
              <a:t>В </a:t>
            </a:r>
            <a:r>
              <a:rPr lang="ru-RU" sz="2000" dirty="0"/>
              <a:t>других микросхемах (называемых </a:t>
            </a:r>
            <a:r>
              <a:rPr lang="ru-RU" sz="2000" b="1" dirty="0" smtClean="0"/>
              <a:t>тактируемыми)</a:t>
            </a:r>
            <a:r>
              <a:rPr lang="ru-RU" sz="2000" dirty="0" smtClean="0"/>
              <a:t> </a:t>
            </a:r>
            <a:r>
              <a:rPr lang="ru-RU" sz="2000" dirty="0"/>
              <a:t>необходимо подавать свой импульс –CS для каждого читаемого адреса. </a:t>
            </a:r>
            <a:endParaRPr lang="ru-RU" sz="2000" dirty="0" smtClean="0"/>
          </a:p>
          <a:p>
            <a:pPr fontAlgn="t"/>
            <a:endParaRPr lang="ru-RU" sz="2000" dirty="0"/>
          </a:p>
          <a:p>
            <a:pPr fontAlgn="t"/>
            <a:r>
              <a:rPr lang="ru-RU" sz="2000" dirty="0" err="1" smtClean="0"/>
              <a:t>Нетактируемые</a:t>
            </a:r>
            <a:r>
              <a:rPr lang="ru-RU" sz="2000" dirty="0" smtClean="0"/>
              <a:t> </a:t>
            </a:r>
            <a:r>
              <a:rPr lang="ru-RU" sz="2000" dirty="0"/>
              <a:t>микросхемы гораздо удобнее в применении, чем тактируемые.</a:t>
            </a:r>
          </a:p>
        </p:txBody>
      </p:sp>
    </p:spTree>
    <p:extLst>
      <p:ext uri="{BB962C8B-B14F-4D97-AF65-F5344CB8AC3E}">
        <p14:creationId xmlns:p14="http://schemas.microsoft.com/office/powerpoint/2010/main" val="15713471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Объединение микросхем памяти для увеличения разрядности шины данных"/>
          <p:cNvPicPr/>
          <p:nvPr/>
        </p:nvPicPr>
        <p:blipFill>
          <a:blip r:embed="rId2">
            <a:extLst>
              <a:ext uri="{28A0092B-C50C-407E-A947-70E740481C1C}">
                <a14:useLocalDpi xmlns:a14="http://schemas.microsoft.com/office/drawing/2010/main" val="0"/>
              </a:ext>
            </a:extLst>
          </a:blip>
          <a:srcRect/>
          <a:stretch>
            <a:fillRect/>
          </a:stretch>
        </p:blipFill>
        <p:spPr bwMode="auto">
          <a:xfrm>
            <a:off x="251520" y="1268760"/>
            <a:ext cx="8604448" cy="3960440"/>
          </a:xfrm>
          <a:prstGeom prst="rect">
            <a:avLst/>
          </a:prstGeom>
          <a:noFill/>
          <a:ln>
            <a:noFill/>
          </a:ln>
        </p:spPr>
      </p:pic>
      <p:sp>
        <p:nvSpPr>
          <p:cNvPr id="5" name="Прямоугольник 4"/>
          <p:cNvSpPr/>
          <p:nvPr/>
        </p:nvSpPr>
        <p:spPr>
          <a:xfrm>
            <a:off x="539552" y="332656"/>
            <a:ext cx="8604448" cy="707886"/>
          </a:xfrm>
          <a:prstGeom prst="rect">
            <a:avLst/>
          </a:prstGeom>
        </p:spPr>
        <p:txBody>
          <a:bodyPr wrap="square">
            <a:spAutoFit/>
          </a:bodyPr>
          <a:lstStyle/>
          <a:p>
            <a:pPr algn="ctr" fontAlgn="t"/>
            <a:r>
              <a:rPr lang="ru-RU" sz="2000" b="1" dirty="0">
                <a:solidFill>
                  <a:srgbClr val="FF0000"/>
                </a:solidFill>
              </a:rPr>
              <a:t>Объединение микросхем памяти для увеличения разрядности шины данных</a:t>
            </a:r>
          </a:p>
        </p:txBody>
      </p:sp>
    </p:spTree>
    <p:extLst>
      <p:ext uri="{BB962C8B-B14F-4D97-AF65-F5344CB8AC3E}">
        <p14:creationId xmlns:p14="http://schemas.microsoft.com/office/powerpoint/2010/main" val="34600552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88640"/>
            <a:ext cx="8784976" cy="400110"/>
          </a:xfrm>
          <a:prstGeom prst="rect">
            <a:avLst/>
          </a:prstGeom>
        </p:spPr>
        <p:txBody>
          <a:bodyPr wrap="square">
            <a:spAutoFit/>
          </a:bodyPr>
          <a:lstStyle/>
          <a:p>
            <a:pPr fontAlgn="t"/>
            <a:r>
              <a:rPr lang="ru-RU" sz="2000" b="1" dirty="0">
                <a:solidFill>
                  <a:srgbClr val="FF0000"/>
                </a:solidFill>
              </a:rPr>
              <a:t>Объединение микросхем памяти для увеличения разрядности шины адреса</a:t>
            </a:r>
          </a:p>
        </p:txBody>
      </p:sp>
      <p:pic>
        <p:nvPicPr>
          <p:cNvPr id="5" name="Рисунок 4" descr="Объединение микросхем памяти для увеличения разрядности шины адреса"/>
          <p:cNvPicPr/>
          <p:nvPr/>
        </p:nvPicPr>
        <p:blipFill>
          <a:blip r:embed="rId2">
            <a:extLst>
              <a:ext uri="{28A0092B-C50C-407E-A947-70E740481C1C}">
                <a14:useLocalDpi xmlns:a14="http://schemas.microsoft.com/office/drawing/2010/main" val="0"/>
              </a:ext>
            </a:extLst>
          </a:blip>
          <a:srcRect/>
          <a:stretch>
            <a:fillRect/>
          </a:stretch>
        </p:blipFill>
        <p:spPr bwMode="auto">
          <a:xfrm>
            <a:off x="683568" y="980728"/>
            <a:ext cx="8016994" cy="4764107"/>
          </a:xfrm>
          <a:prstGeom prst="rect">
            <a:avLst/>
          </a:prstGeom>
          <a:noFill/>
          <a:ln>
            <a:noFill/>
          </a:ln>
        </p:spPr>
      </p:pic>
    </p:spTree>
    <p:extLst>
      <p:ext uri="{BB962C8B-B14F-4D97-AF65-F5344CB8AC3E}">
        <p14:creationId xmlns:p14="http://schemas.microsoft.com/office/powerpoint/2010/main" val="16616752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6709" y="188640"/>
            <a:ext cx="8568952" cy="6555641"/>
          </a:xfrm>
          <a:prstGeom prst="rect">
            <a:avLst/>
          </a:prstGeom>
        </p:spPr>
        <p:txBody>
          <a:bodyPr wrap="square">
            <a:spAutoFit/>
          </a:bodyPr>
          <a:lstStyle/>
          <a:p>
            <a:pPr algn="ctr" fontAlgn="t"/>
            <a:r>
              <a:rPr lang="ru-RU" sz="2000" b="1" dirty="0">
                <a:solidFill>
                  <a:srgbClr val="FF0000"/>
                </a:solidFill>
              </a:rPr>
              <a:t>ОЗУ для временного хранения информации</a:t>
            </a:r>
          </a:p>
          <a:p>
            <a:pPr fontAlgn="t"/>
            <a:r>
              <a:rPr lang="ru-RU" sz="2000" b="1" dirty="0"/>
              <a:t>Главное применение </a:t>
            </a:r>
            <a:r>
              <a:rPr lang="ru-RU" sz="2000" dirty="0"/>
              <a:t>микросхем оперативной </a:t>
            </a:r>
            <a:r>
              <a:rPr lang="ru-RU" sz="2000" dirty="0" smtClean="0"/>
              <a:t>памяти- </a:t>
            </a:r>
            <a:r>
              <a:rPr lang="ru-RU" sz="2000" dirty="0"/>
              <a:t>это временное хранение цифровой информации, всевозможных массивов кодов, таблиц данных, одиночных чисел и т.д. </a:t>
            </a:r>
            <a:endParaRPr lang="ru-RU" sz="2000" dirty="0" smtClean="0"/>
          </a:p>
          <a:p>
            <a:pPr fontAlgn="t"/>
            <a:endParaRPr lang="ru-RU" sz="2000" dirty="0" smtClean="0"/>
          </a:p>
          <a:p>
            <a:pPr fontAlgn="t"/>
            <a:r>
              <a:rPr lang="ru-RU" sz="2000" b="1" dirty="0" smtClean="0"/>
              <a:t>Цель</a:t>
            </a:r>
            <a:r>
              <a:rPr lang="ru-RU" sz="2000" dirty="0" smtClean="0"/>
              <a:t> </a:t>
            </a:r>
            <a:r>
              <a:rPr lang="ru-RU" sz="2000" dirty="0"/>
              <a:t>такого хранения информации состоит в том, чтобы в любой момент иметь возможность быстро ее прочитать для дальнейшей обработки, записи в энергонезависимую память (в ПЗУ, на магнитные носители) или для другого использования. Записанная в оперативную память и непрочитанная затем информация не имеет смысла, так как при выключении питания она безвозвратно пропадет</a:t>
            </a:r>
            <a:r>
              <a:rPr lang="ru-RU" sz="2000" dirty="0" smtClean="0"/>
              <a:t>.</a:t>
            </a:r>
          </a:p>
          <a:p>
            <a:pPr fontAlgn="t"/>
            <a:endParaRPr lang="ru-RU" sz="2000" dirty="0"/>
          </a:p>
          <a:p>
            <a:pPr fontAlgn="t"/>
            <a:r>
              <a:rPr lang="ru-RU" sz="2000" dirty="0"/>
              <a:t>В</a:t>
            </a:r>
            <a:r>
              <a:rPr lang="ru-RU" sz="2000" dirty="0" smtClean="0"/>
              <a:t>ременное </a:t>
            </a:r>
            <a:r>
              <a:rPr lang="ru-RU" sz="2000" dirty="0"/>
              <a:t>хранение предполагает, что к памяти имеется возможность доступа от какого-то устройства или от какой-то другой части схемы как с операцией записи, так и с операцией чтения (считывания). В зависимости от того, в каком порядке может записываться или читаться информация, существуют две разновидности ОЗУ</a:t>
            </a:r>
            <a:r>
              <a:rPr lang="ru-RU" sz="2000" dirty="0" smtClean="0"/>
              <a:t>:</a:t>
            </a:r>
          </a:p>
          <a:p>
            <a:pPr fontAlgn="t"/>
            <a:endParaRPr lang="ru-RU" sz="2000" dirty="0"/>
          </a:p>
          <a:p>
            <a:pPr lvl="0" fontAlgn="t"/>
            <a:r>
              <a:rPr lang="ru-RU" sz="2000" b="1" dirty="0"/>
              <a:t>ОЗУ с параллельным или произвольным доступом </a:t>
            </a:r>
            <a:r>
              <a:rPr lang="ru-RU" sz="2000" dirty="0"/>
              <a:t>(это наиболее универсальная схема);</a:t>
            </a:r>
          </a:p>
          <a:p>
            <a:pPr lvl="0" fontAlgn="t"/>
            <a:r>
              <a:rPr lang="ru-RU" sz="2000" b="1" dirty="0"/>
              <a:t>ОЗУ с последовательным доступом </a:t>
            </a:r>
            <a:r>
              <a:rPr lang="ru-RU" sz="2000" dirty="0"/>
              <a:t>(это более специфическая схема</a:t>
            </a:r>
            <a:r>
              <a:rPr lang="ru-RU" sz="2000" dirty="0" smtClean="0"/>
              <a:t>).</a:t>
            </a:r>
          </a:p>
        </p:txBody>
      </p:sp>
    </p:spTree>
    <p:extLst>
      <p:ext uri="{BB962C8B-B14F-4D97-AF65-F5344CB8AC3E}">
        <p14:creationId xmlns:p14="http://schemas.microsoft.com/office/powerpoint/2010/main" val="16552962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5720" y="116632"/>
            <a:ext cx="9179720" cy="6863417"/>
          </a:xfrm>
          <a:prstGeom prst="rect">
            <a:avLst/>
          </a:prstGeom>
        </p:spPr>
        <p:txBody>
          <a:bodyPr wrap="square">
            <a:spAutoFit/>
          </a:bodyPr>
          <a:lstStyle/>
          <a:p>
            <a:pPr fontAlgn="t"/>
            <a:r>
              <a:rPr lang="ru-RU" sz="2000" b="1" dirty="0"/>
              <a:t>Параллельный или произвольный доступ </a:t>
            </a:r>
            <a:r>
              <a:rPr lang="ru-RU" sz="2000" dirty="0"/>
              <a:t>наиболее прост и обычно не требует никаких дополнительных </a:t>
            </a:r>
            <a:r>
              <a:rPr lang="ru-RU" sz="2000" dirty="0" smtClean="0"/>
              <a:t>элементов. </a:t>
            </a:r>
            <a:r>
              <a:rPr lang="ru-RU" sz="2000" dirty="0"/>
              <a:t>В этом режиме можно записывать информацию в любой адрес ОЗУ и читать информацию из любого адреса ОЗУ в произвольном порядке. </a:t>
            </a:r>
            <a:endParaRPr lang="ru-RU" sz="2000" dirty="0" smtClean="0"/>
          </a:p>
          <a:p>
            <a:pPr fontAlgn="t"/>
            <a:r>
              <a:rPr lang="ru-RU" sz="2000" dirty="0" smtClean="0"/>
              <a:t>Однако </a:t>
            </a:r>
            <a:r>
              <a:rPr lang="ru-RU" sz="2000" i="1" dirty="0"/>
              <a:t>параллельный доступ </a:t>
            </a:r>
            <a:r>
              <a:rPr lang="ru-RU" sz="2000" dirty="0"/>
              <a:t>требует формирования довольно сложных последовательностей всех входных сигналов </a:t>
            </a:r>
            <a:r>
              <a:rPr lang="ru-RU" sz="2000" dirty="0" smtClean="0"/>
              <a:t>памяти</a:t>
            </a:r>
            <a:r>
              <a:rPr lang="en-US" sz="2000" dirty="0" smtClean="0"/>
              <a:t>: </a:t>
            </a:r>
            <a:r>
              <a:rPr lang="ru-RU" sz="2000" dirty="0" smtClean="0"/>
              <a:t>для записи (чтения) </a:t>
            </a:r>
            <a:r>
              <a:rPr lang="ru-RU" sz="2000" dirty="0"/>
              <a:t>информации необходимо сформировать </a:t>
            </a:r>
            <a:r>
              <a:rPr lang="ru-RU" sz="2000" b="1" dirty="0"/>
              <a:t>код адреса </a:t>
            </a:r>
            <a:r>
              <a:rPr lang="ru-RU" sz="2000" dirty="0"/>
              <a:t>записываемой ячейки и только потом подать </a:t>
            </a:r>
            <a:r>
              <a:rPr lang="ru-RU" sz="2000" dirty="0" smtClean="0"/>
              <a:t>(читать) данные</a:t>
            </a:r>
            <a:r>
              <a:rPr lang="ru-RU" sz="2000" dirty="0"/>
              <a:t>, сопровождаемые управляющими сигналами –CS и </a:t>
            </a:r>
            <a:r>
              <a:rPr lang="ru-RU" sz="2000" dirty="0" smtClean="0"/>
              <a:t>–WR. </a:t>
            </a:r>
            <a:endParaRPr lang="ru-RU" sz="2000" dirty="0"/>
          </a:p>
          <a:p>
            <a:pPr fontAlgn="t"/>
            <a:r>
              <a:rPr lang="ru-RU" sz="2000" dirty="0" smtClean="0"/>
              <a:t>Этот </a:t>
            </a:r>
            <a:r>
              <a:rPr lang="ru-RU" sz="2000" dirty="0"/>
              <a:t>режим доступа чаще всего применяется в компьютерах и контроллерах, где самыми главными факторами являются универсальность и гибкость использования памяти для самых разных целей</a:t>
            </a:r>
            <a:r>
              <a:rPr lang="ru-RU" sz="2000" dirty="0" smtClean="0"/>
              <a:t>.</a:t>
            </a:r>
          </a:p>
          <a:p>
            <a:pPr fontAlgn="t"/>
            <a:endParaRPr lang="ru-RU" sz="2000" dirty="0"/>
          </a:p>
          <a:p>
            <a:pPr fontAlgn="t"/>
            <a:r>
              <a:rPr lang="ru-RU" sz="2000" b="1" dirty="0"/>
              <a:t>Последовательный доступ </a:t>
            </a:r>
            <a:r>
              <a:rPr lang="ru-RU" sz="2000" dirty="0"/>
              <a:t>к памяти предполагает более простой порядок общения с </a:t>
            </a:r>
            <a:r>
              <a:rPr lang="ru-RU" sz="2000" dirty="0" smtClean="0"/>
              <a:t>памятью. </a:t>
            </a:r>
            <a:r>
              <a:rPr lang="ru-RU" sz="2000" dirty="0"/>
              <a:t>Н</a:t>
            </a:r>
            <a:r>
              <a:rPr lang="ru-RU" sz="2000" dirty="0" smtClean="0"/>
              <a:t>е </a:t>
            </a:r>
            <a:r>
              <a:rPr lang="ru-RU" sz="2000" dirty="0"/>
              <a:t>надо задавать </a:t>
            </a:r>
            <a:r>
              <a:rPr lang="ru-RU" sz="2000" b="1" dirty="0"/>
              <a:t>код адреса </a:t>
            </a:r>
            <a:r>
              <a:rPr lang="ru-RU" sz="2000" dirty="0"/>
              <a:t>записываемой или читаемой ячейки, так как адрес памяти формируется схемой автоматически. </a:t>
            </a:r>
            <a:endParaRPr lang="ru-RU" sz="2000" dirty="0" smtClean="0"/>
          </a:p>
          <a:p>
            <a:pPr fontAlgn="t"/>
            <a:r>
              <a:rPr lang="ru-RU" sz="2000" dirty="0" smtClean="0"/>
              <a:t>Для </a:t>
            </a:r>
            <a:r>
              <a:rPr lang="ru-RU" sz="2000" b="1" dirty="0"/>
              <a:t>записи </a:t>
            </a:r>
            <a:r>
              <a:rPr lang="ru-RU" sz="2000" dirty="0"/>
              <a:t>информации надо всего лишь подать </a:t>
            </a:r>
            <a:r>
              <a:rPr lang="ru-RU" sz="2000" b="1" dirty="0"/>
              <a:t>код записываемых данных </a:t>
            </a:r>
            <a:r>
              <a:rPr lang="ru-RU" sz="2000" dirty="0"/>
              <a:t>и сопроводить его </a:t>
            </a:r>
            <a:r>
              <a:rPr lang="ru-RU" sz="2000" b="1" dirty="0"/>
              <a:t>стробом записи</a:t>
            </a:r>
            <a:r>
              <a:rPr lang="ru-RU" sz="2000" dirty="0"/>
              <a:t>. Для </a:t>
            </a:r>
            <a:r>
              <a:rPr lang="ru-RU" sz="2000" b="1" dirty="0"/>
              <a:t>чтения</a:t>
            </a:r>
            <a:r>
              <a:rPr lang="ru-RU" sz="2000" dirty="0"/>
              <a:t> информации надо подать </a:t>
            </a:r>
            <a:r>
              <a:rPr lang="ru-RU" sz="2000" b="1" dirty="0"/>
              <a:t>строб чтения</a:t>
            </a:r>
            <a:r>
              <a:rPr lang="ru-RU" sz="2000" dirty="0"/>
              <a:t> и получить читаемые данные. </a:t>
            </a:r>
            <a:endParaRPr lang="ru-RU" sz="2000" dirty="0" smtClean="0"/>
          </a:p>
          <a:p>
            <a:pPr fontAlgn="t"/>
            <a:r>
              <a:rPr lang="ru-RU" sz="2000" dirty="0" smtClean="0"/>
              <a:t>Автоматическое </a:t>
            </a:r>
            <a:r>
              <a:rPr lang="ru-RU" sz="2000" dirty="0"/>
              <a:t>задание адреса при этом осуществляется внутренними счетчиками, меняющими свое состояние по каждому обращению к памяти. </a:t>
            </a:r>
            <a:endParaRPr lang="ru-RU" sz="2000" dirty="0" smtClean="0"/>
          </a:p>
          <a:p>
            <a:pPr fontAlgn="t"/>
            <a:endParaRPr lang="ru-RU" sz="2000" dirty="0"/>
          </a:p>
        </p:txBody>
      </p:sp>
    </p:spTree>
    <p:extLst>
      <p:ext uri="{BB962C8B-B14F-4D97-AF65-F5344CB8AC3E}">
        <p14:creationId xmlns:p14="http://schemas.microsoft.com/office/powerpoint/2010/main" val="25601854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332656"/>
            <a:ext cx="8856984" cy="5663089"/>
          </a:xfrm>
          <a:prstGeom prst="rect">
            <a:avLst/>
          </a:prstGeom>
        </p:spPr>
        <p:txBody>
          <a:bodyPr wrap="square">
            <a:spAutoFit/>
          </a:bodyPr>
          <a:lstStyle/>
          <a:p>
            <a:pPr algn="ctr" fontAlgn="t"/>
            <a:r>
              <a:rPr lang="ru-RU" sz="2000" b="1" dirty="0">
                <a:solidFill>
                  <a:srgbClr val="FF0000"/>
                </a:solidFill>
              </a:rPr>
              <a:t>Т</a:t>
            </a:r>
            <a:r>
              <a:rPr lang="ru-RU" sz="2000" b="1" dirty="0" smtClean="0">
                <a:solidFill>
                  <a:srgbClr val="FF0000"/>
                </a:solidFill>
              </a:rPr>
              <a:t>ри основные </a:t>
            </a:r>
            <a:r>
              <a:rPr lang="ru-RU" sz="2000" b="1" dirty="0">
                <a:solidFill>
                  <a:srgbClr val="FF0000"/>
                </a:solidFill>
              </a:rPr>
              <a:t>типа оперативной памяти с последовательным доступом:</a:t>
            </a:r>
          </a:p>
          <a:p>
            <a:pPr marL="285750" lvl="0" indent="-285750" fontAlgn="t">
              <a:buFont typeface="Arial" panose="020B0604020202020204" pitchFamily="34" charset="0"/>
              <a:buChar char="•"/>
            </a:pPr>
            <a:r>
              <a:rPr lang="ru-RU" dirty="0"/>
              <a:t>память типа "первым вошел - первым вышел" ( FIFO, </a:t>
            </a:r>
            <a:r>
              <a:rPr lang="ru-RU" dirty="0" err="1"/>
              <a:t>First</a:t>
            </a:r>
            <a:r>
              <a:rPr lang="ru-RU" dirty="0"/>
              <a:t> </a:t>
            </a:r>
            <a:r>
              <a:rPr lang="ru-RU" dirty="0" err="1"/>
              <a:t>In</a:t>
            </a:r>
            <a:r>
              <a:rPr lang="ru-RU" dirty="0"/>
              <a:t> - </a:t>
            </a:r>
            <a:r>
              <a:rPr lang="ru-RU" dirty="0" err="1"/>
              <a:t>First</a:t>
            </a:r>
            <a:r>
              <a:rPr lang="ru-RU" dirty="0"/>
              <a:t> </a:t>
            </a:r>
            <a:r>
              <a:rPr lang="ru-RU" dirty="0" err="1"/>
              <a:t>Out</a:t>
            </a:r>
            <a:r>
              <a:rPr lang="ru-RU" dirty="0"/>
              <a:t>);</a:t>
            </a:r>
          </a:p>
          <a:p>
            <a:pPr marL="285750" lvl="0" indent="-285750" fontAlgn="t">
              <a:buFont typeface="Arial" panose="020B0604020202020204" pitchFamily="34" charset="0"/>
              <a:buChar char="•"/>
            </a:pPr>
            <a:r>
              <a:rPr lang="ru-RU" dirty="0"/>
              <a:t>память магазинного, стекового типа, работающая по принципу "последним вошел - первым вышел" (LIFO, </a:t>
            </a:r>
            <a:r>
              <a:rPr lang="ru-RU" dirty="0" err="1"/>
              <a:t>Last</a:t>
            </a:r>
            <a:r>
              <a:rPr lang="ru-RU" dirty="0"/>
              <a:t> </a:t>
            </a:r>
            <a:r>
              <a:rPr lang="ru-RU" dirty="0" err="1"/>
              <a:t>In</a:t>
            </a:r>
            <a:r>
              <a:rPr lang="ru-RU" dirty="0"/>
              <a:t> - </a:t>
            </a:r>
            <a:r>
              <a:rPr lang="ru-RU" dirty="0" err="1"/>
              <a:t>First</a:t>
            </a:r>
            <a:r>
              <a:rPr lang="ru-RU" dirty="0"/>
              <a:t> </a:t>
            </a:r>
            <a:r>
              <a:rPr lang="ru-RU" dirty="0" err="1"/>
              <a:t>Out</a:t>
            </a:r>
            <a:r>
              <a:rPr lang="ru-RU" dirty="0"/>
              <a:t>).</a:t>
            </a:r>
          </a:p>
          <a:p>
            <a:pPr marL="285750" lvl="0" indent="-285750" fontAlgn="t">
              <a:buFont typeface="Arial" panose="020B0604020202020204" pitchFamily="34" charset="0"/>
              <a:buChar char="•"/>
            </a:pPr>
            <a:r>
              <a:rPr lang="ru-RU" dirty="0"/>
              <a:t>память для хранения массивов данных.</a:t>
            </a:r>
          </a:p>
          <a:p>
            <a:pPr fontAlgn="t"/>
            <a:r>
              <a:rPr lang="ru-RU" dirty="0"/>
              <a:t>FIFO </a:t>
            </a:r>
            <a:r>
              <a:rPr lang="ru-RU" dirty="0" smtClean="0"/>
              <a:t>,</a:t>
            </a:r>
            <a:r>
              <a:rPr lang="ru-RU" dirty="0"/>
              <a:t> LIFO</a:t>
            </a:r>
            <a:r>
              <a:rPr lang="ru-RU" dirty="0" smtClean="0"/>
              <a:t> подразумевают </a:t>
            </a:r>
            <a:r>
              <a:rPr lang="ru-RU" dirty="0"/>
              <a:t>возможность чередования операций записи и чтения в памяти. </a:t>
            </a:r>
            <a:endParaRPr lang="ru-RU" dirty="0" smtClean="0"/>
          </a:p>
          <a:p>
            <a:pPr fontAlgn="t"/>
            <a:r>
              <a:rPr lang="ru-RU" dirty="0"/>
              <a:t>П</a:t>
            </a:r>
            <a:r>
              <a:rPr lang="ru-RU" dirty="0" smtClean="0"/>
              <a:t>амять </a:t>
            </a:r>
            <a:r>
              <a:rPr lang="ru-RU" dirty="0"/>
              <a:t>FIFO выдает читаемые данные в том же порядке, в котором они были записаны, а память LIFO - в порядке, обратном тому, в котором они были записаны в память. </a:t>
            </a:r>
            <a:endParaRPr lang="ru-RU" dirty="0" smtClean="0"/>
          </a:p>
          <a:p>
            <a:pPr fontAlgn="t"/>
            <a:endParaRPr lang="ru-RU" dirty="0"/>
          </a:p>
          <a:p>
            <a:pPr fontAlgn="t"/>
            <a:r>
              <a:rPr lang="ru-RU" dirty="0" smtClean="0"/>
              <a:t>Для </a:t>
            </a:r>
            <a:r>
              <a:rPr lang="ru-RU" dirty="0"/>
              <a:t>памяти FIFO требуется хранение двух кодов адреса (адрес для записи и адрес для чтения), для памяти LIFO достаточно одного кода адреса</a:t>
            </a:r>
            <a:r>
              <a:rPr lang="ru-RU" dirty="0" smtClean="0"/>
              <a:t>.</a:t>
            </a:r>
          </a:p>
          <a:p>
            <a:pPr fontAlgn="t"/>
            <a:endParaRPr lang="ru-RU" dirty="0"/>
          </a:p>
          <a:p>
            <a:pPr fontAlgn="t"/>
            <a:r>
              <a:rPr lang="ru-RU" b="1" dirty="0"/>
              <a:t>Хранение массивов в памяти</a:t>
            </a:r>
            <a:r>
              <a:rPr lang="ru-RU" dirty="0"/>
              <a:t> предполагает, что сначала в память записывается целиком большой массив данных, а потом этот же массив целиком читается из памяти. </a:t>
            </a:r>
            <a:endParaRPr lang="ru-RU" dirty="0" smtClean="0"/>
          </a:p>
          <a:p>
            <a:pPr fontAlgn="t"/>
            <a:endParaRPr lang="ru-RU" dirty="0"/>
          </a:p>
          <a:p>
            <a:pPr fontAlgn="t"/>
            <a:r>
              <a:rPr lang="ru-RU" dirty="0" smtClean="0"/>
              <a:t>Эта </a:t>
            </a:r>
            <a:r>
              <a:rPr lang="ru-RU" dirty="0"/>
              <a:t>память также может быть устроена по двум принципам (FIFO и LIFO). </a:t>
            </a:r>
            <a:endParaRPr lang="ru-RU" dirty="0" smtClean="0"/>
          </a:p>
          <a:p>
            <a:pPr fontAlgn="t"/>
            <a:r>
              <a:rPr lang="ru-RU" dirty="0" smtClean="0"/>
              <a:t>FIFO-записанный </a:t>
            </a:r>
            <a:r>
              <a:rPr lang="ru-RU" dirty="0"/>
              <a:t>массив читается в том же порядке, в котором и был записан, </a:t>
            </a:r>
            <a:endParaRPr lang="ru-RU" dirty="0" smtClean="0"/>
          </a:p>
          <a:p>
            <a:pPr fontAlgn="t"/>
            <a:r>
              <a:rPr lang="ru-RU" dirty="0" smtClean="0"/>
              <a:t>LIFO </a:t>
            </a:r>
            <a:r>
              <a:rPr lang="ru-RU" dirty="0"/>
              <a:t>- в противоположном порядке (начиная с конца). В обоих этих случаях для общения с памятью требуется хранить только один код адреса памяти</a:t>
            </a:r>
          </a:p>
        </p:txBody>
      </p:sp>
    </p:spTree>
    <p:extLst>
      <p:ext uri="{BB962C8B-B14F-4D97-AF65-F5344CB8AC3E}">
        <p14:creationId xmlns:p14="http://schemas.microsoft.com/office/powerpoint/2010/main" val="2332203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Функциональная схема памяти типа FIFO"/>
          <p:cNvPicPr/>
          <p:nvPr/>
        </p:nvPicPr>
        <p:blipFill>
          <a:blip r:embed="rId2">
            <a:extLst>
              <a:ext uri="{28A0092B-C50C-407E-A947-70E740481C1C}">
                <a14:useLocalDpi xmlns:a14="http://schemas.microsoft.com/office/drawing/2010/main" val="0"/>
              </a:ext>
            </a:extLst>
          </a:blip>
          <a:srcRect/>
          <a:stretch>
            <a:fillRect/>
          </a:stretch>
        </p:blipFill>
        <p:spPr bwMode="auto">
          <a:xfrm>
            <a:off x="971600" y="692973"/>
            <a:ext cx="6643945" cy="3984332"/>
          </a:xfrm>
          <a:prstGeom prst="rect">
            <a:avLst/>
          </a:prstGeom>
          <a:noFill/>
          <a:ln>
            <a:noFill/>
          </a:ln>
        </p:spPr>
      </p:pic>
      <p:sp>
        <p:nvSpPr>
          <p:cNvPr id="5" name="Прямоугольник 4"/>
          <p:cNvSpPr/>
          <p:nvPr/>
        </p:nvSpPr>
        <p:spPr>
          <a:xfrm>
            <a:off x="1979712" y="251740"/>
            <a:ext cx="4790286" cy="400110"/>
          </a:xfrm>
          <a:prstGeom prst="rect">
            <a:avLst/>
          </a:prstGeom>
        </p:spPr>
        <p:txBody>
          <a:bodyPr wrap="none">
            <a:spAutoFit/>
          </a:bodyPr>
          <a:lstStyle/>
          <a:p>
            <a:r>
              <a:rPr lang="ru-RU" sz="2000" b="1" dirty="0">
                <a:solidFill>
                  <a:srgbClr val="FF0000"/>
                </a:solidFill>
              </a:rPr>
              <a:t>Функциональная схема памяти типа FIFO</a:t>
            </a:r>
          </a:p>
        </p:txBody>
      </p:sp>
    </p:spTree>
    <p:extLst>
      <p:ext uri="{BB962C8B-B14F-4D97-AF65-F5344CB8AC3E}">
        <p14:creationId xmlns:p14="http://schemas.microsoft.com/office/powerpoint/2010/main" val="24212659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Временные диаграммы циклов записи (а)и чтения (б) для памяти типа FIFO"/>
          <p:cNvPicPr/>
          <p:nvPr/>
        </p:nvPicPr>
        <p:blipFill>
          <a:blip r:embed="rId2">
            <a:extLst>
              <a:ext uri="{28A0092B-C50C-407E-A947-70E740481C1C}">
                <a14:useLocalDpi xmlns:a14="http://schemas.microsoft.com/office/drawing/2010/main" val="0"/>
              </a:ext>
            </a:extLst>
          </a:blip>
          <a:srcRect/>
          <a:stretch>
            <a:fillRect/>
          </a:stretch>
        </p:blipFill>
        <p:spPr bwMode="auto">
          <a:xfrm>
            <a:off x="899592" y="1124744"/>
            <a:ext cx="6540187" cy="2314868"/>
          </a:xfrm>
          <a:prstGeom prst="rect">
            <a:avLst/>
          </a:prstGeom>
          <a:noFill/>
          <a:ln>
            <a:noFill/>
          </a:ln>
        </p:spPr>
      </p:pic>
      <p:sp>
        <p:nvSpPr>
          <p:cNvPr id="5" name="Прямоугольник 4"/>
          <p:cNvSpPr/>
          <p:nvPr/>
        </p:nvSpPr>
        <p:spPr>
          <a:xfrm>
            <a:off x="539552" y="188640"/>
            <a:ext cx="8136904" cy="707886"/>
          </a:xfrm>
          <a:prstGeom prst="rect">
            <a:avLst/>
          </a:prstGeom>
        </p:spPr>
        <p:txBody>
          <a:bodyPr wrap="square">
            <a:spAutoFit/>
          </a:bodyPr>
          <a:lstStyle/>
          <a:p>
            <a:pPr algn="ctr" fontAlgn="t"/>
            <a:r>
              <a:rPr lang="ru-RU" sz="2000" b="1" dirty="0">
                <a:solidFill>
                  <a:srgbClr val="FF0000"/>
                </a:solidFill>
              </a:rPr>
              <a:t>Временные диаграммы циклов записи (а)и чтения (б) для памяти типа FIFO</a:t>
            </a:r>
          </a:p>
        </p:txBody>
      </p:sp>
      <p:sp>
        <p:nvSpPr>
          <p:cNvPr id="6" name="TextBox 5"/>
          <p:cNvSpPr txBox="1"/>
          <p:nvPr/>
        </p:nvSpPr>
        <p:spPr>
          <a:xfrm>
            <a:off x="2791418" y="4218848"/>
            <a:ext cx="3406189" cy="369332"/>
          </a:xfrm>
          <a:prstGeom prst="rect">
            <a:avLst/>
          </a:prstGeom>
          <a:noFill/>
        </p:spPr>
        <p:txBody>
          <a:bodyPr wrap="none" rtlCol="0">
            <a:spAutoFit/>
          </a:bodyPr>
          <a:lstStyle/>
          <a:p>
            <a:r>
              <a:rPr lang="ru-RU" dirty="0" smtClean="0"/>
              <a:t>Временные последовательности</a:t>
            </a:r>
            <a:endParaRPr lang="ru-RU" dirty="0"/>
          </a:p>
        </p:txBody>
      </p:sp>
      <p:sp>
        <p:nvSpPr>
          <p:cNvPr id="7" name="TextBox 6"/>
          <p:cNvSpPr txBox="1"/>
          <p:nvPr/>
        </p:nvSpPr>
        <p:spPr>
          <a:xfrm>
            <a:off x="1791143" y="4735562"/>
            <a:ext cx="960519" cy="369332"/>
          </a:xfrm>
          <a:prstGeom prst="rect">
            <a:avLst/>
          </a:prstGeom>
          <a:noFill/>
        </p:spPr>
        <p:txBody>
          <a:bodyPr wrap="none" rtlCol="0">
            <a:spAutoFit/>
          </a:bodyPr>
          <a:lstStyle/>
          <a:p>
            <a:r>
              <a:rPr lang="ru-RU" dirty="0" smtClean="0"/>
              <a:t>Данные</a:t>
            </a:r>
            <a:endParaRPr lang="ru-RU" dirty="0"/>
          </a:p>
        </p:txBody>
      </p:sp>
      <p:sp>
        <p:nvSpPr>
          <p:cNvPr id="8" name="TextBox 7"/>
          <p:cNvSpPr txBox="1"/>
          <p:nvPr/>
        </p:nvSpPr>
        <p:spPr>
          <a:xfrm>
            <a:off x="3339278" y="4735562"/>
            <a:ext cx="1766830" cy="369332"/>
          </a:xfrm>
          <a:prstGeom prst="rect">
            <a:avLst/>
          </a:prstGeom>
          <a:noFill/>
        </p:spPr>
        <p:txBody>
          <a:bodyPr wrap="none" rtlCol="0">
            <a:spAutoFit/>
          </a:bodyPr>
          <a:lstStyle/>
          <a:p>
            <a:r>
              <a:rPr lang="ru-RU" dirty="0" smtClean="0"/>
              <a:t>Запись в память</a:t>
            </a:r>
            <a:endParaRPr lang="ru-RU" dirty="0"/>
          </a:p>
        </p:txBody>
      </p:sp>
      <p:sp>
        <p:nvSpPr>
          <p:cNvPr id="9" name="TextBox 8"/>
          <p:cNvSpPr txBox="1"/>
          <p:nvPr/>
        </p:nvSpPr>
        <p:spPr>
          <a:xfrm>
            <a:off x="5627151" y="4735562"/>
            <a:ext cx="2545249" cy="369332"/>
          </a:xfrm>
          <a:prstGeom prst="rect">
            <a:avLst/>
          </a:prstGeom>
          <a:noFill/>
        </p:spPr>
        <p:txBody>
          <a:bodyPr wrap="none" rtlCol="0">
            <a:spAutoFit/>
          </a:bodyPr>
          <a:lstStyle/>
          <a:p>
            <a:r>
              <a:rPr lang="ru-RU" dirty="0" smtClean="0"/>
              <a:t>Увеличение адреса на 1</a:t>
            </a:r>
            <a:endParaRPr lang="ru-RU" dirty="0"/>
          </a:p>
        </p:txBody>
      </p:sp>
      <p:sp>
        <p:nvSpPr>
          <p:cNvPr id="10" name="TextBox 9"/>
          <p:cNvSpPr txBox="1"/>
          <p:nvPr/>
        </p:nvSpPr>
        <p:spPr>
          <a:xfrm>
            <a:off x="425744" y="4735562"/>
            <a:ext cx="947695" cy="400110"/>
          </a:xfrm>
          <a:prstGeom prst="rect">
            <a:avLst/>
          </a:prstGeom>
          <a:noFill/>
        </p:spPr>
        <p:txBody>
          <a:bodyPr wrap="none" rtlCol="0">
            <a:spAutoFit/>
          </a:bodyPr>
          <a:lstStyle/>
          <a:p>
            <a:r>
              <a:rPr lang="ru-RU" sz="2000" b="1" dirty="0" smtClean="0">
                <a:solidFill>
                  <a:srgbClr val="FF0000"/>
                </a:solidFill>
              </a:rPr>
              <a:t>Запись</a:t>
            </a:r>
            <a:endParaRPr lang="ru-RU" sz="2000" b="1" dirty="0">
              <a:solidFill>
                <a:srgbClr val="FF0000"/>
              </a:solidFill>
            </a:endParaRPr>
          </a:p>
        </p:txBody>
      </p:sp>
      <p:cxnSp>
        <p:nvCxnSpPr>
          <p:cNvPr id="12" name="Прямая со стрелкой 11"/>
          <p:cNvCxnSpPr/>
          <p:nvPr/>
        </p:nvCxnSpPr>
        <p:spPr>
          <a:xfrm>
            <a:off x="2791418" y="4962122"/>
            <a:ext cx="586971"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p:nvPr/>
        </p:nvCxnSpPr>
        <p:spPr>
          <a:xfrm>
            <a:off x="5040401" y="4941168"/>
            <a:ext cx="586971"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03302" y="5589240"/>
            <a:ext cx="970137" cy="400110"/>
          </a:xfrm>
          <a:prstGeom prst="rect">
            <a:avLst/>
          </a:prstGeom>
          <a:noFill/>
        </p:spPr>
        <p:txBody>
          <a:bodyPr wrap="none" rtlCol="0">
            <a:spAutoFit/>
          </a:bodyPr>
          <a:lstStyle/>
          <a:p>
            <a:r>
              <a:rPr lang="ru-RU" sz="2000" b="1" dirty="0" smtClean="0">
                <a:solidFill>
                  <a:srgbClr val="FF0000"/>
                </a:solidFill>
              </a:rPr>
              <a:t>Чтение</a:t>
            </a:r>
            <a:endParaRPr lang="ru-RU" sz="2000" b="1" dirty="0">
              <a:solidFill>
                <a:srgbClr val="FF0000"/>
              </a:solidFill>
            </a:endParaRPr>
          </a:p>
        </p:txBody>
      </p:sp>
      <p:sp>
        <p:nvSpPr>
          <p:cNvPr id="15" name="TextBox 14"/>
          <p:cNvSpPr txBox="1"/>
          <p:nvPr/>
        </p:nvSpPr>
        <p:spPr>
          <a:xfrm>
            <a:off x="1459722" y="5620018"/>
            <a:ext cx="1918667" cy="369332"/>
          </a:xfrm>
          <a:prstGeom prst="rect">
            <a:avLst/>
          </a:prstGeom>
          <a:noFill/>
        </p:spPr>
        <p:txBody>
          <a:bodyPr wrap="none" rtlCol="0">
            <a:spAutoFit/>
          </a:bodyPr>
          <a:lstStyle/>
          <a:p>
            <a:r>
              <a:rPr lang="ru-RU" dirty="0" smtClean="0"/>
              <a:t>Чтение из памяти</a:t>
            </a:r>
            <a:endParaRPr lang="ru-RU" dirty="0"/>
          </a:p>
        </p:txBody>
      </p:sp>
      <p:sp>
        <p:nvSpPr>
          <p:cNvPr id="16" name="TextBox 15"/>
          <p:cNvSpPr txBox="1"/>
          <p:nvPr/>
        </p:nvSpPr>
        <p:spPr>
          <a:xfrm>
            <a:off x="3967717" y="5620018"/>
            <a:ext cx="960519" cy="369332"/>
          </a:xfrm>
          <a:prstGeom prst="rect">
            <a:avLst/>
          </a:prstGeom>
          <a:noFill/>
        </p:spPr>
        <p:txBody>
          <a:bodyPr wrap="none" rtlCol="0">
            <a:spAutoFit/>
          </a:bodyPr>
          <a:lstStyle/>
          <a:p>
            <a:r>
              <a:rPr lang="ru-RU" dirty="0" smtClean="0"/>
              <a:t>Данные</a:t>
            </a:r>
            <a:endParaRPr lang="ru-RU" dirty="0"/>
          </a:p>
        </p:txBody>
      </p:sp>
      <p:sp>
        <p:nvSpPr>
          <p:cNvPr id="17" name="TextBox 16"/>
          <p:cNvSpPr txBox="1"/>
          <p:nvPr/>
        </p:nvSpPr>
        <p:spPr>
          <a:xfrm>
            <a:off x="5688804" y="5620018"/>
            <a:ext cx="2545249" cy="369332"/>
          </a:xfrm>
          <a:prstGeom prst="rect">
            <a:avLst/>
          </a:prstGeom>
          <a:noFill/>
        </p:spPr>
        <p:txBody>
          <a:bodyPr wrap="none" rtlCol="0">
            <a:spAutoFit/>
          </a:bodyPr>
          <a:lstStyle/>
          <a:p>
            <a:r>
              <a:rPr lang="ru-RU" dirty="0" smtClean="0"/>
              <a:t>Увеличение адреса на 1</a:t>
            </a:r>
            <a:endParaRPr lang="ru-RU" dirty="0"/>
          </a:p>
        </p:txBody>
      </p:sp>
      <p:cxnSp>
        <p:nvCxnSpPr>
          <p:cNvPr id="20" name="Прямая со стрелкой 19"/>
          <p:cNvCxnSpPr/>
          <p:nvPr/>
        </p:nvCxnSpPr>
        <p:spPr>
          <a:xfrm>
            <a:off x="5004048" y="5805264"/>
            <a:ext cx="586971"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p:nvPr/>
        </p:nvCxnSpPr>
        <p:spPr>
          <a:xfrm>
            <a:off x="3347864" y="5818516"/>
            <a:ext cx="586971"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3902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050024" y="177497"/>
            <a:ext cx="4839979" cy="400110"/>
          </a:xfrm>
          <a:prstGeom prst="rect">
            <a:avLst/>
          </a:prstGeom>
        </p:spPr>
        <p:txBody>
          <a:bodyPr wrap="none">
            <a:spAutoFit/>
          </a:bodyPr>
          <a:lstStyle/>
          <a:p>
            <a:r>
              <a:rPr lang="ru-RU" sz="2000" b="1" dirty="0">
                <a:solidFill>
                  <a:srgbClr val="FF0000"/>
                </a:solidFill>
              </a:rPr>
              <a:t>Функциональная схема памяти типа LIFO </a:t>
            </a:r>
          </a:p>
        </p:txBody>
      </p:sp>
      <p:pic>
        <p:nvPicPr>
          <p:cNvPr id="5" name="Рисунок 4" descr="Функциональная схема памяти типа LIFO"/>
          <p:cNvPicPr/>
          <p:nvPr/>
        </p:nvPicPr>
        <p:blipFill>
          <a:blip r:embed="rId2">
            <a:extLst>
              <a:ext uri="{28A0092B-C50C-407E-A947-70E740481C1C}">
                <a14:useLocalDpi xmlns:a14="http://schemas.microsoft.com/office/drawing/2010/main" val="0"/>
              </a:ext>
            </a:extLst>
          </a:blip>
          <a:srcRect/>
          <a:stretch>
            <a:fillRect/>
          </a:stretch>
        </p:blipFill>
        <p:spPr bwMode="auto">
          <a:xfrm>
            <a:off x="1270499" y="604652"/>
            <a:ext cx="6399029" cy="3846284"/>
          </a:xfrm>
          <a:prstGeom prst="rect">
            <a:avLst/>
          </a:prstGeom>
          <a:noFill/>
          <a:ln>
            <a:noFill/>
          </a:ln>
        </p:spPr>
      </p:pic>
      <p:sp>
        <p:nvSpPr>
          <p:cNvPr id="6" name="Прямоугольник 5"/>
          <p:cNvSpPr/>
          <p:nvPr/>
        </p:nvSpPr>
        <p:spPr>
          <a:xfrm>
            <a:off x="251520" y="4827012"/>
            <a:ext cx="8784976" cy="1477328"/>
          </a:xfrm>
          <a:prstGeom prst="rect">
            <a:avLst/>
          </a:prstGeom>
        </p:spPr>
        <p:txBody>
          <a:bodyPr wrap="square">
            <a:spAutoFit/>
          </a:bodyPr>
          <a:lstStyle/>
          <a:p>
            <a:pPr fontAlgn="t"/>
            <a:r>
              <a:rPr lang="ru-RU" b="1" dirty="0" smtClean="0"/>
              <a:t>После</a:t>
            </a:r>
            <a:r>
              <a:rPr lang="ru-RU" dirty="0" smtClean="0"/>
              <a:t> </a:t>
            </a:r>
            <a:r>
              <a:rPr lang="ru-RU" dirty="0"/>
              <a:t>проведения цикла </a:t>
            </a:r>
            <a:r>
              <a:rPr lang="ru-RU" b="1" dirty="0"/>
              <a:t>записи</a:t>
            </a:r>
            <a:r>
              <a:rPr lang="ru-RU" dirty="0"/>
              <a:t> по </a:t>
            </a:r>
            <a:r>
              <a:rPr lang="ru-RU" b="1" dirty="0" smtClean="0"/>
              <a:t>срезу </a:t>
            </a:r>
            <a:r>
              <a:rPr lang="ru-RU" dirty="0" smtClean="0"/>
              <a:t>сигнала </a:t>
            </a:r>
            <a:r>
              <a:rPr lang="ru-RU" dirty="0"/>
              <a:t>"–Зап." счетчик </a:t>
            </a:r>
            <a:r>
              <a:rPr lang="ru-RU" b="1" dirty="0"/>
              <a:t>увеличивает</a:t>
            </a:r>
            <a:r>
              <a:rPr lang="ru-RU" dirty="0"/>
              <a:t> </a:t>
            </a:r>
            <a:r>
              <a:rPr lang="ru-RU" dirty="0" smtClean="0"/>
              <a:t>адрес памяти </a:t>
            </a:r>
            <a:r>
              <a:rPr lang="ru-RU" dirty="0"/>
              <a:t>на единицу. </a:t>
            </a:r>
            <a:r>
              <a:rPr lang="ru-RU" b="1" dirty="0"/>
              <a:t>Перед </a:t>
            </a:r>
            <a:r>
              <a:rPr lang="ru-RU" dirty="0"/>
              <a:t>проведением цикла </a:t>
            </a:r>
            <a:r>
              <a:rPr lang="ru-RU" b="1" dirty="0"/>
              <a:t>чтения</a:t>
            </a:r>
            <a:r>
              <a:rPr lang="ru-RU" dirty="0"/>
              <a:t> по </a:t>
            </a:r>
            <a:r>
              <a:rPr lang="ru-RU" b="1" dirty="0" smtClean="0"/>
              <a:t>фронту</a:t>
            </a:r>
            <a:r>
              <a:rPr lang="ru-RU" dirty="0" smtClean="0"/>
              <a:t> </a:t>
            </a:r>
            <a:r>
              <a:rPr lang="ru-RU" dirty="0"/>
              <a:t>сигнала "–Чт." счетчик </a:t>
            </a:r>
            <a:r>
              <a:rPr lang="ru-RU" b="1" dirty="0"/>
              <a:t>уменьшае</a:t>
            </a:r>
            <a:r>
              <a:rPr lang="ru-RU" dirty="0"/>
              <a:t>т адрес памяти </a:t>
            </a:r>
            <a:r>
              <a:rPr lang="ru-RU" dirty="0" smtClean="0"/>
              <a:t>на </a:t>
            </a:r>
            <a:r>
              <a:rPr lang="ru-RU" dirty="0"/>
              <a:t>единицу. Такая организация перебора адресов позволяет организовать чтение из памяти в порядке, обратном порядку записи в память.</a:t>
            </a:r>
          </a:p>
        </p:txBody>
      </p:sp>
      <p:sp>
        <p:nvSpPr>
          <p:cNvPr id="7" name="TextBox 6"/>
          <p:cNvSpPr txBox="1"/>
          <p:nvPr/>
        </p:nvSpPr>
        <p:spPr>
          <a:xfrm>
            <a:off x="5580112" y="577607"/>
            <a:ext cx="2870466" cy="369332"/>
          </a:xfrm>
          <a:prstGeom prst="rect">
            <a:avLst/>
          </a:prstGeom>
          <a:noFill/>
        </p:spPr>
        <p:txBody>
          <a:bodyPr wrap="none" rtlCol="0">
            <a:spAutoFit/>
          </a:bodyPr>
          <a:lstStyle/>
          <a:p>
            <a:r>
              <a:rPr lang="ru-RU" dirty="0" smtClean="0"/>
              <a:t>Однонаправленный  буфер</a:t>
            </a:r>
            <a:endParaRPr lang="ru-RU" dirty="0"/>
          </a:p>
        </p:txBody>
      </p:sp>
    </p:spTree>
    <p:extLst>
      <p:ext uri="{BB962C8B-B14F-4D97-AF65-F5344CB8AC3E}">
        <p14:creationId xmlns:p14="http://schemas.microsoft.com/office/powerpoint/2010/main" val="33530783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Временные диаграммы циклов записи (а) и чтения (б) для памяти типа LIFO"/>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340768"/>
            <a:ext cx="6890583" cy="2452980"/>
          </a:xfrm>
          <a:prstGeom prst="rect">
            <a:avLst/>
          </a:prstGeom>
          <a:noFill/>
          <a:ln>
            <a:noFill/>
          </a:ln>
        </p:spPr>
      </p:pic>
      <p:sp>
        <p:nvSpPr>
          <p:cNvPr id="5" name="Прямоугольник 4"/>
          <p:cNvSpPr/>
          <p:nvPr/>
        </p:nvSpPr>
        <p:spPr>
          <a:xfrm>
            <a:off x="683568" y="260648"/>
            <a:ext cx="8208911" cy="707886"/>
          </a:xfrm>
          <a:prstGeom prst="rect">
            <a:avLst/>
          </a:prstGeom>
        </p:spPr>
        <p:txBody>
          <a:bodyPr wrap="square">
            <a:spAutoFit/>
          </a:bodyPr>
          <a:lstStyle/>
          <a:p>
            <a:pPr algn="ctr" fontAlgn="t"/>
            <a:r>
              <a:rPr lang="ru-RU" sz="2000" b="1" dirty="0">
                <a:solidFill>
                  <a:srgbClr val="FF0000"/>
                </a:solidFill>
              </a:rPr>
              <a:t>Временные диаграммы циклов записи (а) и чтения (б) для памяти типа LIFO</a:t>
            </a:r>
          </a:p>
        </p:txBody>
      </p:sp>
      <p:sp>
        <p:nvSpPr>
          <p:cNvPr id="7" name="TextBox 6"/>
          <p:cNvSpPr txBox="1"/>
          <p:nvPr/>
        </p:nvSpPr>
        <p:spPr>
          <a:xfrm>
            <a:off x="1790824" y="4218848"/>
            <a:ext cx="5994398" cy="369332"/>
          </a:xfrm>
          <a:prstGeom prst="rect">
            <a:avLst/>
          </a:prstGeom>
          <a:noFill/>
        </p:spPr>
        <p:txBody>
          <a:bodyPr wrap="none" rtlCol="0">
            <a:spAutoFit/>
          </a:bodyPr>
          <a:lstStyle/>
          <a:p>
            <a:r>
              <a:rPr lang="ru-RU" b="1" dirty="0" smtClean="0">
                <a:solidFill>
                  <a:srgbClr val="FF0000"/>
                </a:solidFill>
              </a:rPr>
              <a:t> Добавить временные последовательности чтения-записи</a:t>
            </a:r>
            <a:endParaRPr lang="ru-RU" b="1" dirty="0">
              <a:solidFill>
                <a:srgbClr val="FF0000"/>
              </a:solidFill>
            </a:endParaRPr>
          </a:p>
        </p:txBody>
      </p:sp>
    </p:spTree>
    <p:extLst>
      <p:ext uri="{BB962C8B-B14F-4D97-AF65-F5344CB8AC3E}">
        <p14:creationId xmlns:p14="http://schemas.microsoft.com/office/powerpoint/2010/main" val="34531294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245432" y="193473"/>
            <a:ext cx="7313797" cy="707886"/>
          </a:xfrm>
          <a:prstGeom prst="rect">
            <a:avLst/>
          </a:prstGeom>
        </p:spPr>
        <p:txBody>
          <a:bodyPr wrap="none">
            <a:spAutoFit/>
          </a:bodyPr>
          <a:lstStyle/>
          <a:p>
            <a:r>
              <a:rPr lang="ru-RU" sz="2000" b="1" dirty="0" smtClean="0">
                <a:solidFill>
                  <a:srgbClr val="FF0000"/>
                </a:solidFill>
              </a:rPr>
              <a:t>Функциональная схема памяти </a:t>
            </a:r>
            <a:r>
              <a:rPr lang="ru-RU" sz="2000" b="1" dirty="0">
                <a:solidFill>
                  <a:srgbClr val="FF0000"/>
                </a:solidFill>
              </a:rPr>
              <a:t>для хранения массивов </a:t>
            </a:r>
            <a:r>
              <a:rPr lang="ru-RU" sz="2000" b="1" dirty="0" smtClean="0">
                <a:solidFill>
                  <a:srgbClr val="FF0000"/>
                </a:solidFill>
              </a:rPr>
              <a:t>данных</a:t>
            </a:r>
            <a:endParaRPr lang="ru-RU" sz="2000" b="1" dirty="0">
              <a:solidFill>
                <a:srgbClr val="FF0000"/>
              </a:solidFill>
            </a:endParaRPr>
          </a:p>
          <a:p>
            <a:pPr algn="ctr"/>
            <a:r>
              <a:rPr lang="ru-RU" sz="2000" b="1" dirty="0" smtClean="0">
                <a:solidFill>
                  <a:srgbClr val="FF0000"/>
                </a:solidFill>
              </a:rPr>
              <a:t>(организация </a:t>
            </a:r>
            <a:r>
              <a:rPr lang="en-US" sz="2000" b="1" dirty="0" smtClean="0">
                <a:solidFill>
                  <a:srgbClr val="FF0000"/>
                </a:solidFill>
              </a:rPr>
              <a:t>FIFO)</a:t>
            </a:r>
            <a:endParaRPr lang="ru-RU" sz="2000" b="1" dirty="0">
              <a:solidFill>
                <a:srgbClr val="FF0000"/>
              </a:solidFill>
            </a:endParaRPr>
          </a:p>
        </p:txBody>
      </p:sp>
      <p:sp>
        <p:nvSpPr>
          <p:cNvPr id="5" name="Прямоугольник 4"/>
          <p:cNvSpPr/>
          <p:nvPr/>
        </p:nvSpPr>
        <p:spPr>
          <a:xfrm>
            <a:off x="107504" y="3668768"/>
            <a:ext cx="8852647" cy="3139321"/>
          </a:xfrm>
          <a:prstGeom prst="rect">
            <a:avLst/>
          </a:prstGeom>
        </p:spPr>
        <p:txBody>
          <a:bodyPr wrap="square">
            <a:spAutoFit/>
          </a:bodyPr>
          <a:lstStyle/>
          <a:p>
            <a:pPr fontAlgn="t"/>
            <a:r>
              <a:rPr lang="ru-RU" dirty="0"/>
              <a:t>Адреса памяти </a:t>
            </a:r>
            <a:r>
              <a:rPr lang="ru-RU" dirty="0" smtClean="0"/>
              <a:t>задаются </a:t>
            </a:r>
            <a:r>
              <a:rPr lang="ru-RU" dirty="0"/>
              <a:t>одним единственным счетчиком, который работает в режиме только прямого счета. </a:t>
            </a:r>
            <a:endParaRPr lang="ru-RU" dirty="0" smtClean="0"/>
          </a:p>
          <a:p>
            <a:pPr fontAlgn="t"/>
            <a:r>
              <a:rPr lang="ru-RU" dirty="0" smtClean="0"/>
              <a:t>Перед </a:t>
            </a:r>
            <a:r>
              <a:rPr lang="ru-RU" dirty="0"/>
              <a:t>началом работы необходимо сбросить счетчик (сигнал "Сброс"). </a:t>
            </a:r>
            <a:endParaRPr lang="ru-RU" dirty="0" smtClean="0"/>
          </a:p>
          <a:p>
            <a:pPr fontAlgn="t"/>
            <a:r>
              <a:rPr lang="ru-RU" dirty="0" smtClean="0"/>
              <a:t>Затем </a:t>
            </a:r>
            <a:r>
              <a:rPr lang="ru-RU" dirty="0"/>
              <a:t>производится запись массива данных. При этом после каждого цикла записи по заднему фронту сигнала "–Зап." выходной код счетчика увеличивается на единицу. После окончания записи всего массива снова надо сбросить счетчик в нуль (сигнал "Сброс"), а затем производить чтение массива, начиная с нулевого адреса. При этом после каждого цикла чтения по заднему фронту сигнала "–Чт." выходной код счетчика </a:t>
            </a:r>
            <a:r>
              <a:rPr lang="ru-RU" dirty="0" smtClean="0"/>
              <a:t>увеличивается </a:t>
            </a:r>
            <a:r>
              <a:rPr lang="ru-RU" dirty="0"/>
              <a:t>на единицу. В результате массив данных читается в том же порядке, что и был записан. Контроль за длиной записываемого и читаемого массивов возлагается на внешнее по отношению к приведенной схеме устройство.</a:t>
            </a:r>
          </a:p>
        </p:txBody>
      </p:sp>
      <p:pic>
        <p:nvPicPr>
          <p:cNvPr id="6" name="Рисунок 5" descr="Функциональная схема памяти для хранения массивов данных"/>
          <p:cNvPicPr/>
          <p:nvPr/>
        </p:nvPicPr>
        <p:blipFill>
          <a:blip r:embed="rId2">
            <a:extLst>
              <a:ext uri="{28A0092B-C50C-407E-A947-70E740481C1C}">
                <a14:useLocalDpi xmlns:a14="http://schemas.microsoft.com/office/drawing/2010/main" val="0"/>
              </a:ext>
            </a:extLst>
          </a:blip>
          <a:srcRect/>
          <a:stretch>
            <a:fillRect/>
          </a:stretch>
        </p:blipFill>
        <p:spPr bwMode="auto">
          <a:xfrm>
            <a:off x="969431" y="881234"/>
            <a:ext cx="7128792" cy="2602868"/>
          </a:xfrm>
          <a:prstGeom prst="rect">
            <a:avLst/>
          </a:prstGeom>
          <a:noFill/>
          <a:ln>
            <a:noFill/>
          </a:ln>
        </p:spPr>
      </p:pic>
      <p:sp>
        <p:nvSpPr>
          <p:cNvPr id="7" name="TextBox 6"/>
          <p:cNvSpPr txBox="1"/>
          <p:nvPr/>
        </p:nvSpPr>
        <p:spPr>
          <a:xfrm>
            <a:off x="6300192" y="881234"/>
            <a:ext cx="2659959" cy="369332"/>
          </a:xfrm>
          <a:prstGeom prst="rect">
            <a:avLst/>
          </a:prstGeom>
          <a:noFill/>
        </p:spPr>
        <p:txBody>
          <a:bodyPr wrap="none" rtlCol="0">
            <a:spAutoFit/>
          </a:bodyPr>
          <a:lstStyle/>
          <a:p>
            <a:r>
              <a:rPr lang="ru-RU" dirty="0" smtClean="0"/>
              <a:t>Двунаправленный буфер</a:t>
            </a:r>
            <a:endParaRPr lang="ru-RU" dirty="0"/>
          </a:p>
        </p:txBody>
      </p:sp>
    </p:spTree>
    <p:extLst>
      <p:ext uri="{BB962C8B-B14F-4D97-AF65-F5344CB8AC3E}">
        <p14:creationId xmlns:p14="http://schemas.microsoft.com/office/powerpoint/2010/main" val="26868049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42209" y="296796"/>
            <a:ext cx="3931589" cy="400110"/>
          </a:xfrm>
          <a:prstGeom prst="rect">
            <a:avLst/>
          </a:prstGeom>
        </p:spPr>
        <p:txBody>
          <a:bodyPr wrap="none">
            <a:spAutoFit/>
          </a:bodyPr>
          <a:lstStyle/>
          <a:p>
            <a:r>
              <a:rPr lang="ru-RU" sz="2000" b="1" dirty="0">
                <a:solidFill>
                  <a:srgbClr val="FF0000"/>
                </a:solidFill>
              </a:rPr>
              <a:t>ОЗУ как информационный буфер</a:t>
            </a:r>
          </a:p>
        </p:txBody>
      </p:sp>
      <p:sp>
        <p:nvSpPr>
          <p:cNvPr id="5" name="Прямоугольник 4"/>
          <p:cNvSpPr/>
          <p:nvPr/>
        </p:nvSpPr>
        <p:spPr>
          <a:xfrm>
            <a:off x="323528" y="722637"/>
            <a:ext cx="8640960" cy="923330"/>
          </a:xfrm>
          <a:prstGeom prst="rect">
            <a:avLst/>
          </a:prstGeom>
        </p:spPr>
        <p:txBody>
          <a:bodyPr wrap="square">
            <a:spAutoFit/>
          </a:bodyPr>
          <a:lstStyle/>
          <a:p>
            <a:r>
              <a:rPr lang="ru-RU" dirty="0"/>
              <a:t>Суть информационного буфера состоит в следующем: передающее устройство записывает передаваемые данные в буфер, а принимающее устройство читает принимаемые данные из </a:t>
            </a:r>
            <a:r>
              <a:rPr lang="ru-RU" dirty="0" smtClean="0"/>
              <a:t>буфера</a:t>
            </a:r>
            <a:endParaRPr lang="ru-RU" dirty="0"/>
          </a:p>
        </p:txBody>
      </p:sp>
      <p:pic>
        <p:nvPicPr>
          <p:cNvPr id="6" name="Рисунок 5" descr="Включение буферной памяти"/>
          <p:cNvPicPr/>
          <p:nvPr/>
        </p:nvPicPr>
        <p:blipFill>
          <a:blip r:embed="rId2">
            <a:extLst>
              <a:ext uri="{28A0092B-C50C-407E-A947-70E740481C1C}">
                <a14:useLocalDpi xmlns:a14="http://schemas.microsoft.com/office/drawing/2010/main" val="0"/>
              </a:ext>
            </a:extLst>
          </a:blip>
          <a:srcRect/>
          <a:stretch>
            <a:fillRect/>
          </a:stretch>
        </p:blipFill>
        <p:spPr bwMode="auto">
          <a:xfrm>
            <a:off x="1187623" y="2276872"/>
            <a:ext cx="6110997" cy="918265"/>
          </a:xfrm>
          <a:prstGeom prst="rect">
            <a:avLst/>
          </a:prstGeom>
          <a:noFill/>
          <a:ln>
            <a:noFill/>
          </a:ln>
        </p:spPr>
      </p:pic>
      <p:sp>
        <p:nvSpPr>
          <p:cNvPr id="7" name="Прямоугольник 6"/>
          <p:cNvSpPr/>
          <p:nvPr/>
        </p:nvSpPr>
        <p:spPr>
          <a:xfrm>
            <a:off x="251520" y="4625690"/>
            <a:ext cx="8712968" cy="923330"/>
          </a:xfrm>
          <a:prstGeom prst="rect">
            <a:avLst/>
          </a:prstGeom>
        </p:spPr>
        <p:txBody>
          <a:bodyPr wrap="square">
            <a:spAutoFit/>
          </a:bodyPr>
          <a:lstStyle/>
          <a:p>
            <a:pPr fontAlgn="t"/>
            <a:r>
              <a:rPr lang="ru-RU" dirty="0"/>
              <a:t>П</a:t>
            </a:r>
            <a:r>
              <a:rPr lang="ru-RU" dirty="0" smtClean="0"/>
              <a:t>ромежуточное </a:t>
            </a:r>
            <a:r>
              <a:rPr lang="ru-RU" dirty="0"/>
              <a:t>хранение позволяет лучше скоординировать работу устройств, участвующих в обмене данными, повысить их независимость друг от друга, согласовать скорости передачи и приема данных.</a:t>
            </a:r>
          </a:p>
        </p:txBody>
      </p:sp>
      <p:pic>
        <p:nvPicPr>
          <p:cNvPr id="8" name="Рисунок 7" descr="Двунаправленный информационный буфер"/>
          <p:cNvPicPr/>
          <p:nvPr/>
        </p:nvPicPr>
        <p:blipFill>
          <a:blip r:embed="rId3">
            <a:extLst>
              <a:ext uri="{28A0092B-C50C-407E-A947-70E740481C1C}">
                <a14:useLocalDpi xmlns:a14="http://schemas.microsoft.com/office/drawing/2010/main" val="0"/>
              </a:ext>
            </a:extLst>
          </a:blip>
          <a:srcRect/>
          <a:stretch>
            <a:fillRect/>
          </a:stretch>
        </p:blipFill>
        <p:spPr bwMode="auto">
          <a:xfrm>
            <a:off x="1345950" y="3832179"/>
            <a:ext cx="5794342" cy="720080"/>
          </a:xfrm>
          <a:prstGeom prst="rect">
            <a:avLst/>
          </a:prstGeom>
          <a:noFill/>
          <a:ln>
            <a:noFill/>
          </a:ln>
        </p:spPr>
      </p:pic>
      <p:sp>
        <p:nvSpPr>
          <p:cNvPr id="9" name="TextBox 8"/>
          <p:cNvSpPr txBox="1"/>
          <p:nvPr/>
        </p:nvSpPr>
        <p:spPr>
          <a:xfrm>
            <a:off x="2318972" y="1907540"/>
            <a:ext cx="3848298" cy="369332"/>
          </a:xfrm>
          <a:prstGeom prst="rect">
            <a:avLst/>
          </a:prstGeom>
          <a:noFill/>
        </p:spPr>
        <p:txBody>
          <a:bodyPr wrap="none" rtlCol="0">
            <a:spAutoFit/>
          </a:bodyPr>
          <a:lstStyle/>
          <a:p>
            <a:r>
              <a:rPr lang="ru-RU" dirty="0" smtClean="0">
                <a:solidFill>
                  <a:srgbClr val="FF0000"/>
                </a:solidFill>
              </a:rPr>
              <a:t>Однонаправленная буферная память</a:t>
            </a:r>
            <a:endParaRPr lang="ru-RU" dirty="0">
              <a:solidFill>
                <a:srgbClr val="FF0000"/>
              </a:solidFill>
            </a:endParaRPr>
          </a:p>
        </p:txBody>
      </p:sp>
      <p:sp>
        <p:nvSpPr>
          <p:cNvPr id="10" name="TextBox 9"/>
          <p:cNvSpPr txBox="1"/>
          <p:nvPr/>
        </p:nvSpPr>
        <p:spPr>
          <a:xfrm>
            <a:off x="2318972" y="3410580"/>
            <a:ext cx="3690690" cy="369332"/>
          </a:xfrm>
          <a:prstGeom prst="rect">
            <a:avLst/>
          </a:prstGeom>
          <a:noFill/>
        </p:spPr>
        <p:txBody>
          <a:bodyPr wrap="none" rtlCol="0">
            <a:spAutoFit/>
          </a:bodyPr>
          <a:lstStyle/>
          <a:p>
            <a:r>
              <a:rPr lang="ru-RU" dirty="0" smtClean="0">
                <a:solidFill>
                  <a:srgbClr val="FF0000"/>
                </a:solidFill>
              </a:rPr>
              <a:t>Двунаправленная буферная память</a:t>
            </a:r>
            <a:endParaRPr lang="ru-RU" dirty="0">
              <a:solidFill>
                <a:srgbClr val="FF0000"/>
              </a:solidFill>
            </a:endParaRPr>
          </a:p>
        </p:txBody>
      </p:sp>
      <p:sp>
        <p:nvSpPr>
          <p:cNvPr id="11" name="Прямоугольник 10"/>
          <p:cNvSpPr/>
          <p:nvPr/>
        </p:nvSpPr>
        <p:spPr>
          <a:xfrm>
            <a:off x="356253" y="5877646"/>
            <a:ext cx="8640960" cy="369332"/>
          </a:xfrm>
          <a:prstGeom prst="rect">
            <a:avLst/>
          </a:prstGeom>
        </p:spPr>
        <p:txBody>
          <a:bodyPr wrap="square">
            <a:spAutoFit/>
          </a:bodyPr>
          <a:lstStyle/>
          <a:p>
            <a:pPr fontAlgn="t"/>
            <a:r>
              <a:rPr lang="ru-RU" dirty="0"/>
              <a:t>Информационные буферы </a:t>
            </a:r>
            <a:r>
              <a:rPr lang="ru-RU" dirty="0" smtClean="0"/>
              <a:t>могут </a:t>
            </a:r>
            <a:r>
              <a:rPr lang="ru-RU" dirty="0"/>
              <a:t>быть организованы по типу </a:t>
            </a:r>
            <a:r>
              <a:rPr lang="ru-RU" b="1" dirty="0"/>
              <a:t>FIFO</a:t>
            </a:r>
            <a:r>
              <a:rPr lang="ru-RU" dirty="0"/>
              <a:t> или по типу </a:t>
            </a:r>
            <a:r>
              <a:rPr lang="ru-RU" b="1" dirty="0"/>
              <a:t>LIFO</a:t>
            </a:r>
            <a:r>
              <a:rPr lang="ru-RU" dirty="0"/>
              <a:t>.</a:t>
            </a:r>
          </a:p>
        </p:txBody>
      </p:sp>
    </p:spTree>
    <p:extLst>
      <p:ext uri="{BB962C8B-B14F-4D97-AF65-F5344CB8AC3E}">
        <p14:creationId xmlns:p14="http://schemas.microsoft.com/office/powerpoint/2010/main" val="32597961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Однонаправленный буфер типа FIFO"/>
          <p:cNvPicPr/>
          <p:nvPr/>
        </p:nvPicPr>
        <p:blipFill>
          <a:blip r:embed="rId2">
            <a:extLst>
              <a:ext uri="{28A0092B-C50C-407E-A947-70E740481C1C}">
                <a14:useLocalDpi xmlns:a14="http://schemas.microsoft.com/office/drawing/2010/main" val="0"/>
              </a:ext>
            </a:extLst>
          </a:blip>
          <a:srcRect/>
          <a:stretch>
            <a:fillRect/>
          </a:stretch>
        </p:blipFill>
        <p:spPr bwMode="auto">
          <a:xfrm>
            <a:off x="1115615" y="557972"/>
            <a:ext cx="6554475" cy="3883243"/>
          </a:xfrm>
          <a:prstGeom prst="rect">
            <a:avLst/>
          </a:prstGeom>
          <a:noFill/>
          <a:ln>
            <a:noFill/>
          </a:ln>
        </p:spPr>
      </p:pic>
      <p:sp>
        <p:nvSpPr>
          <p:cNvPr id="5" name="Прямоугольник 4"/>
          <p:cNvSpPr/>
          <p:nvPr/>
        </p:nvSpPr>
        <p:spPr>
          <a:xfrm>
            <a:off x="2250310" y="123760"/>
            <a:ext cx="4285084" cy="400110"/>
          </a:xfrm>
          <a:prstGeom prst="rect">
            <a:avLst/>
          </a:prstGeom>
        </p:spPr>
        <p:txBody>
          <a:bodyPr wrap="none">
            <a:spAutoFit/>
          </a:bodyPr>
          <a:lstStyle/>
          <a:p>
            <a:pPr fontAlgn="t"/>
            <a:r>
              <a:rPr lang="ru-RU" sz="2000" b="1" dirty="0">
                <a:solidFill>
                  <a:srgbClr val="FF0000"/>
                </a:solidFill>
              </a:rPr>
              <a:t>Однонаправленный буфер типа FIFO</a:t>
            </a:r>
          </a:p>
        </p:txBody>
      </p:sp>
      <p:sp>
        <p:nvSpPr>
          <p:cNvPr id="6" name="Прямоугольник 5"/>
          <p:cNvSpPr/>
          <p:nvPr/>
        </p:nvSpPr>
        <p:spPr>
          <a:xfrm>
            <a:off x="27654" y="4441215"/>
            <a:ext cx="9119051" cy="2031325"/>
          </a:xfrm>
          <a:prstGeom prst="rect">
            <a:avLst/>
          </a:prstGeom>
        </p:spPr>
        <p:txBody>
          <a:bodyPr wrap="square">
            <a:spAutoFit/>
          </a:bodyPr>
          <a:lstStyle/>
          <a:p>
            <a:pPr fontAlgn="t"/>
            <a:r>
              <a:rPr lang="ru-RU" dirty="0"/>
              <a:t>Одно устройство записывает информацию в буфер, на другое устройство выдается информация из буфера. Память всегда записывается полностью, по всем адресам, и читается также полностью. Строб записи "–Зап." поступает в режиме записи с частотой, необходимой для записи, строб чтения "–Чт." поступает при чтении с частотой, необходимой для чтения. Шины данных для записи и чтения в память </a:t>
            </a:r>
            <a:r>
              <a:rPr lang="ru-RU" dirty="0" smtClean="0"/>
              <a:t>отдельные. </a:t>
            </a:r>
            <a:r>
              <a:rPr lang="ru-RU" dirty="0"/>
              <a:t>Н</a:t>
            </a:r>
            <a:r>
              <a:rPr lang="ru-RU" dirty="0" smtClean="0"/>
              <a:t>еобходим один </a:t>
            </a:r>
            <a:r>
              <a:rPr lang="ru-RU" dirty="0"/>
              <a:t>счетчик для перебора адресов </a:t>
            </a:r>
            <a:r>
              <a:rPr lang="ru-RU" dirty="0" smtClean="0"/>
              <a:t>памяти работающий </a:t>
            </a:r>
            <a:r>
              <a:rPr lang="ru-RU" dirty="0"/>
              <a:t>только в режиме прямого счета и имеющий вход начального сброса в нуль.</a:t>
            </a:r>
          </a:p>
        </p:txBody>
      </p:sp>
    </p:spTree>
    <p:extLst>
      <p:ext uri="{BB962C8B-B14F-4D97-AF65-F5344CB8AC3E}">
        <p14:creationId xmlns:p14="http://schemas.microsoft.com/office/powerpoint/2010/main" val="12340148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88302" y="117693"/>
            <a:ext cx="8856984" cy="6740307"/>
          </a:xfrm>
          <a:prstGeom prst="rect">
            <a:avLst/>
          </a:prstGeom>
        </p:spPr>
        <p:txBody>
          <a:bodyPr wrap="square">
            <a:spAutoFit/>
          </a:bodyPr>
          <a:lstStyle/>
          <a:p>
            <a:pPr fontAlgn="t"/>
            <a:r>
              <a:rPr lang="ru-RU" dirty="0"/>
              <a:t>Перед началом работы устройство, производящее запись в память, сбрасывает счетчик в нуль сигналом "–Сброс" и устанавливает режим записи в память, перебрасывая в нуль управляющий триггер (единица на инверсном выходе). Затем начинается процесс записи: записываемые данные поступают с однонаправленного входного буфера </a:t>
            </a:r>
            <a:r>
              <a:rPr lang="ru-RU" dirty="0" smtClean="0"/>
              <a:t>и </a:t>
            </a:r>
            <a:r>
              <a:rPr lang="ru-RU" dirty="0"/>
              <a:t>записываются в память сигналом "–Зап.", который своим задним фронтом переключает адреса памяти. Полная процедура записи включает в себя столько циклов записи, сколько имеется ячеек у используемой памяти</a:t>
            </a:r>
            <a:r>
              <a:rPr lang="ru-RU" dirty="0" smtClean="0"/>
              <a:t>.</a:t>
            </a:r>
          </a:p>
          <a:p>
            <a:pPr fontAlgn="t"/>
            <a:endParaRPr lang="ru-RU" dirty="0"/>
          </a:p>
          <a:p>
            <a:pPr fontAlgn="t"/>
            <a:r>
              <a:rPr lang="ru-RU" dirty="0"/>
              <a:t>После окончания процедуры записи устройство, производившее запись, разрешает чтение из памяти, устанавливая в единицу триггер положительным фронтом сигнала "Пуск" (нуль на инверсном выходе). При этом разрешается прохождение сигнала "–Чт.". Адреса памяти переключаются по заднему фронту сигнала "–Чт.", и по этому же фронту данные, читаемые из памяти, фиксируются в выходном </a:t>
            </a:r>
            <a:r>
              <a:rPr lang="ru-RU" dirty="0" smtClean="0"/>
              <a:t>регистре. </a:t>
            </a:r>
          </a:p>
          <a:p>
            <a:pPr fontAlgn="t"/>
            <a:endParaRPr lang="ru-RU" dirty="0"/>
          </a:p>
          <a:p>
            <a:pPr fontAlgn="t"/>
            <a:r>
              <a:rPr lang="ru-RU" dirty="0" smtClean="0"/>
              <a:t>Выходной </a:t>
            </a:r>
            <a:r>
              <a:rPr lang="ru-RU" dirty="0"/>
              <a:t>регистр выполняет две функции: он не пропускает на выход данные, записываемые в память (по сигналу -WE запрещается запись в </a:t>
            </a:r>
            <a:r>
              <a:rPr lang="ru-RU" dirty="0" smtClean="0"/>
              <a:t>регистр), </a:t>
            </a:r>
            <a:r>
              <a:rPr lang="ru-RU" dirty="0"/>
              <a:t>а также обеспечивает одновременность изменения всех разрядов читаемых данных. Выходная информация из-за этого регистра задерживается на один период сигнала "–Чт.", что необходимо учитывать. </a:t>
            </a:r>
            <a:endParaRPr lang="ru-RU" dirty="0" smtClean="0"/>
          </a:p>
          <a:p>
            <a:pPr fontAlgn="t"/>
            <a:endParaRPr lang="ru-RU" dirty="0"/>
          </a:p>
          <a:p>
            <a:pPr fontAlgn="t"/>
            <a:r>
              <a:rPr lang="ru-RU" dirty="0"/>
              <a:t>После окончания чтения всего объема памяти вырабатывается сигнал переноса счетчика –Р, который снова переводит всю схему в режим записи, сбрасывая триггер в нуль (единица на инверсном выходе). После этого записывающее внешнее устройство снова может начинать процедуру записи в память.</a:t>
            </a:r>
          </a:p>
        </p:txBody>
      </p:sp>
    </p:spTree>
    <p:extLst>
      <p:ext uri="{BB962C8B-B14F-4D97-AF65-F5344CB8AC3E}">
        <p14:creationId xmlns:p14="http://schemas.microsoft.com/office/powerpoint/2010/main" val="34334420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95536" y="404664"/>
            <a:ext cx="8748464" cy="400110"/>
          </a:xfrm>
          <a:prstGeom prst="rect">
            <a:avLst/>
          </a:prstGeom>
        </p:spPr>
        <p:txBody>
          <a:bodyPr wrap="square">
            <a:spAutoFit/>
          </a:bodyPr>
          <a:lstStyle/>
          <a:p>
            <a:r>
              <a:rPr lang="ru-RU" sz="2000" b="1" dirty="0">
                <a:solidFill>
                  <a:srgbClr val="FF0000"/>
                </a:solidFill>
              </a:rPr>
              <a:t>Д</a:t>
            </a:r>
            <a:r>
              <a:rPr lang="ru-RU" sz="2000" b="1" dirty="0" smtClean="0">
                <a:solidFill>
                  <a:srgbClr val="FF0000"/>
                </a:solidFill>
              </a:rPr>
              <a:t>вунаправленный </a:t>
            </a:r>
            <a:r>
              <a:rPr lang="ru-RU" sz="2000" b="1" dirty="0">
                <a:solidFill>
                  <a:srgbClr val="FF0000"/>
                </a:solidFill>
              </a:rPr>
              <a:t>буфер с периодическим режимом обмена типа LIFO</a:t>
            </a:r>
          </a:p>
        </p:txBody>
      </p:sp>
      <p:pic>
        <p:nvPicPr>
          <p:cNvPr id="5" name="Рисунок 4" descr="Обмен между двумя устройствами через два буфера типа LIFO"/>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124744"/>
            <a:ext cx="6395706" cy="2088232"/>
          </a:xfrm>
          <a:prstGeom prst="rect">
            <a:avLst/>
          </a:prstGeom>
          <a:noFill/>
          <a:ln>
            <a:noFill/>
          </a:ln>
        </p:spPr>
      </p:pic>
      <p:sp>
        <p:nvSpPr>
          <p:cNvPr id="6" name="Прямоугольник 5"/>
          <p:cNvSpPr/>
          <p:nvPr/>
        </p:nvSpPr>
        <p:spPr>
          <a:xfrm>
            <a:off x="539552" y="3645024"/>
            <a:ext cx="7848872" cy="2308324"/>
          </a:xfrm>
          <a:prstGeom prst="rect">
            <a:avLst/>
          </a:prstGeom>
        </p:spPr>
        <p:txBody>
          <a:bodyPr wrap="square">
            <a:spAutoFit/>
          </a:bodyPr>
          <a:lstStyle/>
          <a:p>
            <a:pPr fontAlgn="t"/>
            <a:r>
              <a:rPr lang="ru-RU" dirty="0"/>
              <a:t>Устройство 1 записывает в буфер 1 массив в прямом порядке, буфер 1 выдает этот массив в устройство 3 (сеть) в обратном порядке, буфер 2 принимает массив из сети в обратном порядке, а устройство 2 читает принятую информацию опять же в прямом порядке: то есть читается информация в том же порядке, в каком она и писалась. </a:t>
            </a:r>
            <a:endParaRPr lang="ru-RU" dirty="0" smtClean="0"/>
          </a:p>
          <a:p>
            <a:pPr fontAlgn="t"/>
            <a:endParaRPr lang="ru-RU" dirty="0"/>
          </a:p>
          <a:p>
            <a:pPr fontAlgn="t"/>
            <a:r>
              <a:rPr lang="ru-RU" dirty="0" smtClean="0"/>
              <a:t>То </a:t>
            </a:r>
            <a:r>
              <a:rPr lang="ru-RU" dirty="0"/>
              <a:t>же самое происходит и при передаче информации из устройства 2 в устройство 1.</a:t>
            </a:r>
          </a:p>
        </p:txBody>
      </p:sp>
    </p:spTree>
    <p:extLst>
      <p:ext uri="{BB962C8B-B14F-4D97-AF65-F5344CB8AC3E}">
        <p14:creationId xmlns:p14="http://schemas.microsoft.com/office/powerpoint/2010/main" val="10525261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Двунаправленный буфер типа LIFO"/>
          <p:cNvPicPr/>
          <p:nvPr/>
        </p:nvPicPr>
        <p:blipFill>
          <a:blip r:embed="rId2">
            <a:extLst>
              <a:ext uri="{28A0092B-C50C-407E-A947-70E740481C1C}">
                <a14:useLocalDpi xmlns:a14="http://schemas.microsoft.com/office/drawing/2010/main" val="0"/>
              </a:ext>
            </a:extLst>
          </a:blip>
          <a:srcRect/>
          <a:stretch>
            <a:fillRect/>
          </a:stretch>
        </p:blipFill>
        <p:spPr bwMode="auto">
          <a:xfrm>
            <a:off x="1688156" y="980728"/>
            <a:ext cx="6197545" cy="4438675"/>
          </a:xfrm>
          <a:prstGeom prst="rect">
            <a:avLst/>
          </a:prstGeom>
          <a:noFill/>
          <a:ln>
            <a:noFill/>
          </a:ln>
        </p:spPr>
      </p:pic>
      <p:sp>
        <p:nvSpPr>
          <p:cNvPr id="5" name="Прямоугольник 4"/>
          <p:cNvSpPr/>
          <p:nvPr/>
        </p:nvSpPr>
        <p:spPr>
          <a:xfrm>
            <a:off x="1187624" y="235782"/>
            <a:ext cx="6940426" cy="400110"/>
          </a:xfrm>
          <a:prstGeom prst="rect">
            <a:avLst/>
          </a:prstGeom>
        </p:spPr>
        <p:txBody>
          <a:bodyPr wrap="none">
            <a:spAutoFit/>
          </a:bodyPr>
          <a:lstStyle/>
          <a:p>
            <a:r>
              <a:rPr lang="ru-RU" sz="2000" b="1" dirty="0" smtClean="0">
                <a:solidFill>
                  <a:srgbClr val="FF0000"/>
                </a:solidFill>
              </a:rPr>
              <a:t>Функциональная схема двунаправленного буфера </a:t>
            </a:r>
            <a:r>
              <a:rPr lang="ru-RU" sz="2000" b="1" dirty="0">
                <a:solidFill>
                  <a:srgbClr val="FF0000"/>
                </a:solidFill>
              </a:rPr>
              <a:t>типа LIFO</a:t>
            </a:r>
          </a:p>
        </p:txBody>
      </p:sp>
    </p:spTree>
    <p:extLst>
      <p:ext uri="{BB962C8B-B14F-4D97-AF65-F5344CB8AC3E}">
        <p14:creationId xmlns:p14="http://schemas.microsoft.com/office/powerpoint/2010/main" val="16070623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0317" y="23624"/>
            <a:ext cx="8982744" cy="3139321"/>
          </a:xfrm>
          <a:prstGeom prst="rect">
            <a:avLst/>
          </a:prstGeom>
        </p:spPr>
        <p:txBody>
          <a:bodyPr wrap="square">
            <a:spAutoFit/>
          </a:bodyPr>
          <a:lstStyle/>
          <a:p>
            <a:pPr fontAlgn="t"/>
            <a:r>
              <a:rPr lang="ru-RU" dirty="0"/>
              <a:t>Перед началом работы оба триггера сброшены в нуль, счетчик также сброшен в нуль сигналом "Сброс". Сначала в память записывается передаваемый в сеть массив данных. Запись производится сигналом "–Зап.", задний фронт которого увеличивает выходной код счетчика (адрес памяти) на единицу. После окончания записи массива сигналом "</a:t>
            </a:r>
            <a:r>
              <a:rPr lang="ru-RU" dirty="0" err="1"/>
              <a:t>Разр.пер</a:t>
            </a:r>
            <a:r>
              <a:rPr lang="ru-RU" dirty="0"/>
              <a:t>." разрешается передача массива в сеть. В режиме передачи по сигналу строба передачи (</a:t>
            </a:r>
            <a:r>
              <a:rPr lang="ru-RU" dirty="0" err="1"/>
              <a:t>TxC</a:t>
            </a:r>
            <a:r>
              <a:rPr lang="ru-RU" dirty="0"/>
              <a:t>) перебираются адреса памяти в обратном порядке (счетчик работает в режиме обратного счета). Данные, читаемые из памяти, записываются в сдвиговый регистр и выдаются в сеть в последовательном коде (</a:t>
            </a:r>
            <a:r>
              <a:rPr lang="ru-RU" dirty="0" err="1"/>
              <a:t>TxD</a:t>
            </a:r>
            <a:r>
              <a:rPr lang="ru-RU" dirty="0"/>
              <a:t>). После того как счетчик досчитает до нуля, вырабатывается сигнал переноса &lt;0, который сбрасывает в нуль триггер передачи. То есть в сеть выдается весь массив, записанный в память, независимо от его длины, причем массив выдается в обратном порядке.</a:t>
            </a:r>
          </a:p>
        </p:txBody>
      </p:sp>
      <p:sp>
        <p:nvSpPr>
          <p:cNvPr id="5" name="Прямоугольник 4"/>
          <p:cNvSpPr/>
          <p:nvPr/>
        </p:nvSpPr>
        <p:spPr>
          <a:xfrm>
            <a:off x="-9703" y="3356992"/>
            <a:ext cx="9046199" cy="2585323"/>
          </a:xfrm>
          <a:prstGeom prst="rect">
            <a:avLst/>
          </a:prstGeom>
        </p:spPr>
        <p:txBody>
          <a:bodyPr wrap="square">
            <a:spAutoFit/>
          </a:bodyPr>
          <a:lstStyle/>
          <a:p>
            <a:pPr fontAlgn="t"/>
            <a:r>
              <a:rPr lang="ru-RU" dirty="0"/>
              <a:t>В режиме приема информации из сети записывается единица в триггер разрешения приема по сигналу "</a:t>
            </a:r>
            <a:r>
              <a:rPr lang="ru-RU" dirty="0" err="1"/>
              <a:t>Разр</a:t>
            </a:r>
            <a:r>
              <a:rPr lang="ru-RU" dirty="0"/>
              <a:t>. пр.". Принимаемые из сети данные в последовательном коде </a:t>
            </a:r>
            <a:r>
              <a:rPr lang="ru-RU" dirty="0" err="1"/>
              <a:t>RxD</a:t>
            </a:r>
            <a:r>
              <a:rPr lang="ru-RU" dirty="0"/>
              <a:t> записываются в сдвиговый регистр, а из него уже в параллельном коде - в память. Запись производится по сигналу строба приема </a:t>
            </a:r>
            <a:r>
              <a:rPr lang="ru-RU" dirty="0" err="1"/>
              <a:t>RxC</a:t>
            </a:r>
            <a:r>
              <a:rPr lang="ru-RU" dirty="0"/>
              <a:t>, задним фронтом которого переключается счетчик, работающий в режиме инверсного счета. После окончания приема по сигналу "Конец приема" сбрасывается триггер разрешения приема. После этого производится чтение информации из памяти по сигналу "–Чт.". Задним фронтом этого сигнала переключается счетчик, работающий в режиме прямого счета. То есть массив читается в порядке, обратном тому, в котором он пришел из сети.</a:t>
            </a:r>
          </a:p>
        </p:txBody>
      </p:sp>
    </p:spTree>
    <p:extLst>
      <p:ext uri="{BB962C8B-B14F-4D97-AF65-F5344CB8AC3E}">
        <p14:creationId xmlns:p14="http://schemas.microsoft.com/office/powerpoint/2010/main" val="35211572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65098"/>
            <a:ext cx="8550696" cy="2062103"/>
          </a:xfrm>
          <a:prstGeom prst="rect">
            <a:avLst/>
          </a:prstGeom>
        </p:spPr>
        <p:txBody>
          <a:bodyPr wrap="square">
            <a:spAutoFit/>
          </a:bodyPr>
          <a:lstStyle/>
          <a:p>
            <a:pPr algn="ctr" fontAlgn="t"/>
            <a:r>
              <a:rPr lang="ru-RU" sz="2000" b="1" dirty="0">
                <a:solidFill>
                  <a:srgbClr val="FF0000"/>
                </a:solidFill>
              </a:rPr>
              <a:t>Б</a:t>
            </a:r>
            <a:r>
              <a:rPr lang="ru-RU" sz="2000" b="1" dirty="0" smtClean="0">
                <a:solidFill>
                  <a:srgbClr val="FF0000"/>
                </a:solidFill>
              </a:rPr>
              <a:t>уфер </a:t>
            </a:r>
            <a:r>
              <a:rPr lang="ru-RU" sz="2000" b="1" dirty="0">
                <a:solidFill>
                  <a:srgbClr val="FF0000"/>
                </a:solidFill>
              </a:rPr>
              <a:t>с непрерывным режимом </a:t>
            </a:r>
            <a:r>
              <a:rPr lang="ru-RU" sz="2000" b="1" dirty="0" smtClean="0">
                <a:solidFill>
                  <a:srgbClr val="FF0000"/>
                </a:solidFill>
              </a:rPr>
              <a:t>работы</a:t>
            </a:r>
          </a:p>
          <a:p>
            <a:pPr fontAlgn="t"/>
            <a:endParaRPr lang="ru-RU" dirty="0"/>
          </a:p>
          <a:p>
            <a:pPr fontAlgn="t"/>
            <a:r>
              <a:rPr lang="ru-RU" dirty="0" smtClean="0"/>
              <a:t>Одно из </a:t>
            </a:r>
            <a:r>
              <a:rPr lang="ru-RU" dirty="0"/>
              <a:t>устройств </a:t>
            </a:r>
            <a:r>
              <a:rPr lang="ru-RU" dirty="0" smtClean="0"/>
              <a:t>общается с</a:t>
            </a:r>
            <a:r>
              <a:rPr lang="ru-RU" dirty="0"/>
              <a:t> </a:t>
            </a:r>
            <a:r>
              <a:rPr lang="ru-RU" dirty="0" smtClean="0"/>
              <a:t>буфером непрерывно</a:t>
            </a:r>
            <a:r>
              <a:rPr lang="ru-RU" dirty="0"/>
              <a:t>, </a:t>
            </a:r>
            <a:endParaRPr lang="ru-RU" dirty="0" smtClean="0"/>
          </a:p>
          <a:p>
            <a:pPr fontAlgn="t"/>
            <a:r>
              <a:rPr lang="ru-RU" dirty="0" smtClean="0"/>
              <a:t>а другое </a:t>
            </a:r>
            <a:r>
              <a:rPr lang="ru-RU" dirty="0"/>
              <a:t>- только </a:t>
            </a:r>
            <a:r>
              <a:rPr lang="ru-RU" dirty="0" smtClean="0"/>
              <a:t>в отдельные  моменты времени.</a:t>
            </a:r>
          </a:p>
          <a:p>
            <a:pPr fontAlgn="t"/>
            <a:endParaRPr lang="ru-RU" dirty="0"/>
          </a:p>
          <a:p>
            <a:pPr fontAlgn="t"/>
            <a:r>
              <a:rPr lang="ru-RU" dirty="0" smtClean="0"/>
              <a:t>В </a:t>
            </a:r>
            <a:r>
              <a:rPr lang="ru-RU" dirty="0"/>
              <a:t>данном случае уже необходимо иметь два счетчика адреса памяти, выходные коды которых надо мультиплексировать с помощью мультиплексора</a:t>
            </a:r>
            <a:r>
              <a:rPr lang="ru-RU" dirty="0" smtClean="0"/>
              <a:t>.</a:t>
            </a:r>
            <a:endParaRPr lang="ru-RU" dirty="0"/>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736603"/>
            <a:ext cx="6632575" cy="35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Прямоугольник 5"/>
          <p:cNvSpPr/>
          <p:nvPr/>
        </p:nvSpPr>
        <p:spPr>
          <a:xfrm>
            <a:off x="1625114" y="2348880"/>
            <a:ext cx="6331262" cy="369332"/>
          </a:xfrm>
          <a:prstGeom prst="rect">
            <a:avLst/>
          </a:prstGeom>
        </p:spPr>
        <p:txBody>
          <a:bodyPr wrap="square">
            <a:spAutoFit/>
          </a:bodyPr>
          <a:lstStyle/>
          <a:p>
            <a:r>
              <a:rPr lang="ru-RU" b="1" dirty="0"/>
              <a:t>Передающий буфер с непрерывным режимом работы</a:t>
            </a:r>
          </a:p>
        </p:txBody>
      </p:sp>
    </p:spTree>
    <p:extLst>
      <p:ext uri="{BB962C8B-B14F-4D97-AF65-F5344CB8AC3E}">
        <p14:creationId xmlns:p14="http://schemas.microsoft.com/office/powerpoint/2010/main" val="37628837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651" y="404664"/>
            <a:ext cx="8982744" cy="5632311"/>
          </a:xfrm>
          <a:prstGeom prst="rect">
            <a:avLst/>
          </a:prstGeom>
        </p:spPr>
        <p:txBody>
          <a:bodyPr wrap="square">
            <a:spAutoFit/>
          </a:bodyPr>
          <a:lstStyle/>
          <a:p>
            <a:pPr fontAlgn="t"/>
            <a:r>
              <a:rPr lang="ru-RU" sz="2000" dirty="0"/>
              <a:t>Счетчик чтения непрерывно перебирает адреса памяти с частотой тактового генератора. </a:t>
            </a:r>
            <a:endParaRPr lang="ru-RU" sz="2000" dirty="0" smtClean="0"/>
          </a:p>
          <a:p>
            <a:pPr fontAlgn="t"/>
            <a:endParaRPr lang="ru-RU" sz="2000" dirty="0" smtClean="0"/>
          </a:p>
          <a:p>
            <a:pPr fontAlgn="t"/>
            <a:r>
              <a:rPr lang="ru-RU" sz="2000" dirty="0" smtClean="0"/>
              <a:t>Читаемая </a:t>
            </a:r>
            <a:r>
              <a:rPr lang="ru-RU" sz="2000" dirty="0"/>
              <a:t>из памяти информация записывается в выходной регистр и выдается на выход. В момент записи по сигналу "–Зап." мультиплексор подает на адресные входы памяти выходной код счетчика записи. </a:t>
            </a:r>
            <a:endParaRPr lang="ru-RU" sz="2000" dirty="0" smtClean="0"/>
          </a:p>
          <a:p>
            <a:pPr fontAlgn="t"/>
            <a:r>
              <a:rPr lang="ru-RU" sz="2000" dirty="0" smtClean="0"/>
              <a:t>На </a:t>
            </a:r>
            <a:r>
              <a:rPr lang="ru-RU" sz="2000" dirty="0"/>
              <a:t>память подается сигнал –WR, вложенный в сигнал "–Зап." (он начинается после начала сигнала "–Зап." и заканчивается раньше этого сигнала ). </a:t>
            </a:r>
            <a:endParaRPr lang="ru-RU" sz="2000" dirty="0" smtClean="0"/>
          </a:p>
          <a:p>
            <a:pPr fontAlgn="t"/>
            <a:r>
              <a:rPr lang="ru-RU" sz="2000" dirty="0" smtClean="0"/>
              <a:t>Это </a:t>
            </a:r>
            <a:r>
              <a:rPr lang="ru-RU" sz="2000" dirty="0"/>
              <a:t>достигается применением цепочки из двух инверторов и элемента 2И-НЕ. Такая последовательность сигналов позволяет записать в память входные данные по адресу записи со счетчика записи и не изменять содержимое ячеек памяти с другими адресами</a:t>
            </a:r>
            <a:r>
              <a:rPr lang="ru-RU" sz="2000" dirty="0" smtClean="0"/>
              <a:t>.</a:t>
            </a:r>
          </a:p>
          <a:p>
            <a:pPr fontAlgn="t"/>
            <a:endParaRPr lang="ru-RU" sz="2000" dirty="0"/>
          </a:p>
          <a:p>
            <a:pPr fontAlgn="t"/>
            <a:r>
              <a:rPr lang="ru-RU" sz="2000" dirty="0"/>
              <a:t>Перед началом записи памяти счетчик записи сбрасывается в нуль по сигналу "Сброс". После каждой операции записи по заднему фронту сигнала "–Зап." код на выходе счетчика записи увеличивается на единицу. То есть для того чтобы записать всю память, необходимо сбросить счетчик и произвести столько циклов записи, сколько ячеек имеется в памяти.</a:t>
            </a:r>
          </a:p>
        </p:txBody>
      </p:sp>
    </p:spTree>
    <p:extLst>
      <p:ext uri="{BB962C8B-B14F-4D97-AF65-F5344CB8AC3E}">
        <p14:creationId xmlns:p14="http://schemas.microsoft.com/office/powerpoint/2010/main" val="22334027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66548" y="392372"/>
            <a:ext cx="7340216" cy="707886"/>
          </a:xfrm>
          <a:prstGeom prst="rect">
            <a:avLst/>
          </a:prstGeom>
          <a:noFill/>
        </p:spPr>
        <p:txBody>
          <a:bodyPr wrap="none" rtlCol="0">
            <a:spAutoFit/>
          </a:bodyPr>
          <a:lstStyle/>
          <a:p>
            <a:pPr algn="ctr"/>
            <a:r>
              <a:rPr lang="ru-RU" sz="2000" b="1" dirty="0" smtClean="0"/>
              <a:t>Особенности использования микросхем динамической памяти </a:t>
            </a:r>
          </a:p>
          <a:p>
            <a:pPr algn="ctr"/>
            <a:r>
              <a:rPr lang="ru-RU" sz="2000" b="1" dirty="0" smtClean="0"/>
              <a:t>(</a:t>
            </a:r>
            <a:r>
              <a:rPr lang="en-US" sz="2000" b="1" dirty="0" smtClean="0"/>
              <a:t>DRAM)</a:t>
            </a:r>
            <a:endParaRPr lang="ru-RU" sz="2000" b="1" dirty="0"/>
          </a:p>
        </p:txBody>
      </p:sp>
      <p:sp>
        <p:nvSpPr>
          <p:cNvPr id="5" name="Прямоугольник 4"/>
          <p:cNvSpPr/>
          <p:nvPr/>
        </p:nvSpPr>
        <p:spPr>
          <a:xfrm>
            <a:off x="-18256" y="1340768"/>
            <a:ext cx="9126760" cy="4801314"/>
          </a:xfrm>
          <a:prstGeom prst="rect">
            <a:avLst/>
          </a:prstGeom>
        </p:spPr>
        <p:txBody>
          <a:bodyPr wrap="square">
            <a:spAutoFit/>
          </a:bodyPr>
          <a:lstStyle/>
          <a:p>
            <a:r>
              <a:rPr lang="ru-RU" b="1" i="1" dirty="0"/>
              <a:t>Мультиплексирование шины </a:t>
            </a:r>
            <a:r>
              <a:rPr lang="ru-RU" b="1" i="1" dirty="0" smtClean="0"/>
              <a:t>адреса</a:t>
            </a:r>
            <a:endParaRPr lang="en-US" b="1" i="1" dirty="0" smtClean="0"/>
          </a:p>
          <a:p>
            <a:endParaRPr lang="ru-RU" b="1" i="1" dirty="0"/>
          </a:p>
          <a:p>
            <a:r>
              <a:rPr lang="ru-RU" dirty="0"/>
              <a:t>Особенность почти всех динамических ЗУ — </a:t>
            </a:r>
            <a:r>
              <a:rPr lang="ru-RU" b="1" dirty="0"/>
              <a:t>мультиплексирование шины </a:t>
            </a:r>
            <a:r>
              <a:rPr lang="ru-RU" dirty="0"/>
              <a:t>адреса.</a:t>
            </a:r>
          </a:p>
          <a:p>
            <a:endParaRPr lang="en-US" dirty="0" smtClean="0"/>
          </a:p>
          <a:p>
            <a:r>
              <a:rPr lang="ru-RU" dirty="0" smtClean="0"/>
              <a:t>Адрес </a:t>
            </a:r>
            <a:r>
              <a:rPr lang="ru-RU" dirty="0"/>
              <a:t>делится на две части — </a:t>
            </a:r>
            <a:r>
              <a:rPr lang="ru-RU" b="1" dirty="0"/>
              <a:t>адрес </a:t>
            </a:r>
            <a:r>
              <a:rPr lang="ru-RU" b="1" dirty="0" smtClean="0"/>
              <a:t>строки</a:t>
            </a:r>
            <a:r>
              <a:rPr lang="en-US" b="1" dirty="0" smtClean="0"/>
              <a:t> </a:t>
            </a:r>
            <a:r>
              <a:rPr lang="en-US" dirty="0" smtClean="0"/>
              <a:t>(Row)</a:t>
            </a:r>
            <a:r>
              <a:rPr lang="ru-RU" dirty="0" smtClean="0"/>
              <a:t> </a:t>
            </a:r>
            <a:r>
              <a:rPr lang="ru-RU" dirty="0"/>
              <a:t>и </a:t>
            </a:r>
            <a:r>
              <a:rPr lang="ru-RU" b="1" dirty="0"/>
              <a:t>адрес столбца </a:t>
            </a:r>
            <a:r>
              <a:rPr lang="en-US" dirty="0" smtClean="0"/>
              <a:t>(Column) </a:t>
            </a:r>
            <a:r>
              <a:rPr lang="ru-RU" dirty="0" smtClean="0"/>
              <a:t>матрицы.</a:t>
            </a:r>
            <a:endParaRPr lang="en-US" dirty="0" smtClean="0"/>
          </a:p>
          <a:p>
            <a:endParaRPr lang="en-US" dirty="0"/>
          </a:p>
          <a:p>
            <a:r>
              <a:rPr lang="ru-RU" dirty="0" smtClean="0"/>
              <a:t> </a:t>
            </a:r>
            <a:r>
              <a:rPr lang="ru-RU" dirty="0"/>
              <a:t>Эти </a:t>
            </a:r>
            <a:r>
              <a:rPr lang="ru-RU" dirty="0" smtClean="0"/>
              <a:t>адреса </a:t>
            </a:r>
            <a:r>
              <a:rPr lang="ru-RU" dirty="0"/>
              <a:t>подаются на одни и те же выводы ИС поочередно. </a:t>
            </a:r>
            <a:endParaRPr lang="en-US" dirty="0" smtClean="0"/>
          </a:p>
          <a:p>
            <a:endParaRPr lang="en-US" dirty="0"/>
          </a:p>
          <a:p>
            <a:r>
              <a:rPr lang="ru-RU" b="1" dirty="0" smtClean="0"/>
              <a:t>Адрес </a:t>
            </a:r>
            <a:r>
              <a:rPr lang="ru-RU" b="1" dirty="0"/>
              <a:t>строки </a:t>
            </a:r>
            <a:r>
              <a:rPr lang="ru-RU" dirty="0" smtClean="0"/>
              <a:t>сопровождается</a:t>
            </a:r>
            <a:r>
              <a:rPr lang="en-US" dirty="0" smtClean="0"/>
              <a:t> </a:t>
            </a:r>
            <a:r>
              <a:rPr lang="ru-RU" dirty="0" smtClean="0"/>
              <a:t>стробом </a:t>
            </a:r>
            <a:r>
              <a:rPr lang="en-US" dirty="0"/>
              <a:t>RAS (Row Address Strobe), </a:t>
            </a:r>
          </a:p>
          <a:p>
            <a:r>
              <a:rPr lang="ru-RU" b="1" dirty="0" smtClean="0"/>
              <a:t>адрес </a:t>
            </a:r>
            <a:r>
              <a:rPr lang="ru-RU" b="1" dirty="0"/>
              <a:t>столбца </a:t>
            </a:r>
            <a:r>
              <a:rPr lang="ru-RU" dirty="0"/>
              <a:t>— стробом </a:t>
            </a:r>
            <a:r>
              <a:rPr lang="en-US" dirty="0"/>
              <a:t>CAS (</a:t>
            </a:r>
            <a:r>
              <a:rPr lang="en-US" dirty="0" smtClean="0"/>
              <a:t>Column </a:t>
            </a:r>
            <a:r>
              <a:rPr lang="ru-RU" dirty="0" err="1" smtClean="0"/>
              <a:t>Address</a:t>
            </a:r>
            <a:r>
              <a:rPr lang="ru-RU" dirty="0" smtClean="0"/>
              <a:t> </a:t>
            </a:r>
            <a:r>
              <a:rPr lang="ru-RU" dirty="0" err="1"/>
              <a:t>Strobe</a:t>
            </a:r>
            <a:r>
              <a:rPr lang="ru-RU" dirty="0"/>
              <a:t>). </a:t>
            </a:r>
            <a:endParaRPr lang="en-US" dirty="0" smtClean="0"/>
          </a:p>
          <a:p>
            <a:endParaRPr lang="en-US" dirty="0" smtClean="0"/>
          </a:p>
          <a:p>
            <a:r>
              <a:rPr lang="ru-RU" dirty="0" smtClean="0"/>
              <a:t>Мультиплексирование </a:t>
            </a:r>
            <a:r>
              <a:rPr lang="ru-RU" dirty="0"/>
              <a:t>шины адреса уменьшает число </a:t>
            </a:r>
            <a:r>
              <a:rPr lang="ru-RU" dirty="0" smtClean="0"/>
              <a:t>выводов</a:t>
            </a:r>
            <a:r>
              <a:rPr lang="en-US" dirty="0" smtClean="0"/>
              <a:t> </a:t>
            </a:r>
            <a:r>
              <a:rPr lang="ru-RU" dirty="0" smtClean="0"/>
              <a:t>микросхемы </a:t>
            </a:r>
            <a:r>
              <a:rPr lang="ru-RU" dirty="0"/>
              <a:t>на половину разрядности адреса и тем самым удешевляет ее. </a:t>
            </a:r>
            <a:endParaRPr lang="en-US" dirty="0" smtClean="0"/>
          </a:p>
          <a:p>
            <a:endParaRPr lang="en-US" dirty="0" smtClean="0"/>
          </a:p>
          <a:p>
            <a:r>
              <a:rPr lang="ru-RU" dirty="0" smtClean="0"/>
              <a:t>Сокращение </a:t>
            </a:r>
            <a:r>
              <a:rPr lang="ru-RU" dirty="0"/>
              <a:t>числа выводов корпуса для динамических ЗУ особенно актуально, т. к. они </a:t>
            </a:r>
            <a:r>
              <a:rPr lang="ru-RU" dirty="0" smtClean="0"/>
              <a:t>имеют </a:t>
            </a:r>
            <a:r>
              <a:rPr lang="ru-RU" dirty="0"/>
              <a:t>максимальную емкость и, следовательно, большую разрядность адресов. </a:t>
            </a:r>
            <a:endParaRPr lang="en-US" dirty="0" smtClean="0"/>
          </a:p>
          <a:p>
            <a:endParaRPr lang="en-US" dirty="0"/>
          </a:p>
        </p:txBody>
      </p:sp>
    </p:spTree>
    <p:extLst>
      <p:ext uri="{BB962C8B-B14F-4D97-AF65-F5344CB8AC3E}">
        <p14:creationId xmlns:p14="http://schemas.microsoft.com/office/powerpoint/2010/main" val="4515651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261113" y="576175"/>
            <a:ext cx="3882887" cy="5078313"/>
          </a:xfrm>
          <a:prstGeom prst="rect">
            <a:avLst/>
          </a:prstGeom>
        </p:spPr>
        <p:txBody>
          <a:bodyPr wrap="square">
            <a:spAutoFit/>
          </a:bodyPr>
          <a:lstStyle/>
          <a:p>
            <a:r>
              <a:rPr lang="ru-RU" dirty="0"/>
              <a:t>Циклы обращения к ЗУ начинаются сигналом RAS и запаздывающим относительно него сигналом CAS. </a:t>
            </a:r>
            <a:endParaRPr lang="en-US" dirty="0"/>
          </a:p>
          <a:p>
            <a:endParaRPr lang="en-US" dirty="0"/>
          </a:p>
          <a:p>
            <a:r>
              <a:rPr lang="ru-RU" dirty="0"/>
              <a:t>Отрицательным фронтам этих сигналов  соответствуют моменты восприятия адресов строки и </a:t>
            </a:r>
            <a:r>
              <a:rPr lang="ru-RU" dirty="0" smtClean="0"/>
              <a:t>столбца.</a:t>
            </a:r>
            <a:endParaRPr lang="en-US" dirty="0"/>
          </a:p>
          <a:p>
            <a:endParaRPr lang="en-US" dirty="0"/>
          </a:p>
          <a:p>
            <a:r>
              <a:rPr lang="ru-RU" dirty="0"/>
              <a:t>По коду операции (сигнал  R/W)  либо  вырабатываются  выходные  данные </a:t>
            </a:r>
            <a:r>
              <a:rPr lang="ru-RU" dirty="0" smtClean="0"/>
              <a:t>DO,  либо  </a:t>
            </a:r>
            <a:r>
              <a:rPr lang="ru-RU" dirty="0"/>
              <a:t>принимаются  входные  данные  DI.  </a:t>
            </a:r>
            <a:endParaRPr lang="ru-RU" dirty="0" smtClean="0"/>
          </a:p>
          <a:p>
            <a:endParaRPr lang="ru-RU" dirty="0"/>
          </a:p>
          <a:p>
            <a:r>
              <a:rPr lang="ru-RU" dirty="0" smtClean="0"/>
              <a:t>В  </a:t>
            </a:r>
            <a:r>
              <a:rPr lang="ru-RU" dirty="0"/>
              <a:t>циклах  регенерации  подаются  </a:t>
            </a:r>
            <a:r>
              <a:rPr lang="ru-RU" dirty="0" smtClean="0"/>
              <a:t>только  </a:t>
            </a:r>
            <a:r>
              <a:rPr lang="ru-RU" dirty="0"/>
              <a:t>импульсные  сигналы  RAS   и  адреса  строк. </a:t>
            </a:r>
            <a:endParaRPr lang="en-US" dirty="0"/>
          </a:p>
          <a:p>
            <a:endParaRPr lang="en-US" dirty="0"/>
          </a:p>
        </p:txBody>
      </p:sp>
      <p:pic>
        <p:nvPicPr>
          <p:cNvPr id="6"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10230" r="13657"/>
          <a:stretch/>
        </p:blipFill>
        <p:spPr bwMode="auto">
          <a:xfrm>
            <a:off x="26505" y="373306"/>
            <a:ext cx="2968487" cy="20608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l="5454" r="6763"/>
          <a:stretch/>
        </p:blipFill>
        <p:spPr bwMode="auto">
          <a:xfrm>
            <a:off x="331304" y="2507103"/>
            <a:ext cx="4929809" cy="4325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899592" y="18607"/>
            <a:ext cx="7776864" cy="400110"/>
          </a:xfrm>
          <a:prstGeom prst="rect">
            <a:avLst/>
          </a:prstGeom>
        </p:spPr>
        <p:txBody>
          <a:bodyPr wrap="square">
            <a:spAutoFit/>
          </a:bodyPr>
          <a:lstStyle/>
          <a:p>
            <a:pPr algn="ctr"/>
            <a:r>
              <a:rPr lang="ru-RU" sz="2000" b="1" dirty="0"/>
              <a:t>Внешняя организация и временные </a:t>
            </a:r>
            <a:r>
              <a:rPr lang="ru-RU" sz="2000" b="1" dirty="0" smtClean="0"/>
              <a:t>диаграммы</a:t>
            </a:r>
            <a:r>
              <a:rPr lang="en-US" sz="2000" b="1" dirty="0" smtClean="0"/>
              <a:t> DRAM</a:t>
            </a:r>
            <a:endParaRPr lang="ru-RU" sz="2000" b="1" dirty="0"/>
          </a:p>
        </p:txBody>
      </p:sp>
    </p:spTree>
    <p:extLst>
      <p:ext uri="{BB962C8B-B14F-4D97-AF65-F5344CB8AC3E}">
        <p14:creationId xmlns:p14="http://schemas.microsoft.com/office/powerpoint/2010/main" val="363665314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691680" y="332656"/>
            <a:ext cx="6768752" cy="400110"/>
          </a:xfrm>
          <a:prstGeom prst="rect">
            <a:avLst/>
          </a:prstGeom>
        </p:spPr>
        <p:txBody>
          <a:bodyPr wrap="square">
            <a:spAutoFit/>
          </a:bodyPr>
          <a:lstStyle/>
          <a:p>
            <a:r>
              <a:rPr lang="ru-RU" sz="2000" b="1" dirty="0"/>
              <a:t>Регенерация  </a:t>
            </a:r>
            <a:r>
              <a:rPr lang="ru-RU" sz="2000" b="1" dirty="0" smtClean="0"/>
              <a:t>данных   в динамических  </a:t>
            </a:r>
            <a:r>
              <a:rPr lang="ru-RU" sz="2000" b="1" dirty="0"/>
              <a:t>ЗУ</a:t>
            </a:r>
          </a:p>
        </p:txBody>
      </p:sp>
      <p:sp>
        <p:nvSpPr>
          <p:cNvPr id="5" name="Прямоугольник 4"/>
          <p:cNvSpPr/>
          <p:nvPr/>
        </p:nvSpPr>
        <p:spPr>
          <a:xfrm>
            <a:off x="179512" y="908720"/>
            <a:ext cx="9073008" cy="2585323"/>
          </a:xfrm>
          <a:prstGeom prst="rect">
            <a:avLst/>
          </a:prstGeom>
        </p:spPr>
        <p:txBody>
          <a:bodyPr wrap="square">
            <a:spAutoFit/>
          </a:bodyPr>
          <a:lstStyle/>
          <a:p>
            <a:r>
              <a:rPr lang="ru-RU" dirty="0"/>
              <a:t>Во  избежание  потери  информации  динамические  ЗУ  нуждаются  в  периодической </a:t>
            </a:r>
          </a:p>
          <a:p>
            <a:r>
              <a:rPr lang="ru-RU" dirty="0"/>
              <a:t>регенерации.  Без  обновления  заряды  конденсаторов  могут  сохраняться  только  в </a:t>
            </a:r>
          </a:p>
          <a:p>
            <a:r>
              <a:rPr lang="ru-RU" dirty="0"/>
              <a:t>течение  миллисекунд  (до  50 … 60  </a:t>
            </a:r>
            <a:r>
              <a:rPr lang="ru-RU" dirty="0" err="1"/>
              <a:t>мс</a:t>
            </a:r>
            <a:r>
              <a:rPr lang="ru-RU" dirty="0"/>
              <a:t>). </a:t>
            </a:r>
            <a:endParaRPr lang="ru-RU" dirty="0" smtClean="0"/>
          </a:p>
          <a:p>
            <a:endParaRPr lang="ru-RU" dirty="0" smtClean="0"/>
          </a:p>
          <a:p>
            <a:r>
              <a:rPr lang="ru-RU" dirty="0" smtClean="0"/>
              <a:t>Традиционный  </a:t>
            </a:r>
            <a:r>
              <a:rPr lang="ru-RU" dirty="0"/>
              <a:t>режим  строчной  </a:t>
            </a:r>
            <a:r>
              <a:rPr lang="ru-RU" dirty="0" smtClean="0"/>
              <a:t>регенерации  </a:t>
            </a:r>
            <a:r>
              <a:rPr lang="ru-RU" dirty="0"/>
              <a:t>—  проведение  циклов  чтения  по  всем  строкам  матрицы  ЗЭ.  При  этом  процесс </a:t>
            </a:r>
            <a:r>
              <a:rPr lang="ru-RU" dirty="0" smtClean="0"/>
              <a:t>не  </a:t>
            </a:r>
            <a:r>
              <a:rPr lang="ru-RU" dirty="0"/>
              <a:t>сопровождается  выдачей  данных  на  выходные  буферы,  а  целиком  проходит </a:t>
            </a:r>
            <a:r>
              <a:rPr lang="ru-RU" dirty="0" smtClean="0"/>
              <a:t>внутри  </a:t>
            </a:r>
            <a:r>
              <a:rPr lang="ru-RU" dirty="0"/>
              <a:t>ЗУ.  </a:t>
            </a:r>
            <a:endParaRPr lang="ru-RU" dirty="0" smtClean="0"/>
          </a:p>
          <a:p>
            <a:endParaRPr lang="ru-RU" dirty="0" smtClean="0"/>
          </a:p>
          <a:p>
            <a:r>
              <a:rPr lang="ru-RU" dirty="0" smtClean="0"/>
              <a:t>Используются  </a:t>
            </a:r>
            <a:r>
              <a:rPr lang="ru-RU" dirty="0"/>
              <a:t>только  адреса  строк,  </a:t>
            </a:r>
            <a:r>
              <a:rPr lang="ru-RU" dirty="0" smtClean="0"/>
              <a:t> </a:t>
            </a:r>
            <a:r>
              <a:rPr lang="ru-RU" dirty="0"/>
              <a:t>адреса  столбцов  не  требуются.   </a:t>
            </a:r>
          </a:p>
        </p:txBody>
      </p:sp>
    </p:spTree>
    <p:extLst>
      <p:ext uri="{BB962C8B-B14F-4D97-AF65-F5344CB8AC3E}">
        <p14:creationId xmlns:p14="http://schemas.microsoft.com/office/powerpoint/2010/main" val="29989695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691680" y="214767"/>
            <a:ext cx="5977470" cy="369332"/>
          </a:xfrm>
          <a:prstGeom prst="rect">
            <a:avLst/>
          </a:prstGeom>
        </p:spPr>
        <p:txBody>
          <a:bodyPr wrap="none">
            <a:spAutoFit/>
          </a:bodyPr>
          <a:lstStyle/>
          <a:p>
            <a:r>
              <a:rPr lang="ru-RU" b="1" dirty="0"/>
              <a:t> </a:t>
            </a:r>
            <a:r>
              <a:rPr lang="ru-RU" b="1" dirty="0" smtClean="0"/>
              <a:t>Схема  </a:t>
            </a:r>
            <a:r>
              <a:rPr lang="ru-RU" b="1" dirty="0"/>
              <a:t>контроллера  </a:t>
            </a:r>
            <a:r>
              <a:rPr lang="ru-RU" b="1" dirty="0" smtClean="0"/>
              <a:t>регенерации динамической памяти</a:t>
            </a:r>
            <a:endParaRPr lang="ru-RU" b="1" dirty="0"/>
          </a:p>
        </p:txBody>
      </p:sp>
      <p:pic>
        <p:nvPicPr>
          <p:cNvPr id="3789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99592" y="553065"/>
            <a:ext cx="7977644" cy="594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8971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9209" y="386487"/>
            <a:ext cx="8856984" cy="2585323"/>
          </a:xfrm>
          <a:prstGeom prst="rect">
            <a:avLst/>
          </a:prstGeom>
        </p:spPr>
        <p:txBody>
          <a:bodyPr wrap="square">
            <a:spAutoFit/>
          </a:bodyPr>
          <a:lstStyle/>
          <a:p>
            <a:r>
              <a:rPr lang="ru-RU" dirty="0"/>
              <a:t>Т</a:t>
            </a:r>
            <a:r>
              <a:rPr lang="ru-RU" dirty="0" smtClean="0"/>
              <a:t>риггеры  </a:t>
            </a:r>
            <a:r>
              <a:rPr lang="ru-RU" dirty="0"/>
              <a:t>Т 1  и  Т2  сброшены.  Нулевое  значение  выхода  Т2  </a:t>
            </a:r>
            <a:r>
              <a:rPr lang="ru-RU" dirty="0" smtClean="0"/>
              <a:t>сбрасывает  </a:t>
            </a:r>
            <a:r>
              <a:rPr lang="ru-RU" dirty="0"/>
              <a:t>счетчик  CTR  и  удерживает  его  в  нулевом  состоянии,  блокирует  передачу </a:t>
            </a:r>
            <a:r>
              <a:rPr lang="ru-RU" dirty="0" smtClean="0"/>
              <a:t>через  </a:t>
            </a:r>
            <a:r>
              <a:rPr lang="ru-RU" dirty="0"/>
              <a:t>элемент  И-ИЛИ  строба  </a:t>
            </a:r>
            <a:r>
              <a:rPr lang="ru-RU" dirty="0" err="1"/>
              <a:t>RASрег</a:t>
            </a:r>
            <a:r>
              <a:rPr lang="ru-RU" dirty="0"/>
              <a:t>  и  по  адресному  входу  А  мультиплексора </a:t>
            </a:r>
            <a:r>
              <a:rPr lang="ru-RU" dirty="0" smtClean="0"/>
              <a:t>MUX2  </a:t>
            </a:r>
            <a:r>
              <a:rPr lang="ru-RU" dirty="0"/>
              <a:t>обеспечивает  передачу  на  выход  этого  мультиплексора  адресов  от  </a:t>
            </a:r>
            <a:r>
              <a:rPr lang="ru-RU" dirty="0" smtClean="0"/>
              <a:t>мультиплексора  </a:t>
            </a:r>
            <a:r>
              <a:rPr lang="ru-RU" dirty="0"/>
              <a:t>MUX1 </a:t>
            </a:r>
            <a:r>
              <a:rPr lang="ru-RU" dirty="0" smtClean="0"/>
              <a:t>. </a:t>
            </a:r>
          </a:p>
          <a:p>
            <a:r>
              <a:rPr lang="ru-RU" dirty="0" smtClean="0"/>
              <a:t>	При  </a:t>
            </a:r>
            <a:r>
              <a:rPr lang="ru-RU" dirty="0"/>
              <a:t>этом  модуль  памяти  получает  стробы  RAS   и  CAS ,  соответствующие  рабочему </a:t>
            </a:r>
            <a:r>
              <a:rPr lang="ru-RU" dirty="0" smtClean="0"/>
              <a:t>режиму</a:t>
            </a:r>
            <a:r>
              <a:rPr lang="ru-RU" dirty="0"/>
              <a:t>,  адреса  А 1  и  А2  строк  и  столбцов,  выдаваемые  процессором  </a:t>
            </a:r>
            <a:r>
              <a:rPr lang="ru-RU" dirty="0" smtClean="0"/>
              <a:t>в сопровождении этих  </a:t>
            </a:r>
            <a:r>
              <a:rPr lang="ru-RU" dirty="0"/>
              <a:t>стробов,  а  также  сигналы  управления  R/W  и  OE .  При  записи  модулем </a:t>
            </a:r>
            <a:r>
              <a:rPr lang="ru-RU" dirty="0" smtClean="0"/>
              <a:t>воспринимаются  </a:t>
            </a:r>
            <a:r>
              <a:rPr lang="ru-RU" dirty="0"/>
              <a:t>входные  данные  DI,  при  чтении  выдаются  выходные  данные  DO. </a:t>
            </a:r>
            <a:r>
              <a:rPr lang="ru-RU" dirty="0" smtClean="0"/>
              <a:t> </a:t>
            </a:r>
            <a:endParaRPr lang="ru-RU" dirty="0"/>
          </a:p>
        </p:txBody>
      </p:sp>
      <p:sp>
        <p:nvSpPr>
          <p:cNvPr id="5" name="TextBox 4"/>
          <p:cNvSpPr txBox="1"/>
          <p:nvPr/>
        </p:nvSpPr>
        <p:spPr>
          <a:xfrm>
            <a:off x="79242" y="23985"/>
            <a:ext cx="2021387" cy="400110"/>
          </a:xfrm>
          <a:prstGeom prst="rect">
            <a:avLst/>
          </a:prstGeom>
          <a:noFill/>
        </p:spPr>
        <p:txBody>
          <a:bodyPr wrap="none" rtlCol="0">
            <a:spAutoFit/>
          </a:bodyPr>
          <a:lstStyle/>
          <a:p>
            <a:r>
              <a:rPr lang="ru-RU" sz="2000" b="1" i="1" dirty="0" smtClean="0"/>
              <a:t>Рабочий  </a:t>
            </a:r>
            <a:r>
              <a:rPr lang="ru-RU" sz="2000" b="1" i="1" dirty="0"/>
              <a:t>режим</a:t>
            </a:r>
          </a:p>
        </p:txBody>
      </p:sp>
      <p:sp>
        <p:nvSpPr>
          <p:cNvPr id="6" name="Прямоугольник 5"/>
          <p:cNvSpPr/>
          <p:nvPr/>
        </p:nvSpPr>
        <p:spPr>
          <a:xfrm>
            <a:off x="7504" y="2934300"/>
            <a:ext cx="3996287" cy="400110"/>
          </a:xfrm>
          <a:prstGeom prst="rect">
            <a:avLst/>
          </a:prstGeom>
        </p:spPr>
        <p:txBody>
          <a:bodyPr wrap="none">
            <a:spAutoFit/>
          </a:bodyPr>
          <a:lstStyle/>
          <a:p>
            <a:r>
              <a:rPr lang="ru-RU" sz="2000" b="1" i="1" dirty="0"/>
              <a:t>Переход  к  режиму  регенерации </a:t>
            </a:r>
          </a:p>
        </p:txBody>
      </p:sp>
      <p:sp>
        <p:nvSpPr>
          <p:cNvPr id="7" name="Прямоугольник 6"/>
          <p:cNvSpPr/>
          <p:nvPr/>
        </p:nvSpPr>
        <p:spPr>
          <a:xfrm>
            <a:off x="79242" y="3325851"/>
            <a:ext cx="8957254" cy="3416320"/>
          </a:xfrm>
          <a:prstGeom prst="rect">
            <a:avLst/>
          </a:prstGeom>
        </p:spPr>
        <p:txBody>
          <a:bodyPr wrap="square">
            <a:spAutoFit/>
          </a:bodyPr>
          <a:lstStyle/>
          <a:p>
            <a:r>
              <a:rPr lang="ru-RU" dirty="0"/>
              <a:t>Генератор  G  непрерывно  генерирует  последовательность  </a:t>
            </a:r>
            <a:r>
              <a:rPr lang="ru-RU" dirty="0" smtClean="0"/>
              <a:t>импульсов с  периодом  повторения равным  </a:t>
            </a:r>
            <a:r>
              <a:rPr lang="ru-RU" b="1" dirty="0"/>
              <a:t>длительности  цикла  чтения  </a:t>
            </a:r>
            <a:r>
              <a:rPr lang="ru-RU" dirty="0" smtClean="0"/>
              <a:t>ЗУ (десятки наносекунд).  </a:t>
            </a:r>
          </a:p>
          <a:p>
            <a:r>
              <a:rPr lang="ru-RU" dirty="0" smtClean="0"/>
              <a:t>	Делитель  </a:t>
            </a:r>
            <a:r>
              <a:rPr lang="ru-RU" dirty="0"/>
              <a:t>частоты  ДЧ  </a:t>
            </a:r>
            <a:r>
              <a:rPr lang="ru-RU" dirty="0" smtClean="0"/>
              <a:t>понижает  </a:t>
            </a:r>
            <a:r>
              <a:rPr lang="ru-RU" dirty="0"/>
              <a:t>частоту  импульсов  </a:t>
            </a:r>
            <a:r>
              <a:rPr lang="ru-RU" dirty="0" smtClean="0"/>
              <a:t>генератора (увеличивает период повторения) до равенства периоду  </a:t>
            </a:r>
            <a:r>
              <a:rPr lang="ru-RU" dirty="0"/>
              <a:t>регенерации  </a:t>
            </a:r>
            <a:r>
              <a:rPr lang="ru-RU" b="1" dirty="0" err="1"/>
              <a:t>Tрег</a:t>
            </a:r>
            <a:r>
              <a:rPr lang="ru-RU" dirty="0"/>
              <a:t>  </a:t>
            </a:r>
            <a:r>
              <a:rPr lang="ru-RU" dirty="0" smtClean="0"/>
              <a:t>(несколько  </a:t>
            </a:r>
            <a:r>
              <a:rPr lang="ru-RU" dirty="0" err="1"/>
              <a:t>миллисе</a:t>
            </a:r>
            <a:r>
              <a:rPr lang="ru-RU" dirty="0"/>
              <a:t>-</a:t>
            </a:r>
          </a:p>
          <a:p>
            <a:r>
              <a:rPr lang="ru-RU" dirty="0" err="1"/>
              <a:t>кунд</a:t>
            </a:r>
            <a:r>
              <a:rPr lang="ru-RU" dirty="0"/>
              <a:t>). С</a:t>
            </a:r>
            <a:r>
              <a:rPr lang="ru-RU" dirty="0" smtClean="0"/>
              <a:t>  </a:t>
            </a:r>
            <a:r>
              <a:rPr lang="ru-RU" dirty="0"/>
              <a:t>периодом  </a:t>
            </a:r>
            <a:r>
              <a:rPr lang="ru-RU" b="1" dirty="0" err="1"/>
              <a:t>Тре</a:t>
            </a:r>
            <a:r>
              <a:rPr lang="ru-RU" dirty="0" err="1"/>
              <a:t>г</a:t>
            </a:r>
            <a:r>
              <a:rPr lang="ru-RU" dirty="0"/>
              <a:t>  на  выходе  ДЧ  появляется  импульс,  </a:t>
            </a:r>
            <a:r>
              <a:rPr lang="ru-RU" dirty="0" smtClean="0"/>
              <a:t>заставляющий  </a:t>
            </a:r>
            <a:r>
              <a:rPr lang="ru-RU" dirty="0"/>
              <a:t>триггер  </a:t>
            </a:r>
            <a:r>
              <a:rPr lang="ru-RU" dirty="0" smtClean="0"/>
              <a:t>Т1  </a:t>
            </a:r>
            <a:r>
              <a:rPr lang="ru-RU" dirty="0"/>
              <a:t>принять  единичное  состояние  и  инициировать  режим  </a:t>
            </a:r>
            <a:r>
              <a:rPr lang="ru-RU" dirty="0" smtClean="0"/>
              <a:t>регенерации</a:t>
            </a:r>
            <a:r>
              <a:rPr lang="ru-RU" dirty="0"/>
              <a:t>.  </a:t>
            </a:r>
            <a:endParaRPr lang="ru-RU" dirty="0" smtClean="0"/>
          </a:p>
          <a:p>
            <a:r>
              <a:rPr lang="ru-RU" dirty="0"/>
              <a:t>	</a:t>
            </a:r>
            <a:r>
              <a:rPr lang="ru-RU" dirty="0" smtClean="0"/>
              <a:t>Единичное  </a:t>
            </a:r>
            <a:r>
              <a:rPr lang="ru-RU" dirty="0"/>
              <a:t>значение  сигнала  HOLD  является  сигналом  запроса  </a:t>
            </a:r>
            <a:r>
              <a:rPr lang="ru-RU" dirty="0" smtClean="0"/>
              <a:t>на управление  </a:t>
            </a:r>
            <a:r>
              <a:rPr lang="ru-RU" dirty="0"/>
              <a:t>памятью  со  стороны  контроллера.  Этот  сигнал  поступает  на  </a:t>
            </a:r>
            <a:r>
              <a:rPr lang="ru-RU" dirty="0" err="1" smtClean="0"/>
              <a:t>соответст-вующий</a:t>
            </a:r>
            <a:r>
              <a:rPr lang="ru-RU" dirty="0" smtClean="0"/>
              <a:t>  </a:t>
            </a:r>
            <a:r>
              <a:rPr lang="ru-RU" dirty="0"/>
              <a:t>вход  процессора.  Процессор  не  может  остановиться  мгновенно,  т.  к.  для </a:t>
            </a:r>
          </a:p>
          <a:p>
            <a:r>
              <a:rPr lang="ru-RU" dirty="0"/>
              <a:t>прерывания  выполняемой  им  программы  требуются  определенные  операции.  Про-</a:t>
            </a:r>
          </a:p>
          <a:p>
            <a:r>
              <a:rPr lang="ru-RU" dirty="0"/>
              <a:t>изведя  эти  операции,  процессор  вырабатывает  сигнал  HLDA,  разрешающий  переход </a:t>
            </a:r>
          </a:p>
          <a:p>
            <a:r>
              <a:rPr lang="ru-RU" dirty="0"/>
              <a:t>к</a:t>
            </a:r>
            <a:r>
              <a:rPr lang="ru-RU" dirty="0" smtClean="0"/>
              <a:t> операции  </a:t>
            </a:r>
            <a:r>
              <a:rPr lang="ru-RU" dirty="0"/>
              <a:t>регенерации  ЗУ. </a:t>
            </a:r>
          </a:p>
        </p:txBody>
      </p:sp>
    </p:spTree>
    <p:extLst>
      <p:ext uri="{BB962C8B-B14F-4D97-AF65-F5344CB8AC3E}">
        <p14:creationId xmlns:p14="http://schemas.microsoft.com/office/powerpoint/2010/main" val="3007894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3115" y="621542"/>
            <a:ext cx="8851373" cy="3693319"/>
          </a:xfrm>
          <a:prstGeom prst="rect">
            <a:avLst/>
          </a:prstGeom>
        </p:spPr>
        <p:txBody>
          <a:bodyPr wrap="square">
            <a:spAutoFit/>
          </a:bodyPr>
          <a:lstStyle/>
          <a:p>
            <a:r>
              <a:rPr lang="ru-RU" dirty="0" smtClean="0"/>
              <a:t>Сигнал  </a:t>
            </a:r>
            <a:r>
              <a:rPr lang="ru-RU" dirty="0"/>
              <a:t>HLDA  устанавливает  триггер  Т2,  в  результате  чего  блокируется  передача </a:t>
            </a:r>
          </a:p>
          <a:p>
            <a:r>
              <a:rPr lang="ru-RU" dirty="0"/>
              <a:t>стробов  RAS   и  CAS   на  модуль  памяти,  разрешается  передача  на  модуль  строба </a:t>
            </a:r>
          </a:p>
          <a:p>
            <a:r>
              <a:rPr lang="ru-RU" dirty="0" err="1" smtClean="0"/>
              <a:t>регRAS</a:t>
            </a:r>
            <a:r>
              <a:rPr lang="ru-RU" dirty="0" smtClean="0"/>
              <a:t>,  вырабатываемого  </a:t>
            </a:r>
            <a:r>
              <a:rPr lang="ru-RU" dirty="0"/>
              <a:t>формирователем  контроллера,  мультиплексор  MUX  2 </a:t>
            </a:r>
          </a:p>
          <a:p>
            <a:r>
              <a:rPr lang="ru-RU" dirty="0"/>
              <a:t>переключается  на  передачу  адресов  со  счетчика  СTR  на  адресный  вход  ЗУ.  </a:t>
            </a:r>
            <a:endParaRPr lang="ru-RU" dirty="0" smtClean="0"/>
          </a:p>
          <a:p>
            <a:r>
              <a:rPr lang="ru-RU" dirty="0" smtClean="0"/>
              <a:t>	</a:t>
            </a:r>
          </a:p>
          <a:p>
            <a:r>
              <a:rPr lang="ru-RU" dirty="0" smtClean="0"/>
              <a:t>Одновременно  </a:t>
            </a:r>
            <a:r>
              <a:rPr lang="ru-RU" dirty="0"/>
              <a:t>с  этим  триггер  Т2  снимает  сигнал  асинхронного  сброса  со  входа  R   </a:t>
            </a:r>
            <a:r>
              <a:rPr lang="ru-RU" dirty="0" smtClean="0"/>
              <a:t>счетчика,  и он  </a:t>
            </a:r>
            <a:r>
              <a:rPr lang="ru-RU" dirty="0"/>
              <a:t>начинает  перебирать  адреса  строк  от  нулевого  до  максимального  (</a:t>
            </a:r>
            <a:r>
              <a:rPr lang="ru-RU" dirty="0" smtClean="0"/>
              <a:t>конкретно  </a:t>
            </a:r>
            <a:r>
              <a:rPr lang="ru-RU" dirty="0"/>
              <a:t>в  показанной  схеме  таких  адресов  64).  Появление  импульса  переполнения </a:t>
            </a:r>
            <a:r>
              <a:rPr lang="ru-RU" dirty="0" smtClean="0"/>
              <a:t>счетчика  </a:t>
            </a:r>
            <a:r>
              <a:rPr lang="ru-RU" dirty="0"/>
              <a:t>сбрасывает  триггер  Т 1 ,  обозначая  этим  окончание  операции  регенерации </a:t>
            </a:r>
            <a:r>
              <a:rPr lang="ru-RU" dirty="0" smtClean="0"/>
              <a:t>и снимая  </a:t>
            </a:r>
            <a:r>
              <a:rPr lang="ru-RU" dirty="0"/>
              <a:t>сигнал  HOLD.  </a:t>
            </a:r>
            <a:endParaRPr lang="ru-RU" dirty="0" smtClean="0"/>
          </a:p>
          <a:p>
            <a:endParaRPr lang="ru-RU" dirty="0"/>
          </a:p>
          <a:p>
            <a:r>
              <a:rPr lang="ru-RU" dirty="0" smtClean="0"/>
              <a:t>В  </a:t>
            </a:r>
            <a:r>
              <a:rPr lang="ru-RU" dirty="0"/>
              <a:t>ответ  процессор  снимает  сигнал  HLDA,  после  чего  </a:t>
            </a:r>
            <a:r>
              <a:rPr lang="ru-RU" dirty="0" smtClean="0"/>
              <a:t>очередной  </a:t>
            </a:r>
            <a:r>
              <a:rPr lang="ru-RU" dirty="0"/>
              <a:t>импульс  генератора  сбрасывает  Т2,  возвращая  схему  в  рабочий </a:t>
            </a:r>
            <a:r>
              <a:rPr lang="ru-RU" dirty="0" smtClean="0"/>
              <a:t>режим</a:t>
            </a:r>
            <a:r>
              <a:rPr lang="ru-RU" dirty="0"/>
              <a:t>.   </a:t>
            </a:r>
          </a:p>
        </p:txBody>
      </p:sp>
      <p:sp>
        <p:nvSpPr>
          <p:cNvPr id="5" name="Прямоугольник 4"/>
          <p:cNvSpPr/>
          <p:nvPr/>
        </p:nvSpPr>
        <p:spPr>
          <a:xfrm>
            <a:off x="107504" y="188640"/>
            <a:ext cx="2585644" cy="400110"/>
          </a:xfrm>
          <a:prstGeom prst="rect">
            <a:avLst/>
          </a:prstGeom>
        </p:spPr>
        <p:txBody>
          <a:bodyPr wrap="none">
            <a:spAutoFit/>
          </a:bodyPr>
          <a:lstStyle/>
          <a:p>
            <a:r>
              <a:rPr lang="ru-RU" sz="2000" b="1" i="1" dirty="0"/>
              <a:t>Режим  регенерации </a:t>
            </a:r>
          </a:p>
        </p:txBody>
      </p:sp>
    </p:spTree>
    <p:extLst>
      <p:ext uri="{BB962C8B-B14F-4D97-AF65-F5344CB8AC3E}">
        <p14:creationId xmlns:p14="http://schemas.microsoft.com/office/powerpoint/2010/main" val="402419468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3768" y="251356"/>
            <a:ext cx="4357731" cy="400110"/>
          </a:xfrm>
          <a:prstGeom prst="rect">
            <a:avLst/>
          </a:prstGeom>
          <a:noFill/>
        </p:spPr>
        <p:txBody>
          <a:bodyPr wrap="none" rtlCol="0">
            <a:spAutoFit/>
          </a:bodyPr>
          <a:lstStyle/>
          <a:p>
            <a:r>
              <a:rPr lang="en-US" sz="2000" b="1" dirty="0" smtClean="0"/>
              <a:t>DRAM </a:t>
            </a:r>
            <a:r>
              <a:rPr lang="ru-RU" sz="2000" b="1" dirty="0" smtClean="0"/>
              <a:t>повышенного быстродействия</a:t>
            </a:r>
            <a:endParaRPr lang="ru-RU" sz="2000" b="1" dirty="0"/>
          </a:p>
        </p:txBody>
      </p:sp>
      <p:sp>
        <p:nvSpPr>
          <p:cNvPr id="6" name="Прямоугольник 5"/>
          <p:cNvSpPr/>
          <p:nvPr/>
        </p:nvSpPr>
        <p:spPr>
          <a:xfrm>
            <a:off x="90633" y="908720"/>
            <a:ext cx="9144000" cy="3139321"/>
          </a:xfrm>
          <a:prstGeom prst="rect">
            <a:avLst/>
          </a:prstGeom>
        </p:spPr>
        <p:txBody>
          <a:bodyPr wrap="square">
            <a:spAutoFit/>
          </a:bodyPr>
          <a:lstStyle/>
          <a:p>
            <a:r>
              <a:rPr lang="ru-RU" dirty="0"/>
              <a:t>Высокое  быстродействие  процессоров  требует  и  высокой  скорости  работы  ОЗУ. </a:t>
            </a:r>
            <a:endParaRPr lang="ru-RU" dirty="0" smtClean="0"/>
          </a:p>
          <a:p>
            <a:endParaRPr lang="ru-RU" dirty="0"/>
          </a:p>
          <a:p>
            <a:r>
              <a:rPr lang="ru-RU" dirty="0" smtClean="0"/>
              <a:t>Методы  </a:t>
            </a:r>
            <a:r>
              <a:rPr lang="ru-RU" dirty="0"/>
              <a:t>ускорения  </a:t>
            </a:r>
            <a:r>
              <a:rPr lang="ru-RU" dirty="0" smtClean="0"/>
              <a:t>работы </a:t>
            </a:r>
            <a:r>
              <a:rPr lang="en-US" dirty="0" smtClean="0"/>
              <a:t>DRAM </a:t>
            </a:r>
            <a:r>
              <a:rPr lang="ru-RU" dirty="0" smtClean="0"/>
              <a:t>можно  </a:t>
            </a:r>
            <a:r>
              <a:rPr lang="ru-RU" dirty="0"/>
              <a:t>разделить  на  две </a:t>
            </a:r>
            <a:r>
              <a:rPr lang="ru-RU" dirty="0" smtClean="0"/>
              <a:t>группы</a:t>
            </a:r>
            <a:r>
              <a:rPr lang="ru-RU" dirty="0"/>
              <a:t>. </a:t>
            </a:r>
            <a:endParaRPr lang="ru-RU" dirty="0" smtClean="0"/>
          </a:p>
          <a:p>
            <a:endParaRPr lang="ru-RU" dirty="0"/>
          </a:p>
          <a:p>
            <a:r>
              <a:rPr lang="en-US" b="1" dirty="0" smtClean="0"/>
              <a:t>1</a:t>
            </a:r>
            <a:r>
              <a:rPr lang="ru-RU" b="1" dirty="0" smtClean="0"/>
              <a:t>-я    группа методов   </a:t>
            </a:r>
            <a:r>
              <a:rPr lang="ru-RU" dirty="0" smtClean="0"/>
              <a:t>основана  </a:t>
            </a:r>
            <a:r>
              <a:rPr lang="ru-RU" dirty="0"/>
              <a:t>на  предположении  о  </a:t>
            </a:r>
            <a:r>
              <a:rPr lang="ru-RU" i="1" dirty="0"/>
              <a:t>кучности</a:t>
            </a:r>
            <a:r>
              <a:rPr lang="ru-RU" dirty="0"/>
              <a:t>  адресов </a:t>
            </a:r>
          </a:p>
          <a:p>
            <a:r>
              <a:rPr lang="ru-RU" dirty="0"/>
              <a:t>обращения  к  </a:t>
            </a:r>
            <a:r>
              <a:rPr lang="ru-RU" dirty="0" smtClean="0"/>
              <a:t>ОЗУ (адреса следующих обращений расположены «близко» к адресу текущего обращения). Если это не выполняется быстродействие памяти существенно снижается (пример – многозадачные ОС).</a:t>
            </a:r>
          </a:p>
          <a:p>
            <a:endParaRPr lang="ru-RU" dirty="0"/>
          </a:p>
          <a:p>
            <a:r>
              <a:rPr lang="ru-RU" b="1" dirty="0" smtClean="0"/>
              <a:t>2-я  группа  методов </a:t>
            </a:r>
            <a:r>
              <a:rPr lang="ru-RU" b="1" dirty="0"/>
              <a:t>дают</a:t>
            </a:r>
            <a:r>
              <a:rPr lang="ru-RU" dirty="0"/>
              <a:t>  ускорение  работы  памяти  даже  при </a:t>
            </a:r>
          </a:p>
          <a:p>
            <a:r>
              <a:rPr lang="ru-RU" dirty="0"/>
              <a:t>произвольном  доступе  к  ее  </a:t>
            </a:r>
            <a:r>
              <a:rPr lang="ru-RU" dirty="0" smtClean="0"/>
              <a:t>ячейкам. </a:t>
            </a:r>
            <a:endParaRPr lang="ru-RU" dirty="0"/>
          </a:p>
        </p:txBody>
      </p:sp>
    </p:spTree>
    <p:extLst>
      <p:ext uri="{BB962C8B-B14F-4D97-AF65-F5344CB8AC3E}">
        <p14:creationId xmlns:p14="http://schemas.microsoft.com/office/powerpoint/2010/main" val="6525579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620688"/>
            <a:ext cx="8964488" cy="1200329"/>
          </a:xfrm>
          <a:prstGeom prst="rect">
            <a:avLst/>
          </a:prstGeom>
        </p:spPr>
        <p:txBody>
          <a:bodyPr wrap="square">
            <a:spAutoFit/>
          </a:bodyPr>
          <a:lstStyle/>
          <a:p>
            <a:r>
              <a:rPr lang="ru-RU" b="1" dirty="0" smtClean="0"/>
              <a:t>FPM (</a:t>
            </a:r>
            <a:r>
              <a:rPr lang="ru-RU" b="1" dirty="0" err="1" smtClean="0"/>
              <a:t>Fast</a:t>
            </a:r>
            <a:r>
              <a:rPr lang="ru-RU" b="1" dirty="0" smtClean="0"/>
              <a:t>  </a:t>
            </a:r>
            <a:r>
              <a:rPr lang="ru-RU" b="1" dirty="0" err="1"/>
              <a:t>Page</a:t>
            </a:r>
            <a:r>
              <a:rPr lang="ru-RU" b="1" dirty="0"/>
              <a:t>  </a:t>
            </a:r>
            <a:r>
              <a:rPr lang="ru-RU" b="1" dirty="0" err="1"/>
              <a:t>Mode</a:t>
            </a:r>
            <a:r>
              <a:rPr lang="ru-RU" b="1" dirty="0"/>
              <a:t>)  </a:t>
            </a:r>
            <a:r>
              <a:rPr lang="ru-RU" dirty="0"/>
              <a:t>—  это  быстрый  страничный  доступ,  эффективный,  если </a:t>
            </a:r>
          </a:p>
          <a:p>
            <a:r>
              <a:rPr lang="ru-RU" dirty="0"/>
              <a:t>после  текущего  обращения  к  памяти  следующее </a:t>
            </a:r>
            <a:r>
              <a:rPr lang="ru-RU" dirty="0" smtClean="0"/>
              <a:t> обращение  </a:t>
            </a:r>
            <a:r>
              <a:rPr lang="ru-RU" dirty="0"/>
              <a:t>будет  к  </a:t>
            </a:r>
            <a:r>
              <a:rPr lang="ru-RU" dirty="0" smtClean="0"/>
              <a:t>запоминающему элементу (ЗЭ)  </a:t>
            </a:r>
            <a:r>
              <a:rPr lang="ru-RU" dirty="0"/>
              <a:t>той  же  строки  </a:t>
            </a:r>
            <a:r>
              <a:rPr lang="ru-RU" dirty="0" smtClean="0"/>
              <a:t>матрицы</a:t>
            </a:r>
            <a:r>
              <a:rPr lang="ru-RU" dirty="0"/>
              <a:t>. </a:t>
            </a:r>
          </a:p>
          <a:p>
            <a:endParaRPr lang="ru-RU" dirty="0"/>
          </a:p>
        </p:txBody>
      </p:sp>
      <p:pic>
        <p:nvPicPr>
          <p:cNvPr id="3481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80121" y="1700808"/>
            <a:ext cx="8333259" cy="4056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2915816" y="207422"/>
            <a:ext cx="2566857" cy="400110"/>
          </a:xfrm>
          <a:prstGeom prst="rect">
            <a:avLst/>
          </a:prstGeom>
        </p:spPr>
        <p:txBody>
          <a:bodyPr wrap="none">
            <a:spAutoFit/>
          </a:bodyPr>
          <a:lstStyle/>
          <a:p>
            <a:r>
              <a:rPr lang="en-US" sz="2000" b="1" dirty="0">
                <a:solidFill>
                  <a:srgbClr val="FF0000"/>
                </a:solidFill>
              </a:rPr>
              <a:t>1</a:t>
            </a:r>
            <a:r>
              <a:rPr lang="ru-RU" sz="2000" b="1" dirty="0">
                <a:solidFill>
                  <a:srgbClr val="FF0000"/>
                </a:solidFill>
              </a:rPr>
              <a:t>-я    </a:t>
            </a:r>
            <a:r>
              <a:rPr lang="ru-RU" sz="2000" b="1" dirty="0" smtClean="0">
                <a:solidFill>
                  <a:srgbClr val="FF0000"/>
                </a:solidFill>
              </a:rPr>
              <a:t>группа методов </a:t>
            </a:r>
            <a:endParaRPr lang="ru-RU" sz="2000" b="1" dirty="0">
              <a:solidFill>
                <a:srgbClr val="FF0000"/>
              </a:solidFill>
            </a:endParaRPr>
          </a:p>
        </p:txBody>
      </p:sp>
    </p:spTree>
    <p:extLst>
      <p:ext uri="{BB962C8B-B14F-4D97-AF65-F5344CB8AC3E}">
        <p14:creationId xmlns:p14="http://schemas.microsoft.com/office/powerpoint/2010/main" val="9651583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987824" y="260648"/>
            <a:ext cx="2757486" cy="400110"/>
          </a:xfrm>
          <a:prstGeom prst="rect">
            <a:avLst/>
          </a:prstGeom>
        </p:spPr>
        <p:txBody>
          <a:bodyPr wrap="none">
            <a:spAutoFit/>
          </a:bodyPr>
          <a:lstStyle/>
          <a:p>
            <a:r>
              <a:rPr lang="en-US" sz="2000" b="1" dirty="0"/>
              <a:t>SDRAM  </a:t>
            </a:r>
            <a:r>
              <a:rPr lang="ru-RU" sz="2000" b="1" dirty="0"/>
              <a:t>и  </a:t>
            </a:r>
            <a:r>
              <a:rPr lang="en-US" sz="2000" b="1" dirty="0"/>
              <a:t>DDR  SDRAM</a:t>
            </a:r>
            <a:endParaRPr lang="ru-RU" sz="2000" b="1" dirty="0"/>
          </a:p>
        </p:txBody>
      </p:sp>
      <p:sp>
        <p:nvSpPr>
          <p:cNvPr id="5" name="Прямоугольник 4"/>
          <p:cNvSpPr/>
          <p:nvPr/>
        </p:nvSpPr>
        <p:spPr>
          <a:xfrm>
            <a:off x="291245" y="630558"/>
            <a:ext cx="8417494" cy="646331"/>
          </a:xfrm>
          <a:prstGeom prst="rect">
            <a:avLst/>
          </a:prstGeom>
        </p:spPr>
        <p:txBody>
          <a:bodyPr wrap="square">
            <a:spAutoFit/>
          </a:bodyPr>
          <a:lstStyle/>
          <a:p>
            <a:r>
              <a:rPr lang="ru-RU" dirty="0"/>
              <a:t>Более  высокую  производительность </a:t>
            </a:r>
            <a:r>
              <a:rPr lang="ru-RU" dirty="0" smtClean="0"/>
              <a:t> обеспечивают  </a:t>
            </a:r>
            <a:r>
              <a:rPr lang="ru-RU" dirty="0"/>
              <a:t>микросхемы  синхронной  памяти  SDRAM  (</a:t>
            </a:r>
            <a:r>
              <a:rPr lang="ru-RU" dirty="0" err="1"/>
              <a:t>Synchronous</a:t>
            </a:r>
            <a:r>
              <a:rPr lang="ru-RU" dirty="0"/>
              <a:t>  DRAM)   </a:t>
            </a:r>
            <a:r>
              <a:rPr lang="ru-RU" dirty="0" smtClean="0"/>
              <a:t>и интерфейсами  </a:t>
            </a:r>
            <a:r>
              <a:rPr lang="ru-RU" dirty="0"/>
              <a:t>DDR,  DDR2,  DDR3 . </a:t>
            </a:r>
          </a:p>
        </p:txBody>
      </p:sp>
      <p:sp>
        <p:nvSpPr>
          <p:cNvPr id="6" name="Прямоугольник 5"/>
          <p:cNvSpPr/>
          <p:nvPr/>
        </p:nvSpPr>
        <p:spPr>
          <a:xfrm>
            <a:off x="49434" y="1276888"/>
            <a:ext cx="7402886" cy="2031325"/>
          </a:xfrm>
          <a:prstGeom prst="rect">
            <a:avLst/>
          </a:prstGeom>
        </p:spPr>
        <p:txBody>
          <a:bodyPr wrap="square">
            <a:spAutoFit/>
          </a:bodyPr>
          <a:lstStyle/>
          <a:p>
            <a:r>
              <a:rPr lang="ru-RU" dirty="0" smtClean="0"/>
              <a:t>В SDRAM  </a:t>
            </a:r>
            <a:r>
              <a:rPr lang="ru-RU" dirty="0"/>
              <a:t>применяются: </a:t>
            </a:r>
            <a:endParaRPr lang="ru-RU" dirty="0" smtClean="0"/>
          </a:p>
          <a:p>
            <a:pPr marL="342900" indent="-342900">
              <a:buFont typeface="+mj-lt"/>
              <a:buAutoNum type="arabicPeriod"/>
            </a:pPr>
            <a:r>
              <a:rPr lang="ru-RU" dirty="0" smtClean="0"/>
              <a:t>Синхронизация операций обмена  </a:t>
            </a:r>
            <a:r>
              <a:rPr lang="ru-RU" dirty="0"/>
              <a:t>с  тактирующими  сигналами  процессора; </a:t>
            </a:r>
          </a:p>
          <a:p>
            <a:pPr marL="342900" indent="-342900">
              <a:buFont typeface="+mj-lt"/>
              <a:buAutoNum type="arabicPeriod"/>
            </a:pPr>
            <a:r>
              <a:rPr lang="ru-RU" dirty="0"/>
              <a:t> Б</a:t>
            </a:r>
            <a:r>
              <a:rPr lang="ru-RU" dirty="0" smtClean="0"/>
              <a:t>уферизация  </a:t>
            </a:r>
            <a:r>
              <a:rPr lang="ru-RU" dirty="0"/>
              <a:t>(защелкивание)  адресов  и  данных;   </a:t>
            </a:r>
          </a:p>
          <a:p>
            <a:pPr marL="342900" indent="-342900">
              <a:buFont typeface="+mj-lt"/>
              <a:buAutoNum type="arabicPeriod"/>
            </a:pPr>
            <a:r>
              <a:rPr lang="ru-RU" dirty="0" err="1" smtClean="0"/>
              <a:t>Многобанковая</a:t>
            </a:r>
            <a:r>
              <a:rPr lang="ru-RU" dirty="0" smtClean="0"/>
              <a:t>  организация памяти; </a:t>
            </a:r>
            <a:endParaRPr lang="ru-RU" dirty="0"/>
          </a:p>
          <a:p>
            <a:pPr marL="342900" indent="-342900">
              <a:buFont typeface="+mj-lt"/>
              <a:buAutoNum type="arabicPeriod"/>
            </a:pPr>
            <a:r>
              <a:rPr lang="ru-RU" dirty="0"/>
              <a:t>П</a:t>
            </a:r>
            <a:r>
              <a:rPr lang="ru-RU" dirty="0" smtClean="0"/>
              <a:t>акетные  режимы передачи данных;   </a:t>
            </a:r>
            <a:endParaRPr lang="ru-RU" dirty="0"/>
          </a:p>
          <a:p>
            <a:pPr marL="342900" indent="-342900">
              <a:buFont typeface="+mj-lt"/>
              <a:buAutoNum type="arabicPeriod"/>
            </a:pPr>
            <a:r>
              <a:rPr lang="ru-RU" dirty="0"/>
              <a:t>К</a:t>
            </a:r>
            <a:r>
              <a:rPr lang="ru-RU" dirty="0" smtClean="0"/>
              <a:t>онвейеризация  </a:t>
            </a:r>
            <a:r>
              <a:rPr lang="ru-RU" dirty="0"/>
              <a:t>тракта  продвижения  информации. </a:t>
            </a:r>
          </a:p>
        </p:txBody>
      </p:sp>
      <p:sp>
        <p:nvSpPr>
          <p:cNvPr id="7" name="Правая фигурная скобка 6"/>
          <p:cNvSpPr/>
          <p:nvPr/>
        </p:nvSpPr>
        <p:spPr>
          <a:xfrm>
            <a:off x="6866463" y="1685606"/>
            <a:ext cx="576064" cy="790054"/>
          </a:xfrm>
          <a:prstGeom prst="rightBrac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0" name="TextBox 9"/>
          <p:cNvSpPr txBox="1"/>
          <p:nvPr/>
        </p:nvSpPr>
        <p:spPr>
          <a:xfrm>
            <a:off x="7225894" y="1685606"/>
            <a:ext cx="1896673" cy="369332"/>
          </a:xfrm>
          <a:prstGeom prst="rect">
            <a:avLst/>
          </a:prstGeom>
          <a:noFill/>
        </p:spPr>
        <p:txBody>
          <a:bodyPr wrap="none" rtlCol="0">
            <a:spAutoFit/>
          </a:bodyPr>
          <a:lstStyle/>
          <a:p>
            <a:r>
              <a:rPr lang="ru-RU" dirty="0" smtClean="0"/>
              <a:t>Признаки </a:t>
            </a:r>
            <a:r>
              <a:rPr lang="en-US" dirty="0" smtClean="0"/>
              <a:t>SDRAM</a:t>
            </a:r>
            <a:endParaRPr lang="ru-RU" dirty="0"/>
          </a:p>
        </p:txBody>
      </p:sp>
      <p:sp>
        <p:nvSpPr>
          <p:cNvPr id="11" name="Прямоугольник 10"/>
          <p:cNvSpPr/>
          <p:nvPr/>
        </p:nvSpPr>
        <p:spPr>
          <a:xfrm>
            <a:off x="70992" y="3329887"/>
            <a:ext cx="9073008" cy="3139321"/>
          </a:xfrm>
          <a:prstGeom prst="rect">
            <a:avLst/>
          </a:prstGeom>
        </p:spPr>
        <p:txBody>
          <a:bodyPr wrap="square">
            <a:spAutoFit/>
          </a:bodyPr>
          <a:lstStyle/>
          <a:p>
            <a:r>
              <a:rPr lang="ru-RU" b="1" i="1" dirty="0"/>
              <a:t>Достоинства  синхронной  памяти.  </a:t>
            </a:r>
            <a:endParaRPr lang="en-US" b="1" i="1" dirty="0" smtClean="0"/>
          </a:p>
          <a:p>
            <a:r>
              <a:rPr lang="ru-RU" dirty="0" smtClean="0"/>
              <a:t>При  </a:t>
            </a:r>
            <a:r>
              <a:rPr lang="ru-RU" dirty="0"/>
              <a:t>работе  с  </a:t>
            </a:r>
            <a:r>
              <a:rPr lang="ru-RU" i="1" dirty="0"/>
              <a:t>асинхронными  ОЗ</a:t>
            </a:r>
            <a:r>
              <a:rPr lang="ru-RU" dirty="0"/>
              <a:t>У  после  выдачи </a:t>
            </a:r>
            <a:r>
              <a:rPr lang="ru-RU" dirty="0" smtClean="0"/>
              <a:t>адреса  </a:t>
            </a:r>
            <a:r>
              <a:rPr lang="ru-RU" dirty="0"/>
              <a:t>и  управляющих  сигналов  процессор  ждет  выполнения  памятью  </a:t>
            </a:r>
            <a:r>
              <a:rPr lang="ru-RU" dirty="0" smtClean="0"/>
              <a:t>внутренних  </a:t>
            </a:r>
            <a:r>
              <a:rPr lang="ru-RU" dirty="0"/>
              <a:t>операций,  сохраняя  на  системных  шинах  </a:t>
            </a:r>
            <a:r>
              <a:rPr lang="ru-RU" dirty="0" smtClean="0"/>
              <a:t>адреса</a:t>
            </a:r>
            <a:r>
              <a:rPr lang="ru-RU" dirty="0"/>
              <a:t>,</a:t>
            </a:r>
            <a:r>
              <a:rPr lang="ru-RU" dirty="0" smtClean="0"/>
              <a:t>  </a:t>
            </a:r>
            <a:r>
              <a:rPr lang="ru-RU" dirty="0"/>
              <a:t>сигналы  </a:t>
            </a:r>
            <a:r>
              <a:rPr lang="ru-RU" dirty="0" smtClean="0"/>
              <a:t>управления и данных.  </a:t>
            </a:r>
            <a:r>
              <a:rPr lang="ru-RU" dirty="0"/>
              <a:t>Ожидание  снижает  производительность  системы. </a:t>
            </a:r>
            <a:endParaRPr lang="ru-RU" dirty="0" smtClean="0"/>
          </a:p>
          <a:p>
            <a:endParaRPr lang="ru-RU" dirty="0"/>
          </a:p>
          <a:p>
            <a:r>
              <a:rPr lang="ru-RU" dirty="0" smtClean="0"/>
              <a:t> </a:t>
            </a:r>
            <a:r>
              <a:rPr lang="ru-RU" dirty="0"/>
              <a:t>В </a:t>
            </a:r>
            <a:r>
              <a:rPr lang="ru-RU" i="1" dirty="0" smtClean="0"/>
              <a:t>синхронных  </a:t>
            </a:r>
            <a:r>
              <a:rPr lang="ru-RU" i="1" dirty="0"/>
              <a:t>ЗУ</a:t>
            </a:r>
            <a:r>
              <a:rPr lang="ru-RU" dirty="0"/>
              <a:t>  ввод  и  вывод  данных  контролируются  системными  тактами,  а  вы-</a:t>
            </a:r>
          </a:p>
          <a:p>
            <a:r>
              <a:rPr lang="ru-RU" dirty="0"/>
              <a:t>даваемые  процессором  адреса,  сигналы  управления  и  данные  фиксируются  (</a:t>
            </a:r>
            <a:r>
              <a:rPr lang="ru-RU" dirty="0" smtClean="0"/>
              <a:t>защелкиваются</a:t>
            </a:r>
            <a:r>
              <a:rPr lang="ru-RU" dirty="0"/>
              <a:t>)  в  регистрах.  После  этого  </a:t>
            </a:r>
            <a:r>
              <a:rPr lang="ru-RU" dirty="0" smtClean="0"/>
              <a:t>системные  </a:t>
            </a:r>
            <a:r>
              <a:rPr lang="ru-RU" dirty="0"/>
              <a:t>шины  памятью  не  используются.  Заранее  известно,  через  какое  число </a:t>
            </a:r>
            <a:r>
              <a:rPr lang="ru-RU" dirty="0" smtClean="0"/>
              <a:t>тактов  </a:t>
            </a:r>
            <a:r>
              <a:rPr lang="ru-RU" dirty="0"/>
              <a:t>память  </a:t>
            </a:r>
            <a:r>
              <a:rPr lang="ru-RU" dirty="0" smtClean="0"/>
              <a:t>будет готова.  </a:t>
            </a:r>
            <a:r>
              <a:rPr lang="ru-RU" dirty="0"/>
              <a:t>Во  время  работы  памяти  процессор  </a:t>
            </a:r>
            <a:r>
              <a:rPr lang="ru-RU" dirty="0" smtClean="0"/>
              <a:t>может  </a:t>
            </a:r>
            <a:r>
              <a:rPr lang="ru-RU" dirty="0"/>
              <a:t>выполнять  другие  операции.  </a:t>
            </a:r>
          </a:p>
        </p:txBody>
      </p:sp>
    </p:spTree>
    <p:extLst>
      <p:ext uri="{BB962C8B-B14F-4D97-AF65-F5344CB8AC3E}">
        <p14:creationId xmlns:p14="http://schemas.microsoft.com/office/powerpoint/2010/main" val="68015027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98511" y="734780"/>
            <a:ext cx="8712968" cy="2308324"/>
          </a:xfrm>
          <a:prstGeom prst="rect">
            <a:avLst/>
          </a:prstGeom>
        </p:spPr>
        <p:txBody>
          <a:bodyPr wrap="square">
            <a:spAutoFit/>
          </a:bodyPr>
          <a:lstStyle/>
          <a:p>
            <a:r>
              <a:rPr lang="ru-RU" dirty="0" smtClean="0"/>
              <a:t>В </a:t>
            </a:r>
            <a:r>
              <a:rPr lang="ru-RU" dirty="0" err="1" smtClean="0"/>
              <a:t>многобанковых</a:t>
            </a:r>
            <a:r>
              <a:rPr lang="ru-RU" dirty="0" smtClean="0"/>
              <a:t>  </a:t>
            </a:r>
            <a:r>
              <a:rPr lang="ru-RU" dirty="0"/>
              <a:t>структурах  память  делится  на  части  (банки</a:t>
            </a:r>
            <a:r>
              <a:rPr lang="ru-RU" dirty="0" smtClean="0"/>
              <a:t>). Например,  в  </a:t>
            </a:r>
            <a:r>
              <a:rPr lang="ru-RU" dirty="0" err="1"/>
              <a:t>двухбанковой</a:t>
            </a:r>
            <a:r>
              <a:rPr lang="ru-RU" dirty="0"/>
              <a:t>  структуре  в  одном  банке  </a:t>
            </a:r>
            <a:r>
              <a:rPr lang="ru-RU" dirty="0" smtClean="0"/>
              <a:t>размещаются  </a:t>
            </a:r>
            <a:r>
              <a:rPr lang="ru-RU" dirty="0"/>
              <a:t>ячейки  с  нечетными  адресами</a:t>
            </a:r>
            <a:r>
              <a:rPr lang="ru-RU" dirty="0" smtClean="0"/>
              <a:t>, </a:t>
            </a:r>
            <a:r>
              <a:rPr lang="ru-RU" dirty="0"/>
              <a:t>в  другом  —  с  четными.  Если  обращение </a:t>
            </a:r>
            <a:r>
              <a:rPr lang="ru-RU" dirty="0" smtClean="0"/>
              <a:t>идет  </a:t>
            </a:r>
            <a:r>
              <a:rPr lang="ru-RU" dirty="0"/>
              <a:t>по  последовательным  адресам,  то  банки  работают  поочередно,  и  каждый  из </a:t>
            </a:r>
            <a:r>
              <a:rPr lang="ru-RU" dirty="0" smtClean="0"/>
              <a:t>них имеет  </a:t>
            </a:r>
            <a:r>
              <a:rPr lang="ru-RU" dirty="0"/>
              <a:t>между  обращениям  к  нему  свободный  интервал  для  </a:t>
            </a:r>
            <a:r>
              <a:rPr lang="ru-RU" dirty="0" smtClean="0"/>
              <a:t>регенерации. Чем  </a:t>
            </a:r>
            <a:r>
              <a:rPr lang="ru-RU" dirty="0"/>
              <a:t>больше  банков, </a:t>
            </a:r>
          </a:p>
          <a:p>
            <a:r>
              <a:rPr lang="ru-RU" dirty="0"/>
              <a:t>тем  реже  будут  возникать  ситуации  с  соседними  обращениями  в  тот  же  банк,  </a:t>
            </a:r>
            <a:r>
              <a:rPr lang="ru-RU" dirty="0" smtClean="0"/>
              <a:t>т.е</a:t>
            </a:r>
            <a:r>
              <a:rPr lang="ru-RU" dirty="0"/>
              <a:t>. </a:t>
            </a:r>
            <a:r>
              <a:rPr lang="ru-RU" dirty="0" smtClean="0"/>
              <a:t>тем  </a:t>
            </a:r>
            <a:r>
              <a:rPr lang="ru-RU" dirty="0"/>
              <a:t>выше  будет  выигрыш  в  быстродействии  памяти.  В  некоторых  ЗУ  используется </a:t>
            </a:r>
            <a:r>
              <a:rPr lang="ru-RU" dirty="0" smtClean="0"/>
              <a:t>до  32  </a:t>
            </a:r>
            <a:r>
              <a:rPr lang="ru-RU" dirty="0"/>
              <a:t>банков. </a:t>
            </a:r>
          </a:p>
        </p:txBody>
      </p:sp>
      <p:sp>
        <p:nvSpPr>
          <p:cNvPr id="6" name="TextBox 5"/>
          <p:cNvSpPr txBox="1"/>
          <p:nvPr/>
        </p:nvSpPr>
        <p:spPr>
          <a:xfrm>
            <a:off x="240678" y="404664"/>
            <a:ext cx="4041106" cy="369332"/>
          </a:xfrm>
          <a:prstGeom prst="rect">
            <a:avLst/>
          </a:prstGeom>
          <a:noFill/>
        </p:spPr>
        <p:txBody>
          <a:bodyPr wrap="none" rtlCol="0">
            <a:spAutoFit/>
          </a:bodyPr>
          <a:lstStyle/>
          <a:p>
            <a:r>
              <a:rPr lang="ru-RU" b="1" i="1" dirty="0" err="1" smtClean="0"/>
              <a:t>Многобанковая</a:t>
            </a:r>
            <a:r>
              <a:rPr lang="ru-RU" b="1" i="1" dirty="0" smtClean="0"/>
              <a:t> организация памяти</a:t>
            </a:r>
            <a:endParaRPr lang="ru-RU" b="1" i="1" dirty="0"/>
          </a:p>
        </p:txBody>
      </p:sp>
      <p:sp>
        <p:nvSpPr>
          <p:cNvPr id="7" name="Прямоугольник 6"/>
          <p:cNvSpPr/>
          <p:nvPr/>
        </p:nvSpPr>
        <p:spPr>
          <a:xfrm>
            <a:off x="198511" y="3476749"/>
            <a:ext cx="8837985" cy="2308324"/>
          </a:xfrm>
          <a:prstGeom prst="rect">
            <a:avLst/>
          </a:prstGeom>
        </p:spPr>
        <p:txBody>
          <a:bodyPr wrap="square">
            <a:spAutoFit/>
          </a:bodyPr>
          <a:lstStyle/>
          <a:p>
            <a:r>
              <a:rPr lang="ru-RU" dirty="0" smtClean="0"/>
              <a:t>Пакетная </a:t>
            </a:r>
            <a:r>
              <a:rPr lang="ru-RU" dirty="0"/>
              <a:t>передача означает, что при обращении по некоторому адресу из памяти </a:t>
            </a:r>
          </a:p>
          <a:p>
            <a:r>
              <a:rPr lang="ru-RU" dirty="0"/>
              <a:t>последовательно извлекается не только адресованное слово, но и несколько </a:t>
            </a:r>
            <a:r>
              <a:rPr lang="ru-RU" dirty="0" smtClean="0"/>
              <a:t>соседних </a:t>
            </a:r>
            <a:r>
              <a:rPr lang="ru-RU" dirty="0"/>
              <a:t>— пакет.  Размер  пакета  может  быть  различным,  часто  он  составляет  </a:t>
            </a:r>
          </a:p>
          <a:p>
            <a:r>
              <a:rPr lang="ru-RU" dirty="0"/>
              <a:t>четыре слова. Внутри пакета выборка слов идет быстро, так как адреса </a:t>
            </a:r>
            <a:r>
              <a:rPr lang="ru-RU" dirty="0" smtClean="0"/>
              <a:t>формируются </a:t>
            </a:r>
            <a:r>
              <a:rPr lang="ru-RU" dirty="0"/>
              <a:t>специальным счетчиком внутри самой схемы (инкрементированием </a:t>
            </a:r>
            <a:r>
              <a:rPr lang="ru-RU" dirty="0" smtClean="0"/>
              <a:t>начального </a:t>
            </a:r>
            <a:r>
              <a:rPr lang="ru-RU" dirty="0"/>
              <a:t>адреса), и не требуется для каждого слова передавать в микросхему его </a:t>
            </a:r>
          </a:p>
          <a:p>
            <a:r>
              <a:rPr lang="ru-RU" dirty="0"/>
              <a:t>страничный адрес, что по сравнению с простым страничным доступом сокращает </a:t>
            </a:r>
          </a:p>
          <a:p>
            <a:r>
              <a:rPr lang="ru-RU" dirty="0"/>
              <a:t>время выборки слов.  </a:t>
            </a:r>
            <a:endParaRPr lang="ru-RU" dirty="0" smtClean="0"/>
          </a:p>
        </p:txBody>
      </p:sp>
      <p:sp>
        <p:nvSpPr>
          <p:cNvPr id="8" name="Прямоугольник 7"/>
          <p:cNvSpPr/>
          <p:nvPr/>
        </p:nvSpPr>
        <p:spPr>
          <a:xfrm>
            <a:off x="220553" y="3095247"/>
            <a:ext cx="4071949" cy="369332"/>
          </a:xfrm>
          <a:prstGeom prst="rect">
            <a:avLst/>
          </a:prstGeom>
        </p:spPr>
        <p:txBody>
          <a:bodyPr wrap="none">
            <a:spAutoFit/>
          </a:bodyPr>
          <a:lstStyle/>
          <a:p>
            <a:r>
              <a:rPr lang="ru-RU" b="1" i="1" dirty="0"/>
              <a:t>Пакетные  режимы передачи данных</a:t>
            </a:r>
          </a:p>
        </p:txBody>
      </p:sp>
    </p:spTree>
    <p:extLst>
      <p:ext uri="{BB962C8B-B14F-4D97-AF65-F5344CB8AC3E}">
        <p14:creationId xmlns:p14="http://schemas.microsoft.com/office/powerpoint/2010/main" val="15566830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332656"/>
            <a:ext cx="8856984" cy="1754326"/>
          </a:xfrm>
          <a:prstGeom prst="rect">
            <a:avLst/>
          </a:prstGeom>
        </p:spPr>
        <p:txBody>
          <a:bodyPr wrap="square">
            <a:spAutoFit/>
          </a:bodyPr>
          <a:lstStyle/>
          <a:p>
            <a:r>
              <a:rPr lang="ru-RU" dirty="0"/>
              <a:t>Работа ЗУ </a:t>
            </a:r>
            <a:r>
              <a:rPr lang="ru-RU" dirty="0" smtClean="0"/>
              <a:t>с пакетным </a:t>
            </a:r>
            <a:r>
              <a:rPr lang="ru-RU" dirty="0"/>
              <a:t>доступом характеризуется цепочкой цифр, </a:t>
            </a:r>
          </a:p>
          <a:p>
            <a:r>
              <a:rPr lang="ru-RU" dirty="0"/>
              <a:t>первая из которых отображает время первоначального доступа к памяти, а после-</a:t>
            </a:r>
          </a:p>
          <a:p>
            <a:r>
              <a:rPr lang="ru-RU" dirty="0"/>
              <a:t>дующие — времена доступа к последующим словам в пределах </a:t>
            </a:r>
            <a:r>
              <a:rPr lang="ru-RU" dirty="0" smtClean="0"/>
              <a:t>пакета</a:t>
            </a:r>
            <a:r>
              <a:rPr lang="ru-RU" dirty="0"/>
              <a:t>. Например, для пакетного доступа с размером пакета 4 такая цепочка (</a:t>
            </a:r>
            <a:r>
              <a:rPr lang="ru-RU" dirty="0" err="1"/>
              <a:t>Timing</a:t>
            </a:r>
            <a:r>
              <a:rPr lang="ru-RU" dirty="0"/>
              <a:t>) </a:t>
            </a:r>
            <a:r>
              <a:rPr lang="ru-RU" dirty="0" smtClean="0"/>
              <a:t>может </a:t>
            </a:r>
            <a:r>
              <a:rPr lang="ru-RU" dirty="0"/>
              <a:t>иметь вид 5-2-2-2 или 5-1-1-1. Это означает, что первоначальный доступ </a:t>
            </a:r>
            <a:r>
              <a:rPr lang="ru-RU" dirty="0" smtClean="0"/>
              <a:t>занимает </a:t>
            </a:r>
            <a:r>
              <a:rPr lang="ru-RU" dirty="0"/>
              <a:t>5 некоторых единиц времени, а последующие 2 или 1. </a:t>
            </a:r>
          </a:p>
        </p:txBody>
      </p:sp>
      <p:sp>
        <p:nvSpPr>
          <p:cNvPr id="5" name="Прямоугольник 4"/>
          <p:cNvSpPr/>
          <p:nvPr/>
        </p:nvSpPr>
        <p:spPr>
          <a:xfrm>
            <a:off x="351080" y="2527426"/>
            <a:ext cx="8496944" cy="923330"/>
          </a:xfrm>
          <a:prstGeom prst="rect">
            <a:avLst/>
          </a:prstGeom>
        </p:spPr>
        <p:txBody>
          <a:bodyPr wrap="square">
            <a:spAutoFit/>
          </a:bodyPr>
          <a:lstStyle/>
          <a:p>
            <a:r>
              <a:rPr lang="ru-RU" dirty="0" smtClean="0"/>
              <a:t> </a:t>
            </a:r>
            <a:endParaRPr lang="ru-RU" dirty="0"/>
          </a:p>
          <a:p>
            <a:r>
              <a:rPr lang="ru-RU" dirty="0"/>
              <a:t>Сущность  конвейеризации  заключается  в  разбиении  трактов  обработки  </a:t>
            </a:r>
            <a:r>
              <a:rPr lang="ru-RU" dirty="0" smtClean="0"/>
              <a:t>информации  </a:t>
            </a:r>
            <a:r>
              <a:rPr lang="ru-RU" dirty="0"/>
              <a:t>на  ступени. </a:t>
            </a:r>
            <a:endParaRPr lang="ru-RU" dirty="0" smtClean="0"/>
          </a:p>
        </p:txBody>
      </p:sp>
      <p:sp>
        <p:nvSpPr>
          <p:cNvPr id="6" name="Прямоугольник 5"/>
          <p:cNvSpPr/>
          <p:nvPr/>
        </p:nvSpPr>
        <p:spPr>
          <a:xfrm>
            <a:off x="179512" y="2348880"/>
            <a:ext cx="4903074" cy="369332"/>
          </a:xfrm>
          <a:prstGeom prst="rect">
            <a:avLst/>
          </a:prstGeom>
        </p:spPr>
        <p:txBody>
          <a:bodyPr wrap="none">
            <a:spAutoFit/>
          </a:bodyPr>
          <a:lstStyle/>
          <a:p>
            <a:r>
              <a:rPr lang="ru-RU" b="1" i="1" dirty="0"/>
              <a:t>Конвейеризация  трактов  передачи  данных </a:t>
            </a:r>
          </a:p>
        </p:txBody>
      </p:sp>
      <p:pic>
        <p:nvPicPr>
          <p:cNvPr id="3584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1458" y="3492454"/>
            <a:ext cx="6479159" cy="1045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7108821" y="3541355"/>
            <a:ext cx="1141531" cy="646331"/>
          </a:xfrm>
          <a:prstGeom prst="rect">
            <a:avLst/>
          </a:prstGeom>
          <a:noFill/>
        </p:spPr>
        <p:txBody>
          <a:bodyPr wrap="none" rtlCol="0">
            <a:spAutoFit/>
          </a:bodyPr>
          <a:lstStyle/>
          <a:p>
            <a:r>
              <a:rPr lang="ru-RU" b="1" dirty="0" smtClean="0">
                <a:solidFill>
                  <a:srgbClr val="FF0000"/>
                </a:solidFill>
              </a:rPr>
              <a:t>Исходная</a:t>
            </a:r>
          </a:p>
          <a:p>
            <a:r>
              <a:rPr lang="ru-RU" b="1" dirty="0" smtClean="0">
                <a:solidFill>
                  <a:srgbClr val="FF0000"/>
                </a:solidFill>
              </a:rPr>
              <a:t>схема</a:t>
            </a:r>
            <a:endParaRPr lang="ru-RU" b="1" dirty="0">
              <a:solidFill>
                <a:srgbClr val="FF0000"/>
              </a:solidFill>
            </a:endParaRPr>
          </a:p>
        </p:txBody>
      </p:sp>
      <p:sp>
        <p:nvSpPr>
          <p:cNvPr id="9" name="Прямоугольник 8"/>
          <p:cNvSpPr/>
          <p:nvPr/>
        </p:nvSpPr>
        <p:spPr>
          <a:xfrm>
            <a:off x="152636" y="4797152"/>
            <a:ext cx="8910736" cy="1754326"/>
          </a:xfrm>
          <a:prstGeom prst="rect">
            <a:avLst/>
          </a:prstGeom>
        </p:spPr>
        <p:txBody>
          <a:bodyPr wrap="square">
            <a:spAutoFit/>
          </a:bodyPr>
          <a:lstStyle/>
          <a:p>
            <a:r>
              <a:rPr lang="ru-RU" dirty="0"/>
              <a:t>Минимальный  период  тактовых  импульсов  </a:t>
            </a:r>
            <a:r>
              <a:rPr lang="ru-RU" dirty="0" smtClean="0"/>
              <a:t>исходной  </a:t>
            </a:r>
            <a:r>
              <a:rPr lang="ru-RU" dirty="0"/>
              <a:t>схемы:   </a:t>
            </a:r>
          </a:p>
          <a:p>
            <a:endParaRPr lang="ru-RU" dirty="0"/>
          </a:p>
          <a:p>
            <a:pPr algn="ctr"/>
            <a:r>
              <a:rPr lang="ru-RU" b="1" dirty="0" err="1"/>
              <a:t>Tmin</a:t>
            </a:r>
            <a:r>
              <a:rPr lang="ru-RU" b="1" dirty="0"/>
              <a:t>  =  </a:t>
            </a:r>
            <a:r>
              <a:rPr lang="ru-RU" b="1" dirty="0" err="1"/>
              <a:t>tRG</a:t>
            </a:r>
            <a:r>
              <a:rPr lang="ru-RU" b="1" dirty="0"/>
              <a:t>  +  </a:t>
            </a:r>
            <a:r>
              <a:rPr lang="ru-RU" b="1" dirty="0" err="1" smtClean="0"/>
              <a:t>tЛС</a:t>
            </a:r>
            <a:r>
              <a:rPr lang="ru-RU" b="1" dirty="0" smtClean="0"/>
              <a:t>  </a:t>
            </a:r>
            <a:r>
              <a:rPr lang="ru-RU" b="1" dirty="0"/>
              <a:t>+  </a:t>
            </a:r>
            <a:r>
              <a:rPr lang="ru-RU" b="1" dirty="0" err="1"/>
              <a:t>tSU</a:t>
            </a:r>
            <a:r>
              <a:rPr lang="ru-RU" b="1" dirty="0"/>
              <a:t>, </a:t>
            </a:r>
            <a:endParaRPr lang="ru-RU" b="1" dirty="0" smtClean="0"/>
          </a:p>
          <a:p>
            <a:pPr algn="ctr"/>
            <a:endParaRPr lang="ru-RU" b="1" dirty="0"/>
          </a:p>
          <a:p>
            <a:r>
              <a:rPr lang="ru-RU" dirty="0"/>
              <a:t>где  </a:t>
            </a:r>
            <a:r>
              <a:rPr lang="ru-RU" dirty="0" err="1"/>
              <a:t>tRG</a:t>
            </a:r>
            <a:r>
              <a:rPr lang="ru-RU" dirty="0"/>
              <a:t>  —  задержка  входного  регистра  на  пути  "такт-выход" ;  </a:t>
            </a:r>
            <a:r>
              <a:rPr lang="ru-RU" dirty="0" err="1" smtClean="0"/>
              <a:t>tЛС</a:t>
            </a:r>
            <a:r>
              <a:rPr lang="ru-RU" dirty="0" smtClean="0"/>
              <a:t>  </a:t>
            </a:r>
            <a:r>
              <a:rPr lang="ru-RU" dirty="0"/>
              <a:t>—  задержка  сигнала  в </a:t>
            </a:r>
            <a:r>
              <a:rPr lang="ru-RU" dirty="0" smtClean="0"/>
              <a:t>логической  схеме;  </a:t>
            </a:r>
            <a:r>
              <a:rPr lang="ru-RU" dirty="0" err="1"/>
              <a:t>tSU</a:t>
            </a:r>
            <a:r>
              <a:rPr lang="ru-RU" dirty="0"/>
              <a:t>  —  время  предустановки  выходного  регистра. </a:t>
            </a:r>
          </a:p>
        </p:txBody>
      </p:sp>
    </p:spTree>
    <p:extLst>
      <p:ext uri="{BB962C8B-B14F-4D97-AF65-F5344CB8AC3E}">
        <p14:creationId xmlns:p14="http://schemas.microsoft.com/office/powerpoint/2010/main" val="7134439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95536" y="404664"/>
            <a:ext cx="6285875"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359716" y="585554"/>
            <a:ext cx="1513491" cy="646331"/>
          </a:xfrm>
          <a:prstGeom prst="rect">
            <a:avLst/>
          </a:prstGeom>
          <a:noFill/>
        </p:spPr>
        <p:txBody>
          <a:bodyPr wrap="none" rtlCol="0">
            <a:spAutoFit/>
          </a:bodyPr>
          <a:lstStyle/>
          <a:p>
            <a:r>
              <a:rPr lang="ru-RU" b="1" dirty="0" smtClean="0">
                <a:solidFill>
                  <a:srgbClr val="FF0000"/>
                </a:solidFill>
              </a:rPr>
              <a:t>Конвейерная</a:t>
            </a:r>
          </a:p>
          <a:p>
            <a:r>
              <a:rPr lang="ru-RU" b="1" dirty="0" smtClean="0">
                <a:solidFill>
                  <a:srgbClr val="FF0000"/>
                </a:solidFill>
              </a:rPr>
              <a:t>организация</a:t>
            </a:r>
            <a:endParaRPr lang="ru-RU" b="1" dirty="0">
              <a:solidFill>
                <a:srgbClr val="FF0000"/>
              </a:solidFill>
            </a:endParaRPr>
          </a:p>
        </p:txBody>
      </p:sp>
      <p:sp>
        <p:nvSpPr>
          <p:cNvPr id="6" name="Прямоугольник 5"/>
          <p:cNvSpPr/>
          <p:nvPr/>
        </p:nvSpPr>
        <p:spPr>
          <a:xfrm>
            <a:off x="217984" y="1484784"/>
            <a:ext cx="8892480" cy="3970318"/>
          </a:xfrm>
          <a:prstGeom prst="rect">
            <a:avLst/>
          </a:prstGeom>
        </p:spPr>
        <p:txBody>
          <a:bodyPr wrap="square">
            <a:spAutoFit/>
          </a:bodyPr>
          <a:lstStyle/>
          <a:p>
            <a:r>
              <a:rPr lang="ru-RU" dirty="0" smtClean="0"/>
              <a:t>Уменьшение  </a:t>
            </a:r>
            <a:r>
              <a:rPr lang="ru-RU" b="1" dirty="0" err="1" smtClean="0"/>
              <a:t>Tmin</a:t>
            </a:r>
            <a:r>
              <a:rPr lang="ru-RU" dirty="0" smtClean="0"/>
              <a:t>  </a:t>
            </a:r>
            <a:r>
              <a:rPr lang="ru-RU" dirty="0"/>
              <a:t>можно  добиться </a:t>
            </a:r>
            <a:r>
              <a:rPr lang="ru-RU" dirty="0" smtClean="0"/>
              <a:t>уменьшением  </a:t>
            </a:r>
            <a:r>
              <a:rPr lang="ru-RU" dirty="0"/>
              <a:t>задержки  </a:t>
            </a:r>
            <a:r>
              <a:rPr lang="ru-RU" b="1" dirty="0" err="1" smtClean="0"/>
              <a:t>tЛС</a:t>
            </a:r>
            <a:r>
              <a:rPr lang="ru-RU" dirty="0" smtClean="0"/>
              <a:t>  </a:t>
            </a:r>
            <a:r>
              <a:rPr lang="ru-RU" dirty="0"/>
              <a:t>путем  расщепления  логической  схемы  на  ступени,  </a:t>
            </a:r>
            <a:r>
              <a:rPr lang="ru-RU" dirty="0" smtClean="0"/>
              <a:t>разделенные  регистрами. </a:t>
            </a:r>
          </a:p>
          <a:p>
            <a:endParaRPr lang="ru-RU" dirty="0"/>
          </a:p>
          <a:p>
            <a:r>
              <a:rPr lang="ru-RU" dirty="0" smtClean="0"/>
              <a:t>Если  </a:t>
            </a:r>
            <a:r>
              <a:rPr lang="ru-RU" dirty="0"/>
              <a:t>логическая  схема  расщепляется  по  </a:t>
            </a:r>
            <a:r>
              <a:rPr lang="ru-RU" dirty="0" smtClean="0"/>
              <a:t>глубине  </a:t>
            </a:r>
            <a:r>
              <a:rPr lang="ru-RU" dirty="0"/>
              <a:t>ровно  пополам,  то  новое  значение  минимального  периода  тактовых  импульсов </a:t>
            </a:r>
            <a:r>
              <a:rPr lang="ru-RU" dirty="0" smtClean="0"/>
              <a:t>определится  </a:t>
            </a:r>
            <a:r>
              <a:rPr lang="ru-RU" dirty="0"/>
              <a:t>тем  же  соотношением,  что  и  для  </a:t>
            </a:r>
            <a:r>
              <a:rPr lang="ru-RU" dirty="0" smtClean="0"/>
              <a:t> исходной схемы.</a:t>
            </a:r>
          </a:p>
          <a:p>
            <a:endParaRPr lang="ru-RU" dirty="0"/>
          </a:p>
          <a:p>
            <a:r>
              <a:rPr lang="ru-RU" dirty="0" smtClean="0"/>
              <a:t>Однако  </a:t>
            </a:r>
            <a:r>
              <a:rPr lang="ru-RU" dirty="0"/>
              <a:t>численное  значение  задержки  логической  схемы  уменьшится  вдвое,  т.  е. </a:t>
            </a:r>
          </a:p>
          <a:p>
            <a:r>
              <a:rPr lang="ru-RU" dirty="0"/>
              <a:t>допустимая  частота  тактирования  схемы  увеличится.  Конвейеризация  увеличивает </a:t>
            </a:r>
          </a:p>
          <a:p>
            <a:r>
              <a:rPr lang="ru-RU" dirty="0"/>
              <a:t>темп  передач  данных  по  тракту  их  обработки,  хотя  время  нахождение  каждой  </a:t>
            </a:r>
            <a:r>
              <a:rPr lang="ru-RU" dirty="0" smtClean="0"/>
              <a:t>единицы  </a:t>
            </a:r>
            <a:r>
              <a:rPr lang="ru-RU" dirty="0"/>
              <a:t>данных  в  этом  тракте  не  только  не  уменьшается,  но  даже  увеличивается. </a:t>
            </a:r>
          </a:p>
          <a:p>
            <a:endParaRPr lang="ru-RU" dirty="0" smtClean="0"/>
          </a:p>
          <a:p>
            <a:r>
              <a:rPr lang="ru-RU" dirty="0" smtClean="0"/>
              <a:t>Первая  </a:t>
            </a:r>
            <a:r>
              <a:rPr lang="ru-RU" dirty="0"/>
              <a:t>порция  результатов  в  конвейеризованной  системе  появляется  позднее,  чем  в </a:t>
            </a:r>
            <a:r>
              <a:rPr lang="ru-RU" dirty="0" smtClean="0"/>
              <a:t>сквозной зато  </a:t>
            </a:r>
            <a:r>
              <a:rPr lang="ru-RU" dirty="0"/>
              <a:t>последующие  поступают  с  более  высокой  частотой. </a:t>
            </a:r>
          </a:p>
        </p:txBody>
      </p:sp>
    </p:spTree>
    <p:extLst>
      <p:ext uri="{BB962C8B-B14F-4D97-AF65-F5344CB8AC3E}">
        <p14:creationId xmlns:p14="http://schemas.microsoft.com/office/powerpoint/2010/main" val="31868263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42595" y="613766"/>
            <a:ext cx="8964488" cy="3139321"/>
          </a:xfrm>
          <a:prstGeom prst="rect">
            <a:avLst/>
          </a:prstGeom>
        </p:spPr>
        <p:txBody>
          <a:bodyPr wrap="square">
            <a:spAutoFit/>
          </a:bodyPr>
          <a:lstStyle/>
          <a:p>
            <a:r>
              <a:rPr lang="ru-RU" dirty="0" smtClean="0"/>
              <a:t>Термином  </a:t>
            </a:r>
            <a:r>
              <a:rPr lang="ru-RU" dirty="0"/>
              <a:t>DDR (</a:t>
            </a:r>
            <a:r>
              <a:rPr lang="ru-RU" dirty="0" err="1"/>
              <a:t>Double</a:t>
            </a:r>
            <a:r>
              <a:rPr lang="ru-RU" dirty="0"/>
              <a:t> </a:t>
            </a:r>
            <a:r>
              <a:rPr lang="ru-RU" dirty="0" err="1"/>
              <a:t>Data</a:t>
            </a:r>
            <a:r>
              <a:rPr lang="ru-RU" dirty="0"/>
              <a:t> </a:t>
            </a:r>
            <a:r>
              <a:rPr lang="ru-RU" dirty="0" err="1"/>
              <a:t>Rate</a:t>
            </a:r>
            <a:r>
              <a:rPr lang="ru-RU" dirty="0"/>
              <a:t>) обозначают  интерфейс  памяти  с  удвоенной </a:t>
            </a:r>
          </a:p>
          <a:p>
            <a:r>
              <a:rPr lang="ru-RU" dirty="0"/>
              <a:t>скоростью передачи </a:t>
            </a:r>
            <a:r>
              <a:rPr lang="ru-RU" dirty="0" smtClean="0"/>
              <a:t>данных. </a:t>
            </a:r>
          </a:p>
          <a:p>
            <a:endParaRPr lang="ru-RU" dirty="0" smtClean="0"/>
          </a:p>
          <a:p>
            <a:r>
              <a:rPr lang="ru-RU" dirty="0" smtClean="0"/>
              <a:t>Технология </a:t>
            </a:r>
            <a:r>
              <a:rPr lang="ru-RU" dirty="0"/>
              <a:t>DDR предусматривает выдачу и </a:t>
            </a:r>
            <a:r>
              <a:rPr lang="ru-RU" dirty="0" smtClean="0"/>
              <a:t>получение  </a:t>
            </a:r>
            <a:r>
              <a:rPr lang="ru-RU" dirty="0"/>
              <a:t>данных  по  обоим  фронтам  тактирующего  сигнала,  а  это  удваивает </a:t>
            </a:r>
            <a:r>
              <a:rPr lang="ru-RU" dirty="0" smtClean="0"/>
              <a:t>скорость </a:t>
            </a:r>
            <a:r>
              <a:rPr lang="ru-RU" dirty="0"/>
              <a:t>передачи при той же тактовой частоте. </a:t>
            </a:r>
            <a:endParaRPr lang="ru-RU" dirty="0" smtClean="0"/>
          </a:p>
          <a:p>
            <a:endParaRPr lang="ru-RU" dirty="0"/>
          </a:p>
          <a:p>
            <a:r>
              <a:rPr lang="ru-RU" dirty="0" smtClean="0"/>
              <a:t>Разработаны  </a:t>
            </a:r>
            <a:r>
              <a:rPr lang="ru-RU" dirty="0"/>
              <a:t>также  ЗУ  с  интерфейсом  QDR  (</a:t>
            </a:r>
            <a:r>
              <a:rPr lang="ru-RU" dirty="0" err="1"/>
              <a:t>Quad</a:t>
            </a:r>
            <a:r>
              <a:rPr lang="ru-RU" dirty="0"/>
              <a:t>  </a:t>
            </a:r>
            <a:r>
              <a:rPr lang="ru-RU" dirty="0" err="1"/>
              <a:t>Data</a:t>
            </a:r>
            <a:r>
              <a:rPr lang="ru-RU" dirty="0"/>
              <a:t>  </a:t>
            </a:r>
            <a:r>
              <a:rPr lang="ru-RU" dirty="0" err="1"/>
              <a:t>Rate</a:t>
            </a:r>
            <a:r>
              <a:rPr lang="ru-RU" dirty="0"/>
              <a:t>),  в  которых  интерфейс </a:t>
            </a:r>
            <a:r>
              <a:rPr lang="ru-RU" dirty="0" smtClean="0"/>
              <a:t>DDR сочетается  </a:t>
            </a:r>
            <a:r>
              <a:rPr lang="ru-RU" dirty="0"/>
              <a:t>с  </a:t>
            </a:r>
            <a:r>
              <a:rPr lang="ru-RU" dirty="0" err="1"/>
              <a:t>двухпортовостью</a:t>
            </a:r>
            <a:r>
              <a:rPr lang="ru-RU" dirty="0"/>
              <a:t>.  В  таких  схемах  за  один  такт  выполняется  </a:t>
            </a:r>
            <a:r>
              <a:rPr lang="ru-RU" dirty="0" smtClean="0"/>
              <a:t>четыре  </a:t>
            </a:r>
            <a:r>
              <a:rPr lang="ru-RU" dirty="0"/>
              <a:t>операции,  поскольку  одновременно  производятся  запись  по  одному  адресу  и </a:t>
            </a:r>
            <a:r>
              <a:rPr lang="ru-RU" dirty="0" smtClean="0"/>
              <a:t>чтение  </a:t>
            </a:r>
            <a:r>
              <a:rPr lang="ru-RU" dirty="0"/>
              <a:t>по  другому. </a:t>
            </a:r>
          </a:p>
        </p:txBody>
      </p:sp>
      <p:sp>
        <p:nvSpPr>
          <p:cNvPr id="5" name="Прямоугольник 4"/>
          <p:cNvSpPr/>
          <p:nvPr/>
        </p:nvSpPr>
        <p:spPr>
          <a:xfrm>
            <a:off x="214333" y="272049"/>
            <a:ext cx="2840971" cy="400110"/>
          </a:xfrm>
          <a:prstGeom prst="rect">
            <a:avLst/>
          </a:prstGeom>
        </p:spPr>
        <p:txBody>
          <a:bodyPr wrap="none">
            <a:spAutoFit/>
          </a:bodyPr>
          <a:lstStyle/>
          <a:p>
            <a:r>
              <a:rPr lang="ru-RU" sz="2000" b="1" i="1" dirty="0"/>
              <a:t>Технологии DDR и QDR  </a:t>
            </a:r>
          </a:p>
        </p:txBody>
      </p:sp>
      <p:sp>
        <p:nvSpPr>
          <p:cNvPr id="6" name="Прямоугольник 5"/>
          <p:cNvSpPr/>
          <p:nvPr/>
        </p:nvSpPr>
        <p:spPr>
          <a:xfrm>
            <a:off x="234617" y="3901698"/>
            <a:ext cx="10945216" cy="400110"/>
          </a:xfrm>
          <a:prstGeom prst="rect">
            <a:avLst/>
          </a:prstGeom>
        </p:spPr>
        <p:txBody>
          <a:bodyPr wrap="square">
            <a:spAutoFit/>
          </a:bodyPr>
          <a:lstStyle/>
          <a:p>
            <a:r>
              <a:rPr lang="ru-RU" sz="2000" b="1" i="1" dirty="0" smtClean="0"/>
              <a:t>Технологии CDRAM</a:t>
            </a:r>
            <a:endParaRPr lang="ru-RU" sz="2000" b="1" i="1" dirty="0"/>
          </a:p>
        </p:txBody>
      </p:sp>
      <p:sp>
        <p:nvSpPr>
          <p:cNvPr id="7" name="Прямоугольник 6"/>
          <p:cNvSpPr/>
          <p:nvPr/>
        </p:nvSpPr>
        <p:spPr>
          <a:xfrm>
            <a:off x="208857" y="4271190"/>
            <a:ext cx="8893833" cy="2308324"/>
          </a:xfrm>
          <a:prstGeom prst="rect">
            <a:avLst/>
          </a:prstGeom>
        </p:spPr>
        <p:txBody>
          <a:bodyPr wrap="square">
            <a:spAutoFit/>
          </a:bodyPr>
          <a:lstStyle/>
          <a:p>
            <a:r>
              <a:rPr lang="ru-RU" dirty="0" smtClean="0"/>
              <a:t>В СDRAM  </a:t>
            </a:r>
            <a:r>
              <a:rPr lang="ru-RU" dirty="0"/>
              <a:t>(</a:t>
            </a:r>
            <a:r>
              <a:rPr lang="ru-RU" dirty="0" err="1"/>
              <a:t>Cached</a:t>
            </a:r>
            <a:r>
              <a:rPr lang="ru-RU" dirty="0"/>
              <a:t>  DRAM,  кэшированная  DRAM)  на  одном  кристалле  с </a:t>
            </a:r>
          </a:p>
          <a:p>
            <a:r>
              <a:rPr lang="ru-RU" dirty="0" smtClean="0"/>
              <a:t>DRAM размещена  </a:t>
            </a:r>
            <a:r>
              <a:rPr lang="ru-RU" dirty="0"/>
              <a:t>статическая  кэш-память  (кэш  первого  уровня).  При  этом  кэш </a:t>
            </a:r>
          </a:p>
          <a:p>
            <a:r>
              <a:rPr lang="ru-RU" dirty="0"/>
              <a:t>обеспечивает  быстрый  обмен  с  процессором,  если  информация  находится  в  кэше,  а </a:t>
            </a:r>
            <a:r>
              <a:rPr lang="ru-RU" dirty="0" smtClean="0"/>
              <a:t>также  </a:t>
            </a:r>
            <a:r>
              <a:rPr lang="ru-RU" dirty="0"/>
              <a:t>быстрое  обновление  своего  содержимого.  Последняя  возможность  связана  с </a:t>
            </a:r>
            <a:r>
              <a:rPr lang="ru-RU" dirty="0" smtClean="0"/>
              <a:t>тем,  что  </a:t>
            </a:r>
            <a:r>
              <a:rPr lang="ru-RU" dirty="0"/>
              <a:t>размещение  кэша  на  одном  кристалле  с  DRAM  делает  связи  между  ними </a:t>
            </a:r>
            <a:r>
              <a:rPr lang="ru-RU" dirty="0" smtClean="0"/>
              <a:t>внутренними  </a:t>
            </a:r>
            <a:r>
              <a:rPr lang="ru-RU" dirty="0"/>
              <a:t>(реализуемыми  внутри  кристалла),  а  в  этом  случае  разрядность  шин </a:t>
            </a:r>
            <a:r>
              <a:rPr lang="ru-RU" dirty="0" smtClean="0"/>
              <a:t>может  </a:t>
            </a:r>
            <a:r>
              <a:rPr lang="ru-RU" dirty="0"/>
              <a:t>быть  очень  большой  и  обмен  может  производиться  большими  блоками  </a:t>
            </a:r>
            <a:r>
              <a:rPr lang="ru-RU" dirty="0" smtClean="0"/>
              <a:t>данных. </a:t>
            </a:r>
            <a:endParaRPr lang="ru-RU" dirty="0"/>
          </a:p>
        </p:txBody>
      </p:sp>
    </p:spTree>
    <p:extLst>
      <p:ext uri="{BB962C8B-B14F-4D97-AF65-F5344CB8AC3E}">
        <p14:creationId xmlns:p14="http://schemas.microsoft.com/office/powerpoint/2010/main" val="267347587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915816" y="207422"/>
            <a:ext cx="2566857" cy="400110"/>
          </a:xfrm>
          <a:prstGeom prst="rect">
            <a:avLst/>
          </a:prstGeom>
        </p:spPr>
        <p:txBody>
          <a:bodyPr wrap="none">
            <a:spAutoFit/>
          </a:bodyPr>
          <a:lstStyle/>
          <a:p>
            <a:r>
              <a:rPr lang="ru-RU" sz="2000" b="1" dirty="0" smtClean="0">
                <a:solidFill>
                  <a:srgbClr val="FF0000"/>
                </a:solidFill>
              </a:rPr>
              <a:t>2-я    группа методов </a:t>
            </a:r>
            <a:endParaRPr lang="ru-RU" sz="2000" b="1" dirty="0">
              <a:solidFill>
                <a:srgbClr val="FF0000"/>
              </a:solidFill>
            </a:endParaRPr>
          </a:p>
        </p:txBody>
      </p:sp>
      <p:sp>
        <p:nvSpPr>
          <p:cNvPr id="5" name="Прямоугольник 4"/>
          <p:cNvSpPr/>
          <p:nvPr/>
        </p:nvSpPr>
        <p:spPr>
          <a:xfrm>
            <a:off x="107504" y="671691"/>
            <a:ext cx="8838728" cy="2585323"/>
          </a:xfrm>
          <a:prstGeom prst="rect">
            <a:avLst/>
          </a:prstGeom>
        </p:spPr>
        <p:txBody>
          <a:bodyPr wrap="square">
            <a:spAutoFit/>
          </a:bodyPr>
          <a:lstStyle/>
          <a:p>
            <a:r>
              <a:rPr lang="ru-RU" dirty="0"/>
              <a:t>Вторая  группа  методов  повышает  быстродействие  динамических  ЗУ  даже  при </a:t>
            </a:r>
          </a:p>
          <a:p>
            <a:r>
              <a:rPr lang="ru-RU" dirty="0"/>
              <a:t>произвольном  доступе  к  ее  ячейкам,  когда  адреса  предыдущих  и  последующих </a:t>
            </a:r>
          </a:p>
          <a:p>
            <a:r>
              <a:rPr lang="ru-RU" dirty="0"/>
              <a:t>обращений  к  памяти  произвольны.  </a:t>
            </a:r>
            <a:endParaRPr lang="ru-RU" dirty="0" smtClean="0"/>
          </a:p>
          <a:p>
            <a:r>
              <a:rPr lang="ru-RU" dirty="0"/>
              <a:t>	</a:t>
            </a:r>
            <a:r>
              <a:rPr lang="ru-RU" dirty="0" smtClean="0"/>
              <a:t>Для  </a:t>
            </a:r>
            <a:r>
              <a:rPr lang="ru-RU" dirty="0"/>
              <a:t>алгоритмов,  реализуемых  в  сетевых  приложениях  и  многих  </a:t>
            </a:r>
            <a:r>
              <a:rPr lang="ru-RU" dirty="0" smtClean="0"/>
              <a:t>мультимедийных  </a:t>
            </a:r>
            <a:r>
              <a:rPr lang="ru-RU" dirty="0"/>
              <a:t>задачах,  важно  быстродействие  при  произвольном  доступе. </a:t>
            </a:r>
            <a:r>
              <a:rPr lang="ru-RU" dirty="0" smtClean="0"/>
              <a:t>Среди  </a:t>
            </a:r>
            <a:r>
              <a:rPr lang="ru-RU" dirty="0"/>
              <a:t>таких  ЗУ  значительная  доля  предназначена </a:t>
            </a:r>
            <a:r>
              <a:rPr lang="ru-RU" dirty="0" smtClean="0"/>
              <a:t>для  </a:t>
            </a:r>
            <a:r>
              <a:rPr lang="ru-RU" dirty="0"/>
              <a:t>портативной  аппаратуры  с  батарейным  питанием,  например,  для  мобильных </a:t>
            </a:r>
            <a:r>
              <a:rPr lang="ru-RU" dirty="0" smtClean="0"/>
              <a:t>телефонов</a:t>
            </a:r>
            <a:r>
              <a:rPr lang="ru-RU" dirty="0"/>
              <a:t>.  Поэтому  при  их  разработке  одновременно  с  методами  повышения </a:t>
            </a:r>
            <a:r>
              <a:rPr lang="ru-RU" dirty="0" smtClean="0"/>
              <a:t>быстродействия  </a:t>
            </a:r>
            <a:r>
              <a:rPr lang="ru-RU" dirty="0"/>
              <a:t>особенно  активно  применяют  разнообразные  методы  снижения </a:t>
            </a:r>
            <a:r>
              <a:rPr lang="ru-RU" dirty="0" smtClean="0"/>
              <a:t>потребляемой  </a:t>
            </a:r>
            <a:r>
              <a:rPr lang="ru-RU" dirty="0"/>
              <a:t>мощности. </a:t>
            </a:r>
          </a:p>
        </p:txBody>
      </p:sp>
      <p:sp>
        <p:nvSpPr>
          <p:cNvPr id="6" name="Прямоугольник 5"/>
          <p:cNvSpPr/>
          <p:nvPr/>
        </p:nvSpPr>
        <p:spPr>
          <a:xfrm>
            <a:off x="-947" y="3776438"/>
            <a:ext cx="8865841" cy="2585323"/>
          </a:xfrm>
          <a:prstGeom prst="rect">
            <a:avLst/>
          </a:prstGeom>
        </p:spPr>
        <p:txBody>
          <a:bodyPr wrap="square">
            <a:spAutoFit/>
          </a:bodyPr>
          <a:lstStyle/>
          <a:p>
            <a:r>
              <a:rPr lang="ru-RU" dirty="0" smtClean="0"/>
              <a:t>В блочных  </a:t>
            </a:r>
            <a:r>
              <a:rPr lang="ru-RU" dirty="0"/>
              <a:t>DRAM  </a:t>
            </a:r>
            <a:r>
              <a:rPr lang="ru-RU" dirty="0" smtClean="0"/>
              <a:t>матрица памяти  </a:t>
            </a:r>
            <a:r>
              <a:rPr lang="ru-RU" dirty="0"/>
              <a:t>разбивается  на  части,  при  этом  словарные  и  разрядные </a:t>
            </a:r>
            <a:r>
              <a:rPr lang="ru-RU" dirty="0" smtClean="0"/>
              <a:t>линии  </a:t>
            </a:r>
            <a:r>
              <a:rPr lang="ru-RU" dirty="0"/>
              <a:t>укорачиваются,  уменьшаются  их  паразитные  емкости  и  сопротивления,  а </a:t>
            </a:r>
            <a:r>
              <a:rPr lang="ru-RU" dirty="0" smtClean="0"/>
              <a:t>следовательно</a:t>
            </a:r>
            <a:r>
              <a:rPr lang="ru-RU" dirty="0"/>
              <a:t>,  и  задержки  переключений.  Таким  способом  удается  существенно </a:t>
            </a:r>
            <a:r>
              <a:rPr lang="ru-RU" dirty="0" smtClean="0"/>
              <a:t>повысить  </a:t>
            </a:r>
            <a:r>
              <a:rPr lang="ru-RU" dirty="0"/>
              <a:t>быстродействие  DRAM,  не  требуя  при  этом  кучности  адресов  обращения </a:t>
            </a:r>
            <a:r>
              <a:rPr lang="ru-RU" dirty="0" smtClean="0"/>
              <a:t>к ним</a:t>
            </a:r>
            <a:r>
              <a:rPr lang="ru-RU" dirty="0"/>
              <a:t>.  </a:t>
            </a:r>
            <a:r>
              <a:rPr lang="ru-RU" dirty="0" smtClean="0"/>
              <a:t>При этом происходит усложнение  </a:t>
            </a:r>
            <a:r>
              <a:rPr lang="ru-RU" dirty="0"/>
              <a:t>схемы  ЗУ  и  соответствующее  ему  </a:t>
            </a:r>
            <a:r>
              <a:rPr lang="ru-RU" dirty="0" smtClean="0"/>
              <a:t>увеличение  </a:t>
            </a:r>
            <a:r>
              <a:rPr lang="ru-RU" dirty="0"/>
              <a:t>стоимости.  </a:t>
            </a:r>
            <a:endParaRPr lang="ru-RU" dirty="0" smtClean="0"/>
          </a:p>
          <a:p>
            <a:r>
              <a:rPr lang="ru-RU" dirty="0" smtClean="0"/>
              <a:t>	Если  </a:t>
            </a:r>
            <a:r>
              <a:rPr lang="ru-RU" dirty="0"/>
              <a:t>в  базовой  структуре  непосредственно  под  запоминающие </a:t>
            </a:r>
            <a:r>
              <a:rPr lang="ru-RU" dirty="0" smtClean="0"/>
              <a:t>элементы  </a:t>
            </a:r>
            <a:r>
              <a:rPr lang="ru-RU" dirty="0"/>
              <a:t>удается  отвести  около  50%  площади  кристалла,  то  для  блочных  DRAM </a:t>
            </a:r>
            <a:r>
              <a:rPr lang="ru-RU" dirty="0" smtClean="0"/>
              <a:t>этот  </a:t>
            </a:r>
            <a:r>
              <a:rPr lang="ru-RU" dirty="0"/>
              <a:t>процент  снижается  приблизительно  до  </a:t>
            </a:r>
            <a:r>
              <a:rPr lang="ru-RU" dirty="0" smtClean="0"/>
              <a:t>35% </a:t>
            </a:r>
            <a:r>
              <a:rPr lang="ru-RU" dirty="0"/>
              <a:t>. </a:t>
            </a:r>
          </a:p>
        </p:txBody>
      </p:sp>
      <p:sp>
        <p:nvSpPr>
          <p:cNvPr id="7" name="Прямоугольник 6"/>
          <p:cNvSpPr/>
          <p:nvPr/>
        </p:nvSpPr>
        <p:spPr>
          <a:xfrm>
            <a:off x="-947" y="3332226"/>
            <a:ext cx="6523696" cy="400110"/>
          </a:xfrm>
          <a:prstGeom prst="rect">
            <a:avLst/>
          </a:prstGeom>
        </p:spPr>
        <p:txBody>
          <a:bodyPr wrap="square">
            <a:spAutoFit/>
          </a:bodyPr>
          <a:lstStyle/>
          <a:p>
            <a:r>
              <a:rPr lang="ru-RU" sz="2000" b="1" i="1" dirty="0"/>
              <a:t>ЗУ  с  блочной  структурой (</a:t>
            </a:r>
            <a:r>
              <a:rPr lang="ru-RU" sz="2000" b="1" i="1" dirty="0" err="1"/>
              <a:t>Embedded</a:t>
            </a:r>
            <a:r>
              <a:rPr lang="ru-RU" sz="2000" b="1" i="1" dirty="0"/>
              <a:t>  DRAM)</a:t>
            </a:r>
          </a:p>
        </p:txBody>
      </p:sp>
    </p:spTree>
    <p:extLst>
      <p:ext uri="{BB962C8B-B14F-4D97-AF65-F5344CB8AC3E}">
        <p14:creationId xmlns:p14="http://schemas.microsoft.com/office/powerpoint/2010/main" val="156011278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11560" y="380878"/>
            <a:ext cx="3609963" cy="369332"/>
          </a:xfrm>
          <a:prstGeom prst="rect">
            <a:avLst/>
          </a:prstGeom>
        </p:spPr>
        <p:txBody>
          <a:bodyPr wrap="none">
            <a:spAutoFit/>
          </a:bodyPr>
          <a:lstStyle/>
          <a:p>
            <a:r>
              <a:rPr lang="en-US" b="1" i="1" dirty="0" smtClean="0"/>
              <a:t>RLDRAM</a:t>
            </a:r>
            <a:r>
              <a:rPr lang="ru-RU" b="1" i="1" dirty="0" smtClean="0"/>
              <a:t> </a:t>
            </a:r>
            <a:r>
              <a:rPr lang="ru-RU" b="1" dirty="0"/>
              <a:t>(</a:t>
            </a:r>
            <a:r>
              <a:rPr lang="ru-RU" b="1" dirty="0" err="1"/>
              <a:t>Reduced</a:t>
            </a:r>
            <a:r>
              <a:rPr lang="ru-RU" b="1" dirty="0"/>
              <a:t>  </a:t>
            </a:r>
            <a:r>
              <a:rPr lang="ru-RU" b="1" dirty="0" err="1"/>
              <a:t>Latency</a:t>
            </a:r>
            <a:r>
              <a:rPr lang="ru-RU" b="1" dirty="0"/>
              <a:t>  </a:t>
            </a:r>
            <a:r>
              <a:rPr lang="ru-RU" b="1" dirty="0" smtClean="0"/>
              <a:t>DRAM)</a:t>
            </a:r>
            <a:endParaRPr lang="en-US" b="1" i="1" dirty="0"/>
          </a:p>
        </p:txBody>
      </p:sp>
      <p:sp>
        <p:nvSpPr>
          <p:cNvPr id="5" name="Прямоугольник 4"/>
          <p:cNvSpPr/>
          <p:nvPr/>
        </p:nvSpPr>
        <p:spPr>
          <a:xfrm>
            <a:off x="107504" y="980728"/>
            <a:ext cx="8694712" cy="1477328"/>
          </a:xfrm>
          <a:prstGeom prst="rect">
            <a:avLst/>
          </a:prstGeom>
        </p:spPr>
        <p:txBody>
          <a:bodyPr wrap="square">
            <a:spAutoFit/>
          </a:bodyPr>
          <a:lstStyle/>
          <a:p>
            <a:r>
              <a:rPr lang="ru-RU" dirty="0" smtClean="0"/>
              <a:t>DRAM  </a:t>
            </a:r>
            <a:r>
              <a:rPr lang="ru-RU" dirty="0"/>
              <a:t>с  уменьшенной  длительностью </a:t>
            </a:r>
            <a:r>
              <a:rPr lang="ru-RU" dirty="0" smtClean="0"/>
              <a:t>полного  </a:t>
            </a:r>
            <a:r>
              <a:rPr lang="ru-RU" dirty="0"/>
              <a:t>цикла  обращения  к  </a:t>
            </a:r>
            <a:r>
              <a:rPr lang="ru-RU" dirty="0" smtClean="0"/>
              <a:t>памяти.  </a:t>
            </a:r>
            <a:r>
              <a:rPr lang="ru-RU" dirty="0"/>
              <a:t>Быстрый  произвольный  доступ  в  RLDRAM  </a:t>
            </a:r>
            <a:r>
              <a:rPr lang="ru-RU" dirty="0" smtClean="0"/>
              <a:t>достигается благодаря  передаче  </a:t>
            </a:r>
            <a:r>
              <a:rPr lang="ru-RU" dirty="0"/>
              <a:t>сразу  всего  адреса  одним  </a:t>
            </a:r>
            <a:r>
              <a:rPr lang="ru-RU" dirty="0" smtClean="0"/>
              <a:t>тактирующим  </a:t>
            </a:r>
            <a:r>
              <a:rPr lang="ru-RU" dirty="0"/>
              <a:t>фронтом  (отказу  от  последовательных  передач  в  память  </a:t>
            </a:r>
            <a:r>
              <a:rPr lang="ru-RU" dirty="0" err="1"/>
              <a:t>полуадресов</a:t>
            </a:r>
            <a:r>
              <a:rPr lang="ru-RU" dirty="0"/>
              <a:t>  </a:t>
            </a:r>
            <a:r>
              <a:rPr lang="ru-RU" dirty="0" smtClean="0"/>
              <a:t>по стробам  </a:t>
            </a:r>
            <a:r>
              <a:rPr lang="ru-RU" dirty="0"/>
              <a:t>RAS  и  </a:t>
            </a:r>
            <a:r>
              <a:rPr lang="ru-RU" dirty="0" smtClean="0"/>
              <a:t>CAS),  т</a:t>
            </a:r>
            <a:r>
              <a:rPr lang="ru-RU" dirty="0"/>
              <a:t>.  е.  </a:t>
            </a:r>
            <a:r>
              <a:rPr lang="ru-RU" dirty="0" smtClean="0"/>
              <a:t>от мультиплексирования  адреса.</a:t>
            </a:r>
            <a:endParaRPr lang="ru-RU" dirty="0"/>
          </a:p>
        </p:txBody>
      </p:sp>
    </p:spTree>
    <p:extLst>
      <p:ext uri="{BB962C8B-B14F-4D97-AF65-F5344CB8AC3E}">
        <p14:creationId xmlns:p14="http://schemas.microsoft.com/office/powerpoint/2010/main" val="13729224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75656" y="265124"/>
            <a:ext cx="6471708" cy="400110"/>
          </a:xfrm>
          <a:prstGeom prst="rect">
            <a:avLst/>
          </a:prstGeom>
          <a:noFill/>
        </p:spPr>
        <p:txBody>
          <a:bodyPr wrap="none" rtlCol="0">
            <a:spAutoFit/>
          </a:bodyPr>
          <a:lstStyle/>
          <a:p>
            <a:r>
              <a:rPr lang="ru-RU" sz="2000" b="1" dirty="0" smtClean="0"/>
              <a:t>Перспективные технологии создания элементов памяти</a:t>
            </a:r>
            <a:endParaRPr lang="ru-RU" sz="2000" b="1" dirty="0"/>
          </a:p>
        </p:txBody>
      </p:sp>
      <p:sp>
        <p:nvSpPr>
          <p:cNvPr id="5" name="Прямоугольник 4"/>
          <p:cNvSpPr/>
          <p:nvPr/>
        </p:nvSpPr>
        <p:spPr>
          <a:xfrm>
            <a:off x="539552" y="889844"/>
            <a:ext cx="8280920" cy="2246769"/>
          </a:xfrm>
          <a:prstGeom prst="rect">
            <a:avLst/>
          </a:prstGeom>
        </p:spPr>
        <p:txBody>
          <a:bodyPr wrap="square">
            <a:spAutoFit/>
          </a:bodyPr>
          <a:lstStyle/>
          <a:p>
            <a:r>
              <a:rPr lang="ru-RU" sz="2000" dirty="0" smtClean="0"/>
              <a:t>Характеристики «идеальной» памяти:</a:t>
            </a:r>
          </a:p>
          <a:p>
            <a:endParaRPr lang="ru-RU" sz="2000" dirty="0"/>
          </a:p>
          <a:p>
            <a:pPr marL="285750" indent="-285750">
              <a:buFont typeface="Arial" panose="020B0604020202020204" pitchFamily="34" charset="0"/>
              <a:buChar char="•"/>
            </a:pPr>
            <a:r>
              <a:rPr lang="ru-RU" sz="2000" dirty="0" smtClean="0"/>
              <a:t>большая  </a:t>
            </a:r>
            <a:r>
              <a:rPr lang="ru-RU" sz="2000" dirty="0"/>
              <a:t>емкость</a:t>
            </a:r>
          </a:p>
          <a:p>
            <a:pPr marL="285750" indent="-285750">
              <a:buFont typeface="Arial" panose="020B0604020202020204" pitchFamily="34" charset="0"/>
              <a:buChar char="•"/>
            </a:pPr>
            <a:r>
              <a:rPr lang="ru-RU" sz="2000" dirty="0" smtClean="0"/>
              <a:t>высокое  быстродействие</a:t>
            </a:r>
          </a:p>
          <a:p>
            <a:pPr marL="285750" indent="-285750">
              <a:buFont typeface="Arial" panose="020B0604020202020204" pitchFamily="34" charset="0"/>
              <a:buChar char="•"/>
            </a:pPr>
            <a:r>
              <a:rPr lang="ru-RU" sz="2000" dirty="0" smtClean="0"/>
              <a:t>малая  </a:t>
            </a:r>
            <a:r>
              <a:rPr lang="ru-RU" sz="2000" dirty="0"/>
              <a:t>потребляемая  </a:t>
            </a:r>
            <a:r>
              <a:rPr lang="ru-RU" sz="2000" dirty="0" smtClean="0"/>
              <a:t>мощность</a:t>
            </a:r>
            <a:endParaRPr lang="ru-RU" sz="2000" dirty="0"/>
          </a:p>
          <a:p>
            <a:pPr marL="285750" indent="-285750">
              <a:buFont typeface="Arial" panose="020B0604020202020204" pitchFamily="34" charset="0"/>
              <a:buChar char="•"/>
            </a:pPr>
            <a:r>
              <a:rPr lang="ru-RU" sz="2000" dirty="0" err="1"/>
              <a:t>э</a:t>
            </a:r>
            <a:r>
              <a:rPr lang="ru-RU" sz="2000" dirty="0" err="1" smtClean="0"/>
              <a:t>нергонезависимость</a:t>
            </a:r>
            <a:endParaRPr lang="ru-RU" sz="2000" dirty="0" smtClean="0"/>
          </a:p>
          <a:p>
            <a:pPr marL="285750" indent="-285750">
              <a:buFont typeface="Arial" panose="020B0604020202020204" pitchFamily="34" charset="0"/>
              <a:buChar char="•"/>
            </a:pPr>
            <a:r>
              <a:rPr lang="ru-RU" sz="2000" dirty="0" smtClean="0"/>
              <a:t>низкая  стоимость</a:t>
            </a:r>
            <a:endParaRPr lang="ru-RU" sz="2000" dirty="0"/>
          </a:p>
        </p:txBody>
      </p:sp>
    </p:spTree>
    <p:extLst>
      <p:ext uri="{BB962C8B-B14F-4D97-AF65-F5344CB8AC3E}">
        <p14:creationId xmlns:p14="http://schemas.microsoft.com/office/powerpoint/2010/main" val="402199417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71800" y="292006"/>
            <a:ext cx="3791872" cy="400110"/>
          </a:xfrm>
          <a:prstGeom prst="rect">
            <a:avLst/>
          </a:prstGeom>
        </p:spPr>
        <p:txBody>
          <a:bodyPr wrap="none">
            <a:spAutoFit/>
          </a:bodyPr>
          <a:lstStyle/>
          <a:p>
            <a:r>
              <a:rPr lang="ru-RU" sz="2000" b="1" dirty="0" smtClean="0"/>
              <a:t>Ферроэлектрические  ЗУ (</a:t>
            </a:r>
            <a:r>
              <a:rPr lang="en-US" sz="2000" b="1" dirty="0" smtClean="0"/>
              <a:t>FRAM</a:t>
            </a:r>
            <a:r>
              <a:rPr lang="ru-RU" sz="2000" b="1" dirty="0" smtClean="0"/>
              <a:t>)</a:t>
            </a:r>
            <a:endParaRPr lang="ru-RU" sz="2000" b="1" dirty="0"/>
          </a:p>
        </p:txBody>
      </p:sp>
      <p:sp>
        <p:nvSpPr>
          <p:cNvPr id="6" name="TextBox 5"/>
          <p:cNvSpPr txBox="1"/>
          <p:nvPr/>
        </p:nvSpPr>
        <p:spPr>
          <a:xfrm>
            <a:off x="539552" y="690554"/>
            <a:ext cx="8661154" cy="1200329"/>
          </a:xfrm>
          <a:prstGeom prst="rect">
            <a:avLst/>
          </a:prstGeom>
          <a:noFill/>
        </p:spPr>
        <p:txBody>
          <a:bodyPr wrap="none" rtlCol="0">
            <a:spAutoFit/>
          </a:bodyPr>
          <a:lstStyle/>
          <a:p>
            <a:r>
              <a:rPr lang="ru-RU" dirty="0" smtClean="0"/>
              <a:t>В основе </a:t>
            </a:r>
            <a:r>
              <a:rPr lang="en-US" dirty="0" smtClean="0"/>
              <a:t>FRAM </a:t>
            </a:r>
            <a:r>
              <a:rPr lang="ru-RU" dirty="0" smtClean="0"/>
              <a:t>лежит особый класс материалов –</a:t>
            </a:r>
            <a:r>
              <a:rPr lang="ru-RU" dirty="0" err="1" smtClean="0"/>
              <a:t>ферроэлектрики</a:t>
            </a:r>
            <a:endParaRPr lang="ru-RU" dirty="0" smtClean="0"/>
          </a:p>
          <a:p>
            <a:r>
              <a:rPr lang="ru-RU" dirty="0" err="1" smtClean="0"/>
              <a:t>Ферроэлектрики</a:t>
            </a:r>
            <a:r>
              <a:rPr lang="ru-RU" dirty="0" smtClean="0"/>
              <a:t> при комнатной температуре обладают собственным электрическим </a:t>
            </a:r>
          </a:p>
          <a:p>
            <a:r>
              <a:rPr lang="ru-RU" dirty="0" smtClean="0"/>
              <a:t>моментом (поляризацией). Направлением вектора поляризации малого объема </a:t>
            </a:r>
          </a:p>
          <a:p>
            <a:r>
              <a:rPr lang="ru-RU" dirty="0" err="1" smtClean="0"/>
              <a:t>ферроэлектрика</a:t>
            </a:r>
            <a:r>
              <a:rPr lang="ru-RU" dirty="0" smtClean="0"/>
              <a:t>  можно управлять приложением внешнего электрического поля.</a:t>
            </a:r>
          </a:p>
        </p:txBody>
      </p:sp>
      <p:grpSp>
        <p:nvGrpSpPr>
          <p:cNvPr id="14" name="Группа 13"/>
          <p:cNvGrpSpPr/>
          <p:nvPr/>
        </p:nvGrpSpPr>
        <p:grpSpPr>
          <a:xfrm>
            <a:off x="439541" y="2397081"/>
            <a:ext cx="2982427" cy="1152128"/>
            <a:chOff x="879526" y="2852936"/>
            <a:chExt cx="2982427" cy="1152128"/>
          </a:xfrm>
        </p:grpSpPr>
        <p:sp>
          <p:nvSpPr>
            <p:cNvPr id="7" name="Овал 6"/>
            <p:cNvSpPr/>
            <p:nvPr/>
          </p:nvSpPr>
          <p:spPr>
            <a:xfrm>
              <a:off x="971600" y="3573016"/>
              <a:ext cx="115212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ФЭ</a:t>
              </a:r>
              <a:endParaRPr lang="ru-RU" dirty="0"/>
            </a:p>
          </p:txBody>
        </p:sp>
        <p:sp>
          <p:nvSpPr>
            <p:cNvPr id="8" name="Овал 7"/>
            <p:cNvSpPr/>
            <p:nvPr/>
          </p:nvSpPr>
          <p:spPr>
            <a:xfrm>
              <a:off x="2555776" y="3573016"/>
              <a:ext cx="115212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ФЭ</a:t>
              </a:r>
              <a:endParaRPr lang="ru-RU" dirty="0"/>
            </a:p>
          </p:txBody>
        </p:sp>
        <p:sp>
          <p:nvSpPr>
            <p:cNvPr id="9" name="Стрелка вниз 8"/>
            <p:cNvSpPr/>
            <p:nvPr/>
          </p:nvSpPr>
          <p:spPr>
            <a:xfrm>
              <a:off x="2987824" y="2852936"/>
              <a:ext cx="432048"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Стрелка вниз 9"/>
            <p:cNvSpPr/>
            <p:nvPr/>
          </p:nvSpPr>
          <p:spPr>
            <a:xfrm flipV="1">
              <a:off x="1331640" y="2852936"/>
              <a:ext cx="432048" cy="57606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p:cNvSpPr txBox="1"/>
            <p:nvPr/>
          </p:nvSpPr>
          <p:spPr>
            <a:xfrm>
              <a:off x="879526" y="2915652"/>
              <a:ext cx="308098" cy="369332"/>
            </a:xfrm>
            <a:prstGeom prst="rect">
              <a:avLst/>
            </a:prstGeom>
            <a:noFill/>
          </p:spPr>
          <p:txBody>
            <a:bodyPr wrap="none" rtlCol="0">
              <a:spAutoFit/>
            </a:bodyPr>
            <a:lstStyle/>
            <a:p>
              <a:r>
                <a:rPr lang="en-US" b="1" i="1" dirty="0"/>
                <a:t>P</a:t>
              </a:r>
              <a:endParaRPr lang="ru-RU" b="1" i="1" dirty="0"/>
            </a:p>
          </p:txBody>
        </p:sp>
        <p:sp>
          <p:nvSpPr>
            <p:cNvPr id="13" name="TextBox 12"/>
            <p:cNvSpPr txBox="1"/>
            <p:nvPr/>
          </p:nvSpPr>
          <p:spPr>
            <a:xfrm>
              <a:off x="3553855" y="2915652"/>
              <a:ext cx="308098" cy="369332"/>
            </a:xfrm>
            <a:prstGeom prst="rect">
              <a:avLst/>
            </a:prstGeom>
            <a:noFill/>
          </p:spPr>
          <p:txBody>
            <a:bodyPr wrap="none" rtlCol="0">
              <a:spAutoFit/>
            </a:bodyPr>
            <a:lstStyle/>
            <a:p>
              <a:r>
                <a:rPr lang="en-US" b="1" i="1" dirty="0"/>
                <a:t>P</a:t>
              </a:r>
              <a:endParaRPr lang="ru-RU" b="1" i="1" dirty="0"/>
            </a:p>
          </p:txBody>
        </p:sp>
      </p:gr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736" y="1833204"/>
            <a:ext cx="2011660" cy="2279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6679396" y="1998132"/>
            <a:ext cx="2001703" cy="646331"/>
          </a:xfrm>
          <a:prstGeom prst="rect">
            <a:avLst/>
          </a:prstGeom>
          <a:noFill/>
        </p:spPr>
        <p:txBody>
          <a:bodyPr wrap="none" rtlCol="0">
            <a:spAutoFit/>
          </a:bodyPr>
          <a:lstStyle/>
          <a:p>
            <a:pPr algn="ctr"/>
            <a:r>
              <a:rPr lang="ru-RU" b="1" dirty="0" smtClean="0">
                <a:solidFill>
                  <a:srgbClr val="FF0000"/>
                </a:solidFill>
              </a:rPr>
              <a:t>Петля гистерезиса</a:t>
            </a:r>
          </a:p>
          <a:p>
            <a:pPr algn="ctr"/>
            <a:r>
              <a:rPr lang="ru-RU" b="1" dirty="0" smtClean="0">
                <a:solidFill>
                  <a:srgbClr val="FF0000"/>
                </a:solidFill>
              </a:rPr>
              <a:t> ФЭ</a:t>
            </a:r>
            <a:endParaRPr lang="ru-RU" b="1" dirty="0">
              <a:solidFill>
                <a:srgbClr val="FF0000"/>
              </a:solidFill>
            </a:endParaRPr>
          </a:p>
        </p:txBody>
      </p:sp>
      <p:sp>
        <p:nvSpPr>
          <p:cNvPr id="16" name="Прямоугольник 15"/>
          <p:cNvSpPr/>
          <p:nvPr/>
        </p:nvSpPr>
        <p:spPr>
          <a:xfrm>
            <a:off x="3166173" y="3861048"/>
            <a:ext cx="5924722" cy="2585323"/>
          </a:xfrm>
          <a:prstGeom prst="rect">
            <a:avLst/>
          </a:prstGeom>
        </p:spPr>
        <p:txBody>
          <a:bodyPr wrap="square">
            <a:spAutoFit/>
          </a:bodyPr>
          <a:lstStyle/>
          <a:p>
            <a:r>
              <a:rPr lang="ru-RU" dirty="0"/>
              <a:t> </a:t>
            </a:r>
            <a:r>
              <a:rPr lang="ru-RU" dirty="0" smtClean="0"/>
              <a:t>В ЗЭ необходимо определить </a:t>
            </a:r>
            <a:r>
              <a:rPr lang="ru-RU" b="1" dirty="0" smtClean="0"/>
              <a:t>направление</a:t>
            </a:r>
            <a:r>
              <a:rPr lang="ru-RU" dirty="0" smtClean="0"/>
              <a:t> поляризации. Для этого, после  </a:t>
            </a:r>
            <a:r>
              <a:rPr lang="ru-RU" dirty="0"/>
              <a:t>отпирания  </a:t>
            </a:r>
            <a:r>
              <a:rPr lang="ru-RU" dirty="0" smtClean="0"/>
              <a:t>транзистора  </a:t>
            </a:r>
            <a:r>
              <a:rPr lang="ru-RU" dirty="0"/>
              <a:t>выборки  на  </a:t>
            </a:r>
            <a:r>
              <a:rPr lang="ru-RU" dirty="0" err="1"/>
              <a:t>Plate</a:t>
            </a:r>
            <a:r>
              <a:rPr lang="ru-RU" dirty="0"/>
              <a:t>-линию  подается  импульс  длительностью  около  1</a:t>
            </a:r>
            <a:r>
              <a:rPr lang="ru-RU" dirty="0" smtClean="0"/>
              <a:t>0  </a:t>
            </a:r>
            <a:r>
              <a:rPr lang="ru-RU" dirty="0" err="1"/>
              <a:t>нс</a:t>
            </a:r>
            <a:r>
              <a:rPr lang="ru-RU" dirty="0"/>
              <a:t>.  Если </a:t>
            </a:r>
            <a:r>
              <a:rPr lang="ru-RU" dirty="0" smtClean="0"/>
              <a:t>этот  </a:t>
            </a:r>
            <a:r>
              <a:rPr lang="ru-RU" dirty="0"/>
              <a:t>импульс  вызовет  </a:t>
            </a:r>
            <a:r>
              <a:rPr lang="ru-RU" dirty="0" err="1"/>
              <a:t>переполяризацию</a:t>
            </a:r>
            <a:r>
              <a:rPr lang="ru-RU" dirty="0"/>
              <a:t>  элемента,  то  через  него  пройдет  большой </a:t>
            </a:r>
            <a:r>
              <a:rPr lang="ru-RU" dirty="0" smtClean="0"/>
              <a:t> ток,  который  </a:t>
            </a:r>
            <a:r>
              <a:rPr lang="ru-RU" dirty="0"/>
              <a:t>сможет  ощутимо  изменить  напряжение  на  паразитной  емкости  </a:t>
            </a:r>
            <a:r>
              <a:rPr lang="ru-RU" dirty="0" smtClean="0"/>
              <a:t>ЛЗС. Если   </a:t>
            </a:r>
            <a:r>
              <a:rPr lang="ru-RU" dirty="0"/>
              <a:t>знак  поляризации  был </a:t>
            </a:r>
            <a:r>
              <a:rPr lang="ru-RU" dirty="0" smtClean="0"/>
              <a:t>другим то  </a:t>
            </a:r>
            <a:r>
              <a:rPr lang="ru-RU" dirty="0"/>
              <a:t>ток  через  него  будет  малым  и  не </a:t>
            </a:r>
          </a:p>
          <a:p>
            <a:r>
              <a:rPr lang="ru-RU" dirty="0"/>
              <a:t>сможет  заметно  повлиять  на  потенциал  линии  ЛЗС.</a:t>
            </a:r>
          </a:p>
        </p:txBody>
      </p:sp>
      <p:pic>
        <p:nvPicPr>
          <p:cNvPr id="399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590" y="4270784"/>
            <a:ext cx="2572583" cy="2348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16503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93575" y="1196752"/>
            <a:ext cx="8856984" cy="2554545"/>
          </a:xfrm>
          <a:prstGeom prst="rect">
            <a:avLst/>
          </a:prstGeom>
        </p:spPr>
        <p:txBody>
          <a:bodyPr wrap="square">
            <a:spAutoFit/>
          </a:bodyPr>
          <a:lstStyle/>
          <a:p>
            <a:r>
              <a:rPr lang="ru-RU" sz="2000" b="1" dirty="0"/>
              <a:t>Достоинства  FRAM</a:t>
            </a:r>
            <a:r>
              <a:rPr lang="ru-RU" sz="2000" dirty="0"/>
              <a:t>: </a:t>
            </a:r>
            <a:endParaRPr lang="ru-RU" sz="2000" dirty="0" smtClean="0"/>
          </a:p>
          <a:p>
            <a:pPr marL="285750" indent="-285750">
              <a:buFont typeface="Arial" panose="020B0604020202020204" pitchFamily="34" charset="0"/>
              <a:buChar char="•"/>
            </a:pPr>
            <a:r>
              <a:rPr lang="ru-RU" sz="2000" dirty="0" smtClean="0"/>
              <a:t>высокая скорость  записи  </a:t>
            </a:r>
            <a:r>
              <a:rPr lang="ru-RU" sz="2000" dirty="0"/>
              <a:t>и  </a:t>
            </a:r>
            <a:r>
              <a:rPr lang="ru-RU" sz="2000" dirty="0" smtClean="0"/>
              <a:t>чтения,  </a:t>
            </a:r>
          </a:p>
          <a:p>
            <a:pPr marL="285750" indent="-285750">
              <a:buFont typeface="Arial" panose="020B0604020202020204" pitchFamily="34" charset="0"/>
              <a:buChar char="•"/>
            </a:pPr>
            <a:r>
              <a:rPr lang="ru-RU" sz="2000" dirty="0" smtClean="0"/>
              <a:t>практически  </a:t>
            </a:r>
            <a:r>
              <a:rPr lang="ru-RU" sz="2000" dirty="0"/>
              <a:t>неограниченное  число </a:t>
            </a:r>
            <a:r>
              <a:rPr lang="ru-RU" sz="2000" dirty="0" smtClean="0"/>
              <a:t>циклов  </a:t>
            </a:r>
            <a:r>
              <a:rPr lang="ru-RU" sz="2000" dirty="0"/>
              <a:t>чтения/записи, </a:t>
            </a:r>
            <a:endParaRPr lang="ru-RU" sz="2000" dirty="0" smtClean="0"/>
          </a:p>
          <a:p>
            <a:pPr marL="285750" indent="-285750">
              <a:buFont typeface="Arial" panose="020B0604020202020204" pitchFamily="34" charset="0"/>
              <a:buChar char="•"/>
            </a:pPr>
            <a:r>
              <a:rPr lang="ru-RU" sz="2000" dirty="0" smtClean="0"/>
              <a:t>малые  </a:t>
            </a:r>
            <a:r>
              <a:rPr lang="ru-RU" sz="2000" dirty="0"/>
              <a:t>напряжения  питания  и  потребляемая  мощность, </a:t>
            </a:r>
            <a:endParaRPr lang="ru-RU" sz="2000" dirty="0" smtClean="0"/>
          </a:p>
          <a:p>
            <a:pPr marL="285750" indent="-285750">
              <a:buFont typeface="Arial" panose="020B0604020202020204" pitchFamily="34" charset="0"/>
              <a:buChar char="•"/>
            </a:pPr>
            <a:r>
              <a:rPr lang="ru-RU" sz="2000" dirty="0" smtClean="0"/>
              <a:t> компактные размеры (</a:t>
            </a:r>
            <a:r>
              <a:rPr lang="ru-RU" sz="2000" dirty="0"/>
              <a:t>площадь  </a:t>
            </a:r>
            <a:r>
              <a:rPr lang="ru-RU" sz="2000" dirty="0" smtClean="0"/>
              <a:t>ЗЭ  </a:t>
            </a:r>
            <a:r>
              <a:rPr lang="ru-RU" sz="2000" dirty="0"/>
              <a:t>соизмерима  с  площадью  </a:t>
            </a:r>
            <a:r>
              <a:rPr lang="ru-RU" sz="2000" dirty="0" smtClean="0"/>
              <a:t>обычного элемента  </a:t>
            </a:r>
            <a:r>
              <a:rPr lang="ru-RU" sz="2000" dirty="0"/>
              <a:t>DRAM),  </a:t>
            </a:r>
            <a:endParaRPr lang="ru-RU" sz="2000" dirty="0" smtClean="0"/>
          </a:p>
          <a:p>
            <a:pPr marL="285750" indent="-285750">
              <a:buFont typeface="Arial" panose="020B0604020202020204" pitchFamily="34" charset="0"/>
              <a:buChar char="•"/>
            </a:pPr>
            <a:r>
              <a:rPr lang="ru-RU" sz="2000" dirty="0" smtClean="0"/>
              <a:t>высокая  </a:t>
            </a:r>
            <a:r>
              <a:rPr lang="ru-RU" sz="2000" dirty="0"/>
              <a:t>радиационная  стойкость,  </a:t>
            </a:r>
            <a:endParaRPr lang="ru-RU" sz="2000" dirty="0" smtClean="0"/>
          </a:p>
          <a:p>
            <a:pPr marL="285750" indent="-285750">
              <a:buFont typeface="Arial" panose="020B0604020202020204" pitchFamily="34" charset="0"/>
              <a:buChar char="•"/>
            </a:pPr>
            <a:r>
              <a:rPr lang="ru-RU" sz="2000" dirty="0" err="1" smtClean="0"/>
              <a:t>энергонезависимость</a:t>
            </a:r>
            <a:r>
              <a:rPr lang="ru-RU" sz="2000" dirty="0"/>
              <a:t>. </a:t>
            </a:r>
          </a:p>
        </p:txBody>
      </p:sp>
    </p:spTree>
    <p:extLst>
      <p:ext uri="{BB962C8B-B14F-4D97-AF65-F5344CB8AC3E}">
        <p14:creationId xmlns:p14="http://schemas.microsoft.com/office/powerpoint/2010/main" val="178969028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55576" y="260648"/>
            <a:ext cx="5742384" cy="400110"/>
          </a:xfrm>
          <a:prstGeom prst="rect">
            <a:avLst/>
          </a:prstGeom>
        </p:spPr>
        <p:txBody>
          <a:bodyPr wrap="square">
            <a:spAutoFit/>
          </a:bodyPr>
          <a:lstStyle/>
          <a:p>
            <a:r>
              <a:rPr lang="en-US" sz="2000" b="1" dirty="0" smtClean="0"/>
              <a:t>PFRAM</a:t>
            </a:r>
            <a:r>
              <a:rPr lang="ru-RU" sz="2000" b="1" dirty="0" smtClean="0"/>
              <a:t> </a:t>
            </a:r>
            <a:r>
              <a:rPr lang="en-US" sz="2000" b="1" dirty="0" smtClean="0"/>
              <a:t>(</a:t>
            </a:r>
            <a:r>
              <a:rPr lang="ru-RU" sz="2000" b="1" dirty="0"/>
              <a:t>полимерно-ферроэлектрические  ЗУ) </a:t>
            </a:r>
          </a:p>
        </p:txBody>
      </p:sp>
      <p:sp>
        <p:nvSpPr>
          <p:cNvPr id="5" name="Прямоугольник 4"/>
          <p:cNvSpPr/>
          <p:nvPr/>
        </p:nvSpPr>
        <p:spPr>
          <a:xfrm>
            <a:off x="0" y="797510"/>
            <a:ext cx="9036496" cy="1200329"/>
          </a:xfrm>
          <a:prstGeom prst="rect">
            <a:avLst/>
          </a:prstGeom>
        </p:spPr>
        <p:txBody>
          <a:bodyPr wrap="square">
            <a:spAutoFit/>
          </a:bodyPr>
          <a:lstStyle/>
          <a:p>
            <a:r>
              <a:rPr lang="ru-RU" dirty="0"/>
              <a:t>Они  построены  на  основе  полимерных  ферроэлектрических  материалов,  в  которых </a:t>
            </a:r>
          </a:p>
          <a:p>
            <a:r>
              <a:rPr lang="ru-RU" dirty="0"/>
              <a:t>образуются  полимерные  цепи.  Звенья  этих  цепей  обладают  дипольными  момента-</a:t>
            </a:r>
          </a:p>
          <a:p>
            <a:r>
              <a:rPr lang="ru-RU" dirty="0"/>
              <a:t>ми.  Диполи  служат  запоминающими  элементами,  хранящими  двоичные  данные </a:t>
            </a:r>
          </a:p>
          <a:p>
            <a:r>
              <a:rPr lang="ru-RU" dirty="0"/>
              <a:t>при  изменении  </a:t>
            </a:r>
            <a:r>
              <a:rPr lang="ru-RU" dirty="0" smtClean="0"/>
              <a:t>поляризации.</a:t>
            </a:r>
            <a:endParaRPr lang="ru-RU" dirty="0"/>
          </a:p>
        </p:txBody>
      </p:sp>
      <p:pic>
        <p:nvPicPr>
          <p:cNvPr id="4096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01098" y="2420888"/>
            <a:ext cx="7279330" cy="3560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3566669" y="2051556"/>
            <a:ext cx="801245" cy="369332"/>
          </a:xfrm>
          <a:prstGeom prst="rect">
            <a:avLst/>
          </a:prstGeom>
          <a:noFill/>
        </p:spPr>
        <p:txBody>
          <a:bodyPr wrap="none" rtlCol="0">
            <a:spAutoFit/>
          </a:bodyPr>
          <a:lstStyle/>
          <a:p>
            <a:r>
              <a:rPr lang="ru-RU" b="1" dirty="0" smtClean="0">
                <a:solidFill>
                  <a:srgbClr val="FF0000"/>
                </a:solidFill>
              </a:rPr>
              <a:t>Схема</a:t>
            </a:r>
            <a:endParaRPr lang="ru-RU" b="1" dirty="0">
              <a:solidFill>
                <a:srgbClr val="FF0000"/>
              </a:solidFill>
            </a:endParaRPr>
          </a:p>
        </p:txBody>
      </p:sp>
    </p:spTree>
    <p:extLst>
      <p:ext uri="{BB962C8B-B14F-4D97-AF65-F5344CB8AC3E}">
        <p14:creationId xmlns:p14="http://schemas.microsoft.com/office/powerpoint/2010/main" val="392854537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88640"/>
            <a:ext cx="8856984" cy="4801314"/>
          </a:xfrm>
          <a:prstGeom prst="rect">
            <a:avLst/>
          </a:prstGeom>
        </p:spPr>
        <p:txBody>
          <a:bodyPr wrap="square">
            <a:spAutoFit/>
          </a:bodyPr>
          <a:lstStyle/>
          <a:p>
            <a:r>
              <a:rPr lang="ru-RU" b="1" smtClean="0"/>
              <a:t>Достоинства</a:t>
            </a:r>
            <a:r>
              <a:rPr lang="en-US" b="1" dirty="0" smtClean="0"/>
              <a:t>:</a:t>
            </a:r>
            <a:endParaRPr lang="ru-RU" b="1" dirty="0" smtClean="0"/>
          </a:p>
          <a:p>
            <a:endParaRPr lang="en-US" dirty="0" smtClean="0"/>
          </a:p>
          <a:p>
            <a:pPr marL="285750" indent="-285750">
              <a:buFont typeface="Arial" panose="020B0604020202020204" pitchFamily="34" charset="0"/>
              <a:buChar char="•"/>
            </a:pPr>
            <a:r>
              <a:rPr lang="ru-RU" dirty="0" smtClean="0"/>
              <a:t>Простая конструкция (нет  транзисторов) </a:t>
            </a:r>
            <a:endParaRPr lang="en-US" dirty="0" smtClean="0"/>
          </a:p>
          <a:p>
            <a:pPr marL="285750" indent="-285750">
              <a:buFont typeface="Arial" panose="020B0604020202020204" pitchFamily="34" charset="0"/>
              <a:buChar char="•"/>
            </a:pPr>
            <a:r>
              <a:rPr lang="ru-RU" dirty="0" smtClean="0"/>
              <a:t>Простота реализации многослойных  конструкций</a:t>
            </a:r>
          </a:p>
          <a:p>
            <a:pPr marL="285750" indent="-285750">
              <a:buFont typeface="Arial" panose="020B0604020202020204" pitchFamily="34" charset="0"/>
              <a:buChar char="•"/>
            </a:pPr>
            <a:r>
              <a:rPr lang="ru-RU" dirty="0" smtClean="0"/>
              <a:t>Очень большой объем хранимых данных</a:t>
            </a:r>
            <a:endParaRPr lang="ru-RU" dirty="0"/>
          </a:p>
          <a:p>
            <a:pPr marL="285750" indent="-285750">
              <a:buFont typeface="Arial" panose="020B0604020202020204" pitchFamily="34" charset="0"/>
              <a:buChar char="•"/>
            </a:pPr>
            <a:r>
              <a:rPr lang="ru-RU" dirty="0" smtClean="0"/>
              <a:t>Простая технология  </a:t>
            </a:r>
            <a:r>
              <a:rPr lang="ru-RU" dirty="0"/>
              <a:t>изготовления  ЗУ </a:t>
            </a:r>
            <a:r>
              <a:rPr lang="ru-RU" dirty="0" smtClean="0"/>
              <a:t>и  хорошая интеграция  </a:t>
            </a:r>
            <a:r>
              <a:rPr lang="ru-RU" dirty="0"/>
              <a:t>со  стандартными  </a:t>
            </a:r>
            <a:r>
              <a:rPr lang="ru-RU" dirty="0" smtClean="0"/>
              <a:t>процессами  </a:t>
            </a:r>
            <a:r>
              <a:rPr lang="ru-RU" dirty="0"/>
              <a:t>изготовления  интегральных  схем. </a:t>
            </a:r>
            <a:endParaRPr lang="ru-RU" dirty="0" smtClean="0"/>
          </a:p>
          <a:p>
            <a:pPr marL="285750" indent="-285750">
              <a:buFont typeface="Arial" panose="020B0604020202020204" pitchFamily="34" charset="0"/>
              <a:buChar char="•"/>
            </a:pPr>
            <a:r>
              <a:rPr lang="ru-RU" dirty="0" smtClean="0"/>
              <a:t>Низкая стоимость</a:t>
            </a:r>
            <a:r>
              <a:rPr lang="en-US" dirty="0" smtClean="0"/>
              <a:t> </a:t>
            </a:r>
            <a:r>
              <a:rPr lang="ru-RU" dirty="0" smtClean="0"/>
              <a:t>на 1 бит</a:t>
            </a:r>
            <a:r>
              <a:rPr lang="ru-RU" dirty="0"/>
              <a:t>.  </a:t>
            </a:r>
            <a:endParaRPr lang="ru-RU" dirty="0" smtClean="0"/>
          </a:p>
          <a:p>
            <a:pPr marL="285750" indent="-285750">
              <a:buFont typeface="Arial" panose="020B0604020202020204" pitchFamily="34" charset="0"/>
              <a:buChar char="•"/>
            </a:pPr>
            <a:r>
              <a:rPr lang="ru-RU" dirty="0" smtClean="0"/>
              <a:t>При  </a:t>
            </a:r>
            <a:r>
              <a:rPr lang="ru-RU" dirty="0"/>
              <a:t>хранении  данных  не  </a:t>
            </a:r>
            <a:r>
              <a:rPr lang="ru-RU" dirty="0" smtClean="0"/>
              <a:t>требуются затраты  </a:t>
            </a:r>
            <a:r>
              <a:rPr lang="ru-RU" dirty="0"/>
              <a:t>мощности.  </a:t>
            </a:r>
            <a:endParaRPr lang="ru-RU" dirty="0" smtClean="0"/>
          </a:p>
          <a:p>
            <a:pPr marL="285750" indent="-285750">
              <a:buFont typeface="Arial" panose="020B0604020202020204" pitchFamily="34" charset="0"/>
              <a:buChar char="•"/>
            </a:pPr>
            <a:r>
              <a:rPr lang="ru-RU" dirty="0" smtClean="0"/>
              <a:t>Считывание  </a:t>
            </a:r>
            <a:r>
              <a:rPr lang="ru-RU" dirty="0"/>
              <a:t>является  неразрушающим. </a:t>
            </a:r>
            <a:endParaRPr lang="ru-RU" dirty="0" smtClean="0"/>
          </a:p>
          <a:p>
            <a:r>
              <a:rPr lang="ru-RU" dirty="0" smtClean="0"/>
              <a:t> </a:t>
            </a:r>
          </a:p>
          <a:p>
            <a:r>
              <a:rPr lang="ru-RU" b="1" dirty="0" smtClean="0"/>
              <a:t>Недостатки</a:t>
            </a:r>
            <a:r>
              <a:rPr lang="en-US" b="1" dirty="0" smtClean="0"/>
              <a:t>:</a:t>
            </a:r>
            <a:endParaRPr lang="ru-RU" b="1" dirty="0" smtClean="0"/>
          </a:p>
          <a:p>
            <a:endParaRPr lang="ru-RU" b="1" dirty="0" smtClean="0"/>
          </a:p>
          <a:p>
            <a:r>
              <a:rPr lang="ru-RU" dirty="0" smtClean="0"/>
              <a:t>Процессы  </a:t>
            </a:r>
            <a:r>
              <a:rPr lang="ru-RU" dirty="0"/>
              <a:t>записи  и  чтения  идентичны  по  быстродействию (</a:t>
            </a:r>
            <a:r>
              <a:rPr lang="ru-RU" dirty="0" smtClean="0"/>
              <a:t>приблизительно  </a:t>
            </a:r>
            <a:r>
              <a:rPr lang="ru-RU" dirty="0"/>
              <a:t>по  50  </a:t>
            </a:r>
            <a:r>
              <a:rPr lang="ru-RU" dirty="0" err="1" smtClean="0"/>
              <a:t>мкс</a:t>
            </a:r>
            <a:r>
              <a:rPr lang="ru-RU" dirty="0" smtClean="0"/>
              <a:t>). Быстродействие </a:t>
            </a:r>
            <a:r>
              <a:rPr lang="ru-RU" b="1" dirty="0" smtClean="0"/>
              <a:t>на три порядка хуже</a:t>
            </a:r>
            <a:r>
              <a:rPr lang="ru-RU" dirty="0" smtClean="0"/>
              <a:t>  быстродействия </a:t>
            </a:r>
            <a:r>
              <a:rPr lang="ru-RU" dirty="0"/>
              <a:t>обычных  DRAM.</a:t>
            </a:r>
            <a:endParaRPr lang="ru-RU" dirty="0" smtClean="0"/>
          </a:p>
          <a:p>
            <a:endParaRPr lang="ru-RU" dirty="0" smtClean="0"/>
          </a:p>
          <a:p>
            <a:r>
              <a:rPr lang="ru-RU" dirty="0" smtClean="0"/>
              <a:t>Поэтому  </a:t>
            </a:r>
            <a:r>
              <a:rPr lang="ru-RU" dirty="0"/>
              <a:t>PFRAM  перспективны  не  в  качестве  ОЗУ,  а  для  замены  дисковой  памяти. </a:t>
            </a:r>
          </a:p>
        </p:txBody>
      </p:sp>
    </p:spTree>
    <p:extLst>
      <p:ext uri="{BB962C8B-B14F-4D97-AF65-F5344CB8AC3E}">
        <p14:creationId xmlns:p14="http://schemas.microsoft.com/office/powerpoint/2010/main" val="15996201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93492" y="2552419"/>
            <a:ext cx="6664519" cy="3456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107503" y="548680"/>
            <a:ext cx="9036496" cy="2031325"/>
          </a:xfrm>
          <a:prstGeom prst="rect">
            <a:avLst/>
          </a:prstGeom>
        </p:spPr>
        <p:txBody>
          <a:bodyPr wrap="square">
            <a:spAutoFit/>
          </a:bodyPr>
          <a:lstStyle/>
          <a:p>
            <a:r>
              <a:rPr lang="ru-RU" dirty="0"/>
              <a:t>Б</a:t>
            </a:r>
            <a:r>
              <a:rPr lang="ru-RU" dirty="0" smtClean="0"/>
              <a:t>итам  </a:t>
            </a:r>
            <a:r>
              <a:rPr lang="ru-RU" dirty="0"/>
              <a:t>двоичных  данных  соответствуют </a:t>
            </a:r>
            <a:r>
              <a:rPr lang="ru-RU" dirty="0" smtClean="0"/>
              <a:t> участки  </a:t>
            </a:r>
            <a:r>
              <a:rPr lang="ru-RU" dirty="0"/>
              <a:t>с  остаточной  намагниченностью,  образующие  "</a:t>
            </a:r>
            <a:r>
              <a:rPr lang="ru-RU" dirty="0" err="1"/>
              <a:t>микромагнитики</a:t>
            </a:r>
            <a:r>
              <a:rPr lang="ru-RU" dirty="0"/>
              <a:t>",  положение </a:t>
            </a:r>
            <a:r>
              <a:rPr lang="ru-RU" dirty="0" smtClean="0"/>
              <a:t>полюсов  </a:t>
            </a:r>
            <a:r>
              <a:rPr lang="ru-RU" dirty="0"/>
              <a:t>которых  задается  при  записи  информации.  Магнитные  ЗУ  обладают  </a:t>
            </a:r>
            <a:r>
              <a:rPr lang="ru-RU" dirty="0" smtClean="0"/>
              <a:t>естественной  </a:t>
            </a:r>
            <a:r>
              <a:rPr lang="ru-RU" dirty="0" err="1"/>
              <a:t>энергонезависимостью</a:t>
            </a:r>
            <a:r>
              <a:rPr lang="ru-RU" dirty="0"/>
              <a:t>.  Магнитные  поля  отдельных  магнитиков  </a:t>
            </a:r>
            <a:r>
              <a:rPr lang="ru-RU" dirty="0" smtClean="0"/>
              <a:t>обнаруживаются  </a:t>
            </a:r>
            <a:r>
              <a:rPr lang="ru-RU" dirty="0"/>
              <a:t>расположенными  у  их  краев  элементами  с  магниторезистивными  свойствами, </a:t>
            </a:r>
            <a:r>
              <a:rPr lang="ru-RU" dirty="0" smtClean="0"/>
              <a:t>электрическое  </a:t>
            </a:r>
            <a:r>
              <a:rPr lang="ru-RU" dirty="0"/>
              <a:t>сопротивление  которых  зависит  от  магнитного  поля,  окружающего </a:t>
            </a:r>
            <a:r>
              <a:rPr lang="ru-RU" dirty="0" smtClean="0"/>
              <a:t>эти  </a:t>
            </a:r>
            <a:r>
              <a:rPr lang="ru-RU" dirty="0"/>
              <a:t>элементы.  Чтение  не  является  разрушающим. </a:t>
            </a:r>
          </a:p>
        </p:txBody>
      </p:sp>
      <p:sp>
        <p:nvSpPr>
          <p:cNvPr id="6" name="Прямоугольник 5"/>
          <p:cNvSpPr/>
          <p:nvPr/>
        </p:nvSpPr>
        <p:spPr>
          <a:xfrm>
            <a:off x="107504" y="115250"/>
            <a:ext cx="3390800" cy="369332"/>
          </a:xfrm>
          <a:prstGeom prst="rect">
            <a:avLst/>
          </a:prstGeom>
        </p:spPr>
        <p:txBody>
          <a:bodyPr wrap="none">
            <a:spAutoFit/>
          </a:bodyPr>
          <a:lstStyle/>
          <a:p>
            <a:r>
              <a:rPr lang="ru-RU" b="1" dirty="0"/>
              <a:t>MRAM  (</a:t>
            </a:r>
            <a:r>
              <a:rPr lang="ru-RU" b="1" dirty="0" err="1"/>
              <a:t>Magnetoresistive</a:t>
            </a:r>
            <a:r>
              <a:rPr lang="ru-RU" b="1" dirty="0"/>
              <a:t>  RAM) </a:t>
            </a:r>
          </a:p>
        </p:txBody>
      </p:sp>
      <p:sp>
        <p:nvSpPr>
          <p:cNvPr id="7" name="TextBox 6"/>
          <p:cNvSpPr txBox="1"/>
          <p:nvPr/>
        </p:nvSpPr>
        <p:spPr>
          <a:xfrm>
            <a:off x="118187" y="5976108"/>
            <a:ext cx="6233886" cy="646331"/>
          </a:xfrm>
          <a:prstGeom prst="rect">
            <a:avLst/>
          </a:prstGeom>
          <a:noFill/>
        </p:spPr>
        <p:txBody>
          <a:bodyPr wrap="none" rtlCol="0">
            <a:spAutoFit/>
          </a:bodyPr>
          <a:lstStyle/>
          <a:p>
            <a:r>
              <a:rPr lang="ru-RU" dirty="0" smtClean="0"/>
              <a:t>В основе </a:t>
            </a:r>
            <a:r>
              <a:rPr lang="en-US" dirty="0" smtClean="0"/>
              <a:t>GMR- </a:t>
            </a:r>
            <a:r>
              <a:rPr lang="ru-RU" dirty="0" smtClean="0"/>
              <a:t>явление гигантского магнетосопротивления</a:t>
            </a:r>
            <a:r>
              <a:rPr lang="en-US" dirty="0" smtClean="0"/>
              <a:t>. </a:t>
            </a:r>
            <a:endParaRPr lang="ru-RU" dirty="0" smtClean="0"/>
          </a:p>
          <a:p>
            <a:r>
              <a:rPr lang="ru-RU" dirty="0" smtClean="0"/>
              <a:t>Нобелевская премия </a:t>
            </a:r>
            <a:r>
              <a:rPr lang="ru-RU" b="1" dirty="0"/>
              <a:t>2007 </a:t>
            </a:r>
            <a:r>
              <a:rPr lang="ru-RU" b="1" dirty="0" smtClean="0"/>
              <a:t>год- </a:t>
            </a:r>
            <a:r>
              <a:rPr lang="ru-RU" dirty="0" smtClean="0"/>
              <a:t> </a:t>
            </a:r>
            <a:r>
              <a:rPr lang="ru-RU" b="1" dirty="0" err="1" smtClean="0"/>
              <a:t>Грюнберг</a:t>
            </a:r>
            <a:r>
              <a:rPr lang="ru-RU" b="1" dirty="0" smtClean="0"/>
              <a:t> Петер, </a:t>
            </a:r>
            <a:r>
              <a:rPr lang="ru-RU" b="1" dirty="0" err="1" smtClean="0"/>
              <a:t>Фер</a:t>
            </a:r>
            <a:r>
              <a:rPr lang="ru-RU" b="1" dirty="0" smtClean="0"/>
              <a:t> Альбер</a:t>
            </a:r>
            <a:endParaRPr lang="ru-RU" dirty="0"/>
          </a:p>
        </p:txBody>
      </p:sp>
    </p:spTree>
    <p:extLst>
      <p:ext uri="{BB962C8B-B14F-4D97-AF65-F5344CB8AC3E}">
        <p14:creationId xmlns:p14="http://schemas.microsoft.com/office/powerpoint/2010/main" val="58779121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47664" y="188640"/>
            <a:ext cx="6624736" cy="400110"/>
          </a:xfrm>
          <a:prstGeom prst="rect">
            <a:avLst/>
          </a:prstGeom>
        </p:spPr>
        <p:txBody>
          <a:bodyPr wrap="square">
            <a:spAutoFit/>
          </a:bodyPr>
          <a:lstStyle/>
          <a:p>
            <a:r>
              <a:rPr lang="ru-RU" sz="2000" b="1" dirty="0" smtClean="0">
                <a:solidFill>
                  <a:srgbClr val="FF0000"/>
                </a:solidFill>
              </a:rPr>
              <a:t>Программируемые логические интегральные схемы </a:t>
            </a:r>
            <a:endParaRPr lang="ru-RU" sz="2000" b="1" dirty="0">
              <a:solidFill>
                <a:srgbClr val="FF0000"/>
              </a:solidFill>
            </a:endParaRPr>
          </a:p>
        </p:txBody>
      </p:sp>
      <p:sp>
        <p:nvSpPr>
          <p:cNvPr id="5" name="Прямоугольник 4"/>
          <p:cNvSpPr/>
          <p:nvPr/>
        </p:nvSpPr>
        <p:spPr>
          <a:xfrm>
            <a:off x="1827244" y="1505284"/>
            <a:ext cx="5227778" cy="369332"/>
          </a:xfrm>
          <a:prstGeom prst="rect">
            <a:avLst/>
          </a:prstGeom>
        </p:spPr>
        <p:txBody>
          <a:bodyPr wrap="none">
            <a:spAutoFit/>
          </a:bodyPr>
          <a:lstStyle/>
          <a:p>
            <a:r>
              <a:rPr lang="ru-RU" b="1" dirty="0"/>
              <a:t>Принципы обработки </a:t>
            </a:r>
            <a:r>
              <a:rPr lang="ru-RU" b="1" dirty="0" smtClean="0"/>
              <a:t>информационных  потоков </a:t>
            </a:r>
            <a:endParaRPr lang="ru-RU" b="1" dirty="0"/>
          </a:p>
        </p:txBody>
      </p:sp>
      <p:sp>
        <p:nvSpPr>
          <p:cNvPr id="6" name="Прямоугольник 5"/>
          <p:cNvSpPr/>
          <p:nvPr/>
        </p:nvSpPr>
        <p:spPr>
          <a:xfrm>
            <a:off x="112304" y="1916832"/>
            <a:ext cx="8856984" cy="2862322"/>
          </a:xfrm>
          <a:prstGeom prst="rect">
            <a:avLst/>
          </a:prstGeom>
        </p:spPr>
        <p:txBody>
          <a:bodyPr wrap="square">
            <a:spAutoFit/>
          </a:bodyPr>
          <a:lstStyle/>
          <a:p>
            <a:r>
              <a:rPr lang="ru-RU" sz="2000" dirty="0"/>
              <a:t>В общем случае цифровая </a:t>
            </a:r>
            <a:r>
              <a:rPr lang="ru-RU" sz="2000" dirty="0" smtClean="0"/>
              <a:t>обработка потоков </a:t>
            </a:r>
            <a:r>
              <a:rPr lang="ru-RU" sz="2000" dirty="0"/>
              <a:t>заключается в реализации определенных функциональных преобразований над множеством входных данных, представленных в виде двухуровневых </a:t>
            </a:r>
            <a:r>
              <a:rPr lang="ru-RU" sz="2000" dirty="0" smtClean="0"/>
              <a:t>последовательностей (логических или цифровых кодов). </a:t>
            </a:r>
          </a:p>
          <a:p>
            <a:endParaRPr lang="ru-RU" sz="2000" dirty="0" smtClean="0"/>
          </a:p>
          <a:p>
            <a:r>
              <a:rPr lang="ru-RU" sz="2000" dirty="0" smtClean="0"/>
              <a:t>Конкретный </a:t>
            </a:r>
            <a:r>
              <a:rPr lang="ru-RU" sz="2000" dirty="0"/>
              <a:t>вид таких преобразований, включающих в себя наборы арифметических и логических операций, зависит от решаемой задачи и задается алгоритмом обработки. Он описывает совокупность и  последовательность действий, приводящих к требуемому результату. </a:t>
            </a:r>
          </a:p>
        </p:txBody>
      </p:sp>
    </p:spTree>
    <p:extLst>
      <p:ext uri="{BB962C8B-B14F-4D97-AF65-F5344CB8AC3E}">
        <p14:creationId xmlns:p14="http://schemas.microsoft.com/office/powerpoint/2010/main" val="197108781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83063" y="325119"/>
            <a:ext cx="7760937" cy="400110"/>
          </a:xfrm>
          <a:prstGeom prst="rect">
            <a:avLst/>
          </a:prstGeom>
        </p:spPr>
        <p:txBody>
          <a:bodyPr wrap="square">
            <a:spAutoFit/>
          </a:bodyPr>
          <a:lstStyle/>
          <a:p>
            <a:r>
              <a:rPr lang="ru-RU" sz="2000" b="1" dirty="0" smtClean="0">
                <a:solidFill>
                  <a:srgbClr val="FF0000"/>
                </a:solidFill>
              </a:rPr>
              <a:t>1.Пространственно-распределенные алгоритмы обработки</a:t>
            </a:r>
            <a:endParaRPr lang="ru-RU" sz="2000" b="1" dirty="0">
              <a:solidFill>
                <a:srgbClr val="FF0000"/>
              </a:solidFill>
            </a:endParaRPr>
          </a:p>
        </p:txBody>
      </p:sp>
      <p:pic>
        <p:nvPicPr>
          <p:cNvPr id="3277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214" r="18746"/>
          <a:stretch/>
        </p:blipFill>
        <p:spPr bwMode="auto">
          <a:xfrm>
            <a:off x="431303" y="824091"/>
            <a:ext cx="4717774" cy="34334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325" y="4690650"/>
            <a:ext cx="4139952" cy="17852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Прямоугольник 5"/>
          <p:cNvSpPr/>
          <p:nvPr/>
        </p:nvSpPr>
        <p:spPr>
          <a:xfrm>
            <a:off x="1259632" y="4321318"/>
            <a:ext cx="2789290" cy="369332"/>
          </a:xfrm>
          <a:prstGeom prst="rect">
            <a:avLst/>
          </a:prstGeom>
        </p:spPr>
        <p:txBody>
          <a:bodyPr wrap="none">
            <a:spAutoFit/>
          </a:bodyPr>
          <a:lstStyle/>
          <a:p>
            <a:r>
              <a:rPr lang="ru-RU" b="1" dirty="0">
                <a:solidFill>
                  <a:srgbClr val="00B050"/>
                </a:solidFill>
              </a:rPr>
              <a:t>Структура потока данных </a:t>
            </a:r>
          </a:p>
        </p:txBody>
      </p:sp>
      <p:sp>
        <p:nvSpPr>
          <p:cNvPr id="7" name="Прямоугольник 6"/>
          <p:cNvSpPr/>
          <p:nvPr/>
        </p:nvSpPr>
        <p:spPr>
          <a:xfrm>
            <a:off x="108883" y="678403"/>
            <a:ext cx="9042232" cy="369332"/>
          </a:xfrm>
          <a:prstGeom prst="rect">
            <a:avLst/>
          </a:prstGeom>
        </p:spPr>
        <p:txBody>
          <a:bodyPr wrap="square">
            <a:spAutoFit/>
          </a:bodyPr>
          <a:lstStyle/>
          <a:p>
            <a:r>
              <a:rPr lang="ru-RU" dirty="0"/>
              <a:t>Структура устройства обработки с распределением алгоритма обработки в пространстве </a:t>
            </a:r>
          </a:p>
        </p:txBody>
      </p:sp>
      <p:sp>
        <p:nvSpPr>
          <p:cNvPr id="8" name="TextBox 7"/>
          <p:cNvSpPr txBox="1"/>
          <p:nvPr/>
        </p:nvSpPr>
        <p:spPr>
          <a:xfrm>
            <a:off x="6084168" y="1368732"/>
            <a:ext cx="1635384" cy="400110"/>
          </a:xfrm>
          <a:prstGeom prst="rect">
            <a:avLst/>
          </a:prstGeom>
          <a:noFill/>
        </p:spPr>
        <p:txBody>
          <a:bodyPr wrap="none" rtlCol="0">
            <a:spAutoFit/>
          </a:bodyPr>
          <a:lstStyle/>
          <a:p>
            <a:r>
              <a:rPr lang="ru-RU" sz="2000" b="1" dirty="0" smtClean="0"/>
              <a:t>Особенности</a:t>
            </a:r>
            <a:endParaRPr lang="ru-RU" sz="2000" b="1" dirty="0"/>
          </a:p>
        </p:txBody>
      </p:sp>
      <p:sp>
        <p:nvSpPr>
          <p:cNvPr id="9" name="TextBox 8"/>
          <p:cNvSpPr txBox="1"/>
          <p:nvPr/>
        </p:nvSpPr>
        <p:spPr>
          <a:xfrm>
            <a:off x="5191809" y="1738064"/>
            <a:ext cx="3779912" cy="1631216"/>
          </a:xfrm>
          <a:prstGeom prst="rect">
            <a:avLst/>
          </a:prstGeom>
          <a:noFill/>
        </p:spPr>
        <p:txBody>
          <a:bodyPr wrap="square" rtlCol="0">
            <a:spAutoFit/>
          </a:bodyPr>
          <a:lstStyle/>
          <a:p>
            <a:pPr marL="285750" indent="-285750">
              <a:buFont typeface="Arial" panose="020B0604020202020204" pitchFamily="34" charset="0"/>
              <a:buChar char="•"/>
            </a:pPr>
            <a:r>
              <a:rPr lang="ru-RU" sz="2000" dirty="0" smtClean="0"/>
              <a:t>параллельные вычисления</a:t>
            </a:r>
          </a:p>
          <a:p>
            <a:pPr marL="285750" indent="-285750">
              <a:buFont typeface="Arial" panose="020B0604020202020204" pitchFamily="34" charset="0"/>
              <a:buChar char="•"/>
            </a:pPr>
            <a:r>
              <a:rPr lang="ru-RU" sz="2000" dirty="0" smtClean="0"/>
              <a:t>наибольшее быстродействие</a:t>
            </a:r>
          </a:p>
          <a:p>
            <a:pPr marL="285750" indent="-285750">
              <a:buFont typeface="Arial" panose="020B0604020202020204" pitchFamily="34" charset="0"/>
              <a:buChar char="•"/>
            </a:pPr>
            <a:r>
              <a:rPr lang="ru-RU" sz="2000" dirty="0" smtClean="0"/>
              <a:t>обработка в реальном масштабе времени</a:t>
            </a:r>
          </a:p>
          <a:p>
            <a:pPr marL="285750" indent="-285750">
              <a:buFont typeface="Arial" panose="020B0604020202020204" pitchFamily="34" charset="0"/>
              <a:buChar char="•"/>
            </a:pPr>
            <a:r>
              <a:rPr lang="ru-RU" sz="2000" dirty="0" smtClean="0"/>
              <a:t>«</a:t>
            </a:r>
            <a:r>
              <a:rPr lang="ru-RU" sz="2000" dirty="0"/>
              <a:t>ж</a:t>
            </a:r>
            <a:r>
              <a:rPr lang="ru-RU" sz="2000" dirty="0" smtClean="0"/>
              <a:t>есткая» логика</a:t>
            </a:r>
            <a:endParaRPr lang="ru-RU" sz="2000" dirty="0"/>
          </a:p>
        </p:txBody>
      </p:sp>
      <p:sp>
        <p:nvSpPr>
          <p:cNvPr id="10" name="TextBox 9"/>
          <p:cNvSpPr txBox="1"/>
          <p:nvPr/>
        </p:nvSpPr>
        <p:spPr>
          <a:xfrm>
            <a:off x="6265209" y="4041713"/>
            <a:ext cx="1458413" cy="400110"/>
          </a:xfrm>
          <a:prstGeom prst="rect">
            <a:avLst/>
          </a:prstGeom>
          <a:noFill/>
        </p:spPr>
        <p:txBody>
          <a:bodyPr wrap="none" rtlCol="0">
            <a:spAutoFit/>
          </a:bodyPr>
          <a:lstStyle/>
          <a:p>
            <a:r>
              <a:rPr lang="ru-RU" sz="2000" b="1" dirty="0" smtClean="0"/>
              <a:t>Недостатки</a:t>
            </a:r>
            <a:endParaRPr lang="ru-RU" sz="2000" b="1" dirty="0"/>
          </a:p>
        </p:txBody>
      </p:sp>
      <p:sp>
        <p:nvSpPr>
          <p:cNvPr id="13" name="Прямоугольник 12"/>
          <p:cNvSpPr/>
          <p:nvPr/>
        </p:nvSpPr>
        <p:spPr>
          <a:xfrm>
            <a:off x="179512" y="-44213"/>
            <a:ext cx="8964488" cy="400110"/>
          </a:xfrm>
          <a:prstGeom prst="rect">
            <a:avLst/>
          </a:prstGeom>
        </p:spPr>
        <p:txBody>
          <a:bodyPr wrap="square">
            <a:spAutoFit/>
          </a:bodyPr>
          <a:lstStyle/>
          <a:p>
            <a:r>
              <a:rPr lang="ru-RU" sz="2000" b="1" dirty="0" smtClean="0"/>
              <a:t>Классификация подходов </a:t>
            </a:r>
            <a:r>
              <a:rPr lang="ru-RU" sz="2000" b="1" dirty="0"/>
              <a:t>к аппаратной реализации систем </a:t>
            </a:r>
            <a:r>
              <a:rPr lang="ru-RU" sz="2000" b="1" dirty="0" smtClean="0"/>
              <a:t>обработки потоков </a:t>
            </a:r>
            <a:endParaRPr lang="ru-RU" sz="2000" b="1" dirty="0"/>
          </a:p>
        </p:txBody>
      </p:sp>
    </p:spTree>
    <p:extLst>
      <p:ext uri="{BB962C8B-B14F-4D97-AF65-F5344CB8AC3E}">
        <p14:creationId xmlns:p14="http://schemas.microsoft.com/office/powerpoint/2010/main" val="10450493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91680" y="180280"/>
            <a:ext cx="6137962" cy="400110"/>
          </a:xfrm>
          <a:prstGeom prst="rect">
            <a:avLst/>
          </a:prstGeom>
          <a:noFill/>
        </p:spPr>
        <p:txBody>
          <a:bodyPr wrap="none" rtlCol="0">
            <a:spAutoFit/>
          </a:bodyPr>
          <a:lstStyle/>
          <a:p>
            <a:r>
              <a:rPr lang="ru-RU" sz="2000" b="1" dirty="0" smtClean="0">
                <a:solidFill>
                  <a:srgbClr val="FF0000"/>
                </a:solidFill>
              </a:rPr>
              <a:t>2.Распределение алгоритмов обработки во времени </a:t>
            </a:r>
            <a:endParaRPr lang="ru-RU" sz="2000" b="1" dirty="0">
              <a:solidFill>
                <a:srgbClr val="FF0000"/>
              </a:solidFill>
            </a:endParaRPr>
          </a:p>
        </p:txBody>
      </p:sp>
      <p:pic>
        <p:nvPicPr>
          <p:cNvPr id="3379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452"/>
          <a:stretch/>
        </p:blipFill>
        <p:spPr bwMode="auto">
          <a:xfrm>
            <a:off x="2967127" y="549612"/>
            <a:ext cx="2705797" cy="1988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5796784" y="1082367"/>
            <a:ext cx="3366243" cy="1015663"/>
          </a:xfrm>
          <a:prstGeom prst="rect">
            <a:avLst/>
          </a:prstGeom>
          <a:noFill/>
        </p:spPr>
        <p:txBody>
          <a:bodyPr wrap="none" rtlCol="0">
            <a:spAutoFit/>
          </a:bodyPr>
          <a:lstStyle/>
          <a:p>
            <a:r>
              <a:rPr lang="ru-RU" sz="2000" dirty="0" smtClean="0"/>
              <a:t>УОПФ-устройство обработки </a:t>
            </a:r>
          </a:p>
          <a:p>
            <a:r>
              <a:rPr lang="ru-RU" sz="2000" dirty="0" smtClean="0"/>
              <a:t>с программируемыми </a:t>
            </a:r>
          </a:p>
          <a:p>
            <a:r>
              <a:rPr lang="ru-RU" sz="2000" dirty="0" smtClean="0"/>
              <a:t>функциями</a:t>
            </a:r>
            <a:endParaRPr lang="ru-RU" sz="2000" dirty="0"/>
          </a:p>
        </p:txBody>
      </p:sp>
      <p:sp>
        <p:nvSpPr>
          <p:cNvPr id="6" name="TextBox 5"/>
          <p:cNvSpPr txBox="1"/>
          <p:nvPr/>
        </p:nvSpPr>
        <p:spPr>
          <a:xfrm>
            <a:off x="211626" y="1220866"/>
            <a:ext cx="1975284" cy="707886"/>
          </a:xfrm>
          <a:prstGeom prst="rect">
            <a:avLst/>
          </a:prstGeom>
          <a:noFill/>
        </p:spPr>
        <p:txBody>
          <a:bodyPr wrap="none" rtlCol="0">
            <a:spAutoFit/>
          </a:bodyPr>
          <a:lstStyle/>
          <a:p>
            <a:r>
              <a:rPr lang="en-US" sz="2000" dirty="0" smtClean="0"/>
              <a:t>D-</a:t>
            </a:r>
            <a:r>
              <a:rPr lang="ru-RU" sz="2000" dirty="0" smtClean="0"/>
              <a:t> </a:t>
            </a:r>
            <a:r>
              <a:rPr lang="ru-RU" sz="2000" dirty="0"/>
              <a:t>поток </a:t>
            </a:r>
            <a:r>
              <a:rPr lang="ru-RU" sz="2000" dirty="0" smtClean="0"/>
              <a:t>данных</a:t>
            </a:r>
          </a:p>
          <a:p>
            <a:r>
              <a:rPr lang="ru-RU" sz="2000" dirty="0" smtClean="0"/>
              <a:t>К-</a:t>
            </a:r>
            <a:r>
              <a:rPr lang="ru-RU" sz="2000" dirty="0"/>
              <a:t> поток команд</a:t>
            </a:r>
          </a:p>
        </p:txBody>
      </p:sp>
      <p:pic>
        <p:nvPicPr>
          <p:cNvPr id="3379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36" y="3943107"/>
            <a:ext cx="4058070" cy="2492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Прямоугольник 6"/>
          <p:cNvSpPr/>
          <p:nvPr/>
        </p:nvSpPr>
        <p:spPr>
          <a:xfrm>
            <a:off x="240835" y="3230420"/>
            <a:ext cx="8752862" cy="707886"/>
          </a:xfrm>
          <a:prstGeom prst="rect">
            <a:avLst/>
          </a:prstGeom>
        </p:spPr>
        <p:txBody>
          <a:bodyPr wrap="square">
            <a:spAutoFit/>
          </a:bodyPr>
          <a:lstStyle/>
          <a:p>
            <a:pPr algn="ctr"/>
            <a:r>
              <a:rPr lang="ru-RU" sz="2000" b="1" dirty="0">
                <a:solidFill>
                  <a:srgbClr val="00B050"/>
                </a:solidFill>
              </a:rPr>
              <a:t>Структура потока данных и команд при распределении алгоритма обработки во времени </a:t>
            </a:r>
          </a:p>
        </p:txBody>
      </p:sp>
      <p:sp>
        <p:nvSpPr>
          <p:cNvPr id="8" name="TextBox 7"/>
          <p:cNvSpPr txBox="1"/>
          <p:nvPr/>
        </p:nvSpPr>
        <p:spPr>
          <a:xfrm>
            <a:off x="6387681" y="4304669"/>
            <a:ext cx="1438151" cy="369332"/>
          </a:xfrm>
          <a:prstGeom prst="rect">
            <a:avLst/>
          </a:prstGeom>
          <a:noFill/>
        </p:spPr>
        <p:txBody>
          <a:bodyPr wrap="none" rtlCol="0">
            <a:spAutoFit/>
          </a:bodyPr>
          <a:lstStyle/>
          <a:p>
            <a:r>
              <a:rPr lang="ru-RU" b="1" dirty="0" smtClean="0"/>
              <a:t>Достоинства</a:t>
            </a:r>
            <a:endParaRPr lang="ru-RU" b="1" dirty="0"/>
          </a:p>
        </p:txBody>
      </p:sp>
      <p:sp>
        <p:nvSpPr>
          <p:cNvPr id="11" name="TextBox 10"/>
          <p:cNvSpPr txBox="1"/>
          <p:nvPr/>
        </p:nvSpPr>
        <p:spPr>
          <a:xfrm>
            <a:off x="6496813" y="5445224"/>
            <a:ext cx="1329338" cy="369332"/>
          </a:xfrm>
          <a:prstGeom prst="rect">
            <a:avLst/>
          </a:prstGeom>
          <a:noFill/>
        </p:spPr>
        <p:txBody>
          <a:bodyPr wrap="none" rtlCol="0">
            <a:spAutoFit/>
          </a:bodyPr>
          <a:lstStyle/>
          <a:p>
            <a:r>
              <a:rPr lang="ru-RU" b="1" dirty="0" smtClean="0"/>
              <a:t>Недостатки</a:t>
            </a:r>
            <a:endParaRPr lang="ru-RU" b="1" dirty="0"/>
          </a:p>
        </p:txBody>
      </p:sp>
    </p:spTree>
    <p:extLst>
      <p:ext uri="{BB962C8B-B14F-4D97-AF65-F5344CB8AC3E}">
        <p14:creationId xmlns:p14="http://schemas.microsoft.com/office/powerpoint/2010/main" val="145544126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15616" y="163959"/>
            <a:ext cx="7677102" cy="400110"/>
          </a:xfrm>
          <a:prstGeom prst="rect">
            <a:avLst/>
          </a:prstGeom>
          <a:noFill/>
        </p:spPr>
        <p:txBody>
          <a:bodyPr wrap="none" rtlCol="0">
            <a:spAutoFit/>
          </a:bodyPr>
          <a:lstStyle/>
          <a:p>
            <a:r>
              <a:rPr lang="ru-RU" sz="2000" b="1" dirty="0" smtClean="0">
                <a:solidFill>
                  <a:srgbClr val="FF0000"/>
                </a:solidFill>
              </a:rPr>
              <a:t>3. Пространственно-временная реализация алгоритмов обработки</a:t>
            </a:r>
            <a:endParaRPr lang="ru-RU" sz="2000" b="1" dirty="0">
              <a:solidFill>
                <a:srgbClr val="FF0000"/>
              </a:solidFill>
            </a:endParaRPr>
          </a:p>
        </p:txBody>
      </p:sp>
      <p:pic>
        <p:nvPicPr>
          <p:cNvPr id="358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4" y="1124744"/>
            <a:ext cx="2362717" cy="1678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7784" y="5164509"/>
            <a:ext cx="4248472" cy="1330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Прямоугольник 5"/>
          <p:cNvSpPr/>
          <p:nvPr/>
        </p:nvSpPr>
        <p:spPr>
          <a:xfrm>
            <a:off x="251520" y="564626"/>
            <a:ext cx="8784976" cy="646331"/>
          </a:xfrm>
          <a:prstGeom prst="rect">
            <a:avLst/>
          </a:prstGeom>
        </p:spPr>
        <p:txBody>
          <a:bodyPr wrap="square">
            <a:spAutoFit/>
          </a:bodyPr>
          <a:lstStyle/>
          <a:p>
            <a:r>
              <a:rPr lang="ru-RU" dirty="0"/>
              <a:t>Структура устройства обработки с распределением алгоритма в пространстве и во времени </a:t>
            </a:r>
          </a:p>
        </p:txBody>
      </p:sp>
      <p:sp>
        <p:nvSpPr>
          <p:cNvPr id="7" name="Прямоугольник 6"/>
          <p:cNvSpPr/>
          <p:nvPr/>
        </p:nvSpPr>
        <p:spPr>
          <a:xfrm>
            <a:off x="251520" y="4522910"/>
            <a:ext cx="8640960" cy="646331"/>
          </a:xfrm>
          <a:prstGeom prst="rect">
            <a:avLst/>
          </a:prstGeom>
        </p:spPr>
        <p:txBody>
          <a:bodyPr wrap="square">
            <a:spAutoFit/>
          </a:bodyPr>
          <a:lstStyle/>
          <a:p>
            <a:pPr algn="ctr"/>
            <a:r>
              <a:rPr lang="ru-RU" b="1" dirty="0">
                <a:solidFill>
                  <a:srgbClr val="00B050"/>
                </a:solidFill>
              </a:rPr>
              <a:t>Структура потока данных и кодов конфигурации при </a:t>
            </a:r>
            <a:r>
              <a:rPr lang="ru-RU" b="1" dirty="0" smtClean="0">
                <a:solidFill>
                  <a:srgbClr val="00B050"/>
                </a:solidFill>
              </a:rPr>
              <a:t>комбинированном</a:t>
            </a:r>
          </a:p>
          <a:p>
            <a:pPr algn="ctr"/>
            <a:r>
              <a:rPr lang="ru-RU" b="1" dirty="0" smtClean="0">
                <a:solidFill>
                  <a:srgbClr val="00B050"/>
                </a:solidFill>
              </a:rPr>
              <a:t> </a:t>
            </a:r>
            <a:r>
              <a:rPr lang="ru-RU" b="1" dirty="0">
                <a:solidFill>
                  <a:srgbClr val="00B050"/>
                </a:solidFill>
              </a:rPr>
              <a:t>распределении алгоритма обработки </a:t>
            </a:r>
          </a:p>
        </p:txBody>
      </p:sp>
      <p:sp>
        <p:nvSpPr>
          <p:cNvPr id="8" name="Прямоугольник 7"/>
          <p:cNvSpPr/>
          <p:nvPr/>
        </p:nvSpPr>
        <p:spPr>
          <a:xfrm>
            <a:off x="210073" y="2803451"/>
            <a:ext cx="8867869" cy="1477328"/>
          </a:xfrm>
          <a:prstGeom prst="rect">
            <a:avLst/>
          </a:prstGeom>
        </p:spPr>
        <p:txBody>
          <a:bodyPr wrap="square">
            <a:spAutoFit/>
          </a:bodyPr>
          <a:lstStyle/>
          <a:p>
            <a:r>
              <a:rPr lang="ru-RU" dirty="0" smtClean="0"/>
              <a:t>Алгоритм </a:t>
            </a:r>
            <a:r>
              <a:rPr lang="ru-RU" dirty="0"/>
              <a:t>разбивается на достаточно большие функционально завершенные фрагменты </a:t>
            </a:r>
            <a:r>
              <a:rPr lang="en-US" b="1" i="1" dirty="0" smtClean="0"/>
              <a:t>F</a:t>
            </a:r>
            <a:r>
              <a:rPr lang="en-US" b="1" i="1" baseline="-25000" dirty="0" smtClean="0"/>
              <a:t>i</a:t>
            </a:r>
            <a:r>
              <a:rPr lang="ru-RU" i="1" dirty="0" smtClean="0"/>
              <a:t> </a:t>
            </a:r>
            <a:r>
              <a:rPr lang="ru-RU" dirty="0"/>
              <a:t>которые могут параллельно выполняться в устройстве </a:t>
            </a:r>
            <a:r>
              <a:rPr lang="ru-RU" b="1" i="1" dirty="0" smtClean="0"/>
              <a:t>У0</a:t>
            </a:r>
            <a:r>
              <a:rPr lang="en-US" b="1" i="1" baseline="-25000" dirty="0" err="1"/>
              <a:t>i</a:t>
            </a:r>
            <a:r>
              <a:rPr lang="ru-RU" dirty="0" smtClean="0"/>
              <a:t> </a:t>
            </a:r>
            <a:r>
              <a:rPr lang="ru-RU" dirty="0"/>
              <a:t>с определенной конфигурацией. Каждому из разновидностей таких устройств устанавливаются в соответствии коды </a:t>
            </a:r>
            <a:r>
              <a:rPr lang="ru-RU" dirty="0" smtClean="0"/>
              <a:t>конфигурации </a:t>
            </a:r>
            <a:r>
              <a:rPr lang="ru-RU" dirty="0"/>
              <a:t>— КК. Под действием этих команд УОПК меняет свою внутреннюю структуру, настраиваясь на реализацию фрагмента  </a:t>
            </a:r>
            <a:r>
              <a:rPr lang="ru-RU" dirty="0" smtClean="0"/>
              <a:t>алгоритма</a:t>
            </a:r>
            <a:r>
              <a:rPr lang="en-US" dirty="0"/>
              <a:t>.</a:t>
            </a:r>
            <a:endParaRPr lang="ru-RU" dirty="0"/>
          </a:p>
        </p:txBody>
      </p:sp>
    </p:spTree>
    <p:extLst>
      <p:ext uri="{BB962C8B-B14F-4D97-AF65-F5344CB8AC3E}">
        <p14:creationId xmlns:p14="http://schemas.microsoft.com/office/powerpoint/2010/main" val="26942145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63688" y="439148"/>
            <a:ext cx="5526360" cy="369332"/>
          </a:xfrm>
          <a:prstGeom prst="rect">
            <a:avLst/>
          </a:prstGeom>
        </p:spPr>
        <p:txBody>
          <a:bodyPr wrap="square">
            <a:spAutoFit/>
          </a:bodyPr>
          <a:lstStyle/>
          <a:p>
            <a:r>
              <a:rPr lang="ru-RU" b="1" dirty="0"/>
              <a:t>Программируемые логические интегральные схемы </a:t>
            </a:r>
          </a:p>
        </p:txBody>
      </p:sp>
      <p:sp>
        <p:nvSpPr>
          <p:cNvPr id="5" name="TextBox 4"/>
          <p:cNvSpPr txBox="1"/>
          <p:nvPr/>
        </p:nvSpPr>
        <p:spPr>
          <a:xfrm>
            <a:off x="1763688" y="91951"/>
            <a:ext cx="6342955" cy="400110"/>
          </a:xfrm>
          <a:prstGeom prst="rect">
            <a:avLst/>
          </a:prstGeom>
          <a:noFill/>
        </p:spPr>
        <p:txBody>
          <a:bodyPr wrap="none" rtlCol="0">
            <a:spAutoFit/>
          </a:bodyPr>
          <a:lstStyle/>
          <a:p>
            <a:r>
              <a:rPr lang="ru-RU" sz="2000" b="1" dirty="0" smtClean="0">
                <a:solidFill>
                  <a:srgbClr val="FF0000"/>
                </a:solidFill>
              </a:rPr>
              <a:t>Классификация программируемых интегральных схем</a:t>
            </a:r>
            <a:endParaRPr lang="ru-RU" sz="2000" b="1" dirty="0">
              <a:solidFill>
                <a:srgbClr val="FF0000"/>
              </a:solidFill>
            </a:endParaRPr>
          </a:p>
        </p:txBody>
      </p:sp>
      <p:sp>
        <p:nvSpPr>
          <p:cNvPr id="6" name="Прямоугольник 5"/>
          <p:cNvSpPr/>
          <p:nvPr/>
        </p:nvSpPr>
        <p:spPr>
          <a:xfrm>
            <a:off x="277869" y="1249727"/>
            <a:ext cx="3024336"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Программируемые логические интегральные схемы (ПЛИС) </a:t>
            </a:r>
            <a:endParaRPr lang="ru-RU" dirty="0"/>
          </a:p>
        </p:txBody>
      </p:sp>
      <p:sp>
        <p:nvSpPr>
          <p:cNvPr id="7" name="Прямоугольник 6"/>
          <p:cNvSpPr/>
          <p:nvPr/>
        </p:nvSpPr>
        <p:spPr>
          <a:xfrm>
            <a:off x="277869" y="2720234"/>
            <a:ext cx="3024336" cy="1296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Простые программируемые логические устройства</a:t>
            </a:r>
          </a:p>
          <a:p>
            <a:pPr algn="ctr"/>
            <a:r>
              <a:rPr lang="ru-RU" dirty="0" smtClean="0"/>
              <a:t>(</a:t>
            </a:r>
            <a:r>
              <a:rPr lang="en-US" dirty="0" smtClean="0"/>
              <a:t>SPLD)</a:t>
            </a:r>
            <a:endParaRPr lang="ru-RU" dirty="0"/>
          </a:p>
        </p:txBody>
      </p:sp>
      <p:sp>
        <p:nvSpPr>
          <p:cNvPr id="8" name="Прямоугольник 7"/>
          <p:cNvSpPr/>
          <p:nvPr/>
        </p:nvSpPr>
        <p:spPr>
          <a:xfrm>
            <a:off x="277869" y="4406765"/>
            <a:ext cx="3024336"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Сложные </a:t>
            </a:r>
            <a:r>
              <a:rPr lang="ru-RU" dirty="0"/>
              <a:t>программируемые логические </a:t>
            </a:r>
            <a:r>
              <a:rPr lang="ru-RU" dirty="0" smtClean="0"/>
              <a:t>устройства</a:t>
            </a:r>
            <a:endParaRPr lang="ru-RU" dirty="0"/>
          </a:p>
          <a:p>
            <a:pPr algn="ctr"/>
            <a:r>
              <a:rPr lang="en-US" dirty="0" smtClean="0"/>
              <a:t>(</a:t>
            </a:r>
            <a:r>
              <a:rPr lang="ru-RU" dirty="0" smtClean="0"/>
              <a:t>С</a:t>
            </a:r>
            <a:r>
              <a:rPr lang="en-US" dirty="0" smtClean="0"/>
              <a:t>PLD)</a:t>
            </a:r>
            <a:endParaRPr lang="ru-RU" dirty="0"/>
          </a:p>
        </p:txBody>
      </p:sp>
      <p:sp>
        <p:nvSpPr>
          <p:cNvPr id="9" name="Прямоугольник 8"/>
          <p:cNvSpPr/>
          <p:nvPr/>
        </p:nvSpPr>
        <p:spPr>
          <a:xfrm>
            <a:off x="277869" y="5877272"/>
            <a:ext cx="3024336"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Программируемые вентильные матрицы</a:t>
            </a:r>
          </a:p>
          <a:p>
            <a:pPr algn="ctr"/>
            <a:r>
              <a:rPr lang="ru-RU" dirty="0" smtClean="0"/>
              <a:t>(</a:t>
            </a:r>
            <a:r>
              <a:rPr lang="en-US" dirty="0" smtClean="0"/>
              <a:t>FPGA)</a:t>
            </a:r>
            <a:endParaRPr lang="ru-RU" dirty="0"/>
          </a:p>
        </p:txBody>
      </p:sp>
      <p:sp>
        <p:nvSpPr>
          <p:cNvPr id="10" name="TextBox 9"/>
          <p:cNvSpPr txBox="1"/>
          <p:nvPr/>
        </p:nvSpPr>
        <p:spPr>
          <a:xfrm>
            <a:off x="277869" y="808480"/>
            <a:ext cx="3849259" cy="369332"/>
          </a:xfrm>
          <a:prstGeom prst="rect">
            <a:avLst/>
          </a:prstGeom>
          <a:noFill/>
        </p:spPr>
        <p:txBody>
          <a:bodyPr wrap="none" rtlCol="0">
            <a:spAutoFit/>
          </a:bodyPr>
          <a:lstStyle/>
          <a:p>
            <a:r>
              <a:rPr lang="ru-RU" b="1" i="1" dirty="0" smtClean="0"/>
              <a:t>Программируются пользователем</a:t>
            </a:r>
            <a:endParaRPr lang="ru-RU" b="1" i="1" dirty="0"/>
          </a:p>
        </p:txBody>
      </p:sp>
      <p:sp>
        <p:nvSpPr>
          <p:cNvPr id="11" name="Прямоугольник 10"/>
          <p:cNvSpPr/>
          <p:nvPr/>
        </p:nvSpPr>
        <p:spPr>
          <a:xfrm>
            <a:off x="3708431" y="2036158"/>
            <a:ext cx="1636874" cy="1368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Программируемые логические матрицы</a:t>
            </a:r>
          </a:p>
          <a:p>
            <a:pPr algn="ctr"/>
            <a:r>
              <a:rPr lang="ru-RU" dirty="0" smtClean="0"/>
              <a:t>(ПЛМ,</a:t>
            </a:r>
            <a:r>
              <a:rPr lang="en-US" dirty="0" smtClean="0"/>
              <a:t>PLA)</a:t>
            </a:r>
            <a:endParaRPr lang="ru-RU" dirty="0"/>
          </a:p>
        </p:txBody>
      </p:sp>
      <p:sp>
        <p:nvSpPr>
          <p:cNvPr id="13" name="Прямоугольник 12"/>
          <p:cNvSpPr/>
          <p:nvPr/>
        </p:nvSpPr>
        <p:spPr>
          <a:xfrm>
            <a:off x="3713787" y="3722689"/>
            <a:ext cx="1636874" cy="1368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Программируемая матричная логика</a:t>
            </a:r>
          </a:p>
          <a:p>
            <a:pPr algn="ctr"/>
            <a:r>
              <a:rPr lang="ru-RU" dirty="0" smtClean="0"/>
              <a:t>(ПМЛ</a:t>
            </a:r>
            <a:r>
              <a:rPr lang="en-US" dirty="0" smtClean="0"/>
              <a:t> </a:t>
            </a:r>
            <a:r>
              <a:rPr lang="ru-RU" dirty="0" smtClean="0"/>
              <a:t>,</a:t>
            </a:r>
            <a:r>
              <a:rPr lang="en-US" dirty="0" smtClean="0"/>
              <a:t>PAL)</a:t>
            </a:r>
            <a:endParaRPr lang="ru-RU" dirty="0"/>
          </a:p>
        </p:txBody>
      </p:sp>
      <p:sp>
        <p:nvSpPr>
          <p:cNvPr id="14" name="Прямоугольник 13"/>
          <p:cNvSpPr/>
          <p:nvPr/>
        </p:nvSpPr>
        <p:spPr>
          <a:xfrm>
            <a:off x="4957998" y="808480"/>
            <a:ext cx="4221797" cy="369332"/>
          </a:xfrm>
          <a:prstGeom prst="rect">
            <a:avLst/>
          </a:prstGeom>
        </p:spPr>
        <p:txBody>
          <a:bodyPr wrap="none">
            <a:spAutoFit/>
          </a:bodyPr>
          <a:lstStyle/>
          <a:p>
            <a:r>
              <a:rPr lang="ru-RU" b="1" i="1" dirty="0"/>
              <a:t>Программируются </a:t>
            </a:r>
            <a:r>
              <a:rPr lang="ru-RU" b="1" i="1" dirty="0" smtClean="0"/>
              <a:t>изготовителем ИС</a:t>
            </a:r>
            <a:endParaRPr lang="ru-RU" b="1" i="1" dirty="0"/>
          </a:p>
        </p:txBody>
      </p:sp>
      <p:sp>
        <p:nvSpPr>
          <p:cNvPr id="15" name="Прямоугольник 14"/>
          <p:cNvSpPr/>
          <p:nvPr/>
        </p:nvSpPr>
        <p:spPr>
          <a:xfrm>
            <a:off x="6588224" y="1423526"/>
            <a:ext cx="2069976" cy="72008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err="1" smtClean="0"/>
              <a:t>Полузаказные</a:t>
            </a:r>
            <a:r>
              <a:rPr lang="ru-RU" dirty="0" smtClean="0"/>
              <a:t> ИС</a:t>
            </a:r>
            <a:endParaRPr lang="ru-RU" dirty="0"/>
          </a:p>
        </p:txBody>
      </p:sp>
      <p:sp>
        <p:nvSpPr>
          <p:cNvPr id="16" name="Прямоугольник 15"/>
          <p:cNvSpPr/>
          <p:nvPr/>
        </p:nvSpPr>
        <p:spPr>
          <a:xfrm>
            <a:off x="6606862" y="2492896"/>
            <a:ext cx="2065667" cy="72008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З</a:t>
            </a:r>
            <a:r>
              <a:rPr lang="ru-RU" dirty="0" smtClean="0"/>
              <a:t>аказные ИС</a:t>
            </a:r>
            <a:endParaRPr lang="ru-RU" dirty="0"/>
          </a:p>
        </p:txBody>
      </p:sp>
      <p:sp>
        <p:nvSpPr>
          <p:cNvPr id="17" name="Прямоугольник 16"/>
          <p:cNvSpPr/>
          <p:nvPr/>
        </p:nvSpPr>
        <p:spPr>
          <a:xfrm>
            <a:off x="5560504" y="3575843"/>
            <a:ext cx="1728192" cy="1224136"/>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Базовые матричные кристаллы</a:t>
            </a:r>
          </a:p>
          <a:p>
            <a:pPr algn="ctr"/>
            <a:r>
              <a:rPr lang="ru-RU" dirty="0" smtClean="0"/>
              <a:t>(БМК</a:t>
            </a:r>
            <a:r>
              <a:rPr lang="en-US" dirty="0" smtClean="0"/>
              <a:t>, GA</a:t>
            </a:r>
            <a:r>
              <a:rPr lang="ru-RU" dirty="0" smtClean="0"/>
              <a:t>)</a:t>
            </a:r>
            <a:endParaRPr lang="ru-RU" dirty="0"/>
          </a:p>
        </p:txBody>
      </p:sp>
      <p:sp>
        <p:nvSpPr>
          <p:cNvPr id="18" name="Прямоугольник 17"/>
          <p:cNvSpPr/>
          <p:nvPr/>
        </p:nvSpPr>
        <p:spPr>
          <a:xfrm>
            <a:off x="5591817" y="5042041"/>
            <a:ext cx="1728192" cy="1340768"/>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Структурированные матричные кристаллы</a:t>
            </a:r>
          </a:p>
          <a:p>
            <a:pPr algn="ctr"/>
            <a:r>
              <a:rPr lang="ru-RU" dirty="0" smtClean="0"/>
              <a:t>(СБМК</a:t>
            </a:r>
            <a:r>
              <a:rPr lang="en-US" dirty="0" smtClean="0"/>
              <a:t>, SGA</a:t>
            </a:r>
            <a:r>
              <a:rPr lang="ru-RU" dirty="0" smtClean="0"/>
              <a:t>)</a:t>
            </a:r>
            <a:endParaRPr lang="ru-RU" dirty="0"/>
          </a:p>
        </p:txBody>
      </p:sp>
      <p:sp>
        <p:nvSpPr>
          <p:cNvPr id="19" name="Прямоугольник 18"/>
          <p:cNvSpPr/>
          <p:nvPr/>
        </p:nvSpPr>
        <p:spPr>
          <a:xfrm>
            <a:off x="7440822" y="3722689"/>
            <a:ext cx="1595673" cy="107729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Метод стандартных  ячеек (</a:t>
            </a:r>
            <a:r>
              <a:rPr lang="en-US" dirty="0" smtClean="0"/>
              <a:t>SCL)</a:t>
            </a:r>
            <a:endParaRPr lang="ru-RU" dirty="0"/>
          </a:p>
        </p:txBody>
      </p:sp>
      <p:sp>
        <p:nvSpPr>
          <p:cNvPr id="20" name="Прямоугольник 19"/>
          <p:cNvSpPr/>
          <p:nvPr/>
        </p:nvSpPr>
        <p:spPr>
          <a:xfrm>
            <a:off x="7440823" y="5265204"/>
            <a:ext cx="1595672" cy="1044116"/>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Полностью заказные</a:t>
            </a:r>
          </a:p>
          <a:p>
            <a:pPr algn="ctr"/>
            <a:r>
              <a:rPr lang="en-US" dirty="0" smtClean="0"/>
              <a:t>(FCL)</a:t>
            </a:r>
            <a:endParaRPr lang="ru-RU" dirty="0"/>
          </a:p>
        </p:txBody>
      </p:sp>
      <p:cxnSp>
        <p:nvCxnSpPr>
          <p:cNvPr id="22" name="Прямая соединительная линия 21"/>
          <p:cNvCxnSpPr>
            <a:stCxn id="6" idx="2"/>
            <a:endCxn id="7" idx="0"/>
          </p:cNvCxnSpPr>
          <p:nvPr/>
        </p:nvCxnSpPr>
        <p:spPr>
          <a:xfrm>
            <a:off x="1790037" y="2329847"/>
            <a:ext cx="0" cy="390387"/>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1763688" y="3992718"/>
            <a:ext cx="0" cy="390387"/>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a:off x="1748536" y="5517232"/>
            <a:ext cx="0" cy="390387"/>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a:stCxn id="7" idx="3"/>
            <a:endCxn id="11" idx="1"/>
          </p:cNvCxnSpPr>
          <p:nvPr/>
        </p:nvCxnSpPr>
        <p:spPr>
          <a:xfrm flipV="1">
            <a:off x="3302205" y="2720234"/>
            <a:ext cx="406226" cy="64807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a:stCxn id="7" idx="3"/>
            <a:endCxn id="13" idx="1"/>
          </p:cNvCxnSpPr>
          <p:nvPr/>
        </p:nvCxnSpPr>
        <p:spPr>
          <a:xfrm>
            <a:off x="3302205" y="3368306"/>
            <a:ext cx="411582" cy="10384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a:stCxn id="17" idx="0"/>
          </p:cNvCxnSpPr>
          <p:nvPr/>
        </p:nvCxnSpPr>
        <p:spPr>
          <a:xfrm flipV="1">
            <a:off x="6424600" y="1789787"/>
            <a:ext cx="0" cy="178605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a:endCxn id="15" idx="1"/>
          </p:cNvCxnSpPr>
          <p:nvPr/>
        </p:nvCxnSpPr>
        <p:spPr>
          <a:xfrm>
            <a:off x="6455913" y="1783566"/>
            <a:ext cx="132311"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6397958" y="4799979"/>
            <a:ext cx="0" cy="290862"/>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669004" y="2155256"/>
            <a:ext cx="0" cy="381434"/>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a:endCxn id="19" idx="0"/>
          </p:cNvCxnSpPr>
          <p:nvPr/>
        </p:nvCxnSpPr>
        <p:spPr>
          <a:xfrm>
            <a:off x="8229661" y="3213593"/>
            <a:ext cx="8998" cy="50909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p:cNvCxnSpPr/>
          <p:nvPr/>
        </p:nvCxnSpPr>
        <p:spPr>
          <a:xfrm>
            <a:off x="8283414" y="4782616"/>
            <a:ext cx="8998" cy="50909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61874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63688" y="260648"/>
            <a:ext cx="5742384" cy="369332"/>
          </a:xfrm>
          <a:prstGeom prst="rect">
            <a:avLst/>
          </a:prstGeom>
        </p:spPr>
        <p:txBody>
          <a:bodyPr wrap="square">
            <a:spAutoFit/>
          </a:bodyPr>
          <a:lstStyle/>
          <a:p>
            <a:r>
              <a:rPr lang="ru-RU" b="1" dirty="0">
                <a:solidFill>
                  <a:srgbClr val="FF0000"/>
                </a:solidFill>
              </a:rPr>
              <a:t>Простые программируемые логические устройства</a:t>
            </a:r>
          </a:p>
        </p:txBody>
      </p:sp>
      <p:sp>
        <p:nvSpPr>
          <p:cNvPr id="5" name="Прямоугольник 4"/>
          <p:cNvSpPr/>
          <p:nvPr/>
        </p:nvSpPr>
        <p:spPr>
          <a:xfrm>
            <a:off x="1798839" y="674157"/>
            <a:ext cx="5742384" cy="369332"/>
          </a:xfrm>
          <a:prstGeom prst="rect">
            <a:avLst/>
          </a:prstGeom>
        </p:spPr>
        <p:txBody>
          <a:bodyPr wrap="square">
            <a:spAutoFit/>
          </a:bodyPr>
          <a:lstStyle/>
          <a:p>
            <a:r>
              <a:rPr lang="ru-RU" b="1" dirty="0" smtClean="0"/>
              <a:t>Программируемые </a:t>
            </a:r>
            <a:r>
              <a:rPr lang="ru-RU" b="1" dirty="0"/>
              <a:t>логические </a:t>
            </a:r>
            <a:r>
              <a:rPr lang="ru-RU" b="1" dirty="0" smtClean="0"/>
              <a:t>матрицы (ПЛМ)</a:t>
            </a:r>
            <a:endParaRPr lang="ru-RU" b="1" dirty="0"/>
          </a:p>
        </p:txBody>
      </p:sp>
      <p:sp>
        <p:nvSpPr>
          <p:cNvPr id="6" name="Прямоугольник 5"/>
          <p:cNvSpPr/>
          <p:nvPr/>
        </p:nvSpPr>
        <p:spPr>
          <a:xfrm>
            <a:off x="163926" y="1027812"/>
            <a:ext cx="8640960" cy="923330"/>
          </a:xfrm>
          <a:prstGeom prst="rect">
            <a:avLst/>
          </a:prstGeom>
        </p:spPr>
        <p:txBody>
          <a:bodyPr wrap="square">
            <a:spAutoFit/>
          </a:bodyPr>
          <a:lstStyle/>
          <a:p>
            <a:r>
              <a:rPr lang="ru-RU" dirty="0"/>
              <a:t>Программируемые  логические  матрицы  появились  в  середине  70-х  </a:t>
            </a:r>
            <a:r>
              <a:rPr lang="ru-RU" dirty="0" smtClean="0"/>
              <a:t>годов</a:t>
            </a:r>
            <a:r>
              <a:rPr lang="ru-RU" dirty="0"/>
              <a:t> </a:t>
            </a:r>
            <a:r>
              <a:rPr lang="ru-RU" dirty="0" smtClean="0"/>
              <a:t>20 века. </a:t>
            </a:r>
            <a:r>
              <a:rPr lang="ru-RU" dirty="0"/>
              <a:t>Основой </a:t>
            </a:r>
            <a:r>
              <a:rPr lang="ru-RU" dirty="0" smtClean="0"/>
              <a:t> служат  </a:t>
            </a:r>
            <a:r>
              <a:rPr lang="ru-RU" dirty="0"/>
              <a:t>последовательно  включенные  программируемые  матрицы  </a:t>
            </a:r>
            <a:r>
              <a:rPr lang="ru-RU" dirty="0" smtClean="0"/>
              <a:t>эле-</a:t>
            </a:r>
            <a:endParaRPr lang="ru-RU" dirty="0"/>
          </a:p>
          <a:p>
            <a:r>
              <a:rPr lang="ru-RU" dirty="0"/>
              <a:t>ментов  </a:t>
            </a:r>
            <a:r>
              <a:rPr lang="ru-RU" b="1" dirty="0"/>
              <a:t>И </a:t>
            </a:r>
            <a:r>
              <a:rPr lang="ru-RU" dirty="0"/>
              <a:t> </a:t>
            </a:r>
            <a:r>
              <a:rPr lang="ru-RU" dirty="0" err="1"/>
              <a:t>и</a:t>
            </a:r>
            <a:r>
              <a:rPr lang="ru-RU" dirty="0"/>
              <a:t>  </a:t>
            </a:r>
            <a:r>
              <a:rPr lang="ru-RU" b="1" dirty="0" smtClean="0"/>
              <a:t>ИЛИ</a:t>
            </a:r>
            <a:r>
              <a:rPr lang="ru-RU" dirty="0" smtClean="0"/>
              <a:t>  дополненные блоками  </a:t>
            </a:r>
            <a:r>
              <a:rPr lang="ru-RU" dirty="0"/>
              <a:t>входных  и  выходных </a:t>
            </a:r>
            <a:r>
              <a:rPr lang="ru-RU" dirty="0" smtClean="0"/>
              <a:t> буферных  каскадов.</a:t>
            </a:r>
          </a:p>
        </p:txBody>
      </p:sp>
      <p:sp>
        <p:nvSpPr>
          <p:cNvPr id="7" name="Прямоугольник 6"/>
          <p:cNvSpPr/>
          <p:nvPr/>
        </p:nvSpPr>
        <p:spPr>
          <a:xfrm>
            <a:off x="415954" y="1937852"/>
            <a:ext cx="8136904" cy="646331"/>
          </a:xfrm>
          <a:prstGeom prst="rect">
            <a:avLst/>
          </a:prstGeom>
        </p:spPr>
        <p:txBody>
          <a:bodyPr wrap="square">
            <a:spAutoFit/>
          </a:bodyPr>
          <a:lstStyle/>
          <a:p>
            <a:r>
              <a:rPr lang="ru-RU" dirty="0"/>
              <a:t> </a:t>
            </a:r>
            <a:r>
              <a:rPr lang="ru-RU" dirty="0" smtClean="0"/>
              <a:t>«</a:t>
            </a:r>
            <a:r>
              <a:rPr lang="ru-RU" b="1" dirty="0" smtClean="0"/>
              <a:t>Матриц</a:t>
            </a:r>
            <a:r>
              <a:rPr lang="ru-RU" dirty="0" smtClean="0"/>
              <a:t>а» обозначает набор  </a:t>
            </a:r>
            <a:r>
              <a:rPr lang="ru-RU" dirty="0"/>
              <a:t>логических  </a:t>
            </a:r>
            <a:r>
              <a:rPr lang="ru-RU" dirty="0" smtClean="0"/>
              <a:t>элементов,   которые  </a:t>
            </a:r>
            <a:r>
              <a:rPr lang="ru-RU" dirty="0"/>
              <a:t>обычно  расположены  по  строкам  и  столбцам . </a:t>
            </a:r>
          </a:p>
        </p:txBody>
      </p:sp>
      <p:sp>
        <p:nvSpPr>
          <p:cNvPr id="8" name="Прямоугольник 7"/>
          <p:cNvSpPr/>
          <p:nvPr/>
        </p:nvSpPr>
        <p:spPr>
          <a:xfrm>
            <a:off x="29318" y="2601553"/>
            <a:ext cx="8956096" cy="3139321"/>
          </a:xfrm>
          <a:prstGeom prst="rect">
            <a:avLst/>
          </a:prstGeom>
        </p:spPr>
        <p:txBody>
          <a:bodyPr wrap="square">
            <a:spAutoFit/>
          </a:bodyPr>
          <a:lstStyle/>
          <a:p>
            <a:r>
              <a:rPr lang="ru-RU" b="1" dirty="0" smtClean="0"/>
              <a:t>ПЛМ </a:t>
            </a:r>
            <a:r>
              <a:rPr lang="ru-RU" dirty="0" smtClean="0"/>
              <a:t> </a:t>
            </a:r>
            <a:r>
              <a:rPr lang="ru-RU" dirty="0"/>
              <a:t>реализует  </a:t>
            </a:r>
            <a:r>
              <a:rPr lang="ru-RU" i="1" dirty="0"/>
              <a:t>дизъюнктивную  нормальную  форму  </a:t>
            </a:r>
            <a:r>
              <a:rPr lang="ru-RU" dirty="0"/>
              <a:t>(ДНФ)  </a:t>
            </a:r>
            <a:r>
              <a:rPr lang="ru-RU" dirty="0" smtClean="0"/>
              <a:t>воспроизводимых  </a:t>
            </a:r>
          </a:p>
          <a:p>
            <a:r>
              <a:rPr lang="ru-RU" dirty="0" smtClean="0"/>
              <a:t>функций</a:t>
            </a:r>
            <a:r>
              <a:rPr lang="ru-RU" dirty="0"/>
              <a:t>,  т.  е.  представляет  </a:t>
            </a:r>
            <a:r>
              <a:rPr lang="ru-RU" b="1" i="1" dirty="0"/>
              <a:t>их  в  виде  логической  суммы  логических </a:t>
            </a:r>
            <a:r>
              <a:rPr lang="ru-RU" b="1" i="1" dirty="0" smtClean="0"/>
              <a:t> произведений</a:t>
            </a:r>
            <a:r>
              <a:rPr lang="ru-RU" dirty="0"/>
              <a:t>. </a:t>
            </a:r>
            <a:endParaRPr lang="ru-RU" dirty="0" smtClean="0"/>
          </a:p>
          <a:p>
            <a:r>
              <a:rPr lang="ru-RU" dirty="0" smtClean="0"/>
              <a:t>ПЛМ  </a:t>
            </a:r>
            <a:r>
              <a:rPr lang="ru-RU" dirty="0"/>
              <a:t>способна  реализовать  систему  n  логических  функций  от  m </a:t>
            </a:r>
            <a:r>
              <a:rPr lang="ru-RU" dirty="0" smtClean="0"/>
              <a:t> аргументов</a:t>
            </a:r>
            <a:r>
              <a:rPr lang="ru-RU" dirty="0"/>
              <a:t>,  </a:t>
            </a:r>
            <a:endParaRPr lang="ru-RU" dirty="0" smtClean="0"/>
          </a:p>
          <a:p>
            <a:r>
              <a:rPr lang="ru-RU" dirty="0" smtClean="0"/>
              <a:t>содержащую  </a:t>
            </a:r>
            <a:r>
              <a:rPr lang="ru-RU" dirty="0"/>
              <a:t>не  более  λ  термов.  Воспроизводимые  функции  —  </a:t>
            </a:r>
            <a:r>
              <a:rPr lang="ru-RU" dirty="0" smtClean="0"/>
              <a:t>комбинации  </a:t>
            </a:r>
            <a:r>
              <a:rPr lang="ru-RU" dirty="0"/>
              <a:t>из  </a:t>
            </a:r>
            <a:endParaRPr lang="ru-RU" dirty="0" smtClean="0"/>
          </a:p>
          <a:p>
            <a:r>
              <a:rPr lang="ru-RU" dirty="0" smtClean="0"/>
              <a:t>любого  </a:t>
            </a:r>
            <a:r>
              <a:rPr lang="ru-RU" dirty="0"/>
              <a:t>числа  термов,  формируемых  матрицей  И.  Какие  именно  термы </a:t>
            </a:r>
            <a:r>
              <a:rPr lang="ru-RU" dirty="0" smtClean="0"/>
              <a:t>будут </a:t>
            </a:r>
          </a:p>
          <a:p>
            <a:r>
              <a:rPr lang="ru-RU" dirty="0" smtClean="0"/>
              <a:t> </a:t>
            </a:r>
            <a:r>
              <a:rPr lang="ru-RU" dirty="0"/>
              <a:t>выработаны  и  какие  комбинации  этих  термов  составят  выходные  функции, </a:t>
            </a:r>
          </a:p>
          <a:p>
            <a:r>
              <a:rPr lang="ru-RU" dirty="0"/>
              <a:t>определяется  программированием.  Основными  параметрами  ПЛМ  являются: </a:t>
            </a:r>
          </a:p>
          <a:p>
            <a:r>
              <a:rPr lang="ru-RU" dirty="0" smtClean="0"/>
              <a:t> </a:t>
            </a:r>
            <a:endParaRPr lang="ru-RU" dirty="0"/>
          </a:p>
          <a:p>
            <a:pPr marL="285750" indent="-285750">
              <a:buFont typeface="Arial" panose="020B0604020202020204" pitchFamily="34" charset="0"/>
              <a:buChar char="•"/>
            </a:pPr>
            <a:r>
              <a:rPr lang="ru-RU" dirty="0"/>
              <a:t>число  входов  m; </a:t>
            </a:r>
          </a:p>
          <a:p>
            <a:pPr marL="285750" indent="-285750">
              <a:buFont typeface="Arial" panose="020B0604020202020204" pitchFamily="34" charset="0"/>
              <a:buChar char="•"/>
            </a:pPr>
            <a:r>
              <a:rPr lang="ru-RU" dirty="0"/>
              <a:t>число  термов  ℓ; </a:t>
            </a:r>
            <a:r>
              <a:rPr lang="ru-RU" dirty="0" smtClean="0"/>
              <a:t> </a:t>
            </a:r>
            <a:endParaRPr lang="ru-RU" dirty="0"/>
          </a:p>
          <a:p>
            <a:pPr marL="285750" indent="-285750">
              <a:buFont typeface="Arial" panose="020B0604020202020204" pitchFamily="34" charset="0"/>
              <a:buChar char="•"/>
            </a:pPr>
            <a:r>
              <a:rPr lang="ru-RU" dirty="0"/>
              <a:t>число  функций  n. </a:t>
            </a:r>
          </a:p>
        </p:txBody>
      </p:sp>
    </p:spTree>
    <p:extLst>
      <p:ext uri="{BB962C8B-B14F-4D97-AF65-F5344CB8AC3E}">
        <p14:creationId xmlns:p14="http://schemas.microsoft.com/office/powerpoint/2010/main" val="376967034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0917" y="488174"/>
            <a:ext cx="5112568" cy="6321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23528" y="48024"/>
            <a:ext cx="4944239" cy="369332"/>
          </a:xfrm>
          <a:prstGeom prst="rect">
            <a:avLst/>
          </a:prstGeom>
          <a:noFill/>
        </p:spPr>
        <p:txBody>
          <a:bodyPr wrap="none" rtlCol="0">
            <a:spAutoFit/>
          </a:bodyPr>
          <a:lstStyle/>
          <a:p>
            <a:r>
              <a:rPr lang="ru-RU" b="1" dirty="0" smtClean="0">
                <a:solidFill>
                  <a:srgbClr val="FF0000"/>
                </a:solidFill>
              </a:rPr>
              <a:t>Структурная схема ПЛМ на вентильном уровне</a:t>
            </a:r>
            <a:endParaRPr lang="ru-RU" b="1" dirty="0">
              <a:solidFill>
                <a:srgbClr val="FF0000"/>
              </a:solidFill>
            </a:endParaRPr>
          </a:p>
        </p:txBody>
      </p:sp>
      <p:sp>
        <p:nvSpPr>
          <p:cNvPr id="5" name="Овал 4"/>
          <p:cNvSpPr/>
          <p:nvPr/>
        </p:nvSpPr>
        <p:spPr>
          <a:xfrm>
            <a:off x="3931541" y="1139409"/>
            <a:ext cx="504056" cy="5040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 стрелкой 8"/>
          <p:cNvCxnSpPr/>
          <p:nvPr/>
        </p:nvCxnSpPr>
        <p:spPr>
          <a:xfrm flipH="1">
            <a:off x="4448476" y="674558"/>
            <a:ext cx="1080120" cy="61206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580112" y="303244"/>
            <a:ext cx="2100062" cy="646331"/>
          </a:xfrm>
          <a:prstGeom prst="rect">
            <a:avLst/>
          </a:prstGeom>
          <a:noFill/>
        </p:spPr>
        <p:txBody>
          <a:bodyPr wrap="none" rtlCol="0">
            <a:spAutoFit/>
          </a:bodyPr>
          <a:lstStyle/>
          <a:p>
            <a:r>
              <a:rPr lang="ru-RU" b="1" dirty="0" smtClean="0"/>
              <a:t>Программируемое</a:t>
            </a:r>
          </a:p>
          <a:p>
            <a:r>
              <a:rPr lang="ru-RU" b="1" dirty="0" smtClean="0"/>
              <a:t>соединения</a:t>
            </a:r>
            <a:endParaRPr lang="ru-RU" b="1" dirty="0"/>
          </a:p>
        </p:txBody>
      </p:sp>
      <p:sp>
        <p:nvSpPr>
          <p:cNvPr id="11" name="Прямоугольник 10"/>
          <p:cNvSpPr/>
          <p:nvPr/>
        </p:nvSpPr>
        <p:spPr>
          <a:xfrm>
            <a:off x="5007398" y="917007"/>
            <a:ext cx="3996444" cy="5632311"/>
          </a:xfrm>
          <a:prstGeom prst="rect">
            <a:avLst/>
          </a:prstGeom>
        </p:spPr>
        <p:txBody>
          <a:bodyPr wrap="square">
            <a:spAutoFit/>
          </a:bodyPr>
          <a:lstStyle/>
          <a:p>
            <a:r>
              <a:rPr lang="ru-RU" dirty="0"/>
              <a:t>ПЛМ  может  быть  реализована  на  основе  как  биполярной,  так  и  </a:t>
            </a:r>
            <a:r>
              <a:rPr lang="ru-RU" dirty="0" err="1"/>
              <a:t>МОП-технологии</a:t>
            </a:r>
            <a:r>
              <a:rPr lang="ru-RU" dirty="0"/>
              <a:t>. </a:t>
            </a:r>
            <a:r>
              <a:rPr lang="ru-RU" dirty="0" smtClean="0"/>
              <a:t>Во  </a:t>
            </a:r>
            <a:r>
              <a:rPr lang="ru-RU" dirty="0"/>
              <a:t>всех  случаях  в  матрицах  имеются  горизонтальные  и  вертикальные  линии,  в  </a:t>
            </a:r>
            <a:r>
              <a:rPr lang="ru-RU" dirty="0" smtClean="0"/>
              <a:t>узлах  </a:t>
            </a:r>
            <a:r>
              <a:rPr lang="ru-RU" dirty="0"/>
              <a:t>пересечения  которых  при  программировании  создаются  или  удаляются  </a:t>
            </a:r>
            <a:r>
              <a:rPr lang="ru-RU" dirty="0" smtClean="0"/>
              <a:t>элементы связи</a:t>
            </a:r>
            <a:r>
              <a:rPr lang="ru-RU" dirty="0"/>
              <a:t>.  </a:t>
            </a:r>
            <a:r>
              <a:rPr lang="ru-RU" dirty="0" smtClean="0"/>
              <a:t>Первые  </a:t>
            </a:r>
            <a:r>
              <a:rPr lang="ru-RU" dirty="0"/>
              <a:t>ПЛМ  строились  на  биполярных  приборах  и  имели </a:t>
            </a:r>
            <a:r>
              <a:rPr lang="ru-RU" dirty="0" smtClean="0"/>
              <a:t>программируемые  </a:t>
            </a:r>
            <a:r>
              <a:rPr lang="ru-RU" dirty="0"/>
              <a:t>элементы  в  виде  прожигаемых  (плавких)  перемычек</a:t>
            </a:r>
            <a:r>
              <a:rPr lang="ru-RU" dirty="0" smtClean="0"/>
              <a:t>.   В настоящее время ПЛМ изготавливаются на  </a:t>
            </a:r>
            <a:r>
              <a:rPr lang="ru-RU" dirty="0"/>
              <a:t>основе  МОП-транзисторов  с  двумя  затворами  (плавающим  и  управляющим).   </a:t>
            </a:r>
          </a:p>
          <a:p>
            <a:r>
              <a:rPr lang="ru-RU" dirty="0"/>
              <a:t>П</a:t>
            </a:r>
            <a:r>
              <a:rPr lang="ru-RU" dirty="0" smtClean="0"/>
              <a:t>рограммирование  </a:t>
            </a:r>
            <a:r>
              <a:rPr lang="ru-RU" dirty="0"/>
              <a:t>матриц  состоит  в  задании  плавающим  затворам </a:t>
            </a:r>
          </a:p>
          <a:p>
            <a:r>
              <a:rPr lang="ru-RU" dirty="0"/>
              <a:t>транзисторов  того  или  иного  состояния  (заряжен  или  нет). </a:t>
            </a:r>
          </a:p>
        </p:txBody>
      </p:sp>
      <p:sp>
        <p:nvSpPr>
          <p:cNvPr id="13" name="Овал 12"/>
          <p:cNvSpPr/>
          <p:nvPr/>
        </p:nvSpPr>
        <p:spPr>
          <a:xfrm>
            <a:off x="1547664" y="4797152"/>
            <a:ext cx="504056" cy="5040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Овал 13"/>
          <p:cNvSpPr/>
          <p:nvPr/>
        </p:nvSpPr>
        <p:spPr>
          <a:xfrm>
            <a:off x="3394113" y="5589240"/>
            <a:ext cx="504056" cy="5040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10904880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620688"/>
            <a:ext cx="8766720" cy="1754326"/>
          </a:xfrm>
          <a:prstGeom prst="rect">
            <a:avLst/>
          </a:prstGeom>
        </p:spPr>
        <p:txBody>
          <a:bodyPr wrap="square">
            <a:spAutoFit/>
          </a:bodyPr>
          <a:lstStyle/>
          <a:p>
            <a:r>
              <a:rPr lang="ru-RU" dirty="0" smtClean="0"/>
              <a:t>Программирование  </a:t>
            </a:r>
            <a:r>
              <a:rPr lang="ru-RU" dirty="0"/>
              <a:t>ПЛМ,  выполняемое  пользователем,  проводится  с  помощью </a:t>
            </a:r>
          </a:p>
          <a:p>
            <a:r>
              <a:rPr lang="ru-RU" dirty="0"/>
              <a:t>специальных  программаторов  и  сведения  для  них  должны  иметь  определенную </a:t>
            </a:r>
          </a:p>
          <a:p>
            <a:r>
              <a:rPr lang="ru-RU" dirty="0"/>
              <a:t>стандартизированную  форму. </a:t>
            </a:r>
            <a:endParaRPr lang="ru-RU" dirty="0" smtClean="0"/>
          </a:p>
          <a:p>
            <a:r>
              <a:rPr lang="ru-RU" dirty="0" smtClean="0"/>
              <a:t>Пример</a:t>
            </a:r>
            <a:r>
              <a:rPr lang="en-US" dirty="0" smtClean="0"/>
              <a:t>:</a:t>
            </a:r>
            <a:r>
              <a:rPr lang="ru-RU" dirty="0" smtClean="0"/>
              <a:t>  </a:t>
            </a:r>
            <a:r>
              <a:rPr lang="ru-RU" dirty="0"/>
              <a:t>ПЛМ  —  серия  К556  (микросхемы  РT 1 ,  PT2 </a:t>
            </a:r>
            <a:r>
              <a:rPr lang="ru-RU" dirty="0" err="1" smtClean="0"/>
              <a:t>схемотехнологии</a:t>
            </a:r>
            <a:r>
              <a:rPr lang="ru-RU" dirty="0" smtClean="0"/>
              <a:t>  </a:t>
            </a:r>
            <a:r>
              <a:rPr lang="ru-RU" dirty="0"/>
              <a:t>ТТЛШ  с  программированием  прожиганием  перемычек).  </a:t>
            </a:r>
            <a:endParaRPr lang="en-US" dirty="0" smtClean="0"/>
          </a:p>
          <a:p>
            <a:r>
              <a:rPr lang="ru-RU" dirty="0" smtClean="0"/>
              <a:t>Размерность  </a:t>
            </a:r>
            <a:r>
              <a:rPr lang="ru-RU" dirty="0"/>
              <a:t>1 6  входов,  48  термов,  8  выходов,  задержка  около  50  </a:t>
            </a:r>
            <a:r>
              <a:rPr lang="ru-RU" dirty="0" err="1"/>
              <a:t>нс</a:t>
            </a:r>
            <a:r>
              <a:rPr lang="ru-RU" dirty="0"/>
              <a:t>.  </a:t>
            </a:r>
          </a:p>
        </p:txBody>
      </p:sp>
      <p:sp>
        <p:nvSpPr>
          <p:cNvPr id="5" name="Прямоугольник 4"/>
          <p:cNvSpPr/>
          <p:nvPr/>
        </p:nvSpPr>
        <p:spPr>
          <a:xfrm>
            <a:off x="530424" y="2843947"/>
            <a:ext cx="8064895" cy="369332"/>
          </a:xfrm>
          <a:prstGeom prst="rect">
            <a:avLst/>
          </a:prstGeom>
        </p:spPr>
        <p:txBody>
          <a:bodyPr wrap="square">
            <a:spAutoFit/>
          </a:bodyPr>
          <a:lstStyle/>
          <a:p>
            <a:pPr algn="ctr"/>
            <a:r>
              <a:rPr lang="ru-RU" b="1" dirty="0">
                <a:solidFill>
                  <a:srgbClr val="FF0000"/>
                </a:solidFill>
              </a:rPr>
              <a:t>Программируемая матричная </a:t>
            </a:r>
            <a:r>
              <a:rPr lang="ru-RU" b="1" dirty="0" smtClean="0">
                <a:solidFill>
                  <a:srgbClr val="FF0000"/>
                </a:solidFill>
              </a:rPr>
              <a:t>логика (ПМЛ)</a:t>
            </a:r>
            <a:endParaRPr lang="ru-RU" b="1" dirty="0">
              <a:solidFill>
                <a:srgbClr val="FF0000"/>
              </a:solidFill>
            </a:endParaRPr>
          </a:p>
        </p:txBody>
      </p:sp>
      <p:sp>
        <p:nvSpPr>
          <p:cNvPr id="6" name="Прямоугольник 5"/>
          <p:cNvSpPr/>
          <p:nvPr/>
        </p:nvSpPr>
        <p:spPr>
          <a:xfrm>
            <a:off x="179512" y="3213279"/>
            <a:ext cx="8694712" cy="2308324"/>
          </a:xfrm>
          <a:prstGeom prst="rect">
            <a:avLst/>
          </a:prstGeom>
        </p:spPr>
        <p:txBody>
          <a:bodyPr wrap="square">
            <a:spAutoFit/>
          </a:bodyPr>
          <a:lstStyle/>
          <a:p>
            <a:r>
              <a:rPr lang="ru-RU" dirty="0"/>
              <a:t>Одно  из  важных  применений  микросхем  программируемой  логики  —  замена  ИС </a:t>
            </a:r>
          </a:p>
          <a:p>
            <a:r>
              <a:rPr lang="ru-RU" dirty="0"/>
              <a:t>малого  и  среднего  уровня  интеграции  при  реализации  так  называемой  </a:t>
            </a:r>
            <a:r>
              <a:rPr lang="ru-RU" dirty="0" smtClean="0"/>
              <a:t>произвольной  </a:t>
            </a:r>
            <a:r>
              <a:rPr lang="ru-RU" dirty="0"/>
              <a:t>логики.  В  этих  применениях  логическая  мощность  ПЛМ  зачастую  избыточна. </a:t>
            </a:r>
          </a:p>
          <a:p>
            <a:r>
              <a:rPr lang="ru-RU" dirty="0" smtClean="0"/>
              <a:t>	В таких  </a:t>
            </a:r>
            <a:r>
              <a:rPr lang="ru-RU" dirty="0"/>
              <a:t>случаях  возможность  использования  выходов  любых  </a:t>
            </a:r>
            <a:r>
              <a:rPr lang="ru-RU" dirty="0" err="1"/>
              <a:t>конъюнкторов</a:t>
            </a:r>
            <a:r>
              <a:rPr lang="ru-RU" dirty="0"/>
              <a:t>  </a:t>
            </a:r>
            <a:r>
              <a:rPr lang="ru-RU" dirty="0" smtClean="0"/>
              <a:t>любыми  </a:t>
            </a:r>
            <a:r>
              <a:rPr lang="ru-RU" dirty="0" err="1"/>
              <a:t>дизъюнкторами</a:t>
            </a:r>
            <a:r>
              <a:rPr lang="ru-RU" dirty="0"/>
              <a:t>  (как  предусмотрено  в  ПЛМ)  становится  излишним  </a:t>
            </a:r>
            <a:r>
              <a:rPr lang="ru-RU" dirty="0" smtClean="0"/>
              <a:t>усложнением</a:t>
            </a:r>
            <a:r>
              <a:rPr lang="ru-RU" dirty="0"/>
              <a:t>.  Отказ  от  этой  возможности  означает  отказ  от  программирования  матрицы</a:t>
            </a:r>
            <a:r>
              <a:rPr lang="ru-RU" b="1" dirty="0"/>
              <a:t> </a:t>
            </a:r>
            <a:r>
              <a:rPr lang="ru-RU" b="1" dirty="0" smtClean="0"/>
              <a:t>ИЛИ</a:t>
            </a:r>
            <a:r>
              <a:rPr lang="ru-RU" dirty="0" smtClean="0"/>
              <a:t>   </a:t>
            </a:r>
            <a:r>
              <a:rPr lang="ru-RU" dirty="0"/>
              <a:t>приводит  к  структуре  ПМЛ. </a:t>
            </a:r>
          </a:p>
        </p:txBody>
      </p:sp>
    </p:spTree>
    <p:extLst>
      <p:ext uri="{BB962C8B-B14F-4D97-AF65-F5344CB8AC3E}">
        <p14:creationId xmlns:p14="http://schemas.microsoft.com/office/powerpoint/2010/main" val="92629638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83568" y="1052736"/>
            <a:ext cx="7198220" cy="3362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2699792" y="326306"/>
            <a:ext cx="4572000" cy="369332"/>
          </a:xfrm>
          <a:prstGeom prst="rect">
            <a:avLst/>
          </a:prstGeom>
        </p:spPr>
        <p:txBody>
          <a:bodyPr>
            <a:spAutoFit/>
          </a:bodyPr>
          <a:lstStyle/>
          <a:p>
            <a:r>
              <a:rPr lang="ru-RU" b="1" dirty="0">
                <a:solidFill>
                  <a:srgbClr val="FF0000"/>
                </a:solidFill>
              </a:rPr>
              <a:t>Структурная схема </a:t>
            </a:r>
            <a:r>
              <a:rPr lang="ru-RU" b="1" dirty="0" smtClean="0">
                <a:solidFill>
                  <a:srgbClr val="FF0000"/>
                </a:solidFill>
              </a:rPr>
              <a:t>ПМЛ</a:t>
            </a:r>
            <a:endParaRPr lang="ru-RU" b="1" dirty="0">
              <a:solidFill>
                <a:srgbClr val="FF0000"/>
              </a:solidFill>
            </a:endParaRPr>
          </a:p>
        </p:txBody>
      </p:sp>
      <p:sp>
        <p:nvSpPr>
          <p:cNvPr id="5" name="Прямоугольник 4"/>
          <p:cNvSpPr/>
          <p:nvPr/>
        </p:nvSpPr>
        <p:spPr>
          <a:xfrm>
            <a:off x="161256" y="4867421"/>
            <a:ext cx="8982744" cy="923330"/>
          </a:xfrm>
          <a:prstGeom prst="rect">
            <a:avLst/>
          </a:prstGeom>
        </p:spPr>
        <p:txBody>
          <a:bodyPr wrap="square">
            <a:spAutoFit/>
          </a:bodyPr>
          <a:lstStyle/>
          <a:p>
            <a:r>
              <a:rPr lang="ru-RU" dirty="0" smtClean="0"/>
              <a:t>В сравнении  </a:t>
            </a:r>
            <a:r>
              <a:rPr lang="ru-RU" dirty="0"/>
              <a:t>с  ПЛМ  схемы  ПМЛ  имеют  меньшую  функциональную  гибкость,  т.  к. </a:t>
            </a:r>
          </a:p>
          <a:p>
            <a:r>
              <a:rPr lang="ru-RU" dirty="0"/>
              <a:t>в  них  матрица  </a:t>
            </a:r>
            <a:r>
              <a:rPr lang="ru-RU" b="1" dirty="0"/>
              <a:t>ИЛИ  фиксирована</a:t>
            </a:r>
            <a:r>
              <a:rPr lang="ru-RU" dirty="0"/>
              <a:t>,  но  их  изготовление  и  использование  проще.  Пре-</a:t>
            </a:r>
          </a:p>
          <a:p>
            <a:r>
              <a:rPr lang="ru-RU" dirty="0"/>
              <a:t>имущества  ПМЛ  особенно  проявляются  при  проектировании  несложных  </a:t>
            </a:r>
            <a:r>
              <a:rPr lang="ru-RU" dirty="0" smtClean="0"/>
              <a:t>устройств.</a:t>
            </a:r>
            <a:endParaRPr lang="ru-RU" dirty="0"/>
          </a:p>
        </p:txBody>
      </p:sp>
    </p:spTree>
    <p:extLst>
      <p:ext uri="{BB962C8B-B14F-4D97-AF65-F5344CB8AC3E}">
        <p14:creationId xmlns:p14="http://schemas.microsoft.com/office/powerpoint/2010/main" val="1583994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0380" y="188640"/>
            <a:ext cx="9016078" cy="2862322"/>
          </a:xfrm>
          <a:prstGeom prst="rect">
            <a:avLst/>
          </a:prstGeom>
        </p:spPr>
        <p:txBody>
          <a:bodyPr wrap="square">
            <a:spAutoFit/>
          </a:bodyPr>
          <a:lstStyle/>
          <a:p>
            <a:r>
              <a:rPr lang="ru-RU" sz="2000" dirty="0" smtClean="0"/>
              <a:t>При  </a:t>
            </a:r>
            <a:r>
              <a:rPr lang="ru-RU" sz="2000" dirty="0"/>
              <a:t>проектировании  устройств  на  основе  </a:t>
            </a:r>
            <a:r>
              <a:rPr lang="ru-RU" sz="2000" dirty="0" smtClean="0"/>
              <a:t>ПЛМ  </a:t>
            </a:r>
            <a:r>
              <a:rPr lang="ru-RU" sz="2000" dirty="0"/>
              <a:t>и  </a:t>
            </a:r>
            <a:r>
              <a:rPr lang="ru-RU" sz="2000" dirty="0" smtClean="0"/>
              <a:t>ПМЛ  </a:t>
            </a:r>
            <a:r>
              <a:rPr lang="ru-RU" sz="2000" dirty="0"/>
              <a:t>пользуются  подсистемами </a:t>
            </a:r>
            <a:r>
              <a:rPr lang="ru-RU" sz="2000" dirty="0" smtClean="0"/>
              <a:t>автоматизации  </a:t>
            </a:r>
            <a:r>
              <a:rPr lang="ru-RU" sz="2000" dirty="0"/>
              <a:t>проектирования ,  т.  к.  ручная  подготовка  задачи  как  правило  </a:t>
            </a:r>
            <a:r>
              <a:rPr lang="ru-RU" sz="2000" dirty="0" smtClean="0"/>
              <a:t>неприемлемо  </a:t>
            </a:r>
            <a:r>
              <a:rPr lang="ru-RU" sz="2000" dirty="0"/>
              <a:t>громоздка.  Для  подсистемы  автоматизированного  проектирования </a:t>
            </a:r>
            <a:r>
              <a:rPr lang="ru-RU" sz="2000" dirty="0" smtClean="0"/>
              <a:t>подготовка  </a:t>
            </a:r>
            <a:r>
              <a:rPr lang="ru-RU" sz="2000" dirty="0"/>
              <a:t>данных  проводится  с  использованием  стандартных  средств  (таблиц, </a:t>
            </a:r>
            <a:r>
              <a:rPr lang="ru-RU" sz="2000" dirty="0" smtClean="0"/>
              <a:t>систем  </a:t>
            </a:r>
            <a:r>
              <a:rPr lang="ru-RU" sz="2000" dirty="0"/>
              <a:t>булевых  уравнений ,  текстовых  описаний  на  языках  описания  аппаратуры) . </a:t>
            </a:r>
          </a:p>
          <a:p>
            <a:r>
              <a:rPr lang="ru-RU" sz="2000" dirty="0" smtClean="0"/>
              <a:t>В подобных  </a:t>
            </a:r>
            <a:r>
              <a:rPr lang="ru-RU" sz="2000" dirty="0"/>
              <a:t>подсистемах  имеются  также  режимы  входного  контроля  ИС,  ввода </a:t>
            </a:r>
            <a:r>
              <a:rPr lang="ru-RU" sz="2000" dirty="0" smtClean="0"/>
              <a:t> данных  </a:t>
            </a:r>
            <a:r>
              <a:rPr lang="ru-RU" sz="2000" dirty="0"/>
              <a:t>с  эталона,  </a:t>
            </a:r>
            <a:r>
              <a:rPr lang="ru-RU" sz="2000" dirty="0" smtClean="0"/>
              <a:t>режимы  </a:t>
            </a:r>
            <a:r>
              <a:rPr lang="ru-RU" sz="2000" dirty="0"/>
              <a:t>сравнения  задания  на  </a:t>
            </a:r>
            <a:r>
              <a:rPr lang="ru-RU" sz="2000" dirty="0" smtClean="0"/>
              <a:t>программирование  </a:t>
            </a:r>
            <a:r>
              <a:rPr lang="ru-RU" sz="2000" dirty="0"/>
              <a:t>с  состоянием  запрограммированной  ИС  и  др. </a:t>
            </a:r>
          </a:p>
        </p:txBody>
      </p:sp>
    </p:spTree>
    <p:extLst>
      <p:ext uri="{BB962C8B-B14F-4D97-AF65-F5344CB8AC3E}">
        <p14:creationId xmlns:p14="http://schemas.microsoft.com/office/powerpoint/2010/main" val="211530139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917340" y="288004"/>
            <a:ext cx="6696744" cy="369332"/>
          </a:xfrm>
          <a:prstGeom prst="rect">
            <a:avLst/>
          </a:prstGeom>
        </p:spPr>
        <p:txBody>
          <a:bodyPr wrap="square">
            <a:spAutoFit/>
          </a:bodyPr>
          <a:lstStyle/>
          <a:p>
            <a:pPr algn="ctr"/>
            <a:r>
              <a:rPr lang="ru-RU" b="1" dirty="0">
                <a:solidFill>
                  <a:srgbClr val="FF0000"/>
                </a:solidFill>
              </a:rPr>
              <a:t>Сложные программируемые логические </a:t>
            </a:r>
            <a:r>
              <a:rPr lang="ru-RU" b="1" dirty="0" smtClean="0">
                <a:solidFill>
                  <a:srgbClr val="FF0000"/>
                </a:solidFill>
              </a:rPr>
              <a:t>устройства </a:t>
            </a:r>
            <a:r>
              <a:rPr lang="en-US" b="1" dirty="0" smtClean="0">
                <a:solidFill>
                  <a:srgbClr val="FF0000"/>
                </a:solidFill>
              </a:rPr>
              <a:t>(</a:t>
            </a:r>
            <a:r>
              <a:rPr lang="ru-RU" b="1" dirty="0">
                <a:solidFill>
                  <a:srgbClr val="FF0000"/>
                </a:solidFill>
              </a:rPr>
              <a:t>С</a:t>
            </a:r>
            <a:r>
              <a:rPr lang="en-US" b="1" dirty="0">
                <a:solidFill>
                  <a:srgbClr val="FF0000"/>
                </a:solidFill>
              </a:rPr>
              <a:t>PLD)</a:t>
            </a:r>
            <a:endParaRPr lang="ru-RU" b="1" dirty="0">
              <a:solidFill>
                <a:srgbClr val="FF0000"/>
              </a:solidFill>
            </a:endParaRPr>
          </a:p>
        </p:txBody>
      </p:sp>
      <p:sp>
        <p:nvSpPr>
          <p:cNvPr id="7" name="Прямоугольник 6"/>
          <p:cNvSpPr/>
          <p:nvPr/>
        </p:nvSpPr>
        <p:spPr>
          <a:xfrm>
            <a:off x="395536" y="764704"/>
            <a:ext cx="8424936" cy="2862322"/>
          </a:xfrm>
          <a:prstGeom prst="rect">
            <a:avLst/>
          </a:prstGeom>
        </p:spPr>
        <p:txBody>
          <a:bodyPr wrap="square">
            <a:spAutoFit/>
          </a:bodyPr>
          <a:lstStyle/>
          <a:p>
            <a:r>
              <a:rPr lang="ru-RU" sz="2000" dirty="0" smtClean="0"/>
              <a:t>CPLD  </a:t>
            </a:r>
            <a:r>
              <a:rPr lang="ru-RU" sz="2000" dirty="0"/>
              <a:t>(</a:t>
            </a:r>
            <a:r>
              <a:rPr lang="ru-RU" sz="2000" dirty="0" err="1"/>
              <a:t>Complex</a:t>
            </a:r>
            <a:r>
              <a:rPr lang="ru-RU" sz="2000" dirty="0"/>
              <a:t>  </a:t>
            </a:r>
            <a:r>
              <a:rPr lang="ru-RU" sz="2000" dirty="0" err="1"/>
              <a:t>Programmable</a:t>
            </a:r>
            <a:r>
              <a:rPr lang="ru-RU" sz="2000" dirty="0"/>
              <a:t>  </a:t>
            </a:r>
            <a:r>
              <a:rPr lang="ru-RU" sz="2000" dirty="0" err="1"/>
              <a:t>Logic</a:t>
            </a:r>
            <a:r>
              <a:rPr lang="ru-RU" sz="2000" dirty="0"/>
              <a:t>  </a:t>
            </a:r>
            <a:r>
              <a:rPr lang="ru-RU" sz="2000" dirty="0" err="1"/>
              <a:t>Device</a:t>
            </a:r>
            <a:r>
              <a:rPr lang="ru-RU" sz="2000" dirty="0"/>
              <a:t>)  представляет  собой  несколько  </a:t>
            </a:r>
            <a:r>
              <a:rPr lang="ru-RU" sz="2000" dirty="0" err="1" smtClean="0"/>
              <a:t>функ-циональных</a:t>
            </a:r>
            <a:r>
              <a:rPr lang="ru-RU" sz="2000" dirty="0" smtClean="0"/>
              <a:t>  </a:t>
            </a:r>
            <a:r>
              <a:rPr lang="ru-RU" sz="2000" dirty="0"/>
              <a:t>блоков  —  ФБ,  объединенных  в  единую  </a:t>
            </a:r>
            <a:r>
              <a:rPr lang="ru-RU" sz="2000" dirty="0" smtClean="0"/>
              <a:t>структуру программируемой  матрицей  </a:t>
            </a:r>
            <a:r>
              <a:rPr lang="ru-RU" sz="2000" dirty="0"/>
              <a:t>соединений  —  </a:t>
            </a:r>
            <a:r>
              <a:rPr lang="ru-RU" sz="2000" dirty="0" smtClean="0"/>
              <a:t>ПМС.  Каждый  </a:t>
            </a:r>
            <a:r>
              <a:rPr lang="ru-RU" sz="2000" dirty="0"/>
              <a:t>ФБ  подобен  ПМЛ  (PAL)  и  содержит  несколько  </a:t>
            </a:r>
            <a:r>
              <a:rPr lang="ru-RU" sz="2000" dirty="0" err="1"/>
              <a:t>макроячеек</a:t>
            </a:r>
            <a:r>
              <a:rPr lang="ru-RU" sz="2000" dirty="0"/>
              <a:t>  —  МЯ.  </a:t>
            </a:r>
            <a:endParaRPr lang="ru-RU" sz="2000" dirty="0" smtClean="0"/>
          </a:p>
          <a:p>
            <a:r>
              <a:rPr lang="ru-RU" sz="2000" dirty="0" smtClean="0"/>
              <a:t> </a:t>
            </a:r>
            <a:endParaRPr lang="ru-RU" sz="2000" dirty="0"/>
          </a:p>
          <a:p>
            <a:r>
              <a:rPr lang="ru-RU" sz="2000" dirty="0"/>
              <a:t>С  внешней  средой  CPLD  связывают  блоки  ввода/вывода  —  БВВ.  Кроме  основных </a:t>
            </a:r>
            <a:r>
              <a:rPr lang="ru-RU" sz="2000" dirty="0" smtClean="0"/>
              <a:t> блоков  </a:t>
            </a:r>
            <a:r>
              <a:rPr lang="ru-RU" sz="2000" dirty="0"/>
              <a:t>CPLD  может  содержать  контроллеры  </a:t>
            </a:r>
            <a:r>
              <a:rPr lang="ru-RU" sz="2000" dirty="0" smtClean="0"/>
              <a:t>интерфейсов,  используемые  </a:t>
            </a:r>
            <a:r>
              <a:rPr lang="ru-RU" sz="2000" dirty="0"/>
              <a:t>для  конфигурирования  и  тестирования  создаваемых  </a:t>
            </a:r>
            <a:r>
              <a:rPr lang="ru-RU" sz="2000" dirty="0" smtClean="0"/>
              <a:t>структур. </a:t>
            </a:r>
            <a:endParaRPr lang="ru-RU" sz="2000" dirty="0"/>
          </a:p>
        </p:txBody>
      </p:sp>
      <p:sp>
        <p:nvSpPr>
          <p:cNvPr id="8" name="Прямоугольник 7"/>
          <p:cNvSpPr/>
          <p:nvPr/>
        </p:nvSpPr>
        <p:spPr>
          <a:xfrm>
            <a:off x="179512" y="3789040"/>
            <a:ext cx="8856984" cy="2246769"/>
          </a:xfrm>
          <a:prstGeom prst="rect">
            <a:avLst/>
          </a:prstGeom>
        </p:spPr>
        <p:txBody>
          <a:bodyPr wrap="square">
            <a:spAutoFit/>
          </a:bodyPr>
          <a:lstStyle/>
          <a:p>
            <a:r>
              <a:rPr lang="ru-RU" sz="2000" dirty="0"/>
              <a:t>Число  ФБ  в  составе  CPLD  изменяется  в  зависимости  от  ее  сложности.  Каждый  ФБ </a:t>
            </a:r>
            <a:r>
              <a:rPr lang="ru-RU" sz="2000" dirty="0" smtClean="0"/>
              <a:t>получает  </a:t>
            </a:r>
            <a:r>
              <a:rPr lang="ru-RU" sz="2000" b="1" dirty="0"/>
              <a:t>m</a:t>
            </a:r>
            <a:r>
              <a:rPr lang="ru-RU" sz="2000" dirty="0"/>
              <a:t>  </a:t>
            </a:r>
            <a:r>
              <a:rPr lang="ru-RU" sz="2000" dirty="0" err="1"/>
              <a:t>cигналов</a:t>
            </a:r>
            <a:r>
              <a:rPr lang="ru-RU" sz="2000" dirty="0"/>
              <a:t>  от  ПМС,  а  </a:t>
            </a:r>
            <a:r>
              <a:rPr lang="ru-RU" sz="2000" b="1" dirty="0"/>
              <a:t>n</a:t>
            </a:r>
            <a:r>
              <a:rPr lang="ru-RU" sz="2000" dirty="0"/>
              <a:t>  его  выходов  подключены  как  к  ПМС,  так  и  к </a:t>
            </a:r>
            <a:r>
              <a:rPr lang="ru-RU" sz="2000" dirty="0" smtClean="0"/>
              <a:t> блокам  </a:t>
            </a:r>
            <a:r>
              <a:rPr lang="ru-RU" sz="2000" dirty="0"/>
              <a:t>ввода/вывода  БВВ  (</a:t>
            </a:r>
            <a:r>
              <a:rPr lang="ru-RU" sz="2000" dirty="0" err="1"/>
              <a:t>Input</a:t>
            </a:r>
            <a:r>
              <a:rPr lang="ru-RU" sz="2000" dirty="0"/>
              <a:t>/</a:t>
            </a:r>
            <a:r>
              <a:rPr lang="ru-RU" sz="2000" dirty="0" err="1"/>
              <a:t>Output</a:t>
            </a:r>
            <a:r>
              <a:rPr lang="ru-RU" sz="2000" dirty="0"/>
              <a:t>  </a:t>
            </a:r>
            <a:r>
              <a:rPr lang="ru-RU" sz="2000" dirty="0" err="1"/>
              <a:t>Block</a:t>
            </a:r>
            <a:r>
              <a:rPr lang="ru-RU" sz="2000" dirty="0"/>
              <a:t>,  IOB),  связанным  с  внешними  </a:t>
            </a:r>
            <a:r>
              <a:rPr lang="ru-RU" sz="2000" dirty="0" smtClean="0"/>
              <a:t>двунаправленными  </a:t>
            </a:r>
            <a:r>
              <a:rPr lang="ru-RU" sz="2000" dirty="0"/>
              <a:t>выводами.  Три  вывода  специализированы  и  предназначены  для  </a:t>
            </a:r>
            <a:r>
              <a:rPr lang="ru-RU" sz="2000" dirty="0" smtClean="0"/>
              <a:t>глобальных  </a:t>
            </a:r>
            <a:r>
              <a:rPr lang="ru-RU" sz="2000" dirty="0"/>
              <a:t>сигналов  тактирования  GCK  (</a:t>
            </a:r>
            <a:r>
              <a:rPr lang="ru-RU" sz="2000" dirty="0" err="1"/>
              <a:t>Global</a:t>
            </a:r>
            <a:r>
              <a:rPr lang="ru-RU" sz="2000" dirty="0"/>
              <a:t>  </a:t>
            </a:r>
            <a:r>
              <a:rPr lang="ru-RU" sz="2000" dirty="0" err="1"/>
              <a:t>Clock</a:t>
            </a:r>
            <a:r>
              <a:rPr lang="ru-RU" sz="2000" dirty="0"/>
              <a:t>),  сброса/установки  GSR  (</a:t>
            </a:r>
            <a:r>
              <a:rPr lang="ru-RU" sz="2000" dirty="0" err="1"/>
              <a:t>Global</a:t>
            </a:r>
            <a:r>
              <a:rPr lang="ru-RU" sz="2000" dirty="0"/>
              <a:t> </a:t>
            </a:r>
          </a:p>
          <a:p>
            <a:r>
              <a:rPr lang="ru-RU" sz="2000" dirty="0" err="1"/>
              <a:t>Set</a:t>
            </a:r>
            <a:r>
              <a:rPr lang="ru-RU" sz="2000" dirty="0"/>
              <a:t>/</a:t>
            </a:r>
            <a:r>
              <a:rPr lang="ru-RU" sz="2000" dirty="0" err="1"/>
              <a:t>Reset</a:t>
            </a:r>
            <a:r>
              <a:rPr lang="ru-RU" sz="2000" dirty="0"/>
              <a:t>),  управления  третьим  состоянием  GTS  (</a:t>
            </a:r>
            <a:r>
              <a:rPr lang="ru-RU" sz="2000" dirty="0" err="1"/>
              <a:t>Global</a:t>
            </a:r>
            <a:r>
              <a:rPr lang="ru-RU" sz="2000" dirty="0"/>
              <a:t>  </a:t>
            </a:r>
            <a:r>
              <a:rPr lang="ru-RU" sz="2000" dirty="0" err="1"/>
              <a:t>Tri-State</a:t>
            </a:r>
            <a:r>
              <a:rPr lang="ru-RU" sz="2000" dirty="0"/>
              <a:t>).  </a:t>
            </a:r>
          </a:p>
        </p:txBody>
      </p:sp>
    </p:spTree>
    <p:extLst>
      <p:ext uri="{BB962C8B-B14F-4D97-AF65-F5344CB8AC3E}">
        <p14:creationId xmlns:p14="http://schemas.microsoft.com/office/powerpoint/2010/main" val="169586963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4115" y="904122"/>
            <a:ext cx="5039245" cy="5039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3419872" y="380170"/>
            <a:ext cx="1717971" cy="369332"/>
          </a:xfrm>
          <a:prstGeom prst="rect">
            <a:avLst/>
          </a:prstGeom>
        </p:spPr>
        <p:txBody>
          <a:bodyPr wrap="none">
            <a:spAutoFit/>
          </a:bodyPr>
          <a:lstStyle/>
          <a:p>
            <a:r>
              <a:rPr lang="ru-RU" b="1" dirty="0" smtClean="0">
                <a:solidFill>
                  <a:srgbClr val="FF0000"/>
                </a:solidFill>
              </a:rPr>
              <a:t>Структура CPLD</a:t>
            </a:r>
            <a:endParaRPr lang="ru-RU" b="1" dirty="0">
              <a:solidFill>
                <a:srgbClr val="FF0000"/>
              </a:solidFill>
            </a:endParaRPr>
          </a:p>
        </p:txBody>
      </p:sp>
      <p:sp>
        <p:nvSpPr>
          <p:cNvPr id="6" name="Прямоугольник 5"/>
          <p:cNvSpPr/>
          <p:nvPr/>
        </p:nvSpPr>
        <p:spPr>
          <a:xfrm>
            <a:off x="1834603" y="5795972"/>
            <a:ext cx="6606480" cy="369332"/>
          </a:xfrm>
          <a:prstGeom prst="rect">
            <a:avLst/>
          </a:prstGeom>
        </p:spPr>
        <p:txBody>
          <a:bodyPr wrap="square">
            <a:spAutoFit/>
          </a:bodyPr>
          <a:lstStyle/>
          <a:p>
            <a:r>
              <a:rPr lang="ru-RU" dirty="0"/>
              <a:t>Функциональные  блоки  CPLD  </a:t>
            </a:r>
            <a:r>
              <a:rPr lang="ru-RU" dirty="0" smtClean="0"/>
              <a:t>подобны  </a:t>
            </a:r>
            <a:r>
              <a:rPr lang="ru-RU" dirty="0"/>
              <a:t>ПМЛ  (PAL</a:t>
            </a:r>
            <a:r>
              <a:rPr lang="ru-RU" dirty="0" smtClean="0"/>
              <a:t>). </a:t>
            </a:r>
            <a:endParaRPr lang="ru-RU" dirty="0"/>
          </a:p>
        </p:txBody>
      </p:sp>
      <p:sp>
        <p:nvSpPr>
          <p:cNvPr id="5" name="Прямоугольник 4"/>
          <p:cNvSpPr/>
          <p:nvPr/>
        </p:nvSpPr>
        <p:spPr>
          <a:xfrm>
            <a:off x="5580112" y="1628800"/>
            <a:ext cx="3312368" cy="2031325"/>
          </a:xfrm>
          <a:prstGeom prst="rect">
            <a:avLst/>
          </a:prstGeom>
        </p:spPr>
        <p:txBody>
          <a:bodyPr wrap="square">
            <a:spAutoFit/>
          </a:bodyPr>
          <a:lstStyle/>
          <a:p>
            <a:r>
              <a:rPr lang="ru-RU" dirty="0" smtClean="0"/>
              <a:t> </a:t>
            </a:r>
            <a:r>
              <a:rPr lang="ru-RU" dirty="0" err="1" smtClean="0"/>
              <a:t>Макроячейка</a:t>
            </a:r>
            <a:r>
              <a:rPr lang="ru-RU" dirty="0" smtClean="0"/>
              <a:t>  </a:t>
            </a:r>
            <a:r>
              <a:rPr lang="ru-RU" dirty="0"/>
              <a:t>содержит  элемент  </a:t>
            </a:r>
            <a:r>
              <a:rPr lang="ru-RU" b="1" dirty="0"/>
              <a:t>ИЛИ</a:t>
            </a:r>
            <a:r>
              <a:rPr lang="ru-RU" dirty="0"/>
              <a:t>,  программируемые  мультиплексоры,  триггер </a:t>
            </a:r>
          </a:p>
          <a:p>
            <a:r>
              <a:rPr lang="ru-RU" dirty="0"/>
              <a:t>(или  триггеры)  и  формирует  выходные  сигналы  в  нескольких  вариантах.  </a:t>
            </a:r>
          </a:p>
        </p:txBody>
      </p:sp>
    </p:spTree>
    <p:extLst>
      <p:ext uri="{BB962C8B-B14F-4D97-AF65-F5344CB8AC3E}">
        <p14:creationId xmlns:p14="http://schemas.microsoft.com/office/powerpoint/2010/main" val="9971793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55569" y="836712"/>
            <a:ext cx="8940510" cy="3970318"/>
          </a:xfrm>
          <a:prstGeom prst="rect">
            <a:avLst/>
          </a:prstGeom>
        </p:spPr>
        <p:txBody>
          <a:bodyPr wrap="square">
            <a:spAutoFit/>
          </a:bodyPr>
          <a:lstStyle/>
          <a:p>
            <a:r>
              <a:rPr lang="ru-RU" dirty="0" smtClean="0"/>
              <a:t>В CPLD  </a:t>
            </a:r>
            <a:r>
              <a:rPr lang="ru-RU" dirty="0"/>
              <a:t>используется  система  одномерно  непрерывных  связей,  реализуемая  в  виде </a:t>
            </a:r>
          </a:p>
          <a:p>
            <a:r>
              <a:rPr lang="ru-RU" dirty="0"/>
              <a:t>программируемой  матрицы  соединений  ПМС.  В  этом  случае  все  связи  идентичны </a:t>
            </a:r>
          </a:p>
          <a:p>
            <a:r>
              <a:rPr lang="ru-RU" dirty="0"/>
              <a:t>по  конфигурации,  что  дает  хорошую  предсказуемость  задержек  сигналов  —  </a:t>
            </a:r>
            <a:r>
              <a:rPr lang="ru-RU" dirty="0" err="1"/>
              <a:t>важ</a:t>
            </a:r>
            <a:r>
              <a:rPr lang="ru-RU" dirty="0"/>
              <a:t>-</a:t>
            </a:r>
          </a:p>
          <a:p>
            <a:r>
              <a:rPr lang="ru-RU" dirty="0" err="1"/>
              <a:t>ное</a:t>
            </a:r>
            <a:r>
              <a:rPr lang="ru-RU" dirty="0"/>
              <a:t>  достоинство,  облегчающее  проектирование  и  изготовление  схем  высокого  бы-</a:t>
            </a:r>
          </a:p>
          <a:p>
            <a:r>
              <a:rPr lang="ru-RU" dirty="0" err="1"/>
              <a:t>стродействия</a:t>
            </a:r>
            <a:r>
              <a:rPr lang="ru-RU" dirty="0"/>
              <a:t>. </a:t>
            </a:r>
          </a:p>
          <a:p>
            <a:r>
              <a:rPr lang="ru-RU" dirty="0" smtClean="0"/>
              <a:t>	В ПМС выходы  </a:t>
            </a:r>
            <a:r>
              <a:rPr lang="ru-RU" dirty="0"/>
              <a:t>функциональных  блоков  ФБ  подключаются  к  </a:t>
            </a:r>
            <a:r>
              <a:rPr lang="ru-RU" dirty="0" smtClean="0"/>
              <a:t>вертикальным  </a:t>
            </a:r>
            <a:r>
              <a:rPr lang="ru-RU" dirty="0"/>
              <a:t>непрерывным  (не  сегментированным)  линиям,  причем  каждому  выходу </a:t>
            </a:r>
            <a:r>
              <a:rPr lang="ru-RU" dirty="0" smtClean="0"/>
              <a:t>соответствует  </a:t>
            </a:r>
            <a:r>
              <a:rPr lang="ru-RU" dirty="0"/>
              <a:t>своя  линия.  Входы  ФБ  связаны  с  горизонтальными  линиями,  </a:t>
            </a:r>
            <a:r>
              <a:rPr lang="ru-RU" dirty="0" smtClean="0"/>
              <a:t>пересекающими  </a:t>
            </a:r>
            <a:r>
              <a:rPr lang="ru-RU" dirty="0"/>
              <a:t>все  вертикальные  линии.  На  пересечениях  горизонтальных  и  </a:t>
            </a:r>
            <a:r>
              <a:rPr lang="ru-RU" dirty="0" smtClean="0"/>
              <a:t>вертикальных линий  </a:t>
            </a:r>
            <a:r>
              <a:rPr lang="ru-RU" dirty="0"/>
              <a:t>имеются  программируемые  точки  связи.  Замкнув  одну  из  этих  точек, </a:t>
            </a:r>
            <a:r>
              <a:rPr lang="ru-RU" dirty="0" smtClean="0"/>
              <a:t>можно  </a:t>
            </a:r>
            <a:r>
              <a:rPr lang="ru-RU" dirty="0"/>
              <a:t>подключить  вход  к  соответствующему  выходу.  Таким  образом  любой  вход </a:t>
            </a:r>
            <a:r>
              <a:rPr lang="ru-RU" dirty="0" smtClean="0"/>
              <a:t> ФБ может  </a:t>
            </a:r>
            <a:r>
              <a:rPr lang="ru-RU" dirty="0"/>
              <a:t>быть  подключен  к  любому  выходу,  а  каждый  из  выходов  может  быть </a:t>
            </a:r>
            <a:r>
              <a:rPr lang="ru-RU" dirty="0" smtClean="0"/>
              <a:t> подключен  </a:t>
            </a:r>
            <a:r>
              <a:rPr lang="ru-RU" dirty="0"/>
              <a:t>ко  многим  входам,  чем  обеспечивается  полная  </a:t>
            </a:r>
            <a:r>
              <a:rPr lang="ru-RU" dirty="0" err="1"/>
              <a:t>коммутируемость</a:t>
            </a:r>
            <a:r>
              <a:rPr lang="ru-RU" dirty="0"/>
              <a:t>  блоков. </a:t>
            </a:r>
          </a:p>
        </p:txBody>
      </p:sp>
      <p:sp>
        <p:nvSpPr>
          <p:cNvPr id="7" name="TextBox 6"/>
          <p:cNvSpPr txBox="1"/>
          <p:nvPr/>
        </p:nvSpPr>
        <p:spPr>
          <a:xfrm>
            <a:off x="3203848" y="444229"/>
            <a:ext cx="2052228" cy="369332"/>
          </a:xfrm>
          <a:prstGeom prst="rect">
            <a:avLst/>
          </a:prstGeom>
          <a:noFill/>
        </p:spPr>
        <p:txBody>
          <a:bodyPr wrap="none" rtlCol="0">
            <a:spAutoFit/>
          </a:bodyPr>
          <a:lstStyle/>
          <a:p>
            <a:r>
              <a:rPr lang="ru-RU" dirty="0" smtClean="0"/>
              <a:t>Схема коммутации</a:t>
            </a:r>
            <a:endParaRPr lang="ru-RU" dirty="0"/>
          </a:p>
        </p:txBody>
      </p:sp>
    </p:spTree>
    <p:extLst>
      <p:ext uri="{BB962C8B-B14F-4D97-AF65-F5344CB8AC3E}">
        <p14:creationId xmlns:p14="http://schemas.microsoft.com/office/powerpoint/2010/main" val="390410287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828083" y="260648"/>
            <a:ext cx="4802460" cy="626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2091352" y="70535"/>
            <a:ext cx="4539191" cy="369332"/>
          </a:xfrm>
          <a:prstGeom prst="rect">
            <a:avLst/>
          </a:prstGeom>
        </p:spPr>
        <p:txBody>
          <a:bodyPr wrap="none">
            <a:spAutoFit/>
          </a:bodyPr>
          <a:lstStyle/>
          <a:p>
            <a:r>
              <a:rPr lang="ru-RU" dirty="0">
                <a:solidFill>
                  <a:srgbClr val="FF0000"/>
                </a:solidFill>
              </a:rPr>
              <a:t>Схема </a:t>
            </a:r>
            <a:r>
              <a:rPr lang="ru-RU" dirty="0" smtClean="0">
                <a:solidFill>
                  <a:srgbClr val="FF0000"/>
                </a:solidFill>
              </a:rPr>
              <a:t>коммутации функциональных блоков</a:t>
            </a:r>
            <a:endParaRPr lang="ru-RU" dirty="0">
              <a:solidFill>
                <a:srgbClr val="FF0000"/>
              </a:solidFill>
            </a:endParaRPr>
          </a:p>
        </p:txBody>
      </p:sp>
    </p:spTree>
    <p:extLst>
      <p:ext uri="{BB962C8B-B14F-4D97-AF65-F5344CB8AC3E}">
        <p14:creationId xmlns:p14="http://schemas.microsoft.com/office/powerpoint/2010/main" val="160091782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7504" y="1052736"/>
            <a:ext cx="8836900"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267744" y="620688"/>
            <a:ext cx="4203908" cy="369332"/>
          </a:xfrm>
          <a:prstGeom prst="rect">
            <a:avLst/>
          </a:prstGeom>
          <a:noFill/>
        </p:spPr>
        <p:txBody>
          <a:bodyPr wrap="none" rtlCol="0">
            <a:spAutoFit/>
          </a:bodyPr>
          <a:lstStyle/>
          <a:p>
            <a:r>
              <a:rPr lang="ru-RU" dirty="0" smtClean="0"/>
              <a:t>Таблица некоторых производимых CPLD </a:t>
            </a:r>
            <a:endParaRPr lang="ru-RU" dirty="0"/>
          </a:p>
        </p:txBody>
      </p:sp>
    </p:spTree>
    <p:extLst>
      <p:ext uri="{BB962C8B-B14F-4D97-AF65-F5344CB8AC3E}">
        <p14:creationId xmlns:p14="http://schemas.microsoft.com/office/powerpoint/2010/main" val="30542818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6711" y="188640"/>
            <a:ext cx="8712968" cy="6463308"/>
          </a:xfrm>
          <a:prstGeom prst="rect">
            <a:avLst/>
          </a:prstGeom>
        </p:spPr>
        <p:txBody>
          <a:bodyPr wrap="square">
            <a:spAutoFit/>
          </a:bodyPr>
          <a:lstStyle/>
          <a:p>
            <a:r>
              <a:rPr lang="ru-RU" b="1" dirty="0" smtClean="0"/>
              <a:t>FPGA  </a:t>
            </a:r>
            <a:r>
              <a:rPr lang="ru-RU" b="1" dirty="0"/>
              <a:t>(</a:t>
            </a:r>
            <a:r>
              <a:rPr lang="ru-RU" b="1" dirty="0" err="1"/>
              <a:t>Field</a:t>
            </a:r>
            <a:r>
              <a:rPr lang="ru-RU" b="1" dirty="0"/>
              <a:t>  </a:t>
            </a:r>
            <a:r>
              <a:rPr lang="ru-RU" b="1" dirty="0" err="1"/>
              <a:t>Programmable</a:t>
            </a:r>
            <a:r>
              <a:rPr lang="ru-RU" b="1" dirty="0"/>
              <a:t>  </a:t>
            </a:r>
            <a:r>
              <a:rPr lang="ru-RU" b="1" dirty="0" err="1"/>
              <a:t>Gate</a:t>
            </a:r>
            <a:r>
              <a:rPr lang="ru-RU" b="1" dirty="0"/>
              <a:t>  </a:t>
            </a:r>
            <a:r>
              <a:rPr lang="ru-RU" b="1" dirty="0" err="1"/>
              <a:t>Arrays</a:t>
            </a:r>
            <a:r>
              <a:rPr lang="ru-RU" b="1" dirty="0"/>
              <a:t>)  </a:t>
            </a:r>
            <a:r>
              <a:rPr lang="ru-RU" dirty="0"/>
              <a:t>—  программируемые  пользователем  </a:t>
            </a:r>
            <a:r>
              <a:rPr lang="ru-RU" dirty="0" smtClean="0"/>
              <a:t>вентильные  </a:t>
            </a:r>
            <a:r>
              <a:rPr lang="ru-RU" dirty="0"/>
              <a:t>матрицы  —  наиболее  обширный  класс  программируемых  схем,  </a:t>
            </a:r>
            <a:r>
              <a:rPr lang="ru-RU" dirty="0" smtClean="0"/>
              <a:t>обладающих  </a:t>
            </a:r>
            <a:r>
              <a:rPr lang="ru-RU" dirty="0"/>
              <a:t>максимальными  функциональными  возможностями.  </a:t>
            </a:r>
            <a:endParaRPr lang="ru-RU" dirty="0" smtClean="0"/>
          </a:p>
          <a:p>
            <a:r>
              <a:rPr lang="ru-RU" dirty="0" smtClean="0"/>
              <a:t>С  </a:t>
            </a:r>
            <a:r>
              <a:rPr lang="ru-RU" dirty="0"/>
              <a:t>учетом  архитектурных  особенностей  и  областей  применения </a:t>
            </a:r>
            <a:r>
              <a:rPr lang="ru-RU" dirty="0" smtClean="0"/>
              <a:t>выделяются  </a:t>
            </a:r>
            <a:r>
              <a:rPr lang="ru-RU" dirty="0"/>
              <a:t>подклассы  FPGA  и  систем  на  их  основе:   </a:t>
            </a:r>
          </a:p>
          <a:p>
            <a:pPr marL="342900" indent="-342900">
              <a:buFont typeface="Arial" panose="020B0604020202020204" pitchFamily="34" charset="0"/>
              <a:buChar char="•"/>
            </a:pPr>
            <a:r>
              <a:rPr lang="ru-RU" dirty="0" smtClean="0"/>
              <a:t>FPGA  </a:t>
            </a:r>
            <a:r>
              <a:rPr lang="ru-RU" dirty="0"/>
              <a:t>невысокой  и  средней  сложности; </a:t>
            </a:r>
          </a:p>
          <a:p>
            <a:pPr marL="342900" indent="-342900">
              <a:buFont typeface="Arial" panose="020B0604020202020204" pitchFamily="34" charset="0"/>
              <a:buChar char="•"/>
            </a:pPr>
            <a:r>
              <a:rPr lang="ru-RU" dirty="0" smtClean="0"/>
              <a:t>FPGA  </a:t>
            </a:r>
            <a:r>
              <a:rPr lang="ru-RU" dirty="0"/>
              <a:t>высокой  сложности  и  системы  на  кристалле; </a:t>
            </a:r>
          </a:p>
          <a:p>
            <a:pPr marL="342900" indent="-342900">
              <a:buFont typeface="Arial" panose="020B0604020202020204" pitchFamily="34" charset="0"/>
              <a:buChar char="•"/>
            </a:pPr>
            <a:r>
              <a:rPr lang="ru-RU" dirty="0" smtClean="0"/>
              <a:t>микроконтроллерные  </a:t>
            </a:r>
            <a:r>
              <a:rPr lang="ru-RU" dirty="0"/>
              <a:t>программируемые  системы. </a:t>
            </a:r>
            <a:endParaRPr lang="ru-RU" dirty="0" smtClean="0"/>
          </a:p>
          <a:p>
            <a:pPr marL="342900" indent="-342900">
              <a:buFont typeface="Arial" panose="020B0604020202020204" pitchFamily="34" charset="0"/>
              <a:buChar char="•"/>
            </a:pPr>
            <a:endParaRPr lang="ru-RU" dirty="0" smtClean="0"/>
          </a:p>
          <a:p>
            <a:r>
              <a:rPr lang="ru-RU" dirty="0" smtClean="0"/>
              <a:t>Основные производители —  </a:t>
            </a:r>
            <a:r>
              <a:rPr lang="ru-RU" dirty="0" err="1"/>
              <a:t>Xilinx</a:t>
            </a:r>
            <a:r>
              <a:rPr lang="ru-RU" dirty="0"/>
              <a:t> </a:t>
            </a:r>
            <a:r>
              <a:rPr lang="ru-RU" dirty="0" smtClean="0"/>
              <a:t>, </a:t>
            </a:r>
            <a:r>
              <a:rPr lang="ru-RU" dirty="0" err="1"/>
              <a:t>Altera</a:t>
            </a:r>
            <a:r>
              <a:rPr lang="ru-RU" dirty="0"/>
              <a:t>,  </a:t>
            </a:r>
            <a:r>
              <a:rPr lang="ru-RU" dirty="0" err="1"/>
              <a:t>Actel</a:t>
            </a:r>
            <a:r>
              <a:rPr lang="ru-RU" dirty="0"/>
              <a:t>,  </a:t>
            </a:r>
            <a:r>
              <a:rPr lang="ru-RU" dirty="0" err="1" smtClean="0"/>
              <a:t>Atmel</a:t>
            </a:r>
            <a:r>
              <a:rPr lang="ru-RU" dirty="0"/>
              <a:t> </a:t>
            </a:r>
            <a:endParaRPr lang="ru-RU" dirty="0" smtClean="0"/>
          </a:p>
          <a:p>
            <a:r>
              <a:rPr lang="ru-RU" dirty="0" smtClean="0"/>
              <a:t> </a:t>
            </a:r>
            <a:endParaRPr lang="ru-RU" dirty="0"/>
          </a:p>
          <a:p>
            <a:r>
              <a:rPr lang="ru-RU" dirty="0" smtClean="0"/>
              <a:t>FPGA  выпускаются  </a:t>
            </a:r>
            <a:r>
              <a:rPr lang="ru-RU" dirty="0"/>
              <a:t>как  полностью  готовые,  т.  е.  относятся  к  стандартной  продукции,  что </a:t>
            </a:r>
            <a:r>
              <a:rPr lang="ru-RU" dirty="0" smtClean="0"/>
              <a:t> сопровождается  </a:t>
            </a:r>
            <a:r>
              <a:rPr lang="ru-RU" dirty="0"/>
              <a:t>известными  преимуществами  —  массовостью  производства  и </a:t>
            </a:r>
            <a:r>
              <a:rPr lang="ru-RU" dirty="0" smtClean="0"/>
              <a:t> снижением  </a:t>
            </a:r>
            <a:r>
              <a:rPr lang="ru-RU" dirty="0"/>
              <a:t>стоимости.  </a:t>
            </a:r>
            <a:endParaRPr lang="ru-RU" dirty="0" smtClean="0"/>
          </a:p>
          <a:p>
            <a:endParaRPr lang="ru-RU" dirty="0" smtClean="0"/>
          </a:p>
          <a:p>
            <a:r>
              <a:rPr lang="ru-RU" dirty="0" smtClean="0"/>
              <a:t>Потребитель  выполняет  </a:t>
            </a:r>
            <a:r>
              <a:rPr lang="ru-RU" dirty="0"/>
              <a:t>программирование  FPGA  </a:t>
            </a:r>
            <a:r>
              <a:rPr lang="ru-RU" dirty="0" smtClean="0"/>
              <a:t>самостоятельно.   </a:t>
            </a:r>
            <a:endParaRPr lang="ru-RU" dirty="0"/>
          </a:p>
          <a:p>
            <a:endParaRPr lang="ru-RU" dirty="0" smtClean="0"/>
          </a:p>
          <a:p>
            <a:r>
              <a:rPr lang="ru-RU" dirty="0" smtClean="0"/>
              <a:t>Благодаря  </a:t>
            </a:r>
            <a:r>
              <a:rPr lang="ru-RU" dirty="0"/>
              <a:t>регулярной  структуре  FPGA  реализуются  с  уровнем  интеграции,  </a:t>
            </a:r>
            <a:r>
              <a:rPr lang="ru-RU" dirty="0" smtClean="0"/>
              <a:t>близким  </a:t>
            </a:r>
            <a:r>
              <a:rPr lang="ru-RU" dirty="0"/>
              <a:t>к  максимальному.  Вместе  с  тем,  поскольку  для  средств  программирования </a:t>
            </a:r>
            <a:r>
              <a:rPr lang="ru-RU" dirty="0" smtClean="0"/>
              <a:t> </a:t>
            </a:r>
            <a:r>
              <a:rPr lang="ru-RU" dirty="0" err="1" smtClean="0"/>
              <a:t>межсоединений</a:t>
            </a:r>
            <a:r>
              <a:rPr lang="ru-RU" dirty="0" smtClean="0"/>
              <a:t>  </a:t>
            </a:r>
            <a:r>
              <a:rPr lang="ru-RU" dirty="0"/>
              <a:t>требуются  значительные  затраты  дополнительной  площади  </a:t>
            </a:r>
            <a:r>
              <a:rPr lang="ru-RU" dirty="0" smtClean="0"/>
              <a:t>кристалла по  </a:t>
            </a:r>
            <a:r>
              <a:rPr lang="ru-RU" dirty="0"/>
              <a:t>количеству  логических  элементов,  предоставляемых  для  реализации </a:t>
            </a:r>
            <a:r>
              <a:rPr lang="ru-RU" dirty="0" smtClean="0"/>
              <a:t> проекта</a:t>
            </a:r>
            <a:r>
              <a:rPr lang="ru-RU" dirty="0"/>
              <a:t>,  </a:t>
            </a:r>
            <a:r>
              <a:rPr lang="ru-RU" dirty="0" smtClean="0"/>
              <a:t>FPGA уступают  </a:t>
            </a:r>
            <a:r>
              <a:rPr lang="ru-RU" dirty="0" err="1"/>
              <a:t>полузаказным</a:t>
            </a:r>
            <a:r>
              <a:rPr lang="ru-RU" dirty="0"/>
              <a:t>  </a:t>
            </a:r>
            <a:r>
              <a:rPr lang="ru-RU" dirty="0" smtClean="0"/>
              <a:t>и  заказным схемам</a:t>
            </a:r>
            <a:r>
              <a:rPr lang="ru-RU" dirty="0"/>
              <a:t>. </a:t>
            </a:r>
          </a:p>
        </p:txBody>
      </p:sp>
    </p:spTree>
    <p:extLst>
      <p:ext uri="{BB962C8B-B14F-4D97-AF65-F5344CB8AC3E}">
        <p14:creationId xmlns:p14="http://schemas.microsoft.com/office/powerpoint/2010/main" val="304301348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5762" y="404664"/>
            <a:ext cx="9019563" cy="5324535"/>
          </a:xfrm>
          <a:prstGeom prst="rect">
            <a:avLst/>
          </a:prstGeom>
        </p:spPr>
        <p:txBody>
          <a:bodyPr wrap="square">
            <a:spAutoFit/>
          </a:bodyPr>
          <a:lstStyle/>
          <a:p>
            <a:r>
              <a:rPr lang="ru-RU" sz="2000" dirty="0"/>
              <a:t>Д</a:t>
            </a:r>
            <a:r>
              <a:rPr lang="ru-RU" sz="2000" dirty="0" smtClean="0"/>
              <a:t>ве  </a:t>
            </a:r>
            <a:r>
              <a:rPr lang="ru-RU" sz="2000" dirty="0"/>
              <a:t>области  применения  FPGA: </a:t>
            </a:r>
          </a:p>
          <a:p>
            <a:pPr marL="342900" indent="-342900">
              <a:buFont typeface="Arial" panose="020B0604020202020204" pitchFamily="34" charset="0"/>
              <a:buChar char="•"/>
            </a:pPr>
            <a:r>
              <a:rPr lang="ru-RU" sz="2000" dirty="0"/>
              <a:t>отработка  прототипов  блоков  и  систем  при  их  проектировании   </a:t>
            </a:r>
          </a:p>
          <a:p>
            <a:pPr marL="342900" indent="-342900">
              <a:buFont typeface="Arial" panose="020B0604020202020204" pitchFamily="34" charset="0"/>
              <a:buChar char="•"/>
            </a:pPr>
            <a:r>
              <a:rPr lang="ru-RU" sz="2000" dirty="0"/>
              <a:t>создание  конечной  продукции  для  изделий  не  слишком  большой  </a:t>
            </a:r>
            <a:r>
              <a:rPr lang="ru-RU" sz="2000" dirty="0" err="1"/>
              <a:t>тиражности</a:t>
            </a:r>
            <a:r>
              <a:rPr lang="ru-RU" sz="2000" dirty="0"/>
              <a:t>  быстрыми  и  эффективными  способами.   </a:t>
            </a:r>
          </a:p>
          <a:p>
            <a:endParaRPr lang="ru-RU" sz="2000" dirty="0"/>
          </a:p>
          <a:p>
            <a:r>
              <a:rPr lang="ru-RU" sz="2000" b="1" dirty="0"/>
              <a:t>Построение  реконфигурируемых  систем</a:t>
            </a:r>
            <a:r>
              <a:rPr lang="ru-RU" sz="2000" dirty="0"/>
              <a:t>.  </a:t>
            </a:r>
          </a:p>
          <a:p>
            <a:endParaRPr lang="ru-RU" sz="2000" dirty="0"/>
          </a:p>
          <a:p>
            <a:pPr algn="just"/>
            <a:r>
              <a:rPr lang="ru-RU" sz="2000" dirty="0"/>
              <a:t>При  использовании  аппаратуры  встречаются  ситуации,  в  которых  те  или  иные  блоки  работают  поочередно.  Например, средства  помехоустойчивого  кодирования  и  декодирования  при  передаче  и  приеме  данных.  Обе  функции  (кодирование  и  декодирование)  никогда  не  выполняются  одновременно.  Поэтому  не  обязательно  иметь  два  устройства  (кодер  и  декодер),  а  можно  иметь  одну  </a:t>
            </a:r>
            <a:r>
              <a:rPr lang="ru-RU" sz="2000" b="1" dirty="0" err="1"/>
              <a:t>репрограммируемую</a:t>
            </a:r>
            <a:r>
              <a:rPr lang="ru-RU" sz="2000" dirty="0"/>
              <a:t>  схему  с  двумя  разными  конфигурациями,  хранимыми  в  ПЗУ  и  поочередно  загружаемыми  в  ПЛИС  (программируемую  логическую  интегральную  схему).  В  такой  реконфигурируемой  системе  одна  и  та  же  аппаратная  часть  может  выполнять  различные  преобразования  после  соответствующей  перестройки.  </a:t>
            </a:r>
          </a:p>
        </p:txBody>
      </p:sp>
    </p:spTree>
    <p:extLst>
      <p:ext uri="{BB962C8B-B14F-4D97-AF65-F5344CB8AC3E}">
        <p14:creationId xmlns:p14="http://schemas.microsoft.com/office/powerpoint/2010/main" val="305658707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95536" y="0"/>
            <a:ext cx="8262664" cy="6555641"/>
          </a:xfrm>
          <a:prstGeom prst="rect">
            <a:avLst/>
          </a:prstGeom>
        </p:spPr>
        <p:txBody>
          <a:bodyPr wrap="square">
            <a:spAutoFit/>
          </a:bodyPr>
          <a:lstStyle/>
          <a:p>
            <a:r>
              <a:rPr lang="ru-RU" sz="2000" b="1" dirty="0" smtClean="0"/>
              <a:t>Задачи  </a:t>
            </a:r>
            <a:r>
              <a:rPr lang="ru-RU" sz="2000" b="1" dirty="0"/>
              <a:t>логической  эмуляции.  </a:t>
            </a:r>
            <a:endParaRPr lang="ru-RU" sz="2000" b="1" dirty="0" smtClean="0"/>
          </a:p>
          <a:p>
            <a:endParaRPr lang="ru-RU" sz="2000" dirty="0"/>
          </a:p>
          <a:p>
            <a:r>
              <a:rPr lang="ru-RU" sz="2000" dirty="0" smtClean="0"/>
              <a:t>При  </a:t>
            </a:r>
            <a:r>
              <a:rPr lang="ru-RU" sz="2000" dirty="0"/>
              <a:t>отладке  устройств  традиционно  пользовались </a:t>
            </a:r>
            <a:r>
              <a:rPr lang="ru-RU" sz="2000" dirty="0" smtClean="0"/>
              <a:t> как  </a:t>
            </a:r>
            <a:r>
              <a:rPr lang="ru-RU" sz="2000" dirty="0"/>
              <a:t>изготовлением  прототипа,  так  и  программными  моделями.  Изготовление  </a:t>
            </a:r>
            <a:r>
              <a:rPr lang="ru-RU" sz="2000" dirty="0" err="1" smtClean="0"/>
              <a:t>проотипа</a:t>
            </a:r>
            <a:r>
              <a:rPr lang="ru-RU" sz="2000" dirty="0" smtClean="0"/>
              <a:t>  </a:t>
            </a:r>
            <a:r>
              <a:rPr lang="ru-RU" sz="2000" dirty="0"/>
              <a:t>—  сложная  и  дорогостоящая  задача,  но  с  его  помощью  можно  вести  </a:t>
            </a:r>
            <a:r>
              <a:rPr lang="ru-RU" sz="2000" dirty="0" smtClean="0"/>
              <a:t>тестирование  </a:t>
            </a:r>
            <a:r>
              <a:rPr lang="ru-RU" sz="2000" dirty="0"/>
              <a:t>с  реальными  сигналами  и  на  высоких  скоростях,  наблюдая  фактические </a:t>
            </a:r>
            <a:r>
              <a:rPr lang="ru-RU" sz="2000" dirty="0" smtClean="0"/>
              <a:t> возможности  </a:t>
            </a:r>
            <a:r>
              <a:rPr lang="ru-RU" sz="2000" dirty="0"/>
              <a:t>устройства.  Программное  моделирование  лишено  указанных  </a:t>
            </a:r>
            <a:r>
              <a:rPr lang="ru-RU" sz="2000" dirty="0" smtClean="0"/>
              <a:t>достоинств,  но  </a:t>
            </a:r>
            <a:r>
              <a:rPr lang="ru-RU" sz="2000" dirty="0"/>
              <a:t>проще  и  дешевле.  Модели  легко  модифицируются  для  удаления  ошибок  в </a:t>
            </a:r>
            <a:r>
              <a:rPr lang="ru-RU" sz="2000" dirty="0" smtClean="0"/>
              <a:t> проекте  </a:t>
            </a:r>
            <a:r>
              <a:rPr lang="ru-RU" sz="2000" dirty="0"/>
              <a:t>и  в  них  обеспечивается  хорошая  наблюдаемость  процессов  в  объекте  </a:t>
            </a:r>
            <a:r>
              <a:rPr lang="ru-RU" sz="2000" dirty="0" smtClean="0"/>
              <a:t>исследования</a:t>
            </a:r>
            <a:r>
              <a:rPr lang="ru-RU" sz="2000" dirty="0"/>
              <a:t>.   </a:t>
            </a:r>
          </a:p>
          <a:p>
            <a:r>
              <a:rPr lang="ru-RU" sz="2000" dirty="0" smtClean="0"/>
              <a:t>	Применение  </a:t>
            </a:r>
            <a:r>
              <a:rPr lang="en-US" sz="2000" dirty="0" smtClean="0"/>
              <a:t>FPGA</a:t>
            </a:r>
            <a:r>
              <a:rPr lang="ru-RU" sz="2000" dirty="0" smtClean="0"/>
              <a:t>  </a:t>
            </a:r>
            <a:r>
              <a:rPr lang="ru-RU" sz="2000" dirty="0"/>
              <a:t>в  задачах  логической  эмуляции  дает  сочетание  достоинств </a:t>
            </a:r>
            <a:r>
              <a:rPr lang="ru-RU" sz="2000" dirty="0" smtClean="0"/>
              <a:t>обоих  </a:t>
            </a:r>
            <a:r>
              <a:rPr lang="ru-RU" sz="2000" dirty="0"/>
              <a:t>классических  подходов.  Система  из  микросхем  программируемой  логики </a:t>
            </a:r>
            <a:r>
              <a:rPr lang="ru-RU" sz="2000" dirty="0" smtClean="0"/>
              <a:t> легко  </a:t>
            </a:r>
            <a:r>
              <a:rPr lang="ru-RU" sz="2000" dirty="0"/>
              <a:t>создается  и  модифицируется,  но  может  работать  с  реальными  сигналами  и </a:t>
            </a:r>
          </a:p>
          <a:p>
            <a:r>
              <a:rPr lang="ru-RU" sz="2000" dirty="0"/>
              <a:t>частотами.  В  то  же  время  программные  модели  и  макетирование  не  зачеркиваются </a:t>
            </a:r>
            <a:r>
              <a:rPr lang="ru-RU" sz="2000" dirty="0" smtClean="0"/>
              <a:t>появлением  </a:t>
            </a:r>
            <a:r>
              <a:rPr lang="ru-RU" sz="2000" dirty="0" err="1"/>
              <a:t>репрограммируемых</a:t>
            </a:r>
            <a:r>
              <a:rPr lang="ru-RU" sz="2000" dirty="0"/>
              <a:t>  микросхем.  Создание  программной  модели  может </a:t>
            </a:r>
            <a:r>
              <a:rPr lang="ru-RU" sz="2000" dirty="0" smtClean="0"/>
              <a:t>остаться  </a:t>
            </a:r>
            <a:r>
              <a:rPr lang="ru-RU" sz="2000" dirty="0"/>
              <a:t>наиболее  быстрым  и  дешевым  вариантом  эмуляции,  а  макетирование  </a:t>
            </a:r>
            <a:r>
              <a:rPr lang="ru-RU" sz="2000" dirty="0" smtClean="0"/>
              <a:t>отличается  </a:t>
            </a:r>
            <a:r>
              <a:rPr lang="ru-RU" sz="2000" dirty="0"/>
              <a:t>наиболее  полным  отображением  свойств  объекта.  Таким  образом,  </a:t>
            </a:r>
            <a:r>
              <a:rPr lang="ru-RU" sz="2000" dirty="0" smtClean="0"/>
              <a:t>применение </a:t>
            </a:r>
            <a:r>
              <a:rPr lang="en-US" sz="2000" dirty="0"/>
              <a:t>FPGA</a:t>
            </a:r>
            <a:r>
              <a:rPr lang="ru-RU" sz="2000" dirty="0" smtClean="0"/>
              <a:t> </a:t>
            </a:r>
            <a:r>
              <a:rPr lang="ru-RU" sz="2000" dirty="0"/>
              <a:t>хорошо  дополняет  прежние  методы  разработки  и  тестирования  схем. </a:t>
            </a:r>
          </a:p>
        </p:txBody>
      </p:sp>
    </p:spTree>
    <p:extLst>
      <p:ext uri="{BB962C8B-B14F-4D97-AF65-F5344CB8AC3E}">
        <p14:creationId xmlns:p14="http://schemas.microsoft.com/office/powerpoint/2010/main" val="197154541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6941" y="332656"/>
            <a:ext cx="8856984" cy="2862322"/>
          </a:xfrm>
          <a:prstGeom prst="rect">
            <a:avLst/>
          </a:prstGeom>
        </p:spPr>
        <p:txBody>
          <a:bodyPr wrap="square">
            <a:spAutoFit/>
          </a:bodyPr>
          <a:lstStyle/>
          <a:p>
            <a:r>
              <a:rPr lang="ru-RU" b="1" dirty="0"/>
              <a:t>Построение  динамически  реконфигурируемых  систем</a:t>
            </a:r>
            <a:r>
              <a:rPr lang="ru-RU" dirty="0"/>
              <a:t>.  </a:t>
            </a:r>
            <a:endParaRPr lang="en-US" dirty="0" smtClean="0"/>
          </a:p>
          <a:p>
            <a:r>
              <a:rPr lang="ru-RU" dirty="0" smtClean="0"/>
              <a:t>От  </a:t>
            </a:r>
            <a:r>
              <a:rPr lang="ru-RU" dirty="0"/>
              <a:t>простых  </a:t>
            </a:r>
            <a:r>
              <a:rPr lang="ru-RU" dirty="0" smtClean="0"/>
              <a:t>реконфигурируемых  </a:t>
            </a:r>
            <a:r>
              <a:rPr lang="ru-RU" dirty="0"/>
              <a:t>систем  системы  с  динамической  реконфигурацией  (</a:t>
            </a:r>
            <a:r>
              <a:rPr lang="ru-RU" dirty="0" err="1"/>
              <a:t>Run-Time</a:t>
            </a:r>
            <a:r>
              <a:rPr lang="ru-RU" dirty="0"/>
              <a:t>  </a:t>
            </a:r>
            <a:r>
              <a:rPr lang="ru-RU" dirty="0" err="1" smtClean="0"/>
              <a:t>Reconfiguration</a:t>
            </a:r>
            <a:r>
              <a:rPr lang="ru-RU" dirty="0"/>
              <a:t>)  отличаются  тем,  что  в  них  требуется  быстрая  смена  настроек.   Обычная  </a:t>
            </a:r>
            <a:r>
              <a:rPr lang="ru-RU" dirty="0" smtClean="0"/>
              <a:t>настройка  </a:t>
            </a:r>
            <a:r>
              <a:rPr lang="ru-RU" dirty="0"/>
              <a:t>с  введением  в  микросхему  последовательного  потока  битов  или  байтов </a:t>
            </a:r>
            <a:r>
              <a:rPr lang="en-US" dirty="0" smtClean="0"/>
              <a:t> </a:t>
            </a:r>
            <a:r>
              <a:rPr lang="ru-RU" dirty="0" smtClean="0"/>
              <a:t>занимает  </a:t>
            </a:r>
            <a:r>
              <a:rPr lang="ru-RU" dirty="0"/>
              <a:t>достаточно  большое  время.  В  динамически  реконфигурируемых  системах </a:t>
            </a:r>
            <a:r>
              <a:rPr lang="ru-RU" dirty="0" smtClean="0"/>
              <a:t>уже  </a:t>
            </a:r>
            <a:r>
              <a:rPr lang="ru-RU" dirty="0"/>
              <a:t>имеется  (хранится)  набор  предварительно  загруженных  настроек,  быстро  </a:t>
            </a:r>
            <a:r>
              <a:rPr lang="ru-RU" dirty="0" smtClean="0"/>
              <a:t>сменяющих  </a:t>
            </a:r>
            <a:r>
              <a:rPr lang="ru-RU" dirty="0"/>
              <a:t>друг  друга  соответственно  требованиям  реализуемого  алгоритма.   </a:t>
            </a:r>
          </a:p>
          <a:p>
            <a:r>
              <a:rPr lang="ru-RU" dirty="0"/>
              <a:t>Динамически  реконфигурируемая  микросхема  может  иметь  практически  любое </a:t>
            </a:r>
          </a:p>
          <a:p>
            <a:r>
              <a:rPr lang="ru-RU" dirty="0"/>
              <a:t>число  настроек,  которое  ограничивается  лишь  емкостью  памяти  для  их  хранения. </a:t>
            </a:r>
          </a:p>
        </p:txBody>
      </p:sp>
      <p:sp>
        <p:nvSpPr>
          <p:cNvPr id="5" name="Прямоугольник 4"/>
          <p:cNvSpPr/>
          <p:nvPr/>
        </p:nvSpPr>
        <p:spPr>
          <a:xfrm>
            <a:off x="239703" y="3284984"/>
            <a:ext cx="8694712" cy="3416320"/>
          </a:xfrm>
          <a:prstGeom prst="rect">
            <a:avLst/>
          </a:prstGeom>
        </p:spPr>
        <p:txBody>
          <a:bodyPr wrap="square">
            <a:spAutoFit/>
          </a:bodyPr>
          <a:lstStyle/>
          <a:p>
            <a:r>
              <a:rPr lang="ru-RU" b="1" dirty="0"/>
              <a:t>FPGA-процессоры.  </a:t>
            </a:r>
            <a:endParaRPr lang="en-US" b="1" dirty="0" smtClean="0"/>
          </a:p>
          <a:p>
            <a:r>
              <a:rPr lang="ru-RU" dirty="0" smtClean="0"/>
              <a:t>Алгоритмы  </a:t>
            </a:r>
            <a:r>
              <a:rPr lang="ru-RU" dirty="0"/>
              <a:t>работы  процессора  загружаются  в  FPGA  принципиально  подобно  загрузке  в </a:t>
            </a:r>
            <a:r>
              <a:rPr lang="ru-RU" dirty="0" smtClean="0"/>
              <a:t>память  </a:t>
            </a:r>
            <a:r>
              <a:rPr lang="ru-RU" dirty="0"/>
              <a:t>микропроцессорной  системы  выполняемой  программы.  Но  в  </a:t>
            </a:r>
            <a:r>
              <a:rPr lang="ru-RU" dirty="0" smtClean="0"/>
              <a:t>противоположность  </a:t>
            </a:r>
            <a:r>
              <a:rPr lang="ru-RU" dirty="0"/>
              <a:t>микропроцессорной  системе,  возникает  сильно  выраженный  параллелизм </a:t>
            </a:r>
            <a:r>
              <a:rPr lang="en-US" dirty="0" smtClean="0"/>
              <a:t> </a:t>
            </a:r>
            <a:r>
              <a:rPr lang="ru-RU" dirty="0" smtClean="0"/>
              <a:t>на  </a:t>
            </a:r>
            <a:r>
              <a:rPr lang="ru-RU" dirty="0"/>
              <a:t>уровне  логических  блоков  с  простейшими  операциями  (типа  воспроизведения </a:t>
            </a:r>
            <a:r>
              <a:rPr lang="ru-RU" dirty="0" smtClean="0"/>
              <a:t>функции  </a:t>
            </a:r>
            <a:r>
              <a:rPr lang="ru-RU" dirty="0"/>
              <a:t>от  данного  числа  аргументов).  Такие  FPGA-процессоры  могут  давать  </a:t>
            </a:r>
            <a:r>
              <a:rPr lang="ru-RU" dirty="0" smtClean="0"/>
              <a:t>хорошие  </a:t>
            </a:r>
            <a:r>
              <a:rPr lang="ru-RU" dirty="0"/>
              <a:t>результаты  при  параллельной  обработке  данных,  где  большое  число  </a:t>
            </a:r>
            <a:r>
              <a:rPr lang="ru-RU" dirty="0" smtClean="0"/>
              <a:t>переменных  </a:t>
            </a:r>
            <a:r>
              <a:rPr lang="ru-RU" dirty="0"/>
              <a:t>преобразуется  сходным  образом.   </a:t>
            </a:r>
          </a:p>
          <a:p>
            <a:r>
              <a:rPr lang="ru-RU" dirty="0"/>
              <a:t>Эффективность  схем  с  программируемой  структурой  стимулирует  быстрый  рост </a:t>
            </a:r>
          </a:p>
          <a:p>
            <a:r>
              <a:rPr lang="ru-RU" dirty="0"/>
              <a:t>соответствующей  отрасли  промышленности  и  объемов  их  производства,  а  также </a:t>
            </a:r>
          </a:p>
          <a:p>
            <a:r>
              <a:rPr lang="ru-RU" dirty="0"/>
              <a:t>научных  исследований  по  развитию  их  архитектур,  </a:t>
            </a:r>
            <a:r>
              <a:rPr lang="ru-RU" dirty="0" err="1"/>
              <a:t>схемотехники</a:t>
            </a:r>
            <a:r>
              <a:rPr lang="ru-RU" dirty="0"/>
              <a:t>  и  алгоритмов </a:t>
            </a:r>
          </a:p>
          <a:p>
            <a:r>
              <a:rPr lang="ru-RU" dirty="0"/>
              <a:t>решения  практических  задач. </a:t>
            </a:r>
          </a:p>
        </p:txBody>
      </p:sp>
    </p:spTree>
    <p:extLst>
      <p:ext uri="{BB962C8B-B14F-4D97-AF65-F5344CB8AC3E}">
        <p14:creationId xmlns:p14="http://schemas.microsoft.com/office/powerpoint/2010/main" val="43716091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1052736"/>
            <a:ext cx="8712968" cy="4093428"/>
          </a:xfrm>
          <a:prstGeom prst="rect">
            <a:avLst/>
          </a:prstGeom>
        </p:spPr>
        <p:txBody>
          <a:bodyPr wrap="square">
            <a:spAutoFit/>
          </a:bodyPr>
          <a:lstStyle/>
          <a:p>
            <a:r>
              <a:rPr lang="ru-RU" sz="2000" b="1" dirty="0"/>
              <a:t>Программируемые  элементы </a:t>
            </a:r>
            <a:r>
              <a:rPr lang="en-US" sz="2000" b="1" dirty="0"/>
              <a:t> FPGA</a:t>
            </a:r>
            <a:endParaRPr lang="ru-RU" sz="2000" b="1" dirty="0"/>
          </a:p>
          <a:p>
            <a:r>
              <a:rPr lang="ru-RU" sz="2000" dirty="0"/>
              <a:t>Программируемость  пользователем,  т.  е.  реализуемость  индивидуального  проекта </a:t>
            </a:r>
            <a:r>
              <a:rPr lang="en-US" sz="2000" dirty="0"/>
              <a:t> </a:t>
            </a:r>
            <a:r>
              <a:rPr lang="ru-RU" sz="2000" dirty="0"/>
              <a:t>на  основе  стандартной  микросхемы,  обеспечивается  наличием  в  схеме  множества двухполюсников,  проводимость  которых  может  быть  задана  либо  очень  малой  (это соответствует  разомкнутому  ключу),  либо  достаточно  большой  (это  соответствует замкнутому  ключу).  Состояния  ключей  задают  конфигурацию  схеме,  формируемой  на  кристалле.  Число  программируемых  ключей  (программируемых  точек  связи)  в  схеме  зависит  от  ее  сложности  и  может  доходить  до  сотен  миллионов  и  более. </a:t>
            </a:r>
          </a:p>
          <a:p>
            <a:r>
              <a:rPr lang="ru-RU" sz="2000" dirty="0"/>
              <a:t>Для  FPGA  характерны  следующие  виды  программируемых  ключей: </a:t>
            </a:r>
          </a:p>
          <a:p>
            <a:pPr marL="342900" indent="-342900">
              <a:buFont typeface="Arial" panose="020B0604020202020204" pitchFamily="34" charset="0"/>
              <a:buChar char="•"/>
            </a:pPr>
            <a:r>
              <a:rPr lang="ru-RU" sz="2000" dirty="0"/>
              <a:t>перемычки  типа  </a:t>
            </a:r>
            <a:r>
              <a:rPr lang="ru-RU" sz="2000" dirty="0" err="1"/>
              <a:t>antifuse</a:t>
            </a:r>
            <a:r>
              <a:rPr lang="ru-RU" sz="2000" dirty="0"/>
              <a:t>  (общепринятый  русский  термин  отсутствует); </a:t>
            </a:r>
          </a:p>
          <a:p>
            <a:pPr marL="342900" indent="-342900">
              <a:buFont typeface="Arial" panose="020B0604020202020204" pitchFamily="34" charset="0"/>
              <a:buChar char="•"/>
            </a:pPr>
            <a:r>
              <a:rPr lang="ru-RU" sz="2000" dirty="0"/>
              <a:t>ключевые  транзисторы,  управляемые  триггерами; </a:t>
            </a:r>
          </a:p>
          <a:p>
            <a:pPr marL="342900" indent="-342900">
              <a:buFont typeface="Arial" panose="020B0604020202020204" pitchFamily="34" charset="0"/>
              <a:buChar char="•"/>
            </a:pPr>
            <a:r>
              <a:rPr lang="ru-RU" sz="2000" dirty="0"/>
              <a:t>флэш-ключи. </a:t>
            </a:r>
          </a:p>
        </p:txBody>
      </p:sp>
    </p:spTree>
    <p:extLst>
      <p:ext uri="{BB962C8B-B14F-4D97-AF65-F5344CB8AC3E}">
        <p14:creationId xmlns:p14="http://schemas.microsoft.com/office/powerpoint/2010/main" val="24464805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71800" y="260648"/>
            <a:ext cx="2856616" cy="369332"/>
          </a:xfrm>
          <a:prstGeom prst="rect">
            <a:avLst/>
          </a:prstGeom>
        </p:spPr>
        <p:txBody>
          <a:bodyPr wrap="none">
            <a:spAutoFit/>
          </a:bodyPr>
          <a:lstStyle/>
          <a:p>
            <a:r>
              <a:rPr lang="ru-RU" dirty="0"/>
              <a:t>Перемычки  типа  </a:t>
            </a:r>
            <a:r>
              <a:rPr lang="ru-RU" dirty="0" err="1"/>
              <a:t>antifuse</a:t>
            </a:r>
            <a:r>
              <a:rPr lang="ru-RU" dirty="0"/>
              <a:t>. </a:t>
            </a:r>
          </a:p>
        </p:txBody>
      </p:sp>
      <p:sp>
        <p:nvSpPr>
          <p:cNvPr id="5" name="Прямоугольник 4"/>
          <p:cNvSpPr/>
          <p:nvPr/>
        </p:nvSpPr>
        <p:spPr>
          <a:xfrm>
            <a:off x="141224" y="908720"/>
            <a:ext cx="8712968" cy="4708981"/>
          </a:xfrm>
          <a:prstGeom prst="rect">
            <a:avLst/>
          </a:prstGeom>
        </p:spPr>
        <p:txBody>
          <a:bodyPr wrap="square">
            <a:spAutoFit/>
          </a:bodyPr>
          <a:lstStyle/>
          <a:p>
            <a:r>
              <a:rPr lang="ru-RU" sz="2000" dirty="0" smtClean="0"/>
              <a:t>Программирование  </a:t>
            </a:r>
            <a:r>
              <a:rPr lang="ru-RU" sz="2000" dirty="0"/>
              <a:t>перемычками  </a:t>
            </a:r>
            <a:r>
              <a:rPr lang="ru-RU" sz="2000" dirty="0" err="1"/>
              <a:t>antifuse</a:t>
            </a:r>
            <a:r>
              <a:rPr lang="ru-RU" sz="2000" dirty="0"/>
              <a:t> </a:t>
            </a:r>
            <a:r>
              <a:rPr lang="ru-RU" sz="2000" dirty="0" smtClean="0"/>
              <a:t>является  </a:t>
            </a:r>
            <a:r>
              <a:rPr lang="ru-RU" sz="2000" dirty="0"/>
              <a:t>однократным.  В  этом  заключается  основное  </a:t>
            </a:r>
            <a:r>
              <a:rPr lang="ru-RU" sz="2000" dirty="0" smtClean="0"/>
              <a:t>ограничение  </a:t>
            </a:r>
            <a:r>
              <a:rPr lang="ru-RU" sz="2000" dirty="0"/>
              <a:t>на  область  применения  схем  с  перемычками. </a:t>
            </a:r>
            <a:endParaRPr lang="en-US" sz="2000" dirty="0" smtClean="0"/>
          </a:p>
          <a:p>
            <a:r>
              <a:rPr lang="en-US" sz="2000" dirty="0" smtClean="0"/>
              <a:t>	</a:t>
            </a:r>
            <a:r>
              <a:rPr lang="ru-RU" sz="2000" dirty="0" smtClean="0"/>
              <a:t>Перемычка  </a:t>
            </a:r>
            <a:r>
              <a:rPr lang="ru-RU" sz="2000" dirty="0"/>
              <a:t>образована </a:t>
            </a:r>
            <a:r>
              <a:rPr lang="ru-RU" sz="2000" dirty="0" smtClean="0"/>
              <a:t>слоями </a:t>
            </a:r>
            <a:r>
              <a:rPr lang="en-US" sz="2000" dirty="0" smtClean="0"/>
              <a:t> </a:t>
            </a:r>
            <a:r>
              <a:rPr lang="ru-RU" sz="2000" dirty="0" smtClean="0"/>
              <a:t>"</a:t>
            </a:r>
            <a:r>
              <a:rPr lang="ru-RU" sz="2000" dirty="0" err="1" smtClean="0"/>
              <a:t>поликремний</a:t>
            </a:r>
            <a:r>
              <a:rPr lang="ru-RU" sz="2000" dirty="0" smtClean="0"/>
              <a:t>  </a:t>
            </a:r>
            <a:r>
              <a:rPr lang="ru-RU" sz="2000" dirty="0"/>
              <a:t>—диэлектрик"  и  помещена  между  проводящими  дорожками </a:t>
            </a:r>
            <a:r>
              <a:rPr lang="en-US" sz="2000" dirty="0" smtClean="0"/>
              <a:t> </a:t>
            </a:r>
            <a:r>
              <a:rPr lang="ru-RU" sz="2000" dirty="0" smtClean="0"/>
              <a:t>металлизации  </a:t>
            </a:r>
            <a:r>
              <a:rPr lang="ru-RU" sz="2000" dirty="0"/>
              <a:t>с  включением  специального  вольфрамового  электрода. </a:t>
            </a:r>
            <a:r>
              <a:rPr lang="ru-RU" sz="2000" dirty="0" smtClean="0"/>
              <a:t>Программирующий  </a:t>
            </a:r>
            <a:r>
              <a:rPr lang="ru-RU" sz="2000" dirty="0"/>
              <a:t>импульс  напряжения  пробивает  перемычку  и  создает  в  ней </a:t>
            </a:r>
            <a:r>
              <a:rPr lang="en-US" sz="2000" dirty="0" smtClean="0"/>
              <a:t> </a:t>
            </a:r>
            <a:r>
              <a:rPr lang="ru-RU" sz="2000" dirty="0" smtClean="0"/>
              <a:t>проводящий  </a:t>
            </a:r>
            <a:r>
              <a:rPr lang="ru-RU" sz="2000" dirty="0"/>
              <a:t>канал.  Сопротивление  запрограммированной  перемычки  мало  (</a:t>
            </a:r>
            <a:r>
              <a:rPr lang="ru-RU" sz="2000" dirty="0" smtClean="0"/>
              <a:t>приблизительно  </a:t>
            </a:r>
            <a:r>
              <a:rPr lang="ru-RU" sz="2000" dirty="0"/>
              <a:t>25  Ом).  Малые  сопротивления  и  емкости  перемычек  положительно </a:t>
            </a:r>
            <a:r>
              <a:rPr lang="en-US" sz="2000" dirty="0" smtClean="0"/>
              <a:t> </a:t>
            </a:r>
            <a:r>
              <a:rPr lang="ru-RU" sz="2000" dirty="0" smtClean="0"/>
              <a:t>влияют  </a:t>
            </a:r>
            <a:r>
              <a:rPr lang="ru-RU" sz="2000" dirty="0"/>
              <a:t>на  скорость  распространения  сигналов  в  программируемых  связях.  Схемы  </a:t>
            </a:r>
            <a:r>
              <a:rPr lang="ru-RU" sz="2000" dirty="0" smtClean="0"/>
              <a:t>с</a:t>
            </a:r>
            <a:r>
              <a:rPr lang="en-US" sz="2000" dirty="0" smtClean="0"/>
              <a:t> </a:t>
            </a:r>
            <a:r>
              <a:rPr lang="ru-RU" sz="2000" dirty="0" smtClean="0"/>
              <a:t>перемычками  </a:t>
            </a:r>
            <a:r>
              <a:rPr lang="ru-RU" sz="2000" dirty="0"/>
              <a:t>обладают  компактностью,  повышенной  радиационной  стойкостью, </a:t>
            </a:r>
            <a:r>
              <a:rPr lang="en-US" sz="2000" dirty="0" smtClean="0"/>
              <a:t> </a:t>
            </a:r>
            <a:r>
              <a:rPr lang="ru-RU" sz="2000" dirty="0" smtClean="0"/>
              <a:t>надежностью  </a:t>
            </a:r>
            <a:r>
              <a:rPr lang="ru-RU" sz="2000" dirty="0"/>
              <a:t>и  невысокой  стоимостью.  Поскольку  перемычки  включаются  между </a:t>
            </a:r>
            <a:r>
              <a:rPr lang="en-US" sz="2000" dirty="0" smtClean="0"/>
              <a:t> </a:t>
            </a:r>
            <a:r>
              <a:rPr lang="ru-RU" sz="2000" dirty="0" smtClean="0"/>
              <a:t>металлическими  </a:t>
            </a:r>
            <a:r>
              <a:rPr lang="ru-RU" sz="2000" dirty="0"/>
              <a:t>проводниками,  их  размещают  не  в  одной  плоскости  с  </a:t>
            </a:r>
            <a:r>
              <a:rPr lang="ru-RU" sz="2000" dirty="0" smtClean="0"/>
              <a:t>логическими</a:t>
            </a:r>
            <a:r>
              <a:rPr lang="en-US" sz="2000" dirty="0" smtClean="0"/>
              <a:t> </a:t>
            </a:r>
            <a:r>
              <a:rPr lang="ru-RU" sz="2000" dirty="0" smtClean="0"/>
              <a:t>схемами</a:t>
            </a:r>
            <a:r>
              <a:rPr lang="en-US" sz="2000" dirty="0" smtClean="0"/>
              <a:t> </a:t>
            </a:r>
            <a:r>
              <a:rPr lang="ru-RU" sz="2000" dirty="0" smtClean="0"/>
              <a:t>,а  </a:t>
            </a:r>
            <a:r>
              <a:rPr lang="ru-RU" sz="2000" dirty="0"/>
              <a:t>над  ними,  экономя  таким  образом  площадь  кристалла. </a:t>
            </a:r>
          </a:p>
        </p:txBody>
      </p:sp>
    </p:spTree>
    <p:extLst>
      <p:ext uri="{BB962C8B-B14F-4D97-AF65-F5344CB8AC3E}">
        <p14:creationId xmlns:p14="http://schemas.microsoft.com/office/powerpoint/2010/main" val="79523465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95536" y="1628800"/>
            <a:ext cx="8070879" cy="32537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2699792" y="332656"/>
            <a:ext cx="3822906" cy="400110"/>
          </a:xfrm>
          <a:prstGeom prst="rect">
            <a:avLst/>
          </a:prstGeom>
        </p:spPr>
        <p:txBody>
          <a:bodyPr wrap="none">
            <a:spAutoFit/>
          </a:bodyPr>
          <a:lstStyle/>
          <a:p>
            <a:r>
              <a:rPr lang="ru-RU" sz="2000" b="1" dirty="0" smtClean="0">
                <a:solidFill>
                  <a:srgbClr val="FF0000"/>
                </a:solidFill>
              </a:rPr>
              <a:t>Схема перемычки  </a:t>
            </a:r>
            <a:r>
              <a:rPr lang="ru-RU" sz="2000" b="1" dirty="0">
                <a:solidFill>
                  <a:srgbClr val="FF0000"/>
                </a:solidFill>
              </a:rPr>
              <a:t>типа  </a:t>
            </a:r>
            <a:r>
              <a:rPr lang="ru-RU" sz="2000" b="1" dirty="0" err="1" smtClean="0">
                <a:solidFill>
                  <a:srgbClr val="FF0000"/>
                </a:solidFill>
              </a:rPr>
              <a:t>antifuse</a:t>
            </a:r>
            <a:endParaRPr lang="ru-RU" sz="2000" b="1" dirty="0">
              <a:solidFill>
                <a:srgbClr val="FF0000"/>
              </a:solidFill>
            </a:endParaRPr>
          </a:p>
        </p:txBody>
      </p:sp>
    </p:spTree>
    <p:extLst>
      <p:ext uri="{BB962C8B-B14F-4D97-AF65-F5344CB8AC3E}">
        <p14:creationId xmlns:p14="http://schemas.microsoft.com/office/powerpoint/2010/main" val="356021645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47664" y="396245"/>
            <a:ext cx="6984776" cy="369332"/>
          </a:xfrm>
          <a:prstGeom prst="rect">
            <a:avLst/>
          </a:prstGeom>
        </p:spPr>
        <p:txBody>
          <a:bodyPr wrap="square">
            <a:spAutoFit/>
          </a:bodyPr>
          <a:lstStyle/>
          <a:p>
            <a:r>
              <a:rPr lang="ru-RU" b="1" dirty="0">
                <a:solidFill>
                  <a:srgbClr val="FF0000"/>
                </a:solidFill>
              </a:rPr>
              <a:t>Ключевые  транзисторы,  управляемые  триггерами</a:t>
            </a:r>
          </a:p>
        </p:txBody>
      </p:sp>
      <p:pic>
        <p:nvPicPr>
          <p:cNvPr id="4710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72777" y="3140968"/>
            <a:ext cx="7283305" cy="3210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186636" y="908720"/>
            <a:ext cx="8849860" cy="2031325"/>
          </a:xfrm>
          <a:prstGeom prst="rect">
            <a:avLst/>
          </a:prstGeom>
        </p:spPr>
        <p:txBody>
          <a:bodyPr wrap="square">
            <a:spAutoFit/>
          </a:bodyPr>
          <a:lstStyle/>
          <a:p>
            <a:r>
              <a:rPr lang="ru-RU" dirty="0"/>
              <a:t>При  программировании  на  линию  выборки  подается  высокий  потенциал,  и  </a:t>
            </a:r>
            <a:r>
              <a:rPr lang="ru-RU" dirty="0" err="1"/>
              <a:t>транзи</a:t>
            </a:r>
            <a:r>
              <a:rPr lang="ru-RU" dirty="0"/>
              <a:t>-</a:t>
            </a:r>
          </a:p>
          <a:p>
            <a:r>
              <a:rPr lang="ru-RU" dirty="0" err="1"/>
              <a:t>стор</a:t>
            </a:r>
            <a:r>
              <a:rPr lang="ru-RU" dirty="0"/>
              <a:t>  </a:t>
            </a:r>
            <a:r>
              <a:rPr lang="ru-RU" dirty="0" smtClean="0"/>
              <a:t>Т1  </a:t>
            </a:r>
            <a:r>
              <a:rPr lang="ru-RU" dirty="0"/>
              <a:t>включается.  С  линии  записи-чтения  подается  сигнал,  устанавливающий </a:t>
            </a:r>
          </a:p>
          <a:p>
            <a:r>
              <a:rPr lang="ru-RU" dirty="0"/>
              <a:t>триггер  в  состояние  логической  " 1 ",  что  замкнет  ключ,  или  "0",  что  разомкнет </a:t>
            </a:r>
          </a:p>
          <a:p>
            <a:r>
              <a:rPr lang="ru-RU" dirty="0"/>
              <a:t>ключ.  В  рабочем  режиме  транзистор  Т 1  заперт  и  триггер  сохраняет  неизменное  </a:t>
            </a:r>
            <a:r>
              <a:rPr lang="ru-RU" dirty="0" smtClean="0"/>
              <a:t>состояние</a:t>
            </a:r>
            <a:r>
              <a:rPr lang="ru-RU" dirty="0"/>
              <a:t>.  Совокупность  триггеров  памяти  конфигурации  называют  теневым  ЗУ. </a:t>
            </a:r>
          </a:p>
          <a:p>
            <a:r>
              <a:rPr lang="ru-RU" dirty="0"/>
              <a:t>Поскольку  триггерная  память  имеет  название  SRAM,  микросхемы  с  такой  памятью </a:t>
            </a:r>
          </a:p>
          <a:p>
            <a:r>
              <a:rPr lang="ru-RU" dirty="0"/>
              <a:t>конфигурации  называют  схемами  SRAM-</a:t>
            </a:r>
            <a:r>
              <a:rPr lang="ru-RU" dirty="0" err="1"/>
              <a:t>based</a:t>
            </a:r>
            <a:r>
              <a:rPr lang="ru-RU" dirty="0"/>
              <a:t>). </a:t>
            </a:r>
          </a:p>
        </p:txBody>
      </p:sp>
    </p:spTree>
    <p:extLst>
      <p:ext uri="{BB962C8B-B14F-4D97-AF65-F5344CB8AC3E}">
        <p14:creationId xmlns:p14="http://schemas.microsoft.com/office/powerpoint/2010/main" val="12822073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260648"/>
            <a:ext cx="9144000" cy="5940088"/>
          </a:xfrm>
          <a:prstGeom prst="rect">
            <a:avLst/>
          </a:prstGeom>
        </p:spPr>
        <p:txBody>
          <a:bodyPr wrap="square">
            <a:spAutoFit/>
          </a:bodyPr>
          <a:lstStyle/>
          <a:p>
            <a:r>
              <a:rPr lang="ru-RU" sz="2000" dirty="0"/>
              <a:t>Триггеры  памяти  конфигурации  распределены  по  кристаллу  вперемежку  с  </a:t>
            </a:r>
            <a:r>
              <a:rPr lang="ru-RU" sz="2000" dirty="0" smtClean="0"/>
              <a:t>элементами  схемы,  </a:t>
            </a:r>
            <a:r>
              <a:rPr lang="en-US" sz="2000" dirty="0" smtClean="0"/>
              <a:t> </a:t>
            </a:r>
            <a:r>
              <a:rPr lang="ru-RU" sz="2000" dirty="0" smtClean="0"/>
              <a:t>которые  </a:t>
            </a:r>
            <a:r>
              <a:rPr lang="ru-RU" sz="2000" dirty="0"/>
              <a:t>они  конфигурируют.  </a:t>
            </a:r>
            <a:endParaRPr lang="ru-RU" sz="2000" dirty="0" smtClean="0"/>
          </a:p>
          <a:p>
            <a:endParaRPr lang="ru-RU" sz="2000" dirty="0" smtClean="0"/>
          </a:p>
          <a:p>
            <a:r>
              <a:rPr lang="ru-RU" sz="2000" dirty="0" smtClean="0"/>
              <a:t>Режим  </a:t>
            </a:r>
            <a:r>
              <a:rPr lang="ru-RU" sz="2000" dirty="0"/>
              <a:t>программирования  </a:t>
            </a:r>
            <a:r>
              <a:rPr lang="ru-RU" sz="2000" dirty="0" smtClean="0"/>
              <a:t>сводится  </a:t>
            </a:r>
            <a:r>
              <a:rPr lang="ru-RU" sz="2000" dirty="0"/>
              <a:t>к  простой  записи  кодовой </a:t>
            </a:r>
            <a:r>
              <a:rPr lang="ru-RU" sz="2000" dirty="0" smtClean="0"/>
              <a:t> последовательности  </a:t>
            </a:r>
            <a:r>
              <a:rPr lang="ru-RU" sz="2000" dirty="0"/>
              <a:t>в  цепочку  триггеров.  </a:t>
            </a:r>
          </a:p>
          <a:p>
            <a:r>
              <a:rPr lang="ru-RU" sz="2000" dirty="0" smtClean="0"/>
              <a:t>Стирание  </a:t>
            </a:r>
            <a:r>
              <a:rPr lang="ru-RU" sz="2000" dirty="0"/>
              <a:t>информации  — </a:t>
            </a:r>
            <a:r>
              <a:rPr lang="ru-RU" sz="2000" dirty="0" smtClean="0"/>
              <a:t>  </a:t>
            </a:r>
            <a:r>
              <a:rPr lang="ru-RU" sz="2000" dirty="0"/>
              <a:t>сброс </a:t>
            </a:r>
            <a:r>
              <a:rPr lang="ru-RU" sz="2000" dirty="0" smtClean="0"/>
              <a:t>триггеров</a:t>
            </a:r>
            <a:r>
              <a:rPr lang="ru-RU" sz="2000" dirty="0"/>
              <a:t>. </a:t>
            </a:r>
            <a:endParaRPr lang="ru-RU" sz="2000" dirty="0" smtClean="0"/>
          </a:p>
          <a:p>
            <a:endParaRPr lang="ru-RU" sz="2000" dirty="0" smtClean="0"/>
          </a:p>
          <a:p>
            <a:r>
              <a:rPr lang="ru-RU" sz="2000" dirty="0" smtClean="0"/>
              <a:t>Схема  </a:t>
            </a:r>
            <a:r>
              <a:rPr lang="ru-RU" sz="2000" dirty="0"/>
              <a:t>"триггер  </a:t>
            </a:r>
            <a:r>
              <a:rPr lang="ru-RU" sz="2000" dirty="0" smtClean="0"/>
              <a:t>плюс  </a:t>
            </a:r>
            <a:r>
              <a:rPr lang="ru-RU" sz="2000" dirty="0"/>
              <a:t>ключ"  значительно  сложнее  элементов  </a:t>
            </a:r>
            <a:r>
              <a:rPr lang="ru-RU" sz="2000" dirty="0" err="1"/>
              <a:t>antifuse</a:t>
            </a:r>
            <a:r>
              <a:rPr lang="ru-RU" sz="2000" dirty="0"/>
              <a:t>  и  </a:t>
            </a:r>
            <a:r>
              <a:rPr lang="ru-RU" sz="2000" dirty="0" smtClean="0"/>
              <a:t>транзисторов  </a:t>
            </a:r>
            <a:r>
              <a:rPr lang="ru-RU" sz="2000" dirty="0"/>
              <a:t>с  плавающим  затвором. </a:t>
            </a:r>
            <a:r>
              <a:rPr lang="ru-RU" sz="2000" dirty="0" smtClean="0"/>
              <a:t> Однако сложность  </a:t>
            </a:r>
            <a:r>
              <a:rPr lang="ru-RU" sz="2000" dirty="0"/>
              <a:t>компенсируется  технологической  </a:t>
            </a:r>
            <a:r>
              <a:rPr lang="ru-RU" sz="2000" dirty="0" smtClean="0"/>
              <a:t>однородностью  </a:t>
            </a:r>
            <a:r>
              <a:rPr lang="ru-RU" sz="2000" dirty="0"/>
              <a:t>с  другими  схемами  кристалла  (логикой,  </a:t>
            </a:r>
            <a:r>
              <a:rPr lang="ru-RU" sz="2000" dirty="0" smtClean="0"/>
              <a:t>регистрами).   </a:t>
            </a:r>
          </a:p>
          <a:p>
            <a:endParaRPr lang="ru-RU" sz="2000" dirty="0" smtClean="0"/>
          </a:p>
          <a:p>
            <a:r>
              <a:rPr lang="ru-RU" sz="2000" dirty="0" smtClean="0"/>
              <a:t>Программирование  </a:t>
            </a:r>
            <a:r>
              <a:rPr lang="ru-RU" sz="2000" dirty="0"/>
              <a:t>(загрузка  памяти  конфигурации)  может  производиться  </a:t>
            </a:r>
            <a:r>
              <a:rPr lang="ru-RU" sz="2000" dirty="0" smtClean="0"/>
              <a:t>неограниченное  </a:t>
            </a:r>
            <a:r>
              <a:rPr lang="ru-RU" sz="2000" dirty="0"/>
              <a:t>число  раз.  </a:t>
            </a:r>
            <a:endParaRPr lang="ru-RU" sz="2000" dirty="0" smtClean="0"/>
          </a:p>
          <a:p>
            <a:endParaRPr lang="ru-RU" sz="2000" dirty="0" smtClean="0"/>
          </a:p>
          <a:p>
            <a:r>
              <a:rPr lang="ru-RU" sz="2000" dirty="0" smtClean="0"/>
              <a:t>Конфигурация</a:t>
            </a:r>
            <a:r>
              <a:rPr lang="ru-RU" sz="2000" dirty="0"/>
              <a:t>,  хранимая  в  триггерной  памяти,  разрушается </a:t>
            </a:r>
            <a:r>
              <a:rPr lang="ru-RU" sz="2000" dirty="0" smtClean="0"/>
              <a:t>при  </a:t>
            </a:r>
            <a:r>
              <a:rPr lang="ru-RU" sz="2000" dirty="0"/>
              <a:t>каждом  выключении  питания.  При  включении  питания  необходим  </a:t>
            </a:r>
            <a:r>
              <a:rPr lang="ru-RU" sz="2000" dirty="0" smtClean="0"/>
              <a:t>процесс  программирования  </a:t>
            </a:r>
            <a:r>
              <a:rPr lang="ru-RU" sz="2000" dirty="0"/>
              <a:t>(инициализации,  конфигурирования)  схемы  —  загрузка  данных </a:t>
            </a:r>
            <a:r>
              <a:rPr lang="ru-RU" sz="2000" dirty="0" smtClean="0"/>
              <a:t>конфигурации  </a:t>
            </a:r>
            <a:r>
              <a:rPr lang="ru-RU" sz="2000" dirty="0"/>
              <a:t>из  какой-либо  энергонезависимой  памяти. </a:t>
            </a:r>
          </a:p>
        </p:txBody>
      </p:sp>
    </p:spTree>
    <p:extLst>
      <p:ext uri="{BB962C8B-B14F-4D97-AF65-F5344CB8AC3E}">
        <p14:creationId xmlns:p14="http://schemas.microsoft.com/office/powerpoint/2010/main" val="94984616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707904" y="260648"/>
            <a:ext cx="1602042" cy="400110"/>
          </a:xfrm>
          <a:prstGeom prst="rect">
            <a:avLst/>
          </a:prstGeom>
        </p:spPr>
        <p:txBody>
          <a:bodyPr wrap="none">
            <a:spAutoFit/>
          </a:bodyPr>
          <a:lstStyle/>
          <a:p>
            <a:r>
              <a:rPr lang="ru-RU" sz="2000" b="1" dirty="0">
                <a:solidFill>
                  <a:srgbClr val="FF0000"/>
                </a:solidFill>
              </a:rPr>
              <a:t>Флэш-ключи</a:t>
            </a:r>
          </a:p>
        </p:txBody>
      </p:sp>
      <p:pic>
        <p:nvPicPr>
          <p:cNvPr id="4813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483768" y="2492896"/>
            <a:ext cx="4466034" cy="3918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179512" y="647685"/>
            <a:ext cx="8784975" cy="1631216"/>
          </a:xfrm>
          <a:prstGeom prst="rect">
            <a:avLst/>
          </a:prstGeom>
        </p:spPr>
        <p:txBody>
          <a:bodyPr wrap="square">
            <a:spAutoFit/>
          </a:bodyPr>
          <a:lstStyle/>
          <a:p>
            <a:r>
              <a:rPr lang="ru-RU" sz="2000" dirty="0"/>
              <a:t>Левый  транзистор </a:t>
            </a:r>
            <a:r>
              <a:rPr lang="ru-RU" sz="2000" dirty="0" smtClean="0"/>
              <a:t> используется  </a:t>
            </a:r>
            <a:r>
              <a:rPr lang="ru-RU" sz="2000" dirty="0"/>
              <a:t>только  для  программирования  ключа  и  чтения  его  состояния.  Правый </a:t>
            </a:r>
            <a:r>
              <a:rPr lang="ru-RU" sz="2000" dirty="0" smtClean="0"/>
              <a:t> транзистор  </a:t>
            </a:r>
            <a:r>
              <a:rPr lang="ru-RU" sz="2000" dirty="0"/>
              <a:t>программирует  участок </a:t>
            </a:r>
            <a:r>
              <a:rPr lang="ru-RU" sz="2000" dirty="0" smtClean="0"/>
              <a:t> «a-b» ,  </a:t>
            </a:r>
            <a:endParaRPr lang="ru-RU" sz="2000" dirty="0"/>
          </a:p>
          <a:p>
            <a:r>
              <a:rPr lang="ru-RU" sz="2000" dirty="0"/>
              <a:t>поскольку  является  ключом,  которому </a:t>
            </a:r>
            <a:r>
              <a:rPr lang="ru-RU" sz="2000" dirty="0" smtClean="0"/>
              <a:t> передается  </a:t>
            </a:r>
            <a:r>
              <a:rPr lang="ru-RU" sz="2000" dirty="0"/>
              <a:t>состояние  левого  транзистора  в  силу  общности  плавающего  затвора  для </a:t>
            </a:r>
            <a:r>
              <a:rPr lang="ru-RU" sz="2000" dirty="0" smtClean="0"/>
              <a:t> обоих  </a:t>
            </a:r>
            <a:r>
              <a:rPr lang="ru-RU" sz="2000" dirty="0"/>
              <a:t>транзисторов. </a:t>
            </a:r>
          </a:p>
        </p:txBody>
      </p:sp>
    </p:spTree>
    <p:extLst>
      <p:ext uri="{BB962C8B-B14F-4D97-AF65-F5344CB8AC3E}">
        <p14:creationId xmlns:p14="http://schemas.microsoft.com/office/powerpoint/2010/main" val="319487578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27784" y="332656"/>
            <a:ext cx="4585551" cy="400110"/>
          </a:xfrm>
          <a:prstGeom prst="rect">
            <a:avLst/>
          </a:prstGeom>
        </p:spPr>
        <p:txBody>
          <a:bodyPr wrap="none">
            <a:spAutoFit/>
          </a:bodyPr>
          <a:lstStyle/>
          <a:p>
            <a:r>
              <a:rPr lang="ru-RU" sz="2000" b="1" dirty="0">
                <a:solidFill>
                  <a:srgbClr val="FF0000"/>
                </a:solidFill>
              </a:rPr>
              <a:t>Архитектура  и  </a:t>
            </a:r>
            <a:r>
              <a:rPr lang="ru-RU" sz="2000" b="1" dirty="0" smtClean="0">
                <a:solidFill>
                  <a:srgbClr val="FF0000"/>
                </a:solidFill>
              </a:rPr>
              <a:t>основные  </a:t>
            </a:r>
            <a:r>
              <a:rPr lang="ru-RU" sz="2000" b="1" dirty="0">
                <a:solidFill>
                  <a:srgbClr val="FF0000"/>
                </a:solidFill>
              </a:rPr>
              <a:t>блоки  FPGA </a:t>
            </a:r>
          </a:p>
        </p:txBody>
      </p:sp>
      <p:sp>
        <p:nvSpPr>
          <p:cNvPr id="5" name="Прямоугольник 4"/>
          <p:cNvSpPr/>
          <p:nvPr/>
        </p:nvSpPr>
        <p:spPr>
          <a:xfrm>
            <a:off x="3734657" y="732766"/>
            <a:ext cx="2371803" cy="369332"/>
          </a:xfrm>
          <a:prstGeom prst="rect">
            <a:avLst/>
          </a:prstGeom>
        </p:spPr>
        <p:txBody>
          <a:bodyPr wrap="none">
            <a:spAutoFit/>
          </a:bodyPr>
          <a:lstStyle/>
          <a:p>
            <a:r>
              <a:rPr lang="ru-RU" b="1" dirty="0"/>
              <a:t>Базовая  архитектура </a:t>
            </a:r>
          </a:p>
        </p:txBody>
      </p:sp>
      <p:sp>
        <p:nvSpPr>
          <p:cNvPr id="6" name="Прямоугольник 5"/>
          <p:cNvSpPr/>
          <p:nvPr/>
        </p:nvSpPr>
        <p:spPr>
          <a:xfrm>
            <a:off x="61982" y="1245477"/>
            <a:ext cx="8928992" cy="5324535"/>
          </a:xfrm>
          <a:prstGeom prst="rect">
            <a:avLst/>
          </a:prstGeom>
        </p:spPr>
        <p:txBody>
          <a:bodyPr wrap="square">
            <a:spAutoFit/>
          </a:bodyPr>
          <a:lstStyle/>
          <a:p>
            <a:r>
              <a:rPr lang="ru-RU" sz="2000" dirty="0"/>
              <a:t>Во  внутренней  области  FPGA  базовой  архитектуры  по  строкам  и  столбцам  </a:t>
            </a:r>
            <a:r>
              <a:rPr lang="ru-RU" sz="2000" dirty="0" smtClean="0"/>
              <a:t>размещаются  </a:t>
            </a:r>
            <a:r>
              <a:rPr lang="ru-RU" sz="2000" dirty="0"/>
              <a:t>идентичные  функциональные  блоки  ФБ  (</a:t>
            </a:r>
            <a:r>
              <a:rPr lang="ru-RU" sz="2000" dirty="0" smtClean="0"/>
              <a:t>КЛБ,</a:t>
            </a:r>
            <a:r>
              <a:rPr lang="en-US" sz="2000" dirty="0" smtClean="0"/>
              <a:t> </a:t>
            </a:r>
            <a:r>
              <a:rPr lang="ru-RU" sz="2000" dirty="0" smtClean="0"/>
              <a:t>конфигурируемые  логические  </a:t>
            </a:r>
            <a:r>
              <a:rPr lang="ru-RU" sz="2000" dirty="0"/>
              <a:t>блоки),  между  которыми  проходят  трассы  </a:t>
            </a:r>
            <a:r>
              <a:rPr lang="ru-RU" sz="2000" dirty="0" err="1"/>
              <a:t>межсоединений</a:t>
            </a:r>
            <a:r>
              <a:rPr lang="ru-RU" sz="2000" dirty="0"/>
              <a:t>.  </a:t>
            </a:r>
            <a:r>
              <a:rPr lang="en-US" sz="2000" dirty="0"/>
              <a:t> </a:t>
            </a:r>
            <a:r>
              <a:rPr lang="ru-RU" sz="2000" dirty="0" smtClean="0"/>
              <a:t>На  </a:t>
            </a:r>
            <a:r>
              <a:rPr lang="ru-RU" sz="2000" dirty="0"/>
              <a:t>периферии </a:t>
            </a:r>
            <a:r>
              <a:rPr lang="ru-RU" sz="2000" dirty="0" smtClean="0"/>
              <a:t>кристалла  </a:t>
            </a:r>
            <a:r>
              <a:rPr lang="ru-RU" sz="2000" dirty="0"/>
              <a:t>расположены  блоки  ввода/вывода  БВВ. </a:t>
            </a:r>
            <a:endParaRPr lang="ru-RU" sz="2000" dirty="0" smtClean="0"/>
          </a:p>
          <a:p>
            <a:endParaRPr lang="ru-RU" sz="2000" dirty="0"/>
          </a:p>
          <a:p>
            <a:r>
              <a:rPr lang="ru-RU" sz="2000" dirty="0" smtClean="0"/>
              <a:t> </a:t>
            </a:r>
            <a:r>
              <a:rPr lang="ru-RU" sz="2000" dirty="0"/>
              <a:t>Для  </a:t>
            </a:r>
            <a:r>
              <a:rPr lang="ru-RU" sz="2000" b="1" dirty="0"/>
              <a:t>первого  поколения  </a:t>
            </a:r>
            <a:r>
              <a:rPr lang="ru-RU" sz="2000" dirty="0" smtClean="0"/>
              <a:t>перечисленные  </a:t>
            </a:r>
            <a:r>
              <a:rPr lang="ru-RU" sz="2000" dirty="0"/>
              <a:t>части  составляли  по  существу  всю  схему  FPGA.  В  последующем  </a:t>
            </a:r>
            <a:r>
              <a:rPr lang="ru-RU" sz="2000" dirty="0" smtClean="0"/>
              <a:t>архитектура  </a:t>
            </a:r>
            <a:r>
              <a:rPr lang="ru-RU" sz="2000" dirty="0"/>
              <a:t>FPGA  усложнилась,  и  в  ее  составе  появились  дополнительные  </a:t>
            </a:r>
            <a:r>
              <a:rPr lang="ru-RU" sz="2000" dirty="0" smtClean="0"/>
              <a:t>функциональные  ресурсы</a:t>
            </a:r>
            <a:r>
              <a:rPr lang="en-US" sz="2000" dirty="0" smtClean="0"/>
              <a:t>:</a:t>
            </a:r>
            <a:endParaRPr lang="ru-RU" sz="2000" dirty="0" smtClean="0"/>
          </a:p>
          <a:p>
            <a:pPr marL="342900" indent="-342900">
              <a:buFont typeface="Arial" panose="020B0604020202020204" pitchFamily="34" charset="0"/>
              <a:buChar char="•"/>
            </a:pPr>
            <a:r>
              <a:rPr lang="ru-RU" sz="2000" dirty="0" smtClean="0"/>
              <a:t>встроенные  </a:t>
            </a:r>
            <a:r>
              <a:rPr lang="ru-RU" sz="2000" dirty="0"/>
              <a:t>блоки </a:t>
            </a:r>
            <a:r>
              <a:rPr lang="ru-RU" sz="2000" dirty="0" smtClean="0"/>
              <a:t>памяти </a:t>
            </a:r>
          </a:p>
          <a:p>
            <a:pPr marL="342900" indent="-342900">
              <a:buFont typeface="Arial" panose="020B0604020202020204" pitchFamily="34" charset="0"/>
              <a:buChar char="•"/>
            </a:pPr>
            <a:r>
              <a:rPr lang="ru-RU" sz="2000" dirty="0" smtClean="0"/>
              <a:t>умножители</a:t>
            </a:r>
            <a:r>
              <a:rPr lang="ru-RU" sz="2000" dirty="0"/>
              <a:t>. </a:t>
            </a:r>
            <a:endParaRPr lang="ru-RU" sz="2000" dirty="0" smtClean="0"/>
          </a:p>
          <a:p>
            <a:pPr marL="342900" indent="-342900">
              <a:buFont typeface="Arial" panose="020B0604020202020204" pitchFamily="34" charset="0"/>
              <a:buChar char="•"/>
            </a:pPr>
            <a:r>
              <a:rPr lang="ru-RU" sz="2000" dirty="0" smtClean="0"/>
              <a:t>системы  тактирования</a:t>
            </a:r>
          </a:p>
          <a:p>
            <a:pPr marL="342900" indent="-342900">
              <a:buFont typeface="Arial" panose="020B0604020202020204" pitchFamily="34" charset="0"/>
              <a:buChar char="•"/>
            </a:pPr>
            <a:r>
              <a:rPr lang="ru-RU" sz="2000" dirty="0" smtClean="0"/>
              <a:t>средства  </a:t>
            </a:r>
            <a:r>
              <a:rPr lang="ru-RU" sz="2000" dirty="0"/>
              <a:t>для </a:t>
            </a:r>
            <a:r>
              <a:rPr lang="ru-RU" sz="2000" dirty="0" smtClean="0"/>
              <a:t>поддержки  </a:t>
            </a:r>
            <a:r>
              <a:rPr lang="ru-RU" sz="2000" dirty="0"/>
              <a:t>интерфейса  </a:t>
            </a:r>
            <a:r>
              <a:rPr lang="ru-RU" sz="2000" dirty="0" smtClean="0"/>
              <a:t>JTAG </a:t>
            </a:r>
          </a:p>
          <a:p>
            <a:pPr marL="342900" indent="-342900">
              <a:buFont typeface="Arial" panose="020B0604020202020204" pitchFamily="34" charset="0"/>
              <a:buChar char="•"/>
            </a:pPr>
            <a:r>
              <a:rPr lang="ru-RU" sz="2000" dirty="0" smtClean="0"/>
              <a:t>схемы генерации  </a:t>
            </a:r>
            <a:r>
              <a:rPr lang="ru-RU" sz="2000" dirty="0"/>
              <a:t>тактовых  </a:t>
            </a:r>
            <a:r>
              <a:rPr lang="ru-RU" sz="2000" dirty="0" smtClean="0"/>
              <a:t>сигналов   </a:t>
            </a:r>
            <a:endParaRPr lang="ru-RU" sz="2000" dirty="0"/>
          </a:p>
          <a:p>
            <a:pPr marL="342900" indent="-342900">
              <a:buFont typeface="Arial" panose="020B0604020202020204" pitchFamily="34" charset="0"/>
              <a:buChar char="•"/>
            </a:pPr>
            <a:r>
              <a:rPr lang="ru-RU" sz="2000" dirty="0"/>
              <a:t>блоки  ЦОС  (цифровой  обработки  сигналов</a:t>
            </a:r>
            <a:r>
              <a:rPr lang="ru-RU" sz="2000" dirty="0" smtClean="0"/>
              <a:t>) </a:t>
            </a:r>
          </a:p>
          <a:p>
            <a:pPr marL="342900" indent="-342900">
              <a:buFont typeface="Arial" panose="020B0604020202020204" pitchFamily="34" charset="0"/>
              <a:buChar char="•"/>
            </a:pPr>
            <a:r>
              <a:rPr lang="ru-RU" sz="2000" dirty="0"/>
              <a:t>блоки  обработки  аналоговых  и  аналого-цифровых  </a:t>
            </a:r>
            <a:r>
              <a:rPr lang="ru-RU" sz="2000" dirty="0" smtClean="0"/>
              <a:t>данных </a:t>
            </a:r>
            <a:r>
              <a:rPr lang="ru-RU" sz="2000" dirty="0"/>
              <a:t>и  т.  д</a:t>
            </a:r>
          </a:p>
          <a:p>
            <a:endParaRPr lang="ru-RU" sz="2000" dirty="0"/>
          </a:p>
        </p:txBody>
      </p:sp>
    </p:spTree>
    <p:extLst>
      <p:ext uri="{BB962C8B-B14F-4D97-AF65-F5344CB8AC3E}">
        <p14:creationId xmlns:p14="http://schemas.microsoft.com/office/powerpoint/2010/main" val="70744696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751189" y="2708920"/>
            <a:ext cx="5392811" cy="400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31642" y="4005064"/>
            <a:ext cx="5616624" cy="2246769"/>
          </a:xfrm>
          <a:prstGeom prst="rect">
            <a:avLst/>
          </a:prstGeom>
        </p:spPr>
        <p:txBody>
          <a:bodyPr wrap="square">
            <a:spAutoFit/>
          </a:bodyPr>
          <a:lstStyle/>
          <a:p>
            <a:pPr marL="285750" indent="-285750">
              <a:buFont typeface="Arial" panose="020B0604020202020204" pitchFamily="34" charset="0"/>
              <a:buChar char="•"/>
            </a:pPr>
            <a:r>
              <a:rPr lang="ru-RU" sz="2000" dirty="0"/>
              <a:t>ФП </a:t>
            </a:r>
            <a:r>
              <a:rPr lang="en-US" sz="2000" dirty="0" smtClean="0"/>
              <a:t>-</a:t>
            </a:r>
            <a:r>
              <a:rPr lang="ru-RU" sz="2000" dirty="0" smtClean="0"/>
              <a:t>функциональный  </a:t>
            </a:r>
            <a:r>
              <a:rPr lang="ru-RU" sz="2000" dirty="0"/>
              <a:t>(логический)  преобразователь  </a:t>
            </a:r>
            <a:endParaRPr lang="ru-RU" sz="2000" dirty="0" smtClean="0"/>
          </a:p>
          <a:p>
            <a:pPr marL="285750" indent="-285750">
              <a:buFont typeface="Arial" panose="020B0604020202020204" pitchFamily="34" charset="0"/>
              <a:buChar char="•"/>
            </a:pPr>
            <a:r>
              <a:rPr lang="ru-RU" sz="2000" dirty="0" smtClean="0"/>
              <a:t>КЛБ-конфигурируемый логический </a:t>
            </a:r>
          </a:p>
          <a:p>
            <a:r>
              <a:rPr lang="ru-RU" sz="2000" dirty="0"/>
              <a:t> </a:t>
            </a:r>
            <a:r>
              <a:rPr lang="ru-RU" sz="2000" dirty="0" smtClean="0"/>
              <a:t>    блок</a:t>
            </a:r>
            <a:endParaRPr lang="ru-RU" sz="2000" dirty="0"/>
          </a:p>
          <a:p>
            <a:pPr marL="285750" indent="-285750">
              <a:buFont typeface="Arial" panose="020B0604020202020204" pitchFamily="34" charset="0"/>
              <a:buChar char="•"/>
            </a:pPr>
            <a:r>
              <a:rPr lang="ru-RU" sz="2000" dirty="0" smtClean="0"/>
              <a:t>RG</a:t>
            </a:r>
            <a:r>
              <a:rPr lang="en-US" sz="2000" dirty="0" smtClean="0"/>
              <a:t>- </a:t>
            </a:r>
            <a:r>
              <a:rPr lang="ru-RU" sz="2000" dirty="0" smtClean="0"/>
              <a:t>регистры (триггеры); </a:t>
            </a:r>
            <a:endParaRPr lang="ru-RU" sz="2000" dirty="0"/>
          </a:p>
          <a:p>
            <a:pPr marL="285750" indent="-285750">
              <a:buFont typeface="Arial" panose="020B0604020202020204" pitchFamily="34" charset="0"/>
              <a:buChar char="•"/>
            </a:pPr>
            <a:r>
              <a:rPr lang="ru-RU" sz="2000" dirty="0" err="1" smtClean="0"/>
              <a:t>MUXs</a:t>
            </a:r>
            <a:r>
              <a:rPr lang="ru-RU" sz="2000" dirty="0" smtClean="0"/>
              <a:t> -мультиплексоры (средство конфигурирования  ФБ). </a:t>
            </a:r>
            <a:endParaRPr lang="ru-RU" sz="2000" dirty="0"/>
          </a:p>
        </p:txBody>
      </p:sp>
      <p:sp>
        <p:nvSpPr>
          <p:cNvPr id="5" name="Прямоугольник 4"/>
          <p:cNvSpPr/>
          <p:nvPr/>
        </p:nvSpPr>
        <p:spPr>
          <a:xfrm>
            <a:off x="212129" y="310100"/>
            <a:ext cx="8981256" cy="1631216"/>
          </a:xfrm>
          <a:prstGeom prst="rect">
            <a:avLst/>
          </a:prstGeom>
        </p:spPr>
        <p:txBody>
          <a:bodyPr wrap="square">
            <a:spAutoFit/>
          </a:bodyPr>
          <a:lstStyle/>
          <a:p>
            <a:r>
              <a:rPr lang="ru-RU" sz="2000" dirty="0"/>
              <a:t>При  конфигурировании  FPGA  функциональные  (логические)  </a:t>
            </a:r>
            <a:r>
              <a:rPr lang="ru-RU" sz="2000" dirty="0" smtClean="0"/>
              <a:t>блоки настраиваются на  </a:t>
            </a:r>
            <a:r>
              <a:rPr lang="ru-RU" sz="2000" dirty="0"/>
              <a:t>выполнение  требуемых  операций,  а  система  соединений  —  на  требуемые  связи </a:t>
            </a:r>
            <a:r>
              <a:rPr lang="ru-RU" sz="2000" dirty="0" smtClean="0"/>
              <a:t>между  </a:t>
            </a:r>
            <a:r>
              <a:rPr lang="ru-RU" sz="2000" dirty="0"/>
              <a:t>элементами  и  блоками.  В  результате  в  </a:t>
            </a:r>
            <a:r>
              <a:rPr lang="ru-RU" sz="2000" dirty="0" smtClean="0"/>
              <a:t>FPGA реализуется  </a:t>
            </a:r>
            <a:r>
              <a:rPr lang="ru-RU" sz="2000" dirty="0"/>
              <a:t>схема  необходимой </a:t>
            </a:r>
            <a:r>
              <a:rPr lang="ru-RU" sz="2000" dirty="0" smtClean="0"/>
              <a:t>конфигурации</a:t>
            </a:r>
            <a:r>
              <a:rPr lang="ru-RU" sz="2000" dirty="0"/>
              <a:t>.  Блоки  ввода/вывода  связывают  FPGA  с  внешней  </a:t>
            </a:r>
            <a:r>
              <a:rPr lang="ru-RU" sz="2000" dirty="0" smtClean="0"/>
              <a:t>средой</a:t>
            </a:r>
            <a:endParaRPr lang="ru-RU" sz="2000" dirty="0"/>
          </a:p>
        </p:txBody>
      </p:sp>
    </p:spTree>
    <p:extLst>
      <p:ext uri="{BB962C8B-B14F-4D97-AF65-F5344CB8AC3E}">
        <p14:creationId xmlns:p14="http://schemas.microsoft.com/office/powerpoint/2010/main" val="7902247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27784" y="220927"/>
            <a:ext cx="4630370" cy="369332"/>
          </a:xfrm>
          <a:prstGeom prst="rect">
            <a:avLst/>
          </a:prstGeom>
        </p:spPr>
        <p:txBody>
          <a:bodyPr wrap="none">
            <a:spAutoFit/>
          </a:bodyPr>
          <a:lstStyle/>
          <a:p>
            <a:r>
              <a:rPr lang="ru-RU" b="1" dirty="0" smtClean="0">
                <a:solidFill>
                  <a:srgbClr val="FF0000"/>
                </a:solidFill>
              </a:rPr>
              <a:t>Конфигурируемые логические  </a:t>
            </a:r>
            <a:r>
              <a:rPr lang="ru-RU" b="1" dirty="0">
                <a:solidFill>
                  <a:srgbClr val="FF0000"/>
                </a:solidFill>
              </a:rPr>
              <a:t>блоки </a:t>
            </a:r>
            <a:r>
              <a:rPr lang="ru-RU" b="1" dirty="0" smtClean="0">
                <a:solidFill>
                  <a:srgbClr val="FF0000"/>
                </a:solidFill>
              </a:rPr>
              <a:t> (КЛБ)</a:t>
            </a:r>
            <a:endParaRPr lang="ru-RU" b="1" dirty="0">
              <a:solidFill>
                <a:srgbClr val="FF0000"/>
              </a:solidFill>
            </a:endParaRPr>
          </a:p>
        </p:txBody>
      </p:sp>
      <p:sp>
        <p:nvSpPr>
          <p:cNvPr id="5" name="Прямоугольник 4"/>
          <p:cNvSpPr/>
          <p:nvPr/>
        </p:nvSpPr>
        <p:spPr>
          <a:xfrm>
            <a:off x="87655" y="602689"/>
            <a:ext cx="9036496" cy="5016758"/>
          </a:xfrm>
          <a:prstGeom prst="rect">
            <a:avLst/>
          </a:prstGeom>
        </p:spPr>
        <p:txBody>
          <a:bodyPr wrap="square">
            <a:spAutoFit/>
          </a:bodyPr>
          <a:lstStyle/>
          <a:p>
            <a:r>
              <a:rPr lang="ru-RU" sz="2000" dirty="0" smtClean="0"/>
              <a:t>В КЛБ  используются</a:t>
            </a:r>
            <a:r>
              <a:rPr lang="ru-RU" sz="2000" dirty="0"/>
              <a:t>:   </a:t>
            </a:r>
          </a:p>
          <a:p>
            <a:pPr marL="342900" indent="-342900">
              <a:buFont typeface="Arial" panose="020B0604020202020204" pitchFamily="34" charset="0"/>
              <a:buChar char="•"/>
            </a:pPr>
            <a:r>
              <a:rPr lang="ru-RU" sz="2000" dirty="0" smtClean="0"/>
              <a:t>SLC  </a:t>
            </a:r>
            <a:r>
              <a:rPr lang="ru-RU" sz="2000" dirty="0"/>
              <a:t>—  </a:t>
            </a:r>
            <a:r>
              <a:rPr lang="ru-RU" sz="2000" dirty="0" err="1"/>
              <a:t>Simple</a:t>
            </a:r>
            <a:r>
              <a:rPr lang="ru-RU" sz="2000" dirty="0"/>
              <a:t>  </a:t>
            </a:r>
            <a:r>
              <a:rPr lang="ru-RU" sz="2000" dirty="0" err="1"/>
              <a:t>Logic</a:t>
            </a:r>
            <a:r>
              <a:rPr lang="ru-RU" sz="2000" dirty="0"/>
              <a:t>  </a:t>
            </a:r>
            <a:r>
              <a:rPr lang="ru-RU" sz="2000" dirty="0" err="1"/>
              <a:t>Cells</a:t>
            </a:r>
            <a:r>
              <a:rPr lang="ru-RU" sz="2000" dirty="0"/>
              <a:t>,  простые  логические  </a:t>
            </a:r>
            <a:r>
              <a:rPr lang="ru-RU" sz="2000" dirty="0" smtClean="0"/>
              <a:t>вентили</a:t>
            </a:r>
            <a:r>
              <a:rPr lang="en-US" sz="2000" dirty="0" smtClean="0"/>
              <a:t> (</a:t>
            </a:r>
            <a:r>
              <a:rPr lang="ru-RU" sz="2000" dirty="0" smtClean="0"/>
              <a:t>флэш-ключи);   </a:t>
            </a:r>
            <a:endParaRPr lang="ru-RU" sz="2000" dirty="0"/>
          </a:p>
          <a:p>
            <a:pPr marL="342900" indent="-342900">
              <a:buFont typeface="Arial" panose="020B0604020202020204" pitchFamily="34" charset="0"/>
              <a:buChar char="•"/>
            </a:pPr>
            <a:r>
              <a:rPr lang="ru-RU" sz="2000" dirty="0" smtClean="0"/>
              <a:t>логические  </a:t>
            </a:r>
            <a:r>
              <a:rPr lang="ru-RU" sz="2000" dirty="0"/>
              <a:t>модули  на  основе  </a:t>
            </a:r>
            <a:r>
              <a:rPr lang="ru-RU" sz="2000" dirty="0" smtClean="0"/>
              <a:t>мультиплексоров (перемычки </a:t>
            </a:r>
            <a:r>
              <a:rPr lang="en-US" sz="2000" dirty="0" err="1" smtClean="0"/>
              <a:t>antifuse</a:t>
            </a:r>
            <a:r>
              <a:rPr lang="en-US" sz="2000" dirty="0" smtClean="0"/>
              <a:t>)</a:t>
            </a:r>
            <a:r>
              <a:rPr lang="ru-RU" sz="2000" dirty="0" smtClean="0"/>
              <a:t>;   </a:t>
            </a:r>
            <a:endParaRPr lang="ru-RU" sz="2000" dirty="0"/>
          </a:p>
          <a:p>
            <a:pPr marL="342900" indent="-342900">
              <a:buFont typeface="Arial" panose="020B0604020202020204" pitchFamily="34" charset="0"/>
              <a:buChar char="•"/>
            </a:pPr>
            <a:r>
              <a:rPr lang="ru-RU" sz="2000" dirty="0" smtClean="0"/>
              <a:t>LUT-блоки  </a:t>
            </a:r>
            <a:r>
              <a:rPr lang="ru-RU" sz="2000" dirty="0"/>
              <a:t>—  программируемые  ЗУ  (LUT  —  </a:t>
            </a:r>
            <a:r>
              <a:rPr lang="ru-RU" sz="2000" dirty="0" err="1"/>
              <a:t>Look-Up</a:t>
            </a:r>
            <a:r>
              <a:rPr lang="ru-RU" sz="2000" dirty="0"/>
              <a:t>  </a:t>
            </a:r>
            <a:r>
              <a:rPr lang="ru-RU" sz="2000" dirty="0" err="1"/>
              <a:t>Table</a:t>
            </a:r>
            <a:r>
              <a:rPr lang="ru-RU" sz="2000" dirty="0" smtClean="0"/>
              <a:t>) (триггерная память конфигураций).   </a:t>
            </a:r>
            <a:endParaRPr lang="ru-RU" sz="2000" dirty="0"/>
          </a:p>
          <a:p>
            <a:endParaRPr lang="ru-RU" sz="2000" dirty="0" smtClean="0"/>
          </a:p>
          <a:p>
            <a:endParaRPr lang="ru-RU" sz="2000" dirty="0" smtClean="0"/>
          </a:p>
          <a:p>
            <a:r>
              <a:rPr lang="ru-RU" sz="2000" dirty="0" smtClean="0"/>
              <a:t>Одной  </a:t>
            </a:r>
            <a:r>
              <a:rPr lang="ru-RU" sz="2000" dirty="0"/>
              <a:t>из  характеристик  логических  блоков  является  их  </a:t>
            </a:r>
            <a:r>
              <a:rPr lang="ru-RU" sz="2000" b="1" dirty="0"/>
              <a:t>"зернистость"  </a:t>
            </a:r>
            <a:r>
              <a:rPr lang="ru-RU" sz="2000" dirty="0"/>
              <a:t>(</a:t>
            </a:r>
            <a:r>
              <a:rPr lang="ru-RU" sz="2000" dirty="0" err="1" smtClean="0"/>
              <a:t>Granularity</a:t>
            </a:r>
            <a:r>
              <a:rPr lang="ru-RU" sz="2000" dirty="0"/>
              <a:t>),  определяющая,  насколько  "мелкими"  будут  те  части,  из  которых  можно  "</a:t>
            </a:r>
            <a:r>
              <a:rPr lang="ru-RU" sz="2000" dirty="0" smtClean="0"/>
              <a:t>собирать</a:t>
            </a:r>
            <a:r>
              <a:rPr lang="ru-RU" sz="2000" dirty="0"/>
              <a:t>"  нужные  схемы.   </a:t>
            </a:r>
            <a:endParaRPr lang="ru-RU" sz="2000" dirty="0" smtClean="0"/>
          </a:p>
          <a:p>
            <a:endParaRPr lang="ru-RU" sz="2000" dirty="0"/>
          </a:p>
          <a:p>
            <a:r>
              <a:rPr lang="ru-RU" sz="2000" dirty="0" err="1"/>
              <a:t>Мелкозернистость</a:t>
            </a:r>
            <a:r>
              <a:rPr lang="ru-RU" sz="2000" dirty="0"/>
              <a:t>  ЛБ  ведет  к  гибкости  их  использования,  возможностям  </a:t>
            </a:r>
            <a:r>
              <a:rPr lang="ru-RU" sz="2000" dirty="0" smtClean="0"/>
              <a:t>реализовать  </a:t>
            </a:r>
            <a:r>
              <a:rPr lang="ru-RU" sz="2000" dirty="0"/>
              <a:t>воспроизводимые  функции  разными  способами,  получая  разные  варианты  в </a:t>
            </a:r>
            <a:r>
              <a:rPr lang="ru-RU" sz="2000" dirty="0" smtClean="0"/>
              <a:t>координатах  "площадь  </a:t>
            </a:r>
            <a:r>
              <a:rPr lang="ru-RU" sz="2000" dirty="0"/>
              <a:t>кристалла  —  быстродействие" .  В  то  же  время  она  </a:t>
            </a:r>
            <a:r>
              <a:rPr lang="ru-RU" sz="2000" dirty="0" smtClean="0"/>
              <a:t>усложняет  </a:t>
            </a:r>
            <a:r>
              <a:rPr lang="ru-RU" sz="2000" dirty="0"/>
              <a:t>систему  </a:t>
            </a:r>
            <a:r>
              <a:rPr lang="ru-RU" sz="2000" dirty="0" err="1"/>
              <a:t>межсоединений</a:t>
            </a:r>
            <a:r>
              <a:rPr lang="ru-RU" sz="2000" dirty="0"/>
              <a:t>  в  связи  с  большим  числом  программируемых  точек  связи. </a:t>
            </a:r>
          </a:p>
        </p:txBody>
      </p:sp>
    </p:spTree>
    <p:extLst>
      <p:ext uri="{BB962C8B-B14F-4D97-AF65-F5344CB8AC3E}">
        <p14:creationId xmlns:p14="http://schemas.microsoft.com/office/powerpoint/2010/main" val="253026877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21376" y="260648"/>
            <a:ext cx="4423006" cy="400110"/>
          </a:xfrm>
          <a:prstGeom prst="rect">
            <a:avLst/>
          </a:prstGeom>
        </p:spPr>
        <p:txBody>
          <a:bodyPr wrap="none">
            <a:spAutoFit/>
          </a:bodyPr>
          <a:lstStyle/>
          <a:p>
            <a:r>
              <a:rPr lang="ru-RU" sz="2000" b="1" dirty="0">
                <a:solidFill>
                  <a:srgbClr val="FF0000"/>
                </a:solidFill>
              </a:rPr>
              <a:t>Среднезернистые  логические  блоки.</a:t>
            </a:r>
          </a:p>
        </p:txBody>
      </p:sp>
      <p:pic>
        <p:nvPicPr>
          <p:cNvPr id="50178"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r="20396"/>
          <a:stretch/>
        </p:blipFill>
        <p:spPr bwMode="auto">
          <a:xfrm>
            <a:off x="2051720" y="1628800"/>
            <a:ext cx="3627863" cy="3641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619672" y="822281"/>
            <a:ext cx="6131871" cy="369332"/>
          </a:xfrm>
          <a:prstGeom prst="rect">
            <a:avLst/>
          </a:prstGeom>
          <a:noFill/>
        </p:spPr>
        <p:txBody>
          <a:bodyPr wrap="none" rtlCol="0">
            <a:spAutoFit/>
          </a:bodyPr>
          <a:lstStyle/>
          <a:p>
            <a:r>
              <a:rPr lang="ru-RU" dirty="0" smtClean="0"/>
              <a:t>Пример из  </a:t>
            </a:r>
            <a:r>
              <a:rPr lang="ru-RU" dirty="0"/>
              <a:t>трех  мультиплексоров  "2—1 "  и  элемента  ИЛИ</a:t>
            </a:r>
          </a:p>
        </p:txBody>
      </p:sp>
      <p:sp>
        <p:nvSpPr>
          <p:cNvPr id="8" name="TextBox 7"/>
          <p:cNvSpPr txBox="1"/>
          <p:nvPr/>
        </p:nvSpPr>
        <p:spPr>
          <a:xfrm>
            <a:off x="5689620" y="3551354"/>
            <a:ext cx="513282" cy="369332"/>
          </a:xfrm>
          <a:prstGeom prst="rect">
            <a:avLst/>
          </a:prstGeom>
          <a:noFill/>
        </p:spPr>
        <p:txBody>
          <a:bodyPr wrap="none" rtlCol="0">
            <a:spAutoFit/>
          </a:bodyPr>
          <a:lstStyle/>
          <a:p>
            <a:r>
              <a:rPr lang="en-US" dirty="0" smtClean="0"/>
              <a:t>F=</a:t>
            </a:r>
            <a:r>
              <a:rPr lang="ru-RU" dirty="0" smtClean="0"/>
              <a:t>?</a:t>
            </a:r>
            <a:endParaRPr lang="ru-RU" dirty="0"/>
          </a:p>
        </p:txBody>
      </p:sp>
      <p:sp>
        <p:nvSpPr>
          <p:cNvPr id="9" name="TextBox 8"/>
          <p:cNvSpPr txBox="1"/>
          <p:nvPr/>
        </p:nvSpPr>
        <p:spPr>
          <a:xfrm>
            <a:off x="6300192" y="3412854"/>
            <a:ext cx="2425279" cy="646331"/>
          </a:xfrm>
          <a:prstGeom prst="rect">
            <a:avLst/>
          </a:prstGeom>
          <a:noFill/>
        </p:spPr>
        <p:txBody>
          <a:bodyPr wrap="none" rtlCol="0">
            <a:spAutoFit/>
          </a:bodyPr>
          <a:lstStyle/>
          <a:p>
            <a:r>
              <a:rPr lang="ru-RU" dirty="0" smtClean="0"/>
              <a:t>Логическая функция </a:t>
            </a:r>
          </a:p>
          <a:p>
            <a:r>
              <a:rPr lang="ru-RU" dirty="0" smtClean="0"/>
              <a:t>выполняемая блоком?</a:t>
            </a:r>
            <a:endParaRPr lang="ru-RU" dirty="0"/>
          </a:p>
        </p:txBody>
      </p:sp>
    </p:spTree>
    <p:extLst>
      <p:ext uri="{BB962C8B-B14F-4D97-AF65-F5344CB8AC3E}">
        <p14:creationId xmlns:p14="http://schemas.microsoft.com/office/powerpoint/2010/main" val="362798882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67744" y="188640"/>
            <a:ext cx="4419223" cy="400110"/>
          </a:xfrm>
          <a:prstGeom prst="rect">
            <a:avLst/>
          </a:prstGeom>
        </p:spPr>
        <p:txBody>
          <a:bodyPr wrap="none">
            <a:spAutoFit/>
          </a:bodyPr>
          <a:lstStyle/>
          <a:p>
            <a:r>
              <a:rPr lang="ru-RU" sz="2000" b="1" dirty="0">
                <a:solidFill>
                  <a:srgbClr val="FF0000"/>
                </a:solidFill>
              </a:rPr>
              <a:t>Крупнозернистые  логические  блоки.</a:t>
            </a:r>
          </a:p>
        </p:txBody>
      </p:sp>
      <p:sp>
        <p:nvSpPr>
          <p:cNvPr id="5" name="Прямоугольник 4"/>
          <p:cNvSpPr/>
          <p:nvPr/>
        </p:nvSpPr>
        <p:spPr>
          <a:xfrm>
            <a:off x="179512" y="889844"/>
            <a:ext cx="8856984" cy="1938992"/>
          </a:xfrm>
          <a:prstGeom prst="rect">
            <a:avLst/>
          </a:prstGeom>
        </p:spPr>
        <p:txBody>
          <a:bodyPr wrap="square">
            <a:spAutoFit/>
          </a:bodyPr>
          <a:lstStyle/>
          <a:p>
            <a:r>
              <a:rPr lang="ru-RU" sz="2000" dirty="0"/>
              <a:t>В  FPGA  с  триггерной  памятью  </a:t>
            </a:r>
            <a:r>
              <a:rPr lang="ru-RU" sz="2000" dirty="0" smtClean="0"/>
              <a:t>конфигурации  </a:t>
            </a:r>
            <a:r>
              <a:rPr lang="ru-RU" sz="2000" dirty="0"/>
              <a:t>обычно  применяют  крупнозернистые  блоки,  в  которых  реализуются  более </a:t>
            </a:r>
            <a:r>
              <a:rPr lang="ru-RU" sz="2000" dirty="0" smtClean="0"/>
              <a:t>сложные  </a:t>
            </a:r>
            <a:r>
              <a:rPr lang="ru-RU" sz="2000" dirty="0"/>
              <a:t>функции.  Это  ведет  к  упрощению  программируемой  части  </a:t>
            </a:r>
            <a:r>
              <a:rPr lang="ru-RU" sz="2000" dirty="0" err="1" smtClean="0"/>
              <a:t>межсоединений</a:t>
            </a:r>
            <a:r>
              <a:rPr lang="ru-RU" sz="2000" dirty="0" smtClean="0"/>
              <a:t>,  </a:t>
            </a:r>
            <a:endParaRPr lang="ru-RU" sz="2000" dirty="0"/>
          </a:p>
          <a:p>
            <a:r>
              <a:rPr lang="ru-RU" sz="2000" dirty="0"/>
              <a:t>но  затрудняет  полное  использование  логических  элементов  блоков,  что  может </a:t>
            </a:r>
            <a:r>
              <a:rPr lang="ru-RU" sz="2000" dirty="0" smtClean="0"/>
              <a:t> привести  </a:t>
            </a:r>
            <a:r>
              <a:rPr lang="ru-RU" sz="2000" dirty="0"/>
              <a:t>к  излишним  затратам  площади  кристалла  и  снижению  быстродействия. </a:t>
            </a:r>
          </a:p>
        </p:txBody>
      </p:sp>
      <p:pic>
        <p:nvPicPr>
          <p:cNvPr id="5120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4733" y="2768199"/>
            <a:ext cx="4020353" cy="3921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Прямоугольник 5"/>
          <p:cNvSpPr/>
          <p:nvPr/>
        </p:nvSpPr>
        <p:spPr>
          <a:xfrm>
            <a:off x="3779912" y="2492896"/>
            <a:ext cx="5364088" cy="2862322"/>
          </a:xfrm>
          <a:prstGeom prst="rect">
            <a:avLst/>
          </a:prstGeom>
        </p:spPr>
        <p:txBody>
          <a:bodyPr wrap="square">
            <a:spAutoFit/>
          </a:bodyPr>
          <a:lstStyle/>
          <a:p>
            <a:r>
              <a:rPr lang="ru-RU" sz="2000" dirty="0"/>
              <a:t>Логические  преобразования  выполняются  тремя  LUT-блоками  (G,  F  и  H).  </a:t>
            </a:r>
            <a:r>
              <a:rPr lang="en-US" sz="2000" dirty="0" smtClean="0"/>
              <a:t>LUT-</a:t>
            </a:r>
            <a:r>
              <a:rPr lang="ru-RU" sz="2000" dirty="0" smtClean="0"/>
              <a:t>  </a:t>
            </a:r>
            <a:r>
              <a:rPr lang="ru-RU" sz="2000" dirty="0"/>
              <a:t>G  и  F </a:t>
            </a:r>
            <a:r>
              <a:rPr lang="ru-RU" sz="2000" dirty="0" smtClean="0"/>
              <a:t>-программируемые  </a:t>
            </a:r>
            <a:r>
              <a:rPr lang="ru-RU" sz="2000" dirty="0"/>
              <a:t>ЗУ  c  организацией  </a:t>
            </a:r>
            <a:r>
              <a:rPr lang="ru-RU" sz="2000" dirty="0" smtClean="0"/>
              <a:t>16х1 </a:t>
            </a:r>
            <a:r>
              <a:rPr lang="ru-RU" sz="2000" dirty="0"/>
              <a:t>,  способные  </a:t>
            </a:r>
            <a:r>
              <a:rPr lang="ru-RU" sz="2000" dirty="0" smtClean="0"/>
              <a:t>воспроизводить  </a:t>
            </a:r>
            <a:r>
              <a:rPr lang="ru-RU" sz="2000" dirty="0"/>
              <a:t>любые  функции  четырех  переменных,  значения  которых  могут  быть  </a:t>
            </a:r>
            <a:r>
              <a:rPr lang="ru-RU" sz="2000" dirty="0" smtClean="0"/>
              <a:t>переданы  </a:t>
            </a:r>
            <a:r>
              <a:rPr lang="ru-RU" sz="2000" dirty="0"/>
              <a:t>на  выходы  Y  и  X  через  мультиплексоры  4  и  6  при  соответствующем  их </a:t>
            </a:r>
            <a:r>
              <a:rPr lang="ru-RU" sz="2000" dirty="0" smtClean="0"/>
              <a:t>программировании  </a:t>
            </a:r>
            <a:r>
              <a:rPr lang="ru-RU" sz="2000" dirty="0"/>
              <a:t>(через  линии  верхних  входов). </a:t>
            </a:r>
          </a:p>
        </p:txBody>
      </p:sp>
      <p:sp>
        <p:nvSpPr>
          <p:cNvPr id="7" name="Прямоугольник 6"/>
          <p:cNvSpPr/>
          <p:nvPr/>
        </p:nvSpPr>
        <p:spPr>
          <a:xfrm>
            <a:off x="3779912" y="5355218"/>
            <a:ext cx="5251377" cy="1323439"/>
          </a:xfrm>
          <a:prstGeom prst="rect">
            <a:avLst/>
          </a:prstGeom>
        </p:spPr>
        <p:txBody>
          <a:bodyPr wrap="square">
            <a:spAutoFit/>
          </a:bodyPr>
          <a:lstStyle/>
          <a:p>
            <a:r>
              <a:rPr lang="en-US" sz="2000" dirty="0" smtClean="0"/>
              <a:t>LUT-</a:t>
            </a:r>
            <a:r>
              <a:rPr lang="ru-RU" sz="2000" dirty="0" smtClean="0"/>
              <a:t>H  </a:t>
            </a:r>
            <a:r>
              <a:rPr lang="ru-RU" sz="2000" dirty="0"/>
              <a:t>(ЗУ  с  организацией  </a:t>
            </a:r>
            <a:r>
              <a:rPr lang="ru-RU" sz="2000" dirty="0" smtClean="0"/>
              <a:t>8х1 </a:t>
            </a:r>
            <a:r>
              <a:rPr lang="ru-RU" sz="2000" dirty="0"/>
              <a:t>)  для  образования  "</a:t>
            </a:r>
            <a:r>
              <a:rPr lang="ru-RU" sz="2000" dirty="0" smtClean="0"/>
              <a:t>функции  </a:t>
            </a:r>
            <a:r>
              <a:rPr lang="ru-RU" sz="2000" dirty="0"/>
              <a:t>от  функций" </a:t>
            </a:r>
            <a:r>
              <a:rPr lang="ru-RU" sz="2000" dirty="0" smtClean="0"/>
              <a:t>К  </a:t>
            </a:r>
            <a:r>
              <a:rPr lang="ru-RU" sz="2000" dirty="0"/>
              <a:t>третьему  входу  ФП-H  подключен  входной  сигнал  H1 , </a:t>
            </a:r>
            <a:r>
              <a:rPr lang="ru-RU" sz="2000" dirty="0" smtClean="0"/>
              <a:t>так  </a:t>
            </a:r>
            <a:r>
              <a:rPr lang="ru-RU" sz="2000" dirty="0"/>
              <a:t>что  H  =  f  (G,  F,  H1 ).</a:t>
            </a:r>
          </a:p>
        </p:txBody>
      </p:sp>
    </p:spTree>
    <p:extLst>
      <p:ext uri="{BB962C8B-B14F-4D97-AF65-F5344CB8AC3E}">
        <p14:creationId xmlns:p14="http://schemas.microsoft.com/office/powerpoint/2010/main" val="6261632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161003" y="188640"/>
            <a:ext cx="3186834" cy="400110"/>
          </a:xfrm>
          <a:prstGeom prst="rect">
            <a:avLst/>
          </a:prstGeom>
        </p:spPr>
        <p:txBody>
          <a:bodyPr wrap="none">
            <a:spAutoFit/>
          </a:bodyPr>
          <a:lstStyle/>
          <a:p>
            <a:r>
              <a:rPr lang="ru-RU" sz="2000" b="1" dirty="0">
                <a:solidFill>
                  <a:srgbClr val="FF0000"/>
                </a:solidFill>
              </a:rPr>
              <a:t>Системы  </a:t>
            </a:r>
            <a:r>
              <a:rPr lang="ru-RU" sz="2000" b="1" dirty="0" err="1">
                <a:solidFill>
                  <a:srgbClr val="FF0000"/>
                </a:solidFill>
              </a:rPr>
              <a:t>межсоединений</a:t>
            </a:r>
            <a:r>
              <a:rPr lang="ru-RU" sz="2000" b="1" dirty="0">
                <a:solidFill>
                  <a:srgbClr val="FF0000"/>
                </a:solidFill>
              </a:rPr>
              <a:t> </a:t>
            </a:r>
          </a:p>
        </p:txBody>
      </p:sp>
      <p:sp>
        <p:nvSpPr>
          <p:cNvPr id="5" name="Прямоугольник 4"/>
          <p:cNvSpPr/>
          <p:nvPr/>
        </p:nvSpPr>
        <p:spPr>
          <a:xfrm>
            <a:off x="48674" y="476672"/>
            <a:ext cx="8856984" cy="3477875"/>
          </a:xfrm>
          <a:prstGeom prst="rect">
            <a:avLst/>
          </a:prstGeom>
        </p:spPr>
        <p:txBody>
          <a:bodyPr wrap="square">
            <a:spAutoFit/>
          </a:bodyPr>
          <a:lstStyle/>
          <a:p>
            <a:r>
              <a:rPr lang="ru-RU" sz="2000" dirty="0"/>
              <a:t>Системы  </a:t>
            </a:r>
            <a:r>
              <a:rPr lang="ru-RU" sz="2000" dirty="0" err="1"/>
              <a:t>межсоединений</a:t>
            </a:r>
            <a:r>
              <a:rPr lang="ru-RU" sz="2000" dirty="0"/>
              <a:t>  (коммутации),  как  и  логические  блоки, </a:t>
            </a:r>
            <a:r>
              <a:rPr lang="ru-RU" sz="2000" dirty="0" smtClean="0"/>
              <a:t>реализуются  </a:t>
            </a:r>
            <a:r>
              <a:rPr lang="ru-RU" sz="2000" dirty="0"/>
              <a:t>в </a:t>
            </a:r>
            <a:r>
              <a:rPr lang="ru-RU" sz="2000" dirty="0" smtClean="0"/>
              <a:t>широком  </a:t>
            </a:r>
            <a:r>
              <a:rPr lang="ru-RU" sz="2000" dirty="0"/>
              <a:t>диапазоне  архитектурных  и  технологических  решений.  Линии  связей  в </a:t>
            </a:r>
            <a:r>
              <a:rPr lang="ru-RU" sz="2000" dirty="0" smtClean="0"/>
              <a:t> FPGA   </a:t>
            </a:r>
            <a:r>
              <a:rPr lang="ru-RU" sz="2000" dirty="0"/>
              <a:t>сегментированы,  т.  e.  составлены  из  отдельных  проводящих  </a:t>
            </a:r>
            <a:r>
              <a:rPr lang="ru-RU" sz="2000" dirty="0" smtClean="0"/>
              <a:t>сегментов  </a:t>
            </a:r>
            <a:r>
              <a:rPr lang="ru-RU" sz="2000" dirty="0"/>
              <a:t>(участков,  не  содержащих  ключей).  Сегменты  соединяются  друг  с  другом  </a:t>
            </a:r>
            <a:r>
              <a:rPr lang="ru-RU" sz="2000" dirty="0" smtClean="0"/>
              <a:t>программируемым  </a:t>
            </a:r>
            <a:r>
              <a:rPr lang="ru-RU" sz="2000" dirty="0"/>
              <a:t>элементом  связи  (ключом).   </a:t>
            </a:r>
            <a:r>
              <a:rPr lang="ru-RU" sz="2000" dirty="0" smtClean="0"/>
              <a:t>Так  </a:t>
            </a:r>
            <a:r>
              <a:rPr lang="ru-RU" sz="2000" dirty="0"/>
              <a:t>как  короткие  сегменты  затрудняют  реализацию  длинных  связей  (в  них  </a:t>
            </a:r>
            <a:r>
              <a:rPr lang="ru-RU" sz="2000" dirty="0" smtClean="0"/>
              <a:t>появляется  </a:t>
            </a:r>
            <a:r>
              <a:rPr lang="ru-RU" sz="2000" dirty="0"/>
              <a:t>большое  число  </a:t>
            </a:r>
            <a:r>
              <a:rPr lang="ru-RU" sz="2000" dirty="0" smtClean="0"/>
              <a:t>ключей,  увеличивающих  </a:t>
            </a:r>
            <a:r>
              <a:rPr lang="ru-RU" sz="2000" dirty="0"/>
              <a:t>затраты  площади  кристалла  и  </a:t>
            </a:r>
            <a:r>
              <a:rPr lang="ru-RU" sz="2000" dirty="0" smtClean="0"/>
              <a:t>задержки  </a:t>
            </a:r>
            <a:r>
              <a:rPr lang="ru-RU" sz="2000" dirty="0"/>
              <a:t>сигналов),  а  длинные  —  коротких,  целесообразна  иерархическая  система </a:t>
            </a:r>
            <a:r>
              <a:rPr lang="ru-RU" sz="2000" dirty="0" smtClean="0"/>
              <a:t>связей  </a:t>
            </a:r>
            <a:r>
              <a:rPr lang="ru-RU" sz="2000" dirty="0"/>
              <a:t>с  несколькими  типами  </a:t>
            </a:r>
            <a:r>
              <a:rPr lang="ru-RU" sz="2000" dirty="0" err="1"/>
              <a:t>межсоединений</a:t>
            </a:r>
            <a:r>
              <a:rPr lang="ru-RU" sz="2000" dirty="0"/>
              <a:t>  для  передач  на  разные  расстояния. </a:t>
            </a:r>
            <a:r>
              <a:rPr lang="ru-RU" sz="2000" dirty="0" smtClean="0"/>
              <a:t> Поэтому  </a:t>
            </a:r>
            <a:r>
              <a:rPr lang="ru-RU" sz="2000" dirty="0"/>
              <a:t>в  системе  </a:t>
            </a:r>
            <a:r>
              <a:rPr lang="ru-RU" sz="2000" dirty="0" err="1"/>
              <a:t>межсоединений</a:t>
            </a:r>
            <a:r>
              <a:rPr lang="ru-RU" sz="2000" dirty="0"/>
              <a:t>  применяются  сегменты  различной  длины. </a:t>
            </a:r>
          </a:p>
        </p:txBody>
      </p:sp>
      <p:sp>
        <p:nvSpPr>
          <p:cNvPr id="6" name="Прямоугольник 5"/>
          <p:cNvSpPr/>
          <p:nvPr/>
        </p:nvSpPr>
        <p:spPr>
          <a:xfrm>
            <a:off x="48674" y="3954547"/>
            <a:ext cx="8856984" cy="2246769"/>
          </a:xfrm>
          <a:prstGeom prst="rect">
            <a:avLst/>
          </a:prstGeom>
        </p:spPr>
        <p:txBody>
          <a:bodyPr wrap="square">
            <a:spAutoFit/>
          </a:bodyPr>
          <a:lstStyle/>
          <a:p>
            <a:r>
              <a:rPr lang="ru-RU" sz="2000" dirty="0"/>
              <a:t>Цели  построения  системы  связей  —  максимальная  </a:t>
            </a:r>
            <a:r>
              <a:rPr lang="ru-RU" sz="2000" dirty="0" err="1"/>
              <a:t>коммутируемость</a:t>
            </a:r>
            <a:r>
              <a:rPr lang="ru-RU" sz="2000" dirty="0"/>
              <a:t>  блоков  при </a:t>
            </a:r>
            <a:r>
              <a:rPr lang="ru-RU" sz="2000" dirty="0" smtClean="0"/>
              <a:t>минимальном  </a:t>
            </a:r>
            <a:r>
              <a:rPr lang="ru-RU" sz="2000" dirty="0"/>
              <a:t>количестве  </a:t>
            </a:r>
            <a:r>
              <a:rPr lang="ru-RU" sz="2000" dirty="0" smtClean="0"/>
              <a:t>ключей и предсказуемость  задержек сигналов. Зависимость  </a:t>
            </a:r>
            <a:r>
              <a:rPr lang="ru-RU" sz="2000" dirty="0"/>
              <a:t>задержек  от  конкретного  пути </a:t>
            </a:r>
            <a:r>
              <a:rPr lang="ru-RU" sz="2000" dirty="0" smtClean="0"/>
              <a:t>создает  </a:t>
            </a:r>
            <a:r>
              <a:rPr lang="ru-RU" sz="2000" dirty="0"/>
              <a:t>проблему  </a:t>
            </a:r>
            <a:r>
              <a:rPr lang="ru-RU" sz="2000" dirty="0" err="1" smtClean="0"/>
              <a:t>синхнронизации</a:t>
            </a:r>
            <a:r>
              <a:rPr lang="ru-RU" sz="2000" dirty="0" smtClean="0"/>
              <a:t>  </a:t>
            </a:r>
            <a:r>
              <a:rPr lang="ru-RU" sz="2000" dirty="0"/>
              <a:t>и  сбоев  в  работе  схемы</a:t>
            </a:r>
            <a:r>
              <a:rPr lang="ru-RU" sz="2000" dirty="0" smtClean="0"/>
              <a:t>. </a:t>
            </a:r>
            <a:endParaRPr lang="ru-RU" sz="2000" dirty="0"/>
          </a:p>
          <a:p>
            <a:r>
              <a:rPr lang="ru-RU" sz="2000" dirty="0" smtClean="0"/>
              <a:t>	Быстродействие  </a:t>
            </a:r>
            <a:r>
              <a:rPr lang="ru-RU" sz="2000" dirty="0"/>
              <a:t>FPGA </a:t>
            </a:r>
            <a:r>
              <a:rPr lang="ru-RU" sz="2000" dirty="0" smtClean="0"/>
              <a:t>зависит  </a:t>
            </a:r>
            <a:r>
              <a:rPr lang="ru-RU" sz="2000" dirty="0"/>
              <a:t>от  задержек  в  связях,  определяемых  в </a:t>
            </a:r>
            <a:r>
              <a:rPr lang="ru-RU" sz="2000" dirty="0" smtClean="0"/>
              <a:t> основном  ключами,  и квадратично  </a:t>
            </a:r>
            <a:r>
              <a:rPr lang="ru-RU" sz="2000" dirty="0"/>
              <a:t>зависящих  от  числа  ключей  в  последовательной </a:t>
            </a:r>
            <a:r>
              <a:rPr lang="ru-RU" sz="2000" dirty="0" smtClean="0"/>
              <a:t> цепочке.</a:t>
            </a:r>
            <a:endParaRPr lang="ru-RU" sz="2000" dirty="0"/>
          </a:p>
        </p:txBody>
      </p:sp>
    </p:spTree>
    <p:extLst>
      <p:ext uri="{BB962C8B-B14F-4D97-AF65-F5344CB8AC3E}">
        <p14:creationId xmlns:p14="http://schemas.microsoft.com/office/powerpoint/2010/main" val="281108321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44" y="188640"/>
            <a:ext cx="4986287" cy="3872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2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44" y="4653136"/>
            <a:ext cx="4670002" cy="187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4572000" y="55149"/>
            <a:ext cx="4572000" cy="2246769"/>
          </a:xfrm>
          <a:prstGeom prst="rect">
            <a:avLst/>
          </a:prstGeom>
        </p:spPr>
        <p:txBody>
          <a:bodyPr>
            <a:spAutoFit/>
          </a:bodyPr>
          <a:lstStyle/>
          <a:p>
            <a:r>
              <a:rPr lang="ru-RU" sz="2000" b="1" dirty="0"/>
              <a:t>Связные  блоки  (СБ) </a:t>
            </a:r>
            <a:r>
              <a:rPr lang="ru-RU" sz="2000" dirty="0"/>
              <a:t>—области  пересечений  выводов  логического  блока  ЛБ  и  линий  вертикальных  и  горизонтальных  </a:t>
            </a:r>
            <a:r>
              <a:rPr lang="ru-RU" sz="2000" dirty="0" smtClean="0"/>
              <a:t>трасс.  </a:t>
            </a:r>
            <a:r>
              <a:rPr lang="ru-RU" sz="2000" dirty="0"/>
              <a:t>Крестики  обозначают  программируемые  точки  связей.  Через  СБ  сигналы  логических блоков  связываются  с  линиями  трасс.  </a:t>
            </a:r>
          </a:p>
        </p:txBody>
      </p:sp>
      <p:sp>
        <p:nvSpPr>
          <p:cNvPr id="5" name="Прямоугольник 4"/>
          <p:cNvSpPr/>
          <p:nvPr/>
        </p:nvSpPr>
        <p:spPr>
          <a:xfrm>
            <a:off x="4572000" y="2300616"/>
            <a:ext cx="4761564" cy="4093428"/>
          </a:xfrm>
          <a:prstGeom prst="rect">
            <a:avLst/>
          </a:prstGeom>
        </p:spPr>
        <p:txBody>
          <a:bodyPr wrap="square">
            <a:spAutoFit/>
          </a:bodyPr>
          <a:lstStyle/>
          <a:p>
            <a:r>
              <a:rPr lang="ru-RU" sz="2000" b="1" dirty="0"/>
              <a:t>Переключательные  блоки </a:t>
            </a:r>
            <a:r>
              <a:rPr lang="ru-RU" sz="2000" b="1" dirty="0" smtClean="0"/>
              <a:t>(ПБ) </a:t>
            </a:r>
            <a:r>
              <a:rPr lang="ru-RU" sz="2000" dirty="0"/>
              <a:t>расположены  на </a:t>
            </a:r>
            <a:r>
              <a:rPr lang="ru-RU" sz="2000" dirty="0" smtClean="0"/>
              <a:t> пересечении  </a:t>
            </a:r>
            <a:r>
              <a:rPr lang="ru-RU" sz="2000" dirty="0"/>
              <a:t>горизонтальных  и  вертикальных  трассировочных  каналов,  каждый  из </a:t>
            </a:r>
          </a:p>
          <a:p>
            <a:r>
              <a:rPr lang="ru-RU" sz="2000" dirty="0"/>
              <a:t>которых  имеет  восемь  линий.   </a:t>
            </a:r>
          </a:p>
          <a:p>
            <a:r>
              <a:rPr lang="ru-RU" sz="2000" dirty="0"/>
              <a:t>Линии  могут  иметь  одинарную  длину  (соединяют  соседние  </a:t>
            </a:r>
            <a:r>
              <a:rPr lang="ru-RU" sz="2000" dirty="0" smtClean="0"/>
              <a:t>ПБ) </a:t>
            </a:r>
            <a:endParaRPr lang="ru-RU" sz="2000" dirty="0"/>
          </a:p>
          <a:p>
            <a:r>
              <a:rPr lang="ru-RU" sz="2000" dirty="0"/>
              <a:t>или  двойную  (соединяют  ПБ  через  один</a:t>
            </a:r>
            <a:r>
              <a:rPr lang="ru-RU" sz="2000" dirty="0" smtClean="0"/>
              <a:t>).  </a:t>
            </a:r>
            <a:r>
              <a:rPr lang="ru-RU" sz="2000" dirty="0"/>
              <a:t>Структура  ПБ  </a:t>
            </a:r>
            <a:r>
              <a:rPr lang="ru-RU" sz="2000" dirty="0" smtClean="0"/>
              <a:t>позволяет передавать  </a:t>
            </a:r>
            <a:r>
              <a:rPr lang="ru-RU" sz="2000" dirty="0"/>
              <a:t>сигналы  влево-вправо  или  вверх-вниз  между  смежными  линиями,  а </a:t>
            </a:r>
            <a:r>
              <a:rPr lang="ru-RU" sz="2000" dirty="0" smtClean="0"/>
              <a:t>также  </a:t>
            </a:r>
            <a:r>
              <a:rPr lang="ru-RU" sz="2000" dirty="0"/>
              <a:t>изменять  направление  передачи  сигнала. </a:t>
            </a:r>
          </a:p>
        </p:txBody>
      </p:sp>
    </p:spTree>
    <p:extLst>
      <p:ext uri="{BB962C8B-B14F-4D97-AF65-F5344CB8AC3E}">
        <p14:creationId xmlns:p14="http://schemas.microsoft.com/office/powerpoint/2010/main" val="75310784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131840" y="188640"/>
            <a:ext cx="2656496" cy="400110"/>
          </a:xfrm>
          <a:prstGeom prst="rect">
            <a:avLst/>
          </a:prstGeom>
        </p:spPr>
        <p:txBody>
          <a:bodyPr wrap="none">
            <a:spAutoFit/>
          </a:bodyPr>
          <a:lstStyle/>
          <a:p>
            <a:r>
              <a:rPr lang="ru-RU" sz="2000" b="1" dirty="0"/>
              <a:t>Блоки  ввода/вывода </a:t>
            </a:r>
          </a:p>
        </p:txBody>
      </p:sp>
      <p:sp>
        <p:nvSpPr>
          <p:cNvPr id="5" name="Прямоугольник 4"/>
          <p:cNvSpPr/>
          <p:nvPr/>
        </p:nvSpPr>
        <p:spPr>
          <a:xfrm>
            <a:off x="179512" y="600280"/>
            <a:ext cx="8712968" cy="1015663"/>
          </a:xfrm>
          <a:prstGeom prst="rect">
            <a:avLst/>
          </a:prstGeom>
        </p:spPr>
        <p:txBody>
          <a:bodyPr wrap="square">
            <a:spAutoFit/>
          </a:bodyPr>
          <a:lstStyle/>
          <a:p>
            <a:r>
              <a:rPr lang="ru-RU" sz="2000" dirty="0"/>
              <a:t>Каждому  выводу  корпуса  микросхемы  придается  блок  ввода/вывода,  который  </a:t>
            </a:r>
            <a:r>
              <a:rPr lang="ru-RU" sz="2000" dirty="0" smtClean="0"/>
              <a:t>может  </a:t>
            </a:r>
            <a:r>
              <a:rPr lang="ru-RU" sz="2000" dirty="0"/>
              <a:t>конфигурироваться  как  вход,  выход  или  двунаправленный  вывод.</a:t>
            </a:r>
          </a:p>
        </p:txBody>
      </p:sp>
      <p:pic>
        <p:nvPicPr>
          <p:cNvPr id="532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433185" y="1268760"/>
            <a:ext cx="4053805" cy="5426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799527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563888" y="238826"/>
            <a:ext cx="2152512" cy="400110"/>
          </a:xfrm>
          <a:prstGeom prst="rect">
            <a:avLst/>
          </a:prstGeom>
        </p:spPr>
        <p:txBody>
          <a:bodyPr wrap="none">
            <a:spAutoFit/>
          </a:bodyPr>
          <a:lstStyle/>
          <a:p>
            <a:r>
              <a:rPr lang="ru-RU" sz="2000" b="1" dirty="0">
                <a:solidFill>
                  <a:srgbClr val="FF0000"/>
                </a:solidFill>
              </a:rPr>
              <a:t> Ресурсы  памяти </a:t>
            </a:r>
          </a:p>
        </p:txBody>
      </p:sp>
      <p:sp>
        <p:nvSpPr>
          <p:cNvPr id="5" name="Прямоугольник 4"/>
          <p:cNvSpPr/>
          <p:nvPr/>
        </p:nvSpPr>
        <p:spPr>
          <a:xfrm>
            <a:off x="147352" y="668857"/>
            <a:ext cx="8784976" cy="2246769"/>
          </a:xfrm>
          <a:prstGeom prst="rect">
            <a:avLst/>
          </a:prstGeom>
        </p:spPr>
        <p:txBody>
          <a:bodyPr wrap="square">
            <a:spAutoFit/>
          </a:bodyPr>
          <a:lstStyle/>
          <a:p>
            <a:r>
              <a:rPr lang="ru-RU" sz="2000" dirty="0"/>
              <a:t>FPGA  обладают  ресурсами  </a:t>
            </a:r>
            <a:r>
              <a:rPr lang="ru-RU" sz="2000" b="1" dirty="0"/>
              <a:t>распределенной</a:t>
            </a:r>
            <a:r>
              <a:rPr lang="ru-RU" sz="2000" dirty="0"/>
              <a:t>  и  </a:t>
            </a:r>
            <a:r>
              <a:rPr lang="ru-RU" sz="2000" b="1" dirty="0"/>
              <a:t>встроенной  памя</a:t>
            </a:r>
            <a:r>
              <a:rPr lang="ru-RU" sz="2000" dirty="0"/>
              <a:t>ти.  </a:t>
            </a:r>
            <a:endParaRPr lang="ru-RU" sz="2000" dirty="0" smtClean="0"/>
          </a:p>
          <a:p>
            <a:r>
              <a:rPr lang="ru-RU" sz="2000" dirty="0" smtClean="0"/>
              <a:t>В    LUT-блоках содержится распределенная память типично 16  бит,  максимально  </a:t>
            </a:r>
            <a:r>
              <a:rPr lang="en-US" sz="2000" dirty="0" smtClean="0"/>
              <a:t>-</a:t>
            </a:r>
            <a:r>
              <a:rPr lang="ru-RU" sz="2000" dirty="0" smtClean="0"/>
              <a:t>64  </a:t>
            </a:r>
            <a:r>
              <a:rPr lang="ru-RU" sz="2000" dirty="0"/>
              <a:t>бита</a:t>
            </a:r>
            <a:r>
              <a:rPr lang="ru-RU" sz="2000" dirty="0" smtClean="0"/>
              <a:t>). </a:t>
            </a:r>
          </a:p>
          <a:p>
            <a:endParaRPr lang="ru-RU" sz="2000" dirty="0" smtClean="0"/>
          </a:p>
          <a:p>
            <a:r>
              <a:rPr lang="ru-RU" sz="2000" dirty="0" smtClean="0"/>
              <a:t>По  </a:t>
            </a:r>
            <a:r>
              <a:rPr lang="ru-RU" sz="2000" dirty="0"/>
              <a:t>мере  развития  FPGA  в </a:t>
            </a:r>
            <a:r>
              <a:rPr lang="ru-RU" sz="2000" dirty="0" smtClean="0"/>
              <a:t> них стали  </a:t>
            </a:r>
            <a:r>
              <a:rPr lang="ru-RU" sz="2000" dirty="0"/>
              <a:t>широко  применяться  </a:t>
            </a:r>
            <a:r>
              <a:rPr lang="ru-RU" sz="2000" b="1" dirty="0"/>
              <a:t>встроенные </a:t>
            </a:r>
            <a:r>
              <a:rPr lang="ru-RU" sz="2000" dirty="0"/>
              <a:t> блоки  памяти,  емкость  которых  на  </a:t>
            </a:r>
            <a:r>
              <a:rPr lang="ru-RU" sz="2000" dirty="0" smtClean="0"/>
              <a:t>порядки  </a:t>
            </a:r>
            <a:r>
              <a:rPr lang="ru-RU" sz="2000" dirty="0"/>
              <a:t>превышает  емкости  блоков  распределенной  памяти. </a:t>
            </a:r>
          </a:p>
        </p:txBody>
      </p:sp>
      <p:pic>
        <p:nvPicPr>
          <p:cNvPr id="5427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53480" y="2913655"/>
            <a:ext cx="2710408" cy="3803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4211960" y="4005064"/>
            <a:ext cx="4168129" cy="1015663"/>
          </a:xfrm>
          <a:prstGeom prst="rect">
            <a:avLst/>
          </a:prstGeom>
          <a:noFill/>
        </p:spPr>
        <p:txBody>
          <a:bodyPr wrap="none" rtlCol="0">
            <a:spAutoFit/>
          </a:bodyPr>
          <a:lstStyle/>
          <a:p>
            <a:r>
              <a:rPr lang="ru-RU" sz="2000" dirty="0" smtClean="0"/>
              <a:t>Наращивание разрядности слова (а)</a:t>
            </a:r>
          </a:p>
          <a:p>
            <a:r>
              <a:rPr lang="ru-RU" sz="2000" dirty="0" smtClean="0"/>
              <a:t>и адресного пространства  (б)</a:t>
            </a:r>
          </a:p>
          <a:p>
            <a:r>
              <a:rPr lang="ru-RU" sz="2000" dirty="0" smtClean="0"/>
              <a:t>распределенной памяти</a:t>
            </a:r>
            <a:endParaRPr lang="ru-RU" sz="2000" dirty="0"/>
          </a:p>
        </p:txBody>
      </p:sp>
    </p:spTree>
    <p:extLst>
      <p:ext uri="{BB962C8B-B14F-4D97-AF65-F5344CB8AC3E}">
        <p14:creationId xmlns:p14="http://schemas.microsoft.com/office/powerpoint/2010/main" val="150102793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185080" y="2564904"/>
            <a:ext cx="4910168" cy="39829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107504" y="390456"/>
            <a:ext cx="9065320" cy="2308324"/>
          </a:xfrm>
          <a:prstGeom prst="rect">
            <a:avLst/>
          </a:prstGeom>
        </p:spPr>
        <p:txBody>
          <a:bodyPr wrap="square">
            <a:spAutoFit/>
          </a:bodyPr>
          <a:lstStyle/>
          <a:p>
            <a:r>
              <a:rPr lang="en-US" dirty="0"/>
              <a:t> </a:t>
            </a:r>
            <a:r>
              <a:rPr lang="ru-RU" dirty="0" smtClean="0"/>
              <a:t>Состав</a:t>
            </a:r>
            <a:r>
              <a:rPr lang="en-US" dirty="0" smtClean="0"/>
              <a:t>:</a:t>
            </a:r>
            <a:r>
              <a:rPr lang="ru-RU" dirty="0" smtClean="0"/>
              <a:t> модул</a:t>
            </a:r>
            <a:r>
              <a:rPr lang="ru-RU" dirty="0"/>
              <a:t>ь</a:t>
            </a:r>
            <a:r>
              <a:rPr lang="ru-RU" dirty="0" smtClean="0"/>
              <a:t>  </a:t>
            </a:r>
            <a:r>
              <a:rPr lang="ru-RU" dirty="0"/>
              <a:t>RAM/ROM </a:t>
            </a:r>
            <a:r>
              <a:rPr lang="ru-RU" dirty="0" smtClean="0"/>
              <a:t>,синхронные  D-триггеры, программируемые  мультиплексоры.  </a:t>
            </a:r>
            <a:r>
              <a:rPr lang="ru-RU" dirty="0"/>
              <a:t>Регистры  1  и  2  программируются  для  передачи  в  </a:t>
            </a:r>
            <a:r>
              <a:rPr lang="ru-RU" dirty="0" smtClean="0"/>
              <a:t>модуль  </a:t>
            </a:r>
            <a:r>
              <a:rPr lang="ru-RU" dirty="0"/>
              <a:t>данных  и  адресов  разной  разрядности  в  зависимости  от  заданной  </a:t>
            </a:r>
            <a:r>
              <a:rPr lang="ru-RU" dirty="0" smtClean="0"/>
              <a:t>конфигурации  </a:t>
            </a:r>
            <a:r>
              <a:rPr lang="ru-RU" dirty="0"/>
              <a:t>памяти.  В  блоке  с  емкостью  2  Кбит  разрядность  данных  может  изменяться  от  1 </a:t>
            </a:r>
            <a:r>
              <a:rPr lang="ru-RU" dirty="0" smtClean="0"/>
              <a:t>до  </a:t>
            </a:r>
            <a:r>
              <a:rPr lang="ru-RU" dirty="0"/>
              <a:t>8,  а  разрядность  адреса  от  8</a:t>
            </a:r>
            <a:r>
              <a:rPr lang="ru-RU" dirty="0" smtClean="0"/>
              <a:t>   </a:t>
            </a:r>
            <a:r>
              <a:rPr lang="ru-RU" dirty="0"/>
              <a:t>до  </a:t>
            </a:r>
            <a:r>
              <a:rPr lang="ru-RU" dirty="0" smtClean="0"/>
              <a:t>11 </a:t>
            </a:r>
            <a:r>
              <a:rPr lang="ru-RU" dirty="0"/>
              <a:t>.  Запись  в  память  в  зависимости  от  </a:t>
            </a:r>
            <a:r>
              <a:rPr lang="ru-RU" dirty="0" smtClean="0"/>
              <a:t>программирования  </a:t>
            </a:r>
            <a:r>
              <a:rPr lang="ru-RU" dirty="0"/>
              <a:t>мультиплексоров  4 … 6  может  быть  синхронной  (от  регистров  по  сигналам </a:t>
            </a:r>
            <a:r>
              <a:rPr lang="ru-RU" dirty="0" smtClean="0"/>
              <a:t>тактирования</a:t>
            </a:r>
            <a:r>
              <a:rPr lang="ru-RU" dirty="0"/>
              <a:t>)  или  асинхронной  (непосредственно  от  входов  данных). </a:t>
            </a:r>
            <a:r>
              <a:rPr lang="ru-RU" dirty="0" smtClean="0"/>
              <a:t>Выходные  </a:t>
            </a:r>
            <a:r>
              <a:rPr lang="ru-RU" dirty="0"/>
              <a:t>сигналы  блока  могут  выдаваться  в  тактируемом  или  </a:t>
            </a:r>
            <a:r>
              <a:rPr lang="ru-RU" dirty="0" smtClean="0"/>
              <a:t>асинхронном  </a:t>
            </a:r>
            <a:r>
              <a:rPr lang="ru-RU" dirty="0"/>
              <a:t>вариантах. </a:t>
            </a:r>
          </a:p>
        </p:txBody>
      </p:sp>
      <p:sp>
        <p:nvSpPr>
          <p:cNvPr id="5" name="TextBox 4"/>
          <p:cNvSpPr txBox="1"/>
          <p:nvPr/>
        </p:nvSpPr>
        <p:spPr>
          <a:xfrm>
            <a:off x="683568" y="0"/>
            <a:ext cx="8616590" cy="400110"/>
          </a:xfrm>
          <a:prstGeom prst="rect">
            <a:avLst/>
          </a:prstGeom>
          <a:noFill/>
        </p:spPr>
        <p:txBody>
          <a:bodyPr wrap="none" rtlCol="0">
            <a:spAutoFit/>
          </a:bodyPr>
          <a:lstStyle/>
          <a:p>
            <a:r>
              <a:rPr lang="ru-RU" sz="2000" b="1" dirty="0" smtClean="0"/>
              <a:t>Пример реализации </a:t>
            </a:r>
            <a:r>
              <a:rPr lang="ru-RU" sz="2000" b="1" dirty="0" err="1" smtClean="0"/>
              <a:t>однопортовой</a:t>
            </a:r>
            <a:r>
              <a:rPr lang="ru-RU" sz="2000" b="1" dirty="0" smtClean="0"/>
              <a:t> встроенной памяти с организации 2К</a:t>
            </a:r>
            <a:endParaRPr lang="ru-RU" sz="2000" b="1" dirty="0"/>
          </a:p>
        </p:txBody>
      </p:sp>
    </p:spTree>
    <p:extLst>
      <p:ext uri="{BB962C8B-B14F-4D97-AF65-F5344CB8AC3E}">
        <p14:creationId xmlns:p14="http://schemas.microsoft.com/office/powerpoint/2010/main" val="284767314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9440" y="332656"/>
            <a:ext cx="8856984" cy="3477875"/>
          </a:xfrm>
          <a:prstGeom prst="rect">
            <a:avLst/>
          </a:prstGeom>
        </p:spPr>
        <p:txBody>
          <a:bodyPr wrap="square">
            <a:spAutoFit/>
          </a:bodyPr>
          <a:lstStyle/>
          <a:p>
            <a:r>
              <a:rPr lang="ru-RU" sz="2000" b="1" dirty="0" smtClean="0"/>
              <a:t>Применение  </a:t>
            </a:r>
            <a:r>
              <a:rPr lang="ru-RU" sz="2000" b="1" dirty="0"/>
              <a:t>встроенных  блоков  памяти </a:t>
            </a:r>
          </a:p>
          <a:p>
            <a:r>
              <a:rPr lang="ru-RU" sz="2000" i="1" dirty="0" smtClean="0"/>
              <a:t>Построение  </a:t>
            </a:r>
            <a:r>
              <a:rPr lang="ru-RU" sz="2000" i="1" dirty="0"/>
              <a:t>кругового  буфера.  </a:t>
            </a:r>
            <a:endParaRPr lang="ru-RU" sz="2000" i="1" dirty="0" smtClean="0"/>
          </a:p>
          <a:p>
            <a:r>
              <a:rPr lang="ru-RU" sz="2000" dirty="0" smtClean="0"/>
              <a:t>Входные  </a:t>
            </a:r>
            <a:r>
              <a:rPr lang="ru-RU" sz="2000" dirty="0"/>
              <a:t>данные  записываются  в  буфер  и  через  n  тактов  появляются  на  выходе, </a:t>
            </a:r>
            <a:r>
              <a:rPr lang="ru-RU" sz="2000" dirty="0" smtClean="0"/>
              <a:t>причем  </a:t>
            </a:r>
            <a:r>
              <a:rPr lang="ru-RU" sz="2000" dirty="0"/>
              <a:t>в  эту  же  ячейку  записываются  новые  данные.  Круговые  буферы  находят </a:t>
            </a:r>
            <a:r>
              <a:rPr lang="ru-RU" sz="2000" dirty="0" smtClean="0"/>
              <a:t>применение  </a:t>
            </a:r>
            <a:r>
              <a:rPr lang="ru-RU" sz="2000" dirty="0"/>
              <a:t>в  цифровых  фильтрах,  корреляторах,  схемах  задержки  данных  и  др. </a:t>
            </a:r>
            <a:r>
              <a:rPr lang="ru-RU" sz="2000" dirty="0" smtClean="0"/>
              <a:t>Реализация  </a:t>
            </a:r>
            <a:r>
              <a:rPr lang="ru-RU" sz="2000" dirty="0"/>
              <a:t>кругового  буфера  с  помощью  блока  памяти,  работающего  в  режиме </a:t>
            </a:r>
            <a:r>
              <a:rPr lang="ru-RU" sz="2000" dirty="0" smtClean="0"/>
              <a:t>READ_FIRST,  показана  </a:t>
            </a:r>
            <a:r>
              <a:rPr lang="ru-RU" sz="2000" dirty="0"/>
              <a:t>на  рис.  9.25,  б.   Каждый  синхроимпульс  CLK  записывает  в </a:t>
            </a:r>
            <a:r>
              <a:rPr lang="ru-RU" sz="2000" dirty="0" smtClean="0"/>
              <a:t>блок  </a:t>
            </a:r>
            <a:r>
              <a:rPr lang="ru-RU" sz="2000" dirty="0"/>
              <a:t>новые  данные.  Задержанные  данные  также  читаются  по  этим  </a:t>
            </a:r>
            <a:r>
              <a:rPr lang="ru-RU" sz="2000" dirty="0" smtClean="0"/>
              <a:t>синхроимпульсам</a:t>
            </a:r>
            <a:r>
              <a:rPr lang="ru-RU" sz="2000" dirty="0"/>
              <a:t>.  Счетчик  инкрементируется,  увеличивая  на  единицу  адрес  обращения  к  памяти, </a:t>
            </a:r>
            <a:r>
              <a:rPr lang="ru-RU" sz="2000" dirty="0" smtClean="0"/>
              <a:t>что  </a:t>
            </a:r>
            <a:r>
              <a:rPr lang="ru-RU" sz="2000" dirty="0"/>
              <a:t>соответствует  подаче  следующей  ячейки  на  позицию  чтения-записи.   </a:t>
            </a:r>
          </a:p>
        </p:txBody>
      </p:sp>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3810531"/>
            <a:ext cx="5856816" cy="254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274546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474345"/>
            <a:ext cx="8928992" cy="3785652"/>
          </a:xfrm>
          <a:prstGeom prst="rect">
            <a:avLst/>
          </a:prstGeom>
        </p:spPr>
        <p:txBody>
          <a:bodyPr wrap="square">
            <a:spAutoFit/>
          </a:bodyPr>
          <a:lstStyle/>
          <a:p>
            <a:r>
              <a:rPr lang="ru-RU" sz="2000" i="1" dirty="0"/>
              <a:t>Построение  многоразрядного  счетчика.  </a:t>
            </a:r>
            <a:r>
              <a:rPr lang="ru-RU" sz="2000" dirty="0"/>
              <a:t>Счетчик  под  воздействием  входного  </a:t>
            </a:r>
            <a:r>
              <a:rPr lang="ru-RU" sz="2000" dirty="0" err="1" smtClean="0"/>
              <a:t>синала</a:t>
            </a:r>
            <a:r>
              <a:rPr lang="ru-RU" sz="2000" dirty="0" smtClean="0"/>
              <a:t>  </a:t>
            </a:r>
            <a:r>
              <a:rPr lang="ru-RU" sz="2000" dirty="0"/>
              <a:t>инкрементирует  свое  состояние.  Следующее  состояние  зависит  только  от предыдущего.  Такой  процесс  реализуется  с  помощью  памяти  ROM,  в  которую  записывается  таблица  состояний,  далее  память  работает  без  режима  записи.  Счетчик начинает  работать  с  нулевого  состояния  (если  не  предусматривается  иное).  Это  состояние  является  адресом,  по  которому  в  памяти  записана  единица.  Операция  чтения даст  на  выходе  единицу,  которая  явится  адресом  для  следующего  считывания.  По  единичному  адресу  записана  двойка  и  т.  д.  Таким  образом,  при  подаче  </a:t>
            </a:r>
            <a:r>
              <a:rPr lang="ru-RU" sz="2000" dirty="0" smtClean="0"/>
              <a:t>очередного  </a:t>
            </a:r>
            <a:r>
              <a:rPr lang="ru-RU" sz="2000" dirty="0"/>
              <a:t>входного  сигнала  состояние  счетчика  изменяется  на  единицу.  В  конце  счета вырабатывается  сигнал,  который  возвращает  счетчик  в  нулевое  состояние. </a:t>
            </a:r>
          </a:p>
        </p:txBody>
      </p:sp>
      <p:sp>
        <p:nvSpPr>
          <p:cNvPr id="7" name="TextBox 6"/>
          <p:cNvSpPr txBox="1"/>
          <p:nvPr/>
        </p:nvSpPr>
        <p:spPr>
          <a:xfrm>
            <a:off x="1187624" y="5229200"/>
            <a:ext cx="7399398" cy="369332"/>
          </a:xfrm>
          <a:prstGeom prst="rect">
            <a:avLst/>
          </a:prstGeom>
          <a:noFill/>
        </p:spPr>
        <p:txBody>
          <a:bodyPr wrap="none" rtlCol="0">
            <a:spAutoFit/>
          </a:bodyPr>
          <a:lstStyle/>
          <a:p>
            <a:r>
              <a:rPr lang="ru-RU" b="1" dirty="0" smtClean="0">
                <a:solidFill>
                  <a:srgbClr val="FF0000"/>
                </a:solidFill>
              </a:rPr>
              <a:t>Какая ранее рассмотренная система реализовывала данную функцию?</a:t>
            </a:r>
            <a:endParaRPr lang="ru-RU" b="1" dirty="0">
              <a:solidFill>
                <a:srgbClr val="FF0000"/>
              </a:solidFill>
            </a:endParaRPr>
          </a:p>
        </p:txBody>
      </p:sp>
    </p:spTree>
    <p:extLst>
      <p:ext uri="{BB962C8B-B14F-4D97-AF65-F5344CB8AC3E}">
        <p14:creationId xmlns:p14="http://schemas.microsoft.com/office/powerpoint/2010/main" val="331194228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4018" y="2780928"/>
            <a:ext cx="7868436" cy="369332"/>
          </a:xfrm>
          <a:prstGeom prst="rect">
            <a:avLst/>
          </a:prstGeom>
          <a:noFill/>
        </p:spPr>
        <p:txBody>
          <a:bodyPr wrap="none" rtlCol="0">
            <a:spAutoFit/>
          </a:bodyPr>
          <a:lstStyle/>
          <a:p>
            <a:r>
              <a:rPr lang="ru-RU" b="1" dirty="0" smtClean="0">
                <a:solidFill>
                  <a:srgbClr val="FF0000"/>
                </a:solidFill>
              </a:rPr>
              <a:t>Смотри реализацию на МПА , соответствующую прошивку и входной код 00</a:t>
            </a:r>
            <a:endParaRPr lang="ru-RU" b="1" dirty="0">
              <a:solidFill>
                <a:srgbClr val="FF0000"/>
              </a:solidFill>
            </a:endParaRPr>
          </a:p>
        </p:txBody>
      </p:sp>
    </p:spTree>
    <p:extLst>
      <p:ext uri="{BB962C8B-B14F-4D97-AF65-F5344CB8AC3E}">
        <p14:creationId xmlns:p14="http://schemas.microsoft.com/office/powerpoint/2010/main" val="164666273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476672"/>
            <a:ext cx="8784976" cy="2246769"/>
          </a:xfrm>
          <a:prstGeom prst="rect">
            <a:avLst/>
          </a:prstGeom>
        </p:spPr>
        <p:txBody>
          <a:bodyPr wrap="square">
            <a:spAutoFit/>
          </a:bodyPr>
          <a:lstStyle/>
          <a:p>
            <a:r>
              <a:rPr lang="ru-RU" sz="2000" b="1" dirty="0" smtClean="0"/>
              <a:t>Умножители  </a:t>
            </a:r>
            <a:r>
              <a:rPr lang="ru-RU" sz="2000" b="1" dirty="0"/>
              <a:t>и  блоки  </a:t>
            </a:r>
            <a:r>
              <a:rPr lang="ru-RU" sz="2000" b="1" dirty="0" smtClean="0"/>
              <a:t>ЦОС </a:t>
            </a:r>
            <a:r>
              <a:rPr lang="en-US" sz="2000" b="1" dirty="0" smtClean="0"/>
              <a:t>(</a:t>
            </a:r>
            <a:r>
              <a:rPr lang="ru-RU" sz="2000" b="1" dirty="0" smtClean="0"/>
              <a:t>Цифровой Обработки Сигналов) </a:t>
            </a:r>
          </a:p>
          <a:p>
            <a:endParaRPr lang="ru-RU" sz="2000" dirty="0"/>
          </a:p>
          <a:p>
            <a:r>
              <a:rPr lang="ru-RU" sz="2000" dirty="0"/>
              <a:t>Встроенные  умножители  стали  вводить  в  состав  FPGA  со  времени  достижения  ими </a:t>
            </a:r>
            <a:r>
              <a:rPr lang="ru-RU" sz="2000" dirty="0" smtClean="0"/>
              <a:t>уровня  </a:t>
            </a:r>
            <a:r>
              <a:rPr lang="ru-RU" sz="2000" dirty="0"/>
              <a:t>средней  сложности.  В  FPGA  высшей  сложности,  ориентированные  на  </a:t>
            </a:r>
            <a:r>
              <a:rPr lang="ru-RU" sz="2000" dirty="0" smtClean="0"/>
              <a:t>решение  </a:t>
            </a:r>
            <a:r>
              <a:rPr lang="ru-RU" sz="2000" dirty="0"/>
              <a:t>задач  обработки  сигналов,  вводятся  блоки  цифровой  обработки  сигналов, </a:t>
            </a:r>
            <a:r>
              <a:rPr lang="ru-RU" sz="2000" dirty="0" smtClean="0"/>
              <a:t> выполняющие  </a:t>
            </a:r>
            <a:r>
              <a:rPr lang="ru-RU" sz="2000" dirty="0"/>
              <a:t>базовые  операции  ЦОС  (умножение-накопление  и  др</a:t>
            </a:r>
            <a:r>
              <a:rPr lang="ru-RU" sz="2000" dirty="0" smtClean="0"/>
              <a:t>.)</a:t>
            </a:r>
            <a:r>
              <a:rPr lang="en-US" sz="2000" dirty="0" smtClean="0"/>
              <a:t> (DSP)</a:t>
            </a:r>
            <a:r>
              <a:rPr lang="ru-RU" sz="2000" dirty="0" smtClean="0"/>
              <a:t>. </a:t>
            </a:r>
            <a:endParaRPr lang="ru-RU" sz="2000" dirty="0"/>
          </a:p>
        </p:txBody>
      </p:sp>
    </p:spTree>
    <p:extLst>
      <p:ext uri="{BB962C8B-B14F-4D97-AF65-F5344CB8AC3E}">
        <p14:creationId xmlns:p14="http://schemas.microsoft.com/office/powerpoint/2010/main" val="244678175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188640"/>
            <a:ext cx="8712968" cy="2862322"/>
          </a:xfrm>
          <a:prstGeom prst="rect">
            <a:avLst/>
          </a:prstGeom>
        </p:spPr>
        <p:txBody>
          <a:bodyPr wrap="square">
            <a:spAutoFit/>
          </a:bodyPr>
          <a:lstStyle/>
          <a:p>
            <a:r>
              <a:rPr lang="ru-RU" b="1" dirty="0"/>
              <a:t>Цифровая  фильтрация.  </a:t>
            </a:r>
            <a:endParaRPr lang="en-US" b="1" dirty="0"/>
          </a:p>
          <a:p>
            <a:r>
              <a:rPr lang="ru-RU" dirty="0"/>
              <a:t>Фильтрация  состоит  в  разделении  сигнала  на  составляющие  по  частотному  признаку.  </a:t>
            </a:r>
            <a:endParaRPr lang="en-US" dirty="0" smtClean="0"/>
          </a:p>
          <a:p>
            <a:endParaRPr lang="en-US" dirty="0"/>
          </a:p>
          <a:p>
            <a:r>
              <a:rPr lang="ru-RU" dirty="0"/>
              <a:t>Фильтры  низкой  частоты  (ФНЧ)  пропускают сигналы  в  полосе  частот  от  нулевой  до  граничной  и  подавляют  сигналы  более высоких  частот.  Фильтры  высокой  частоты  (ФВЧ)  выполняют  обратную  </a:t>
            </a:r>
            <a:r>
              <a:rPr lang="ru-RU" dirty="0" smtClean="0"/>
              <a:t>задачу</a:t>
            </a:r>
            <a:r>
              <a:rPr lang="en-US" dirty="0"/>
              <a:t>.</a:t>
            </a:r>
            <a:endParaRPr lang="ru-RU" dirty="0"/>
          </a:p>
          <a:p>
            <a:r>
              <a:rPr lang="ru-RU" dirty="0"/>
              <a:t>П</a:t>
            </a:r>
            <a:r>
              <a:rPr lang="ru-RU" dirty="0" smtClean="0"/>
              <a:t>олосовые  </a:t>
            </a:r>
            <a:r>
              <a:rPr lang="ru-RU" dirty="0"/>
              <a:t>фильтры  (ПФ)  пропускают  сигналы  с  частотами,  лежащими  в  некотором  диапазоне,  и  подавляют  сигналы  с  частотами,  расположенными  вне  этого </a:t>
            </a:r>
            <a:r>
              <a:rPr lang="en-US" dirty="0"/>
              <a:t> </a:t>
            </a:r>
            <a:r>
              <a:rPr lang="ru-RU" dirty="0"/>
              <a:t>диапазона</a:t>
            </a:r>
            <a:r>
              <a:rPr lang="ru-RU" dirty="0" smtClean="0"/>
              <a:t>.</a:t>
            </a:r>
            <a:endParaRPr lang="en-US" dirty="0"/>
          </a:p>
        </p:txBody>
      </p:sp>
      <p:graphicFrame>
        <p:nvGraphicFramePr>
          <p:cNvPr id="5" name="Объект 4"/>
          <p:cNvGraphicFramePr>
            <a:graphicFrameLocks noChangeAspect="1"/>
          </p:cNvGraphicFramePr>
          <p:nvPr>
            <p:extLst>
              <p:ext uri="{D42A27DB-BD31-4B8C-83A1-F6EECF244321}">
                <p14:modId xmlns:p14="http://schemas.microsoft.com/office/powerpoint/2010/main" val="587708388"/>
              </p:ext>
            </p:extLst>
          </p:nvPr>
        </p:nvGraphicFramePr>
        <p:xfrm>
          <a:off x="62936" y="3516149"/>
          <a:ext cx="3833551" cy="1343719"/>
        </p:xfrm>
        <a:graphic>
          <a:graphicData uri="http://schemas.openxmlformats.org/presentationml/2006/ole">
            <mc:AlternateContent xmlns:mc="http://schemas.openxmlformats.org/markup-compatibility/2006">
              <mc:Choice xmlns:v="urn:schemas-microsoft-com:vml" Requires="v">
                <p:oleObj spid="_x0000_s58623" name="Equation" r:id="rId3" imgW="1231560" imgH="431640" progId="Equation.DSMT4">
                  <p:embed/>
                </p:oleObj>
              </mc:Choice>
              <mc:Fallback>
                <p:oleObj name="Equation" r:id="rId3" imgW="1231560" imgH="431640" progId="Equation.DSMT4">
                  <p:embed/>
                  <p:pic>
                    <p:nvPicPr>
                      <p:cNvPr id="0" name=""/>
                      <p:cNvPicPr/>
                      <p:nvPr/>
                    </p:nvPicPr>
                    <p:blipFill>
                      <a:blip r:embed="rId4"/>
                      <a:stretch>
                        <a:fillRect/>
                      </a:stretch>
                    </p:blipFill>
                    <p:spPr>
                      <a:xfrm>
                        <a:off x="62936" y="3516149"/>
                        <a:ext cx="3833551" cy="1343719"/>
                      </a:xfrm>
                      <a:prstGeom prst="rect">
                        <a:avLst/>
                      </a:prstGeom>
                    </p:spPr>
                  </p:pic>
                </p:oleObj>
              </mc:Fallback>
            </mc:AlternateContent>
          </a:graphicData>
        </a:graphic>
      </p:graphicFrame>
      <p:sp>
        <p:nvSpPr>
          <p:cNvPr id="7" name="TextBox 6"/>
          <p:cNvSpPr txBox="1"/>
          <p:nvPr/>
        </p:nvSpPr>
        <p:spPr>
          <a:xfrm>
            <a:off x="1921138" y="3004671"/>
            <a:ext cx="5124160" cy="646331"/>
          </a:xfrm>
          <a:prstGeom prst="rect">
            <a:avLst/>
          </a:prstGeom>
          <a:noFill/>
        </p:spPr>
        <p:txBody>
          <a:bodyPr wrap="none" rtlCol="0">
            <a:spAutoFit/>
          </a:bodyPr>
          <a:lstStyle/>
          <a:p>
            <a:pPr algn="ctr"/>
            <a:r>
              <a:rPr lang="ru-RU" b="1" dirty="0" err="1" smtClean="0"/>
              <a:t>Нерекурсивный</a:t>
            </a:r>
            <a:r>
              <a:rPr lang="ru-RU" b="1" dirty="0" smtClean="0"/>
              <a:t> фильтр</a:t>
            </a:r>
          </a:p>
          <a:p>
            <a:pPr algn="ctr"/>
            <a:r>
              <a:rPr lang="ru-RU" b="1" dirty="0" smtClean="0"/>
              <a:t>Фильтр с конечной импульсной характеристикой</a:t>
            </a:r>
            <a:endParaRPr lang="ru-RU" b="1" dirty="0"/>
          </a:p>
        </p:txBody>
      </p:sp>
      <p:sp>
        <p:nvSpPr>
          <p:cNvPr id="8" name="TextBox 7"/>
          <p:cNvSpPr txBox="1"/>
          <p:nvPr/>
        </p:nvSpPr>
        <p:spPr>
          <a:xfrm>
            <a:off x="220422" y="5412978"/>
            <a:ext cx="3264483" cy="923330"/>
          </a:xfrm>
          <a:prstGeom prst="rect">
            <a:avLst/>
          </a:prstGeom>
          <a:noFill/>
        </p:spPr>
        <p:txBody>
          <a:bodyPr wrap="none" rtlCol="0">
            <a:spAutoFit/>
          </a:bodyPr>
          <a:lstStyle/>
          <a:p>
            <a:r>
              <a:rPr lang="en-US" dirty="0" smtClean="0"/>
              <a:t>y(k)- </a:t>
            </a:r>
            <a:r>
              <a:rPr lang="ru-RU" dirty="0" smtClean="0"/>
              <a:t>выходной сигнал</a:t>
            </a:r>
          </a:p>
          <a:p>
            <a:r>
              <a:rPr lang="en-US" dirty="0" smtClean="0"/>
              <a:t>x(k)- </a:t>
            </a:r>
            <a:r>
              <a:rPr lang="ru-RU" dirty="0" smtClean="0"/>
              <a:t>выходной сигнал</a:t>
            </a:r>
          </a:p>
          <a:p>
            <a:r>
              <a:rPr lang="en-US" dirty="0" smtClean="0"/>
              <a:t>b- </a:t>
            </a:r>
            <a:r>
              <a:rPr lang="ru-RU" dirty="0" smtClean="0"/>
              <a:t>коэффициенты  фильтра КИХ</a:t>
            </a:r>
            <a:endParaRPr lang="ru-RU" dirty="0"/>
          </a:p>
        </p:txBody>
      </p:sp>
      <p:sp>
        <p:nvSpPr>
          <p:cNvPr id="9" name="TextBox 8"/>
          <p:cNvSpPr txBox="1"/>
          <p:nvPr/>
        </p:nvSpPr>
        <p:spPr>
          <a:xfrm>
            <a:off x="5904295" y="3789040"/>
            <a:ext cx="1144865" cy="369332"/>
          </a:xfrm>
          <a:prstGeom prst="rect">
            <a:avLst/>
          </a:prstGeom>
          <a:noFill/>
        </p:spPr>
        <p:txBody>
          <a:bodyPr wrap="none" rtlCol="0">
            <a:spAutoFit/>
          </a:bodyPr>
          <a:lstStyle/>
          <a:p>
            <a:r>
              <a:rPr lang="en-US" dirty="0" smtClean="0"/>
              <a:t>{0,1,1,1,0}</a:t>
            </a:r>
            <a:endParaRPr lang="ru-RU" dirty="0"/>
          </a:p>
        </p:txBody>
      </p:sp>
      <p:sp>
        <p:nvSpPr>
          <p:cNvPr id="13" name="TextBox 12"/>
          <p:cNvSpPr txBox="1"/>
          <p:nvPr/>
        </p:nvSpPr>
        <p:spPr>
          <a:xfrm>
            <a:off x="5904295" y="4527704"/>
            <a:ext cx="1144865" cy="369332"/>
          </a:xfrm>
          <a:prstGeom prst="rect">
            <a:avLst/>
          </a:prstGeom>
          <a:noFill/>
        </p:spPr>
        <p:txBody>
          <a:bodyPr wrap="none" rtlCol="0">
            <a:spAutoFit/>
          </a:bodyPr>
          <a:lstStyle/>
          <a:p>
            <a:r>
              <a:rPr lang="en-US" dirty="0" smtClean="0"/>
              <a:t>{0,1,1,1,0}</a:t>
            </a:r>
            <a:endParaRPr lang="ru-RU" dirty="0"/>
          </a:p>
        </p:txBody>
      </p:sp>
      <p:sp>
        <p:nvSpPr>
          <p:cNvPr id="15" name="TextBox 14"/>
          <p:cNvSpPr txBox="1"/>
          <p:nvPr/>
        </p:nvSpPr>
        <p:spPr>
          <a:xfrm>
            <a:off x="5904295" y="5228312"/>
            <a:ext cx="1144865" cy="369332"/>
          </a:xfrm>
          <a:prstGeom prst="rect">
            <a:avLst/>
          </a:prstGeom>
          <a:noFill/>
        </p:spPr>
        <p:txBody>
          <a:bodyPr wrap="none" rtlCol="0">
            <a:spAutoFit/>
          </a:bodyPr>
          <a:lstStyle/>
          <a:p>
            <a:r>
              <a:rPr lang="en-US" dirty="0" smtClean="0"/>
              <a:t>{0,1,1,1,0}</a:t>
            </a:r>
            <a:endParaRPr lang="ru-RU" dirty="0"/>
          </a:p>
        </p:txBody>
      </p:sp>
      <p:sp>
        <p:nvSpPr>
          <p:cNvPr id="17" name="TextBox 16"/>
          <p:cNvSpPr txBox="1"/>
          <p:nvPr/>
        </p:nvSpPr>
        <p:spPr>
          <a:xfrm>
            <a:off x="5904295" y="5889433"/>
            <a:ext cx="1144865" cy="369332"/>
          </a:xfrm>
          <a:prstGeom prst="rect">
            <a:avLst/>
          </a:prstGeom>
          <a:noFill/>
        </p:spPr>
        <p:txBody>
          <a:bodyPr wrap="none" rtlCol="0">
            <a:spAutoFit/>
          </a:bodyPr>
          <a:lstStyle/>
          <a:p>
            <a:r>
              <a:rPr lang="en-US" dirty="0" smtClean="0"/>
              <a:t>{0,1,1,1,0}</a:t>
            </a:r>
            <a:endParaRPr lang="ru-RU" dirty="0"/>
          </a:p>
        </p:txBody>
      </p:sp>
      <p:cxnSp>
        <p:nvCxnSpPr>
          <p:cNvPr id="20" name="Прямая соединительная линия 19"/>
          <p:cNvCxnSpPr/>
          <p:nvPr/>
        </p:nvCxnSpPr>
        <p:spPr>
          <a:xfrm>
            <a:off x="4954416" y="4527704"/>
            <a:ext cx="324036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563401" y="3789040"/>
            <a:ext cx="284052" cy="369332"/>
          </a:xfrm>
          <a:prstGeom prst="rect">
            <a:avLst/>
          </a:prstGeom>
          <a:noFill/>
        </p:spPr>
        <p:txBody>
          <a:bodyPr wrap="none" rtlCol="0">
            <a:spAutoFit/>
          </a:bodyPr>
          <a:lstStyle/>
          <a:p>
            <a:r>
              <a:rPr lang="en-US" dirty="0" smtClean="0"/>
              <a:t>x</a:t>
            </a:r>
            <a:endParaRPr lang="ru-RU" dirty="0"/>
          </a:p>
        </p:txBody>
      </p:sp>
      <p:sp>
        <p:nvSpPr>
          <p:cNvPr id="22" name="TextBox 21"/>
          <p:cNvSpPr txBox="1"/>
          <p:nvPr/>
        </p:nvSpPr>
        <p:spPr>
          <a:xfrm>
            <a:off x="5563401" y="4106856"/>
            <a:ext cx="306494" cy="369332"/>
          </a:xfrm>
          <a:prstGeom prst="rect">
            <a:avLst/>
          </a:prstGeom>
          <a:noFill/>
        </p:spPr>
        <p:txBody>
          <a:bodyPr wrap="none" rtlCol="0">
            <a:spAutoFit/>
          </a:bodyPr>
          <a:lstStyle/>
          <a:p>
            <a:r>
              <a:rPr lang="en-US" dirty="0" smtClean="0"/>
              <a:t>b</a:t>
            </a:r>
            <a:endParaRPr lang="ru-RU" dirty="0"/>
          </a:p>
        </p:txBody>
      </p:sp>
      <p:sp>
        <p:nvSpPr>
          <p:cNvPr id="23" name="TextBox 22"/>
          <p:cNvSpPr txBox="1"/>
          <p:nvPr/>
        </p:nvSpPr>
        <p:spPr>
          <a:xfrm>
            <a:off x="5585843" y="4530561"/>
            <a:ext cx="284052" cy="369332"/>
          </a:xfrm>
          <a:prstGeom prst="rect">
            <a:avLst/>
          </a:prstGeom>
          <a:noFill/>
        </p:spPr>
        <p:txBody>
          <a:bodyPr wrap="none" rtlCol="0">
            <a:spAutoFit/>
          </a:bodyPr>
          <a:lstStyle/>
          <a:p>
            <a:r>
              <a:rPr lang="en-US" dirty="0" smtClean="0"/>
              <a:t>x</a:t>
            </a:r>
            <a:endParaRPr lang="ru-RU" dirty="0"/>
          </a:p>
        </p:txBody>
      </p:sp>
      <p:sp>
        <p:nvSpPr>
          <p:cNvPr id="24" name="TextBox 23"/>
          <p:cNvSpPr txBox="1"/>
          <p:nvPr/>
        </p:nvSpPr>
        <p:spPr>
          <a:xfrm>
            <a:off x="5597801" y="4805380"/>
            <a:ext cx="306494" cy="369332"/>
          </a:xfrm>
          <a:prstGeom prst="rect">
            <a:avLst/>
          </a:prstGeom>
          <a:noFill/>
        </p:spPr>
        <p:txBody>
          <a:bodyPr wrap="none" rtlCol="0">
            <a:spAutoFit/>
          </a:bodyPr>
          <a:lstStyle/>
          <a:p>
            <a:r>
              <a:rPr lang="en-US" dirty="0" smtClean="0"/>
              <a:t>b</a:t>
            </a:r>
            <a:endParaRPr lang="ru-RU" dirty="0"/>
          </a:p>
        </p:txBody>
      </p:sp>
      <p:cxnSp>
        <p:nvCxnSpPr>
          <p:cNvPr id="25" name="Прямая соединительная линия 24"/>
          <p:cNvCxnSpPr/>
          <p:nvPr/>
        </p:nvCxnSpPr>
        <p:spPr>
          <a:xfrm>
            <a:off x="4996740" y="5228312"/>
            <a:ext cx="3240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a:off x="4968242" y="5894506"/>
            <a:ext cx="3240360"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573775" y="5224661"/>
            <a:ext cx="284052" cy="369332"/>
          </a:xfrm>
          <a:prstGeom prst="rect">
            <a:avLst/>
          </a:prstGeom>
          <a:noFill/>
        </p:spPr>
        <p:txBody>
          <a:bodyPr wrap="none" rtlCol="0">
            <a:spAutoFit/>
          </a:bodyPr>
          <a:lstStyle/>
          <a:p>
            <a:r>
              <a:rPr lang="en-US" dirty="0" smtClean="0"/>
              <a:t>x</a:t>
            </a:r>
            <a:endParaRPr lang="ru-RU" dirty="0"/>
          </a:p>
        </p:txBody>
      </p:sp>
      <p:sp>
        <p:nvSpPr>
          <p:cNvPr id="28" name="TextBox 27"/>
          <p:cNvSpPr txBox="1"/>
          <p:nvPr/>
        </p:nvSpPr>
        <p:spPr>
          <a:xfrm>
            <a:off x="5573775" y="5542477"/>
            <a:ext cx="306494" cy="369332"/>
          </a:xfrm>
          <a:prstGeom prst="rect">
            <a:avLst/>
          </a:prstGeom>
          <a:noFill/>
        </p:spPr>
        <p:txBody>
          <a:bodyPr wrap="none" rtlCol="0">
            <a:spAutoFit/>
          </a:bodyPr>
          <a:lstStyle/>
          <a:p>
            <a:r>
              <a:rPr lang="en-US" dirty="0" smtClean="0"/>
              <a:t>b</a:t>
            </a:r>
            <a:endParaRPr lang="ru-RU" dirty="0"/>
          </a:p>
        </p:txBody>
      </p:sp>
      <p:sp>
        <p:nvSpPr>
          <p:cNvPr id="30" name="TextBox 29"/>
          <p:cNvSpPr txBox="1"/>
          <p:nvPr/>
        </p:nvSpPr>
        <p:spPr>
          <a:xfrm>
            <a:off x="5573775" y="5941658"/>
            <a:ext cx="284052" cy="369332"/>
          </a:xfrm>
          <a:prstGeom prst="rect">
            <a:avLst/>
          </a:prstGeom>
          <a:noFill/>
        </p:spPr>
        <p:txBody>
          <a:bodyPr wrap="none" rtlCol="0">
            <a:spAutoFit/>
          </a:bodyPr>
          <a:lstStyle/>
          <a:p>
            <a:r>
              <a:rPr lang="en-US" dirty="0" smtClean="0"/>
              <a:t>x</a:t>
            </a:r>
            <a:endParaRPr lang="ru-RU" dirty="0"/>
          </a:p>
        </p:txBody>
      </p:sp>
      <p:sp>
        <p:nvSpPr>
          <p:cNvPr id="31" name="TextBox 30"/>
          <p:cNvSpPr txBox="1"/>
          <p:nvPr/>
        </p:nvSpPr>
        <p:spPr>
          <a:xfrm>
            <a:off x="5573775" y="6259474"/>
            <a:ext cx="306494" cy="369332"/>
          </a:xfrm>
          <a:prstGeom prst="rect">
            <a:avLst/>
          </a:prstGeom>
          <a:noFill/>
        </p:spPr>
        <p:txBody>
          <a:bodyPr wrap="none" rtlCol="0">
            <a:spAutoFit/>
          </a:bodyPr>
          <a:lstStyle/>
          <a:p>
            <a:r>
              <a:rPr lang="en-US" dirty="0" smtClean="0"/>
              <a:t>b</a:t>
            </a:r>
            <a:endParaRPr lang="ru-RU" dirty="0"/>
          </a:p>
        </p:txBody>
      </p:sp>
      <p:cxnSp>
        <p:nvCxnSpPr>
          <p:cNvPr id="34" name="Прямая соединительная линия 33"/>
          <p:cNvCxnSpPr/>
          <p:nvPr/>
        </p:nvCxnSpPr>
        <p:spPr>
          <a:xfrm>
            <a:off x="7956376" y="3789040"/>
            <a:ext cx="0" cy="2839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5220072" y="3973706"/>
            <a:ext cx="0" cy="2655100"/>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4715601" y="3604374"/>
            <a:ext cx="288862" cy="369332"/>
          </a:xfrm>
          <a:prstGeom prst="rect">
            <a:avLst/>
          </a:prstGeom>
          <a:noFill/>
        </p:spPr>
        <p:txBody>
          <a:bodyPr wrap="none" rtlCol="0">
            <a:spAutoFit/>
          </a:bodyPr>
          <a:lstStyle/>
          <a:p>
            <a:r>
              <a:rPr lang="en-US" dirty="0" smtClean="0"/>
              <a:t>k</a:t>
            </a:r>
            <a:endParaRPr lang="ru-RU" dirty="0"/>
          </a:p>
        </p:txBody>
      </p:sp>
      <p:sp>
        <p:nvSpPr>
          <p:cNvPr id="38" name="TextBox 37"/>
          <p:cNvSpPr txBox="1"/>
          <p:nvPr/>
        </p:nvSpPr>
        <p:spPr>
          <a:xfrm>
            <a:off x="4741119" y="4158372"/>
            <a:ext cx="301686" cy="369332"/>
          </a:xfrm>
          <a:prstGeom prst="rect">
            <a:avLst/>
          </a:prstGeom>
          <a:noFill/>
        </p:spPr>
        <p:txBody>
          <a:bodyPr wrap="none" rtlCol="0">
            <a:spAutoFit/>
          </a:bodyPr>
          <a:lstStyle/>
          <a:p>
            <a:r>
              <a:rPr lang="en-US" dirty="0" smtClean="0"/>
              <a:t>1</a:t>
            </a:r>
            <a:endParaRPr lang="ru-RU" dirty="0"/>
          </a:p>
        </p:txBody>
      </p:sp>
      <p:sp>
        <p:nvSpPr>
          <p:cNvPr id="39" name="TextBox 38"/>
          <p:cNvSpPr txBox="1"/>
          <p:nvPr/>
        </p:nvSpPr>
        <p:spPr>
          <a:xfrm>
            <a:off x="4741119" y="4733179"/>
            <a:ext cx="301686" cy="369332"/>
          </a:xfrm>
          <a:prstGeom prst="rect">
            <a:avLst/>
          </a:prstGeom>
          <a:noFill/>
        </p:spPr>
        <p:txBody>
          <a:bodyPr wrap="none" rtlCol="0">
            <a:spAutoFit/>
          </a:bodyPr>
          <a:lstStyle/>
          <a:p>
            <a:r>
              <a:rPr lang="en-US" dirty="0"/>
              <a:t>2</a:t>
            </a:r>
            <a:endParaRPr lang="ru-RU" dirty="0"/>
          </a:p>
        </p:txBody>
      </p:sp>
      <p:sp>
        <p:nvSpPr>
          <p:cNvPr id="40" name="TextBox 39"/>
          <p:cNvSpPr txBox="1"/>
          <p:nvPr/>
        </p:nvSpPr>
        <p:spPr>
          <a:xfrm>
            <a:off x="4741119" y="5301587"/>
            <a:ext cx="301686" cy="369332"/>
          </a:xfrm>
          <a:prstGeom prst="rect">
            <a:avLst/>
          </a:prstGeom>
          <a:noFill/>
        </p:spPr>
        <p:txBody>
          <a:bodyPr wrap="none" rtlCol="0">
            <a:spAutoFit/>
          </a:bodyPr>
          <a:lstStyle/>
          <a:p>
            <a:r>
              <a:rPr lang="en-US" dirty="0" smtClean="0"/>
              <a:t>3</a:t>
            </a:r>
            <a:endParaRPr lang="ru-RU" dirty="0"/>
          </a:p>
        </p:txBody>
      </p:sp>
      <p:sp>
        <p:nvSpPr>
          <p:cNvPr id="41" name="TextBox 40"/>
          <p:cNvSpPr txBox="1"/>
          <p:nvPr/>
        </p:nvSpPr>
        <p:spPr>
          <a:xfrm>
            <a:off x="4741119" y="5979551"/>
            <a:ext cx="301686" cy="369332"/>
          </a:xfrm>
          <a:prstGeom prst="rect">
            <a:avLst/>
          </a:prstGeom>
          <a:noFill/>
        </p:spPr>
        <p:txBody>
          <a:bodyPr wrap="none" rtlCol="0">
            <a:spAutoFit/>
          </a:bodyPr>
          <a:lstStyle/>
          <a:p>
            <a:r>
              <a:rPr lang="en-US" dirty="0"/>
              <a:t>4</a:t>
            </a:r>
            <a:endParaRPr lang="ru-RU" dirty="0"/>
          </a:p>
        </p:txBody>
      </p:sp>
      <p:sp>
        <p:nvSpPr>
          <p:cNvPr id="42" name="TextBox 41"/>
          <p:cNvSpPr txBox="1"/>
          <p:nvPr/>
        </p:nvSpPr>
        <p:spPr>
          <a:xfrm>
            <a:off x="8092669" y="3604374"/>
            <a:ext cx="288862" cy="369332"/>
          </a:xfrm>
          <a:prstGeom prst="rect">
            <a:avLst/>
          </a:prstGeom>
          <a:noFill/>
        </p:spPr>
        <p:txBody>
          <a:bodyPr wrap="none" rtlCol="0">
            <a:spAutoFit/>
          </a:bodyPr>
          <a:lstStyle/>
          <a:p>
            <a:r>
              <a:rPr lang="en-US" dirty="0"/>
              <a:t>y</a:t>
            </a:r>
            <a:endParaRPr lang="ru-RU" dirty="0"/>
          </a:p>
        </p:txBody>
      </p:sp>
      <p:graphicFrame>
        <p:nvGraphicFramePr>
          <p:cNvPr id="46" name="Объект 45"/>
          <p:cNvGraphicFramePr>
            <a:graphicFrameLocks noChangeAspect="1"/>
          </p:cNvGraphicFramePr>
          <p:nvPr>
            <p:extLst>
              <p:ext uri="{D42A27DB-BD31-4B8C-83A1-F6EECF244321}">
                <p14:modId xmlns:p14="http://schemas.microsoft.com/office/powerpoint/2010/main" val="357382356"/>
              </p:ext>
            </p:extLst>
          </p:nvPr>
        </p:nvGraphicFramePr>
        <p:xfrm>
          <a:off x="6700974" y="4082488"/>
          <a:ext cx="571500" cy="393700"/>
        </p:xfrm>
        <a:graphic>
          <a:graphicData uri="http://schemas.openxmlformats.org/presentationml/2006/ole">
            <mc:AlternateContent xmlns:mc="http://schemas.openxmlformats.org/markup-compatibility/2006">
              <mc:Choice xmlns:v="urn:schemas-microsoft-com:vml" Requires="v">
                <p:oleObj spid="_x0000_s58624" name="Equation" r:id="rId5" imgW="571320" imgH="393480" progId="Equation.DSMT4">
                  <p:embed/>
                </p:oleObj>
              </mc:Choice>
              <mc:Fallback>
                <p:oleObj name="Equation" r:id="rId5" imgW="571320" imgH="393480" progId="Equation.DSMT4">
                  <p:embed/>
                  <p:pic>
                    <p:nvPicPr>
                      <p:cNvPr id="0" name=""/>
                      <p:cNvPicPr/>
                      <p:nvPr/>
                    </p:nvPicPr>
                    <p:blipFill>
                      <a:blip r:embed="rId6"/>
                      <a:stretch>
                        <a:fillRect/>
                      </a:stretch>
                    </p:blipFill>
                    <p:spPr>
                      <a:xfrm>
                        <a:off x="6700974" y="4082488"/>
                        <a:ext cx="571500" cy="393700"/>
                      </a:xfrm>
                      <a:prstGeom prst="rect">
                        <a:avLst/>
                      </a:prstGeom>
                    </p:spPr>
                  </p:pic>
                </p:oleObj>
              </mc:Fallback>
            </mc:AlternateContent>
          </a:graphicData>
        </a:graphic>
      </p:graphicFrame>
      <p:graphicFrame>
        <p:nvGraphicFramePr>
          <p:cNvPr id="47" name="Объект 46"/>
          <p:cNvGraphicFramePr>
            <a:graphicFrameLocks noChangeAspect="1"/>
          </p:cNvGraphicFramePr>
          <p:nvPr>
            <p:extLst>
              <p:ext uri="{D42A27DB-BD31-4B8C-83A1-F6EECF244321}">
                <p14:modId xmlns:p14="http://schemas.microsoft.com/office/powerpoint/2010/main" val="1454906457"/>
              </p:ext>
            </p:extLst>
          </p:nvPr>
        </p:nvGraphicFramePr>
        <p:xfrm>
          <a:off x="6530489" y="4834612"/>
          <a:ext cx="571500" cy="393700"/>
        </p:xfrm>
        <a:graphic>
          <a:graphicData uri="http://schemas.openxmlformats.org/presentationml/2006/ole">
            <mc:AlternateContent xmlns:mc="http://schemas.openxmlformats.org/markup-compatibility/2006">
              <mc:Choice xmlns:v="urn:schemas-microsoft-com:vml" Requires="v">
                <p:oleObj spid="_x0000_s58625" name="Equation" r:id="rId7" imgW="571320" imgH="393480" progId="Equation.DSMT4">
                  <p:embed/>
                </p:oleObj>
              </mc:Choice>
              <mc:Fallback>
                <p:oleObj name="Equation" r:id="rId7" imgW="571320" imgH="393480" progId="Equation.DSMT4">
                  <p:embed/>
                  <p:pic>
                    <p:nvPicPr>
                      <p:cNvPr id="0" name="Объект 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30489" y="4834612"/>
                        <a:ext cx="5715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Объект 47"/>
          <p:cNvGraphicFramePr>
            <a:graphicFrameLocks noChangeAspect="1"/>
          </p:cNvGraphicFramePr>
          <p:nvPr>
            <p:extLst>
              <p:ext uri="{D42A27DB-BD31-4B8C-83A1-F6EECF244321}">
                <p14:modId xmlns:p14="http://schemas.microsoft.com/office/powerpoint/2010/main" val="3921612496"/>
              </p:ext>
            </p:extLst>
          </p:nvPr>
        </p:nvGraphicFramePr>
        <p:xfrm>
          <a:off x="6369438" y="5530293"/>
          <a:ext cx="571500" cy="393700"/>
        </p:xfrm>
        <a:graphic>
          <a:graphicData uri="http://schemas.openxmlformats.org/presentationml/2006/ole">
            <mc:AlternateContent xmlns:mc="http://schemas.openxmlformats.org/markup-compatibility/2006">
              <mc:Choice xmlns:v="urn:schemas-microsoft-com:vml" Requires="v">
                <p:oleObj spid="_x0000_s58626" name="Equation" r:id="rId9" imgW="571252" imgH="393529" progId="Equation.DSMT4">
                  <p:embed/>
                </p:oleObj>
              </mc:Choice>
              <mc:Fallback>
                <p:oleObj name="Equation" r:id="rId9" imgW="571252" imgH="393529" progId="Equation.DSMT4">
                  <p:embed/>
                  <p:pic>
                    <p:nvPicPr>
                      <p:cNvPr id="0" name="Объект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69438" y="5530293"/>
                        <a:ext cx="571500" cy="393700"/>
                      </a:xfrm>
                      <a:prstGeom prst="rect">
                        <a:avLst/>
                      </a:prstGeom>
                      <a:noFill/>
                      <a:ln>
                        <a:noFill/>
                      </a:ln>
                    </p:spPr>
                  </p:pic>
                </p:oleObj>
              </mc:Fallback>
            </mc:AlternateContent>
          </a:graphicData>
        </a:graphic>
      </p:graphicFrame>
      <p:graphicFrame>
        <p:nvGraphicFramePr>
          <p:cNvPr id="49" name="Объект 48"/>
          <p:cNvGraphicFramePr>
            <a:graphicFrameLocks noChangeAspect="1"/>
          </p:cNvGraphicFramePr>
          <p:nvPr>
            <p:extLst>
              <p:ext uri="{D42A27DB-BD31-4B8C-83A1-F6EECF244321}">
                <p14:modId xmlns:p14="http://schemas.microsoft.com/office/powerpoint/2010/main" val="772924982"/>
              </p:ext>
            </p:extLst>
          </p:nvPr>
        </p:nvGraphicFramePr>
        <p:xfrm>
          <a:off x="6190977" y="6247290"/>
          <a:ext cx="571500" cy="393700"/>
        </p:xfrm>
        <a:graphic>
          <a:graphicData uri="http://schemas.openxmlformats.org/presentationml/2006/ole">
            <mc:AlternateContent xmlns:mc="http://schemas.openxmlformats.org/markup-compatibility/2006">
              <mc:Choice xmlns:v="urn:schemas-microsoft-com:vml" Requires="v">
                <p:oleObj spid="_x0000_s58627" name="Equation" r:id="rId10" imgW="571252" imgH="393529" progId="Equation.DSMT4">
                  <p:embed/>
                </p:oleObj>
              </mc:Choice>
              <mc:Fallback>
                <p:oleObj name="Equation" r:id="rId10" imgW="571252" imgH="393529" progId="Equation.DSMT4">
                  <p:embed/>
                  <p:pic>
                    <p:nvPicPr>
                      <p:cNvPr id="0" name="Объект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90977" y="6247290"/>
                        <a:ext cx="5715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801637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79512" y="1254541"/>
            <a:ext cx="3823987" cy="36007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45638" y="781843"/>
            <a:ext cx="3657861" cy="369332"/>
          </a:xfrm>
          <a:prstGeom prst="rect">
            <a:avLst/>
          </a:prstGeom>
          <a:noFill/>
        </p:spPr>
        <p:txBody>
          <a:bodyPr wrap="none" rtlCol="0">
            <a:spAutoFit/>
          </a:bodyPr>
          <a:lstStyle/>
          <a:p>
            <a:r>
              <a:rPr lang="ru-RU" dirty="0" smtClean="0"/>
              <a:t>Структура </a:t>
            </a:r>
            <a:r>
              <a:rPr lang="ru-RU" dirty="0" err="1" smtClean="0"/>
              <a:t>нерекурсивного</a:t>
            </a:r>
            <a:r>
              <a:rPr lang="ru-RU" dirty="0" smtClean="0"/>
              <a:t> фильтра</a:t>
            </a:r>
            <a:endParaRPr lang="ru-RU" dirty="0"/>
          </a:p>
        </p:txBody>
      </p:sp>
      <p:pic>
        <p:nvPicPr>
          <p:cNvPr id="593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1484784"/>
            <a:ext cx="4239344" cy="3709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5148956" y="844686"/>
            <a:ext cx="3872727" cy="369332"/>
          </a:xfrm>
          <a:prstGeom prst="rect">
            <a:avLst/>
          </a:prstGeom>
          <a:noFill/>
        </p:spPr>
        <p:txBody>
          <a:bodyPr wrap="none" rtlCol="0">
            <a:spAutoFit/>
          </a:bodyPr>
          <a:lstStyle/>
          <a:p>
            <a:r>
              <a:rPr lang="ru-RU" dirty="0" smtClean="0"/>
              <a:t>Размещение блока ЦОС на кристалле</a:t>
            </a:r>
            <a:endParaRPr lang="ru-RU" dirty="0"/>
          </a:p>
        </p:txBody>
      </p:sp>
    </p:spTree>
    <p:extLst>
      <p:ext uri="{BB962C8B-B14F-4D97-AF65-F5344CB8AC3E}">
        <p14:creationId xmlns:p14="http://schemas.microsoft.com/office/powerpoint/2010/main" val="278083013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97346"/>
            <a:ext cx="8712968" cy="3170099"/>
          </a:xfrm>
          <a:prstGeom prst="rect">
            <a:avLst/>
          </a:prstGeom>
        </p:spPr>
        <p:txBody>
          <a:bodyPr wrap="square">
            <a:spAutoFit/>
          </a:bodyPr>
          <a:lstStyle/>
          <a:p>
            <a:r>
              <a:rPr lang="ru-RU" sz="2000" dirty="0"/>
              <a:t> </a:t>
            </a:r>
            <a:r>
              <a:rPr lang="ru-RU" sz="2000" dirty="0">
                <a:solidFill>
                  <a:srgbClr val="FF0000"/>
                </a:solidFill>
              </a:rPr>
              <a:t>Способы  оценки  параметров  </a:t>
            </a:r>
            <a:r>
              <a:rPr lang="ru-RU" sz="2000" dirty="0" smtClean="0">
                <a:solidFill>
                  <a:srgbClr val="FF0000"/>
                </a:solidFill>
              </a:rPr>
              <a:t>ПЛИС </a:t>
            </a:r>
            <a:endParaRPr lang="ru-RU" sz="2000" dirty="0">
              <a:solidFill>
                <a:srgbClr val="FF0000"/>
              </a:solidFill>
            </a:endParaRPr>
          </a:p>
          <a:p>
            <a:r>
              <a:rPr lang="ru-RU" sz="2000" dirty="0"/>
              <a:t>Разнообразие  рынка  программируемых  логических  интегральных  схем  (ПЛИС) </a:t>
            </a:r>
            <a:r>
              <a:rPr lang="ru-RU" sz="2000" dirty="0" smtClean="0"/>
              <a:t>требует  </a:t>
            </a:r>
            <a:r>
              <a:rPr lang="ru-RU" sz="2000" dirty="0"/>
              <a:t>от  разработчиков  аппаратуры  глубокого  знания  особенностей  и  </a:t>
            </a:r>
            <a:r>
              <a:rPr lang="ru-RU" sz="2000" dirty="0" smtClean="0"/>
              <a:t>сравнительных  </a:t>
            </a:r>
            <a:r>
              <a:rPr lang="ru-RU" sz="2000" dirty="0"/>
              <a:t>характеристик  существующих  микросхем.  Полное  описание  в  фирменных </a:t>
            </a:r>
            <a:r>
              <a:rPr lang="ru-RU" sz="2000" dirty="0" smtClean="0"/>
              <a:t>справочниках  </a:t>
            </a:r>
            <a:r>
              <a:rPr lang="ru-RU" sz="2000" dirty="0"/>
              <a:t>более  или  менее  сложной  ПЛИС  занимает  </a:t>
            </a:r>
            <a:r>
              <a:rPr lang="ru-RU" sz="2000" dirty="0" smtClean="0"/>
              <a:t>десятки- сотни  </a:t>
            </a:r>
            <a:r>
              <a:rPr lang="ru-RU" sz="2000" dirty="0"/>
              <a:t>страниц. </a:t>
            </a:r>
            <a:r>
              <a:rPr lang="ru-RU" sz="2000" dirty="0" smtClean="0"/>
              <a:t> Для  </a:t>
            </a:r>
            <a:r>
              <a:rPr lang="ru-RU" sz="2000" dirty="0"/>
              <a:t>предварительной  оценки  ПЛИС  нужно  учесть  хотя  бы  несколько  основных </a:t>
            </a:r>
            <a:r>
              <a:rPr lang="ru-RU" sz="2000" dirty="0" smtClean="0"/>
              <a:t>параметров</a:t>
            </a:r>
            <a:r>
              <a:rPr lang="ru-RU" sz="2000" dirty="0"/>
              <a:t>,  в  первую  очередь  логическую  сложность,  быстродействие,  стоимость, </a:t>
            </a:r>
            <a:r>
              <a:rPr lang="ru-RU" sz="2000" dirty="0" smtClean="0"/>
              <a:t>тип корпуса</a:t>
            </a:r>
            <a:r>
              <a:rPr lang="ru-RU" sz="2000" dirty="0"/>
              <a:t>,  напряжение  питания,  потребляемую  мощность.  Оценки  логической </a:t>
            </a:r>
          </a:p>
          <a:p>
            <a:r>
              <a:rPr lang="ru-RU" sz="2000" dirty="0"/>
              <a:t>сложности  и  быстродействия  ПЛИС  </a:t>
            </a:r>
            <a:r>
              <a:rPr lang="ru-RU" sz="2000" dirty="0" smtClean="0"/>
              <a:t>неоднозначны.</a:t>
            </a:r>
            <a:endParaRPr lang="ru-RU" sz="2000" dirty="0"/>
          </a:p>
        </p:txBody>
      </p:sp>
      <p:sp>
        <p:nvSpPr>
          <p:cNvPr id="5" name="Прямоугольник 4"/>
          <p:cNvSpPr/>
          <p:nvPr/>
        </p:nvSpPr>
        <p:spPr>
          <a:xfrm>
            <a:off x="179512" y="3372445"/>
            <a:ext cx="8838728" cy="3170099"/>
          </a:xfrm>
          <a:prstGeom prst="rect">
            <a:avLst/>
          </a:prstGeom>
        </p:spPr>
        <p:txBody>
          <a:bodyPr wrap="square">
            <a:spAutoFit/>
          </a:bodyPr>
          <a:lstStyle/>
          <a:p>
            <a:r>
              <a:rPr lang="ru-RU" sz="2000" b="1" dirty="0" smtClean="0"/>
              <a:t>Понятие  </a:t>
            </a:r>
            <a:r>
              <a:rPr lang="ru-RU" sz="2000" b="1" dirty="0"/>
              <a:t>"эквивалентный  вентиль".  </a:t>
            </a:r>
            <a:endParaRPr lang="ru-RU" sz="2000" b="1" dirty="0" smtClean="0"/>
          </a:p>
          <a:p>
            <a:r>
              <a:rPr lang="ru-RU" sz="2000" dirty="0" smtClean="0"/>
              <a:t>Сложность  </a:t>
            </a:r>
            <a:r>
              <a:rPr lang="ru-RU" sz="2000" dirty="0"/>
              <a:t>базовых  матричных  </a:t>
            </a:r>
            <a:r>
              <a:rPr lang="ru-RU" sz="2000" dirty="0" smtClean="0"/>
              <a:t>кристаллов  оценивалась  </a:t>
            </a:r>
            <a:r>
              <a:rPr lang="ru-RU" sz="2000" dirty="0"/>
              <a:t>числом  </a:t>
            </a:r>
            <a:r>
              <a:rPr lang="ru-RU" sz="2000" dirty="0" smtClean="0"/>
              <a:t>«эквивалентных  вентилей» т.е. числом  логических  элементов  </a:t>
            </a:r>
            <a:r>
              <a:rPr lang="ru-RU" sz="2000" b="1" dirty="0" smtClean="0"/>
              <a:t>2И-НЕ</a:t>
            </a:r>
            <a:r>
              <a:rPr lang="ru-RU" sz="2000" dirty="0"/>
              <a:t>.  Подсчет  числа  таких  вентилей,  реализованных  на  кристалле,  давал  оценку </a:t>
            </a:r>
          </a:p>
          <a:p>
            <a:r>
              <a:rPr lang="ru-RU" sz="2000" dirty="0"/>
              <a:t>его  логической  сложности.   </a:t>
            </a:r>
            <a:r>
              <a:rPr lang="ru-RU" sz="2000" dirty="0" smtClean="0"/>
              <a:t>Однако  </a:t>
            </a:r>
            <a:r>
              <a:rPr lang="ru-RU" sz="2000" dirty="0"/>
              <a:t>для  </a:t>
            </a:r>
            <a:r>
              <a:rPr lang="en-US" sz="2000" dirty="0" smtClean="0"/>
              <a:t>FPGA</a:t>
            </a:r>
            <a:r>
              <a:rPr lang="ru-RU" sz="2000" dirty="0" smtClean="0"/>
              <a:t> </a:t>
            </a:r>
            <a:r>
              <a:rPr lang="ru-RU" sz="2000" dirty="0"/>
              <a:t>стало  невозможным  просто  подсчитывать  число  вентилей  на </a:t>
            </a:r>
            <a:r>
              <a:rPr lang="en-US" sz="2000" dirty="0" smtClean="0"/>
              <a:t> </a:t>
            </a:r>
            <a:r>
              <a:rPr lang="ru-RU" sz="2000" dirty="0" smtClean="0"/>
              <a:t>кристалле</a:t>
            </a:r>
            <a:r>
              <a:rPr lang="ru-RU" sz="2000" dirty="0"/>
              <a:t>,  </a:t>
            </a:r>
            <a:r>
              <a:rPr lang="ru-RU" sz="2000" dirty="0" smtClean="0"/>
              <a:t>так как они содержат и другие схемы (память и т.д.). Сложность </a:t>
            </a:r>
            <a:r>
              <a:rPr lang="en-US" sz="2000" dirty="0" smtClean="0"/>
              <a:t>FPGA </a:t>
            </a:r>
            <a:r>
              <a:rPr lang="ru-RU" sz="2000" dirty="0" smtClean="0"/>
              <a:t>можно оценить по формуле</a:t>
            </a:r>
          </a:p>
          <a:p>
            <a:pPr algn="ctr"/>
            <a:r>
              <a:rPr lang="en-US" sz="2000" dirty="0" err="1" smtClean="0"/>
              <a:t>NxM</a:t>
            </a:r>
            <a:endParaRPr lang="en-US" sz="2000" dirty="0" smtClean="0"/>
          </a:p>
          <a:p>
            <a:r>
              <a:rPr lang="en-US" sz="2000" dirty="0" smtClean="0"/>
              <a:t>N- </a:t>
            </a:r>
            <a:r>
              <a:rPr lang="ru-RU" sz="2000" dirty="0" smtClean="0"/>
              <a:t>число возможных реализаций эталонных счетчиков  на кристалле</a:t>
            </a:r>
          </a:p>
          <a:p>
            <a:r>
              <a:rPr lang="en-US" sz="2000" dirty="0" smtClean="0"/>
              <a:t>M- </a:t>
            </a:r>
            <a:r>
              <a:rPr lang="ru-RU" sz="2000" dirty="0" smtClean="0"/>
              <a:t>число эквивалентных вентилей для реализации эталонного счетчика</a:t>
            </a:r>
            <a:endParaRPr lang="ru-RU" sz="2000" dirty="0"/>
          </a:p>
        </p:txBody>
      </p:sp>
    </p:spTree>
    <p:extLst>
      <p:ext uri="{BB962C8B-B14F-4D97-AF65-F5344CB8AC3E}">
        <p14:creationId xmlns:p14="http://schemas.microsoft.com/office/powerpoint/2010/main" val="24079692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95536" y="260648"/>
            <a:ext cx="3709413" cy="400110"/>
          </a:xfrm>
          <a:prstGeom prst="rect">
            <a:avLst/>
          </a:prstGeom>
        </p:spPr>
        <p:txBody>
          <a:bodyPr wrap="none">
            <a:spAutoFit/>
          </a:bodyPr>
          <a:lstStyle/>
          <a:p>
            <a:r>
              <a:rPr lang="ru-RU" sz="2000" b="1" dirty="0" smtClean="0"/>
              <a:t>Понятие  </a:t>
            </a:r>
            <a:r>
              <a:rPr lang="ru-RU" sz="2000" b="1" dirty="0"/>
              <a:t>"системный  вентиль"</a:t>
            </a:r>
          </a:p>
        </p:txBody>
      </p:sp>
      <p:sp>
        <p:nvSpPr>
          <p:cNvPr id="5" name="Прямоугольник 4"/>
          <p:cNvSpPr/>
          <p:nvPr/>
        </p:nvSpPr>
        <p:spPr>
          <a:xfrm>
            <a:off x="28106" y="636934"/>
            <a:ext cx="8784976" cy="6247864"/>
          </a:xfrm>
          <a:prstGeom prst="rect">
            <a:avLst/>
          </a:prstGeom>
        </p:spPr>
        <p:txBody>
          <a:bodyPr wrap="square">
            <a:spAutoFit/>
          </a:bodyPr>
          <a:lstStyle/>
          <a:p>
            <a:r>
              <a:rPr lang="ru-RU" sz="2000" dirty="0"/>
              <a:t>В</a:t>
            </a:r>
            <a:r>
              <a:rPr lang="ru-RU" sz="2000" dirty="0" smtClean="0"/>
              <a:t>  </a:t>
            </a:r>
            <a:r>
              <a:rPr lang="en-US" sz="2000" dirty="0" smtClean="0"/>
              <a:t>FPGA</a:t>
            </a:r>
            <a:r>
              <a:rPr lang="ru-RU" sz="2000" dirty="0" smtClean="0"/>
              <a:t>  </a:t>
            </a:r>
            <a:r>
              <a:rPr lang="ru-RU" sz="2000" dirty="0"/>
              <a:t>в  качестве  функциональных  </a:t>
            </a:r>
            <a:r>
              <a:rPr lang="ru-RU" sz="2000" dirty="0" smtClean="0"/>
              <a:t>блоков  </a:t>
            </a:r>
            <a:r>
              <a:rPr lang="ru-RU" sz="2000" dirty="0"/>
              <a:t>стали  применять  табличные  преобразователи  (LUT-блоки),  допускающие  </a:t>
            </a:r>
            <a:r>
              <a:rPr lang="ru-RU" sz="2000" dirty="0" smtClean="0"/>
              <a:t>неоднозначное  </a:t>
            </a:r>
            <a:r>
              <a:rPr lang="ru-RU" sz="2000" dirty="0"/>
              <a:t>использование  —  для  воспроизведения  логических  функций  или  в </a:t>
            </a:r>
            <a:r>
              <a:rPr lang="ru-RU" sz="2000" dirty="0" smtClean="0"/>
              <a:t>качестве  </a:t>
            </a:r>
            <a:r>
              <a:rPr lang="ru-RU" sz="2000" dirty="0"/>
              <a:t>блоков  памяти. </a:t>
            </a:r>
            <a:endParaRPr lang="en-US" sz="2000" dirty="0" smtClean="0"/>
          </a:p>
          <a:p>
            <a:r>
              <a:rPr lang="ru-RU" sz="2000" dirty="0" smtClean="0"/>
              <a:t>Реализации  </a:t>
            </a:r>
            <a:r>
              <a:rPr lang="ru-RU" sz="2000" dirty="0"/>
              <a:t>разных  режимов  работы  одного  и  того  же  </a:t>
            </a:r>
            <a:r>
              <a:rPr lang="ru-RU" sz="2000" dirty="0" smtClean="0"/>
              <a:t>LUT-блока различаются  </a:t>
            </a:r>
            <a:r>
              <a:rPr lang="ru-RU" sz="2000" dirty="0"/>
              <a:t>по  сложности. </a:t>
            </a:r>
            <a:endParaRPr lang="en-US" sz="2000" dirty="0" smtClean="0"/>
          </a:p>
          <a:p>
            <a:r>
              <a:rPr lang="ru-RU" sz="2000" dirty="0"/>
              <a:t>Н</a:t>
            </a:r>
            <a:r>
              <a:rPr lang="ru-RU" sz="2000" dirty="0" smtClean="0"/>
              <a:t>апример</a:t>
            </a:r>
            <a:r>
              <a:rPr lang="ru-RU" sz="2000" dirty="0"/>
              <a:t>,  </a:t>
            </a:r>
            <a:r>
              <a:rPr lang="ru-RU" sz="2000" dirty="0" err="1"/>
              <a:t>четырехвходовой</a:t>
            </a:r>
            <a:r>
              <a:rPr lang="ru-RU" sz="2000" dirty="0"/>
              <a:t>  LUT-блок  имеет  </a:t>
            </a:r>
            <a:r>
              <a:rPr lang="ru-RU" sz="2000" dirty="0" smtClean="0"/>
              <a:t>16  </a:t>
            </a:r>
            <a:r>
              <a:rPr lang="ru-RU" sz="2000" dirty="0"/>
              <a:t>бит  памяти.  При  реализации </a:t>
            </a:r>
            <a:r>
              <a:rPr lang="ru-RU" sz="2000" dirty="0" smtClean="0"/>
              <a:t> памяти  действует  </a:t>
            </a:r>
            <a:r>
              <a:rPr lang="ru-RU" sz="2000" dirty="0"/>
              <a:t>оценка  "четыре  вентиля  на  один  бит",  что  для  </a:t>
            </a:r>
            <a:r>
              <a:rPr lang="ru-RU" sz="2000" dirty="0" err="1" smtClean="0"/>
              <a:t>четырехвходового</a:t>
            </a:r>
            <a:r>
              <a:rPr lang="ru-RU" sz="2000" dirty="0" smtClean="0"/>
              <a:t>  </a:t>
            </a:r>
            <a:r>
              <a:rPr lang="ru-RU" sz="2000" dirty="0"/>
              <a:t>LUT-блока  дает  эквивалентную  сложность,  равную  </a:t>
            </a:r>
            <a:r>
              <a:rPr lang="ru-RU" sz="2000" b="1" dirty="0"/>
              <a:t>64</a:t>
            </a:r>
            <a:r>
              <a:rPr lang="ru-RU" sz="2000" dirty="0"/>
              <a:t>  вентилям.   </a:t>
            </a:r>
          </a:p>
          <a:p>
            <a:r>
              <a:rPr lang="ru-RU" sz="2000" dirty="0"/>
              <a:t>Д</a:t>
            </a:r>
            <a:r>
              <a:rPr lang="ru-RU" sz="2000" dirty="0" smtClean="0"/>
              <a:t>ля  </a:t>
            </a:r>
            <a:r>
              <a:rPr lang="ru-RU" sz="2000" dirty="0"/>
              <a:t>режима  воспроизведения  функций  эквивалентная  сложность </a:t>
            </a:r>
            <a:r>
              <a:rPr lang="ru-RU" sz="2000" dirty="0" smtClean="0"/>
              <a:t> этого  </a:t>
            </a:r>
            <a:r>
              <a:rPr lang="ru-RU" sz="2000" dirty="0"/>
              <a:t>же  блока  оценивалась  как  </a:t>
            </a:r>
            <a:r>
              <a:rPr lang="ru-RU" sz="2000" b="1" dirty="0" smtClean="0"/>
              <a:t>12</a:t>
            </a:r>
            <a:r>
              <a:rPr lang="ru-RU" sz="2000" dirty="0" smtClean="0"/>
              <a:t>  </a:t>
            </a:r>
            <a:r>
              <a:rPr lang="ru-RU" sz="2000" dirty="0"/>
              <a:t>вентилей.   </a:t>
            </a:r>
          </a:p>
          <a:p>
            <a:r>
              <a:rPr lang="ru-RU" sz="2000" dirty="0"/>
              <a:t>В</a:t>
            </a:r>
            <a:r>
              <a:rPr lang="ru-RU" sz="2000" dirty="0" smtClean="0"/>
              <a:t>озникли  </a:t>
            </a:r>
            <a:r>
              <a:rPr lang="ru-RU" sz="2000" dirty="0"/>
              <a:t>понятия  </a:t>
            </a:r>
            <a:r>
              <a:rPr lang="ru-RU" sz="2000" b="1" dirty="0"/>
              <a:t>логических </a:t>
            </a:r>
            <a:r>
              <a:rPr lang="ru-RU" sz="2000" dirty="0"/>
              <a:t> и  </a:t>
            </a:r>
            <a:r>
              <a:rPr lang="ru-RU" sz="2000" b="1" dirty="0"/>
              <a:t>системных</a:t>
            </a:r>
            <a:r>
              <a:rPr lang="ru-RU" sz="2000" dirty="0"/>
              <a:t>    вентилей.  При </a:t>
            </a:r>
            <a:r>
              <a:rPr lang="ru-RU" sz="2000" dirty="0" smtClean="0"/>
              <a:t> подсчете  </a:t>
            </a:r>
            <a:r>
              <a:rPr lang="ru-RU" sz="2000" dirty="0"/>
              <a:t>числа  </a:t>
            </a:r>
            <a:r>
              <a:rPr lang="ru-RU" sz="2000" b="1" dirty="0"/>
              <a:t>логических  вентилей  </a:t>
            </a:r>
            <a:r>
              <a:rPr lang="ru-RU" sz="2000" dirty="0"/>
              <a:t>предполагается  работа  LUT-блоков  в  режиме </a:t>
            </a:r>
          </a:p>
          <a:p>
            <a:r>
              <a:rPr lang="ru-RU" sz="2000" dirty="0"/>
              <a:t>воспроизведения  функций.  При  подсчете  числа  </a:t>
            </a:r>
            <a:r>
              <a:rPr lang="ru-RU" sz="2000" b="1" dirty="0"/>
              <a:t>системных  вентилей  </a:t>
            </a:r>
            <a:r>
              <a:rPr lang="ru-RU" sz="2000" dirty="0" smtClean="0"/>
              <a:t>предполагается,  что  </a:t>
            </a:r>
            <a:r>
              <a:rPr lang="ru-RU" sz="2000" dirty="0"/>
              <a:t>часть  LUT-блоков  работает  в  режиме  блоков  </a:t>
            </a:r>
            <a:r>
              <a:rPr lang="ru-RU" sz="2000" dirty="0" smtClean="0"/>
              <a:t>памяти.  </a:t>
            </a:r>
            <a:r>
              <a:rPr lang="ru-RU" sz="2000" dirty="0"/>
              <a:t>Чтобы  число  системных </a:t>
            </a:r>
            <a:r>
              <a:rPr lang="ru-RU" sz="2000" dirty="0" smtClean="0"/>
              <a:t>вентилей ,  характеризующих  </a:t>
            </a:r>
            <a:r>
              <a:rPr lang="ru-RU" sz="2000" dirty="0"/>
              <a:t>сложность  кристалла,  было  правильно  понятым, </a:t>
            </a:r>
            <a:r>
              <a:rPr lang="ru-RU" sz="2000" dirty="0" smtClean="0"/>
              <a:t>должно  </a:t>
            </a:r>
            <a:r>
              <a:rPr lang="ru-RU" sz="2000" dirty="0"/>
              <a:t>быть  указано,  какая  часть  LUT-блоков  микросхемы  используется  в  </a:t>
            </a:r>
            <a:r>
              <a:rPr lang="ru-RU" sz="2000" dirty="0" smtClean="0"/>
              <a:t>качестве  </a:t>
            </a:r>
            <a:r>
              <a:rPr lang="ru-RU" sz="2000" dirty="0"/>
              <a:t>функциональных  блоков  и  какая  часть  в  качестве  блоков  памяти. </a:t>
            </a:r>
          </a:p>
        </p:txBody>
      </p:sp>
    </p:spTree>
    <p:extLst>
      <p:ext uri="{BB962C8B-B14F-4D97-AF65-F5344CB8AC3E}">
        <p14:creationId xmlns:p14="http://schemas.microsoft.com/office/powerpoint/2010/main" val="239257582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620688"/>
            <a:ext cx="8640960" cy="2554545"/>
          </a:xfrm>
          <a:prstGeom prst="rect">
            <a:avLst/>
          </a:prstGeom>
        </p:spPr>
        <p:txBody>
          <a:bodyPr wrap="square">
            <a:spAutoFit/>
          </a:bodyPr>
          <a:lstStyle/>
          <a:p>
            <a:r>
              <a:rPr lang="ru-RU" sz="2000" b="1" dirty="0" smtClean="0"/>
              <a:t>Понятие  </a:t>
            </a:r>
            <a:r>
              <a:rPr lang="ru-RU" sz="2000" b="1" dirty="0"/>
              <a:t>"типичный  диапазон  числа  вентилей".  </a:t>
            </a:r>
            <a:endParaRPr lang="ru-RU" sz="2000" b="1" dirty="0" smtClean="0"/>
          </a:p>
          <a:p>
            <a:r>
              <a:rPr lang="ru-RU" sz="2000" dirty="0" smtClean="0"/>
              <a:t>Для  </a:t>
            </a:r>
            <a:r>
              <a:rPr lang="ru-RU" sz="2000" dirty="0"/>
              <a:t>оценки  типичной  </a:t>
            </a:r>
            <a:r>
              <a:rPr lang="ru-RU" sz="2000" dirty="0" smtClean="0"/>
              <a:t>емкости  </a:t>
            </a:r>
            <a:r>
              <a:rPr lang="ru-RU" sz="2000" dirty="0"/>
              <a:t>привлекаются  усредненные  по  множеству  проанализированных  проектов  </a:t>
            </a:r>
            <a:r>
              <a:rPr lang="ru-RU" sz="2000" dirty="0" smtClean="0"/>
              <a:t>статистические  </a:t>
            </a:r>
            <a:r>
              <a:rPr lang="ru-RU" sz="2000" dirty="0"/>
              <a:t>данные  о  доле  LUT-блоков,  работающих  в  режиме  воспроизведения </a:t>
            </a:r>
            <a:r>
              <a:rPr lang="ru-RU" sz="2000" dirty="0" smtClean="0"/>
              <a:t> функций</a:t>
            </a:r>
            <a:r>
              <a:rPr lang="ru-RU" sz="2000" dirty="0"/>
              <a:t>.  Для  типичного  диапазона  числа  вентилей  нижняя  граница  часто  </a:t>
            </a:r>
            <a:r>
              <a:rPr lang="ru-RU" sz="2000" dirty="0" smtClean="0"/>
              <a:t>соответствует  </a:t>
            </a:r>
            <a:r>
              <a:rPr lang="ru-RU" sz="2000" dirty="0"/>
              <a:t>числу  логических  вентилей  (или  определенной  доле  этого  числа,  например </a:t>
            </a:r>
          </a:p>
          <a:p>
            <a:r>
              <a:rPr lang="ru-RU" sz="2000" dirty="0"/>
              <a:t>2/3),  а  верхняя  определяется  при  указании  доли  блоков,  реализующих  функции  </a:t>
            </a:r>
            <a:r>
              <a:rPr lang="ru-RU" sz="2000" dirty="0" smtClean="0"/>
              <a:t>памяти (например</a:t>
            </a:r>
            <a:r>
              <a:rPr lang="ru-RU" sz="2000" dirty="0"/>
              <a:t>,  </a:t>
            </a:r>
            <a:r>
              <a:rPr lang="ru-RU" sz="2000" dirty="0" smtClean="0"/>
              <a:t>20—30</a:t>
            </a:r>
            <a:r>
              <a:rPr lang="ru-RU" sz="2000" dirty="0"/>
              <a:t>%). </a:t>
            </a:r>
          </a:p>
        </p:txBody>
      </p:sp>
    </p:spTree>
    <p:extLst>
      <p:ext uri="{BB962C8B-B14F-4D97-AF65-F5344CB8AC3E}">
        <p14:creationId xmlns:p14="http://schemas.microsoft.com/office/powerpoint/2010/main" val="28646513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69550" y="733346"/>
            <a:ext cx="8784976" cy="5324535"/>
          </a:xfrm>
          <a:prstGeom prst="rect">
            <a:avLst/>
          </a:prstGeom>
        </p:spPr>
        <p:txBody>
          <a:bodyPr wrap="square">
            <a:spAutoFit/>
          </a:bodyPr>
          <a:lstStyle/>
          <a:p>
            <a:r>
              <a:rPr lang="ru-RU" sz="2000" dirty="0"/>
              <a:t>Быстродействие </a:t>
            </a:r>
            <a:r>
              <a:rPr lang="ru-RU" sz="2000" dirty="0" smtClean="0"/>
              <a:t>характеризуется  </a:t>
            </a:r>
            <a:r>
              <a:rPr lang="ru-RU" sz="2000" dirty="0"/>
              <a:t>либо  задержками  распространения  </a:t>
            </a:r>
            <a:r>
              <a:rPr lang="ru-RU" sz="2000" dirty="0" err="1"/>
              <a:t>сигна</a:t>
            </a:r>
            <a:r>
              <a:rPr lang="ru-RU" sz="2000" dirty="0"/>
              <a:t>-</a:t>
            </a:r>
          </a:p>
          <a:p>
            <a:r>
              <a:rPr lang="ru-RU" sz="2000" dirty="0"/>
              <a:t>лов  по  указанным  путям,  либо  максимальными  частотами  их  работы  </a:t>
            </a:r>
            <a:r>
              <a:rPr lang="ru-RU" sz="2000" dirty="0" smtClean="0"/>
              <a:t>в указанных  условиях</a:t>
            </a:r>
            <a:r>
              <a:rPr lang="ru-RU" sz="2000" dirty="0"/>
              <a:t>. </a:t>
            </a:r>
            <a:endParaRPr lang="ru-RU" sz="2000" dirty="0" smtClean="0"/>
          </a:p>
          <a:p>
            <a:endParaRPr lang="ru-RU" sz="2000" dirty="0"/>
          </a:p>
          <a:p>
            <a:r>
              <a:rPr lang="ru-RU" sz="2000" dirty="0" smtClean="0"/>
              <a:t>Пути  </a:t>
            </a:r>
            <a:r>
              <a:rPr lang="ru-RU" sz="2000" dirty="0"/>
              <a:t>распространения  сигналов  в  CPLD  жестко  предопределены  их  архитектурой, </a:t>
            </a:r>
            <a:r>
              <a:rPr lang="ru-RU" sz="2000" dirty="0" smtClean="0"/>
              <a:t> и задержки  </a:t>
            </a:r>
            <a:r>
              <a:rPr lang="ru-RU" sz="2000" dirty="0"/>
              <a:t>по  путям  от  любого  входа  до  любого  выхода  (</a:t>
            </a:r>
            <a:r>
              <a:rPr lang="ru-RU" sz="2000" dirty="0" err="1"/>
              <a:t>Pin-to-pin</a:t>
            </a:r>
            <a:r>
              <a:rPr lang="ru-RU" sz="2000" dirty="0"/>
              <a:t>,  </a:t>
            </a:r>
            <a:r>
              <a:rPr lang="ru-RU" sz="2000" dirty="0" err="1" smtClean="0"/>
              <a:t>Corner-to-corner</a:t>
            </a:r>
            <a:r>
              <a:rPr lang="ru-RU" sz="2000" dirty="0" smtClean="0"/>
              <a:t>,  </a:t>
            </a:r>
            <a:r>
              <a:rPr lang="ru-RU" sz="2000" dirty="0" err="1" smtClean="0"/>
              <a:t>Clock-to-pin</a:t>
            </a:r>
            <a:r>
              <a:rPr lang="ru-RU" sz="2000" dirty="0"/>
              <a:t>)  могут  достаточно  хорошо  характеризовать  быстродействие </a:t>
            </a:r>
            <a:r>
              <a:rPr lang="ru-RU" sz="2000" dirty="0" smtClean="0"/>
              <a:t>. </a:t>
            </a:r>
          </a:p>
          <a:p>
            <a:endParaRPr lang="ru-RU" sz="2000" dirty="0"/>
          </a:p>
          <a:p>
            <a:r>
              <a:rPr lang="ru-RU" sz="2000" dirty="0"/>
              <a:t>Пути  распространения  сигналов  в  FPGA  разнообразны,  и  для  них  с  целью  оценки </a:t>
            </a:r>
            <a:r>
              <a:rPr lang="ru-RU" sz="2000" dirty="0" smtClean="0"/>
              <a:t> быстродействия  </a:t>
            </a:r>
            <a:r>
              <a:rPr lang="ru-RU" sz="2000" dirty="0"/>
              <a:t>целесообразно  пользоваться  максимально  возможной  частотой </a:t>
            </a:r>
            <a:r>
              <a:rPr lang="ru-RU" sz="2000" dirty="0" smtClean="0"/>
              <a:t> тактирования</a:t>
            </a:r>
            <a:r>
              <a:rPr lang="ru-RU" sz="2000" dirty="0"/>
              <a:t>,  причем  эта  частота  может  быть  указана  различным  способом.  </a:t>
            </a:r>
            <a:r>
              <a:rPr lang="ru-RU" sz="2000" dirty="0" smtClean="0"/>
              <a:t>Например</a:t>
            </a:r>
            <a:r>
              <a:rPr lang="ru-RU" sz="2000" dirty="0"/>
              <a:t>,  указывают  максимально  возможную  частоту  работы  счетчика  FCNT  или </a:t>
            </a:r>
            <a:r>
              <a:rPr lang="ru-RU" sz="2000" dirty="0" smtClean="0"/>
              <a:t> частоту  </a:t>
            </a:r>
            <a:r>
              <a:rPr lang="ru-RU" sz="2000" dirty="0"/>
              <a:t>работы  (тактирования)  </a:t>
            </a:r>
            <a:r>
              <a:rPr lang="ru-RU" sz="2000" dirty="0" err="1"/>
              <a:t>cхемы</a:t>
            </a:r>
            <a:r>
              <a:rPr lang="ru-RU" sz="2000" dirty="0"/>
              <a:t>  в  целом,  называемую  системной.  </a:t>
            </a:r>
            <a:endParaRPr lang="ru-RU" sz="2000" dirty="0" smtClean="0"/>
          </a:p>
          <a:p>
            <a:r>
              <a:rPr lang="ru-RU" sz="2000" dirty="0" smtClean="0"/>
              <a:t>Обычно  системная  </a:t>
            </a:r>
            <a:r>
              <a:rPr lang="ru-RU" sz="2000" dirty="0"/>
              <a:t>частота  приблизительно  вдвое  ниже,  чем  частота  работы  счетчика. </a:t>
            </a:r>
          </a:p>
        </p:txBody>
      </p:sp>
      <p:sp>
        <p:nvSpPr>
          <p:cNvPr id="5" name="TextBox 4"/>
          <p:cNvSpPr txBox="1"/>
          <p:nvPr/>
        </p:nvSpPr>
        <p:spPr>
          <a:xfrm>
            <a:off x="467544" y="364014"/>
            <a:ext cx="2393925" cy="369332"/>
          </a:xfrm>
          <a:prstGeom prst="rect">
            <a:avLst/>
          </a:prstGeom>
          <a:noFill/>
        </p:spPr>
        <p:txBody>
          <a:bodyPr wrap="none" rtlCol="0">
            <a:spAutoFit/>
          </a:bodyPr>
          <a:lstStyle/>
          <a:p>
            <a:r>
              <a:rPr lang="ru-RU" b="1" dirty="0" smtClean="0"/>
              <a:t>Быстродейс</a:t>
            </a:r>
            <a:r>
              <a:rPr lang="ru-RU" b="1" dirty="0"/>
              <a:t>т</a:t>
            </a:r>
            <a:r>
              <a:rPr lang="ru-RU" b="1" dirty="0" smtClean="0"/>
              <a:t>вие </a:t>
            </a:r>
            <a:r>
              <a:rPr lang="en-US" b="1" dirty="0" smtClean="0"/>
              <a:t>FPGA</a:t>
            </a:r>
            <a:endParaRPr lang="ru-RU" b="1" dirty="0"/>
          </a:p>
        </p:txBody>
      </p:sp>
    </p:spTree>
    <p:extLst>
      <p:ext uri="{BB962C8B-B14F-4D97-AF65-F5344CB8AC3E}">
        <p14:creationId xmlns:p14="http://schemas.microsoft.com/office/powerpoint/2010/main" val="364802079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188640"/>
            <a:ext cx="8892480" cy="6247864"/>
          </a:xfrm>
          <a:prstGeom prst="rect">
            <a:avLst/>
          </a:prstGeom>
        </p:spPr>
        <p:txBody>
          <a:bodyPr wrap="square">
            <a:spAutoFit/>
          </a:bodyPr>
          <a:lstStyle/>
          <a:p>
            <a:r>
              <a:rPr lang="ru-RU" sz="2000" b="1" dirty="0"/>
              <a:t>Факторы,  влияющие  на  </a:t>
            </a:r>
            <a:r>
              <a:rPr lang="ru-RU" sz="2000" b="1" dirty="0" smtClean="0"/>
              <a:t>стоимость </a:t>
            </a:r>
            <a:r>
              <a:rPr lang="en-US" sz="2000" b="1" dirty="0" smtClean="0"/>
              <a:t>FPGA</a:t>
            </a:r>
            <a:r>
              <a:rPr lang="ru-RU" sz="2000" b="1" dirty="0" smtClean="0"/>
              <a:t> </a:t>
            </a:r>
            <a:endParaRPr lang="ru-RU" sz="2000" b="1" dirty="0"/>
          </a:p>
          <a:p>
            <a:endParaRPr lang="ru-RU" sz="2000" dirty="0" smtClean="0"/>
          </a:p>
          <a:p>
            <a:r>
              <a:rPr lang="ru-RU" sz="2000" dirty="0" smtClean="0"/>
              <a:t>На  </a:t>
            </a:r>
            <a:r>
              <a:rPr lang="ru-RU" sz="2000" dirty="0"/>
              <a:t>показатель  </a:t>
            </a:r>
            <a:r>
              <a:rPr lang="ru-RU" sz="2000" dirty="0" smtClean="0"/>
              <a:t>стоимости</a:t>
            </a:r>
            <a:r>
              <a:rPr lang="en-US" sz="2000" dirty="0" smtClean="0"/>
              <a:t> </a:t>
            </a:r>
            <a:r>
              <a:rPr lang="ru-RU" sz="2000" dirty="0" smtClean="0"/>
              <a:t>сильное  </a:t>
            </a:r>
            <a:r>
              <a:rPr lang="ru-RU" sz="2000" dirty="0"/>
              <a:t>влияние </a:t>
            </a:r>
            <a:r>
              <a:rPr lang="en-US" sz="2000" dirty="0" smtClean="0"/>
              <a:t> </a:t>
            </a:r>
            <a:r>
              <a:rPr lang="ru-RU" sz="2000" dirty="0" smtClean="0"/>
              <a:t>оказывает  </a:t>
            </a:r>
            <a:r>
              <a:rPr lang="ru-RU" sz="2000" b="1" dirty="0"/>
              <a:t>технологический  уровень </a:t>
            </a:r>
            <a:r>
              <a:rPr lang="ru-RU" sz="2000" dirty="0"/>
              <a:t> производства.  Увеличение  диаметра  пластин </a:t>
            </a:r>
            <a:r>
              <a:rPr lang="en-US" sz="2000" dirty="0" smtClean="0"/>
              <a:t> </a:t>
            </a:r>
            <a:r>
              <a:rPr lang="ru-RU" sz="2000" dirty="0" smtClean="0"/>
              <a:t>(</a:t>
            </a:r>
            <a:r>
              <a:rPr lang="ru-RU" sz="2000" dirty="0"/>
              <a:t>сейчас  это  около  </a:t>
            </a:r>
            <a:r>
              <a:rPr lang="ru-RU" sz="2000" dirty="0" smtClean="0"/>
              <a:t>300  </a:t>
            </a:r>
            <a:r>
              <a:rPr lang="ru-RU" sz="2000" dirty="0"/>
              <a:t>мм)  дает  более  экономичное  использование  кремния  при  раз-</a:t>
            </a:r>
          </a:p>
          <a:p>
            <a:r>
              <a:rPr lang="ru-RU" sz="2000" dirty="0"/>
              <a:t>резании  пластины  на  кристаллы.  Уменьшение  </a:t>
            </a:r>
            <a:r>
              <a:rPr lang="ru-RU" sz="2000" b="1" dirty="0"/>
              <a:t>топологических  норм  </a:t>
            </a:r>
            <a:r>
              <a:rPr lang="ru-RU" sz="2000" dirty="0"/>
              <a:t>сокращает </a:t>
            </a:r>
            <a:r>
              <a:rPr lang="en-US" sz="2000" dirty="0" smtClean="0"/>
              <a:t> </a:t>
            </a:r>
            <a:r>
              <a:rPr lang="ru-RU" sz="2000" dirty="0" smtClean="0"/>
              <a:t>площадь  </a:t>
            </a:r>
            <a:r>
              <a:rPr lang="ru-RU" sz="2000" dirty="0"/>
              <a:t>кристалла,  необходимую  для  размещения  той  же  схемы,  и  тем  самым </a:t>
            </a:r>
            <a:r>
              <a:rPr lang="en-US" sz="2000" dirty="0" smtClean="0"/>
              <a:t> </a:t>
            </a:r>
            <a:r>
              <a:rPr lang="ru-RU" sz="2000" dirty="0" smtClean="0"/>
              <a:t>уменьшает  </a:t>
            </a:r>
            <a:r>
              <a:rPr lang="ru-RU" sz="2000" dirty="0"/>
              <a:t>удельную  стоимость  ее  ресурсов. </a:t>
            </a:r>
            <a:endParaRPr lang="en-US" sz="2000" dirty="0" smtClean="0"/>
          </a:p>
          <a:p>
            <a:endParaRPr lang="en-US" sz="2000" dirty="0"/>
          </a:p>
          <a:p>
            <a:r>
              <a:rPr lang="ru-RU" sz="2000" dirty="0" smtClean="0"/>
              <a:t>Стоимость  </a:t>
            </a:r>
            <a:r>
              <a:rPr lang="ru-RU" sz="2000" dirty="0"/>
              <a:t>микросхем  во  многом  определяется  </a:t>
            </a:r>
            <a:r>
              <a:rPr lang="ru-RU" sz="2000" b="1" dirty="0"/>
              <a:t>типом  их  корпусов  </a:t>
            </a:r>
            <a:r>
              <a:rPr lang="ru-RU" sz="2000" dirty="0"/>
              <a:t>—  в  </a:t>
            </a:r>
            <a:r>
              <a:rPr lang="ru-RU" sz="2000" dirty="0" smtClean="0"/>
              <a:t>зависимости  </a:t>
            </a:r>
            <a:r>
              <a:rPr lang="ru-RU" sz="2000" dirty="0"/>
              <a:t>от  этого  фактора  цена  одного  и  того  же  кристалла  может  измениться  в  </a:t>
            </a:r>
            <a:r>
              <a:rPr lang="ru-RU" sz="2000" dirty="0" smtClean="0"/>
              <a:t>несколько  </a:t>
            </a:r>
            <a:r>
              <a:rPr lang="ru-RU" sz="2000" dirty="0"/>
              <a:t>раз.  </a:t>
            </a:r>
            <a:endParaRPr lang="en-US" sz="2000" dirty="0" smtClean="0"/>
          </a:p>
          <a:p>
            <a:endParaRPr lang="en-US" sz="2000" dirty="0"/>
          </a:p>
          <a:p>
            <a:r>
              <a:rPr lang="ru-RU" sz="2000" dirty="0" smtClean="0"/>
              <a:t>Значительно  </a:t>
            </a:r>
            <a:r>
              <a:rPr lang="ru-RU" sz="2000" dirty="0"/>
              <a:t>(многократно)  повышаются  и  цены  на  микросхемы, </a:t>
            </a:r>
          </a:p>
          <a:p>
            <a:r>
              <a:rPr lang="ru-RU" sz="2000" dirty="0"/>
              <a:t>имеющие  </a:t>
            </a:r>
            <a:r>
              <a:rPr lang="ru-RU" sz="2000" b="1" dirty="0"/>
              <a:t>специальную  приемку  </a:t>
            </a:r>
            <a:r>
              <a:rPr lang="ru-RU" sz="2000" dirty="0"/>
              <a:t>(военную  и  др.). </a:t>
            </a:r>
            <a:endParaRPr lang="en-US" sz="2000" dirty="0" smtClean="0"/>
          </a:p>
          <a:p>
            <a:endParaRPr lang="en-US" sz="2000" dirty="0"/>
          </a:p>
          <a:p>
            <a:r>
              <a:rPr lang="ru-RU" sz="2000" dirty="0" smtClean="0"/>
              <a:t>Стоимость  </a:t>
            </a:r>
            <a:r>
              <a:rPr lang="ru-RU" sz="2000" dirty="0"/>
              <a:t>зависит  от  размера </a:t>
            </a:r>
            <a:r>
              <a:rPr lang="en-US" sz="2000" dirty="0" smtClean="0"/>
              <a:t> </a:t>
            </a:r>
            <a:r>
              <a:rPr lang="ru-RU" sz="2000" dirty="0" smtClean="0"/>
              <a:t>приобретаемой  </a:t>
            </a:r>
            <a:r>
              <a:rPr lang="ru-RU" sz="2000" dirty="0"/>
              <a:t>партии  (лота)  и  ряда  других  факторов.  Одним  из  экономических </a:t>
            </a:r>
            <a:r>
              <a:rPr lang="ru-RU" sz="2000" dirty="0" smtClean="0"/>
              <a:t>преимуществ  </a:t>
            </a:r>
            <a:r>
              <a:rPr lang="en-US" sz="2000" dirty="0" smtClean="0"/>
              <a:t>FPGA</a:t>
            </a:r>
            <a:r>
              <a:rPr lang="ru-RU" sz="2000" dirty="0" smtClean="0"/>
              <a:t>  </a:t>
            </a:r>
            <a:r>
              <a:rPr lang="en-US" sz="2000" dirty="0" smtClean="0"/>
              <a:t> </a:t>
            </a:r>
            <a:r>
              <a:rPr lang="ru-RU" sz="2000" dirty="0" smtClean="0"/>
              <a:t>перед заказными  </a:t>
            </a:r>
            <a:r>
              <a:rPr lang="ru-RU" sz="2000" dirty="0"/>
              <a:t>микросхемами  является  отсутствие  минимального  порога  при  их  </a:t>
            </a:r>
            <a:r>
              <a:rPr lang="ru-RU" sz="2000" dirty="0" smtClean="0"/>
              <a:t>заказе </a:t>
            </a:r>
            <a:r>
              <a:rPr lang="ru-RU" sz="2000" dirty="0"/>
              <a:t>:  допускается  заказ  любого  количества  микросхем. </a:t>
            </a:r>
          </a:p>
        </p:txBody>
      </p:sp>
    </p:spTree>
    <p:extLst>
      <p:ext uri="{BB962C8B-B14F-4D97-AF65-F5344CB8AC3E}">
        <p14:creationId xmlns:p14="http://schemas.microsoft.com/office/powerpoint/2010/main" val="236590865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08904" y="486503"/>
            <a:ext cx="7921259" cy="2855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151685" y="117171"/>
            <a:ext cx="4985019" cy="369332"/>
          </a:xfrm>
          <a:prstGeom prst="rect">
            <a:avLst/>
          </a:prstGeom>
          <a:noFill/>
        </p:spPr>
        <p:txBody>
          <a:bodyPr wrap="none" rtlCol="0">
            <a:spAutoFit/>
          </a:bodyPr>
          <a:lstStyle/>
          <a:p>
            <a:r>
              <a:rPr lang="en-US" b="1" dirty="0" smtClean="0">
                <a:solidFill>
                  <a:srgbClr val="FF0000"/>
                </a:solidFill>
              </a:rPr>
              <a:t>FPGA </a:t>
            </a:r>
            <a:r>
              <a:rPr lang="ru-RU" b="1" dirty="0" smtClean="0">
                <a:solidFill>
                  <a:srgbClr val="FF0000"/>
                </a:solidFill>
              </a:rPr>
              <a:t>с триггерной памятью средней сложности</a:t>
            </a:r>
            <a:endParaRPr lang="ru-RU" b="1" dirty="0">
              <a:solidFill>
                <a:srgbClr val="FF0000"/>
              </a:solidFill>
            </a:endParaRPr>
          </a:p>
        </p:txBody>
      </p:sp>
      <p:pic>
        <p:nvPicPr>
          <p:cNvPr id="60420" name="Picture 4" descr="https://upload.wikimedia.org/wikipedia/commons/thumb/3/35/Fpga_xilinx_spartan.jpg/220px-Fpga_xilinx_spartan.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175" y="3617611"/>
            <a:ext cx="2781980" cy="2996952"/>
          </a:xfrm>
          <a:prstGeom prst="rect">
            <a:avLst/>
          </a:prstGeom>
          <a:noFill/>
          <a:extLst>
            <a:ext uri="{909E8E84-426E-40DD-AFC4-6F175D3DCCD1}">
              <a14:hiddenFill xmlns:a14="http://schemas.microsoft.com/office/drawing/2010/main">
                <a:solidFill>
                  <a:srgbClr val="FFFFFF"/>
                </a:solidFill>
              </a14:hiddenFill>
            </a:ext>
          </a:extLst>
        </p:spPr>
      </p:pic>
      <p:pic>
        <p:nvPicPr>
          <p:cNvPr id="60422" name="Picture 6" descr="Похожее изображение"/>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929" y="3429001"/>
            <a:ext cx="3303558" cy="3312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155084"/>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04934" y="260648"/>
            <a:ext cx="4716356" cy="369332"/>
          </a:xfrm>
          <a:prstGeom prst="rect">
            <a:avLst/>
          </a:prstGeom>
        </p:spPr>
        <p:txBody>
          <a:bodyPr wrap="none">
            <a:spAutoFit/>
          </a:bodyPr>
          <a:lstStyle/>
          <a:p>
            <a:r>
              <a:rPr lang="en-US" b="1" dirty="0">
                <a:solidFill>
                  <a:srgbClr val="FF0000"/>
                </a:solidFill>
              </a:rPr>
              <a:t>FPGA  </a:t>
            </a:r>
            <a:r>
              <a:rPr lang="ru-RU" b="1" dirty="0">
                <a:solidFill>
                  <a:srgbClr val="FF0000"/>
                </a:solidFill>
              </a:rPr>
              <a:t>с  программируемыми  перемычками </a:t>
            </a:r>
          </a:p>
        </p:txBody>
      </p:sp>
      <p:pic>
        <p:nvPicPr>
          <p:cNvPr id="6144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45274" y="663385"/>
            <a:ext cx="7544242" cy="3132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1115616" y="3933056"/>
            <a:ext cx="7373900" cy="1754326"/>
          </a:xfrm>
          <a:prstGeom prst="rect">
            <a:avLst/>
          </a:prstGeom>
        </p:spPr>
        <p:txBody>
          <a:bodyPr wrap="square">
            <a:spAutoFit/>
          </a:bodyPr>
          <a:lstStyle/>
          <a:p>
            <a:pPr fontAlgn="base"/>
            <a:r>
              <a:rPr lang="en-US" b="1" dirty="0"/>
              <a:t>Key Features</a:t>
            </a:r>
          </a:p>
          <a:p>
            <a:pPr fontAlgn="base"/>
            <a:r>
              <a:rPr lang="en-US" dirty="0"/>
              <a:t>Highly reliable, nonvolatile </a:t>
            </a:r>
            <a:r>
              <a:rPr lang="en-US" b="1" dirty="0" err="1"/>
              <a:t>antifuse</a:t>
            </a:r>
            <a:r>
              <a:rPr lang="en-US" dirty="0"/>
              <a:t> technology</a:t>
            </a:r>
          </a:p>
          <a:p>
            <a:pPr fontAlgn="base"/>
            <a:r>
              <a:rPr lang="en-US" dirty="0"/>
              <a:t>30 k to 500 k ASIC gates (250 k to 4 M system gates)</a:t>
            </a:r>
          </a:p>
          <a:p>
            <a:pPr fontAlgn="base"/>
            <a:r>
              <a:rPr lang="en-US" dirty="0"/>
              <a:t>Up to 540 </a:t>
            </a:r>
            <a:r>
              <a:rPr lang="en-US" dirty="0" err="1"/>
              <a:t>kbits</a:t>
            </a:r>
            <a:r>
              <a:rPr lang="en-US" dirty="0"/>
              <a:t> of embedded memory with optional EDAC protection</a:t>
            </a:r>
          </a:p>
          <a:p>
            <a:pPr fontAlgn="base"/>
            <a:r>
              <a:rPr lang="en-US" dirty="0"/>
              <a:t>Up to 840 user-programmable I/</a:t>
            </a:r>
            <a:r>
              <a:rPr lang="en-US" dirty="0" err="1"/>
              <a:t>Os</a:t>
            </a:r>
            <a:endParaRPr lang="en-US" dirty="0"/>
          </a:p>
          <a:p>
            <a:pPr fontAlgn="base"/>
            <a:r>
              <a:rPr lang="en-US" dirty="0"/>
              <a:t>Total Dose: 300 </a:t>
            </a:r>
            <a:r>
              <a:rPr lang="en-US" dirty="0" err="1"/>
              <a:t>kRads</a:t>
            </a:r>
            <a:r>
              <a:rPr lang="en-US" dirty="0"/>
              <a:t> (functional) and 200 </a:t>
            </a:r>
            <a:r>
              <a:rPr lang="en-US" dirty="0" err="1"/>
              <a:t>kRads</a:t>
            </a:r>
            <a:r>
              <a:rPr lang="en-US" dirty="0"/>
              <a:t> (parametric)</a:t>
            </a:r>
          </a:p>
        </p:txBody>
      </p:sp>
    </p:spTree>
    <p:extLst>
      <p:ext uri="{BB962C8B-B14F-4D97-AF65-F5344CB8AC3E}">
        <p14:creationId xmlns:p14="http://schemas.microsoft.com/office/powerpoint/2010/main" val="136225697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99592" y="119286"/>
            <a:ext cx="5095947" cy="400110"/>
          </a:xfrm>
          <a:prstGeom prst="rect">
            <a:avLst/>
          </a:prstGeom>
        </p:spPr>
        <p:txBody>
          <a:bodyPr wrap="none">
            <a:spAutoFit/>
          </a:bodyPr>
          <a:lstStyle/>
          <a:p>
            <a:r>
              <a:rPr lang="ru-RU" sz="2000" b="1" dirty="0">
                <a:solidFill>
                  <a:srgbClr val="FF0000"/>
                </a:solidFill>
              </a:rPr>
              <a:t>Системы на </a:t>
            </a:r>
            <a:r>
              <a:rPr lang="ru-RU" sz="2000" b="1" dirty="0" smtClean="0">
                <a:solidFill>
                  <a:srgbClr val="FF0000"/>
                </a:solidFill>
              </a:rPr>
              <a:t>кристалле (</a:t>
            </a:r>
            <a:r>
              <a:rPr lang="en-US" sz="2000" b="1" dirty="0" smtClean="0">
                <a:solidFill>
                  <a:srgbClr val="FF0000"/>
                </a:solidFill>
              </a:rPr>
              <a:t>System on Chip-</a:t>
            </a:r>
            <a:r>
              <a:rPr lang="ru-RU" sz="2000" b="1" dirty="0" smtClean="0">
                <a:solidFill>
                  <a:srgbClr val="FF0000"/>
                </a:solidFill>
              </a:rPr>
              <a:t> </a:t>
            </a:r>
            <a:r>
              <a:rPr lang="en-US" sz="2000" b="1" dirty="0" smtClean="0">
                <a:solidFill>
                  <a:srgbClr val="FF0000"/>
                </a:solidFill>
              </a:rPr>
              <a:t>SOC)</a:t>
            </a:r>
            <a:endParaRPr lang="ru-RU" sz="2000" b="1" dirty="0">
              <a:solidFill>
                <a:srgbClr val="FF0000"/>
              </a:solidFill>
            </a:endParaRPr>
          </a:p>
        </p:txBody>
      </p:sp>
      <p:pic>
        <p:nvPicPr>
          <p:cNvPr id="63490" name="Picture 2" descr="http://www.russianelectronics.ru/files/40316/r1.jpg"/>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3520" y="1071562"/>
            <a:ext cx="4752528" cy="373073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048359" y="519396"/>
            <a:ext cx="1615379" cy="369332"/>
          </a:xfrm>
          <a:prstGeom prst="rect">
            <a:avLst/>
          </a:prstGeom>
          <a:noFill/>
        </p:spPr>
        <p:txBody>
          <a:bodyPr wrap="none" rtlCol="0">
            <a:spAutoFit/>
          </a:bodyPr>
          <a:lstStyle/>
          <a:p>
            <a:r>
              <a:rPr lang="ru-RU" b="1" dirty="0" smtClean="0"/>
              <a:t>Структура </a:t>
            </a:r>
            <a:r>
              <a:rPr lang="en-US" b="1" dirty="0" smtClean="0"/>
              <a:t>SOC</a:t>
            </a:r>
            <a:endParaRPr lang="ru-RU" b="1" dirty="0"/>
          </a:p>
        </p:txBody>
      </p:sp>
      <p:pic>
        <p:nvPicPr>
          <p:cNvPr id="63492" name="Picture 4" descr="https://upload.wikimedia.org/wikipedia/commons/thumb/f/fb/KL_AMD_Am286LX_ZX.jpg/220px-KL_AMD_Am286LX_ZX.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6266" y="-171400"/>
            <a:ext cx="2757734" cy="2820410"/>
          </a:xfrm>
          <a:prstGeom prst="rect">
            <a:avLst/>
          </a:prstGeom>
          <a:noFill/>
          <a:extLst>
            <a:ext uri="{909E8E84-426E-40DD-AFC4-6F175D3DCCD1}">
              <a14:hiddenFill xmlns:a14="http://schemas.microsoft.com/office/drawing/2010/main">
                <a:solidFill>
                  <a:srgbClr val="FFFFFF"/>
                </a:solidFill>
              </a14:hiddenFill>
            </a:ext>
          </a:extLst>
        </p:spPr>
      </p:pic>
      <p:pic>
        <p:nvPicPr>
          <p:cNvPr id="63494" name="Picture 6" descr="https://upload.wikimedia.org/wikipedia/commons/thumb/8/85/ARMSoCBlockDiagram.svg/275px-ARMSoCBlockDiagram.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8230" y="2334335"/>
            <a:ext cx="3672408" cy="4406889"/>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382300" y="5495404"/>
            <a:ext cx="4572000" cy="923330"/>
          </a:xfrm>
          <a:prstGeom prst="rect">
            <a:avLst/>
          </a:prstGeom>
        </p:spPr>
        <p:txBody>
          <a:bodyPr>
            <a:spAutoFit/>
          </a:bodyPr>
          <a:lstStyle/>
          <a:p>
            <a:r>
              <a:rPr lang="ru-RU" dirty="0" smtClean="0"/>
              <a:t>Варианты реализации</a:t>
            </a:r>
            <a:r>
              <a:rPr lang="en-US" dirty="0" smtClean="0"/>
              <a:t> SOC</a:t>
            </a:r>
            <a:r>
              <a:rPr lang="ru-RU" dirty="0" smtClean="0"/>
              <a:t> :</a:t>
            </a:r>
            <a:r>
              <a:rPr lang="ru-RU" dirty="0"/>
              <a:t/>
            </a:r>
            <a:br>
              <a:rPr lang="ru-RU" dirty="0"/>
            </a:br>
            <a:r>
              <a:rPr lang="ru-RU" dirty="0"/>
              <a:t>– в виде заказной СБИС (ASIC); </a:t>
            </a:r>
            <a:br>
              <a:rPr lang="ru-RU" dirty="0"/>
            </a:br>
            <a:r>
              <a:rPr lang="ru-RU" dirty="0"/>
              <a:t>– на базе ПЛИС высокой интеграции (FPGA</a:t>
            </a:r>
            <a:r>
              <a:rPr lang="ru-RU" dirty="0" smtClean="0"/>
              <a:t>).</a:t>
            </a:r>
            <a:endParaRPr lang="ru-RU" dirty="0"/>
          </a:p>
        </p:txBody>
      </p:sp>
    </p:spTree>
    <p:extLst>
      <p:ext uri="{BB962C8B-B14F-4D97-AF65-F5344CB8AC3E}">
        <p14:creationId xmlns:p14="http://schemas.microsoft.com/office/powerpoint/2010/main" val="2255598665"/>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116632"/>
            <a:ext cx="8964488" cy="1631216"/>
          </a:xfrm>
          <a:prstGeom prst="rect">
            <a:avLst/>
          </a:prstGeom>
        </p:spPr>
        <p:txBody>
          <a:bodyPr wrap="square">
            <a:spAutoFit/>
          </a:bodyPr>
          <a:lstStyle/>
          <a:p>
            <a:r>
              <a:rPr lang="ru-RU" sz="2000" b="1" dirty="0"/>
              <a:t>Преимущества систем на плате</a:t>
            </a:r>
            <a:r>
              <a:rPr lang="ru-RU" sz="2000" dirty="0"/>
              <a:t>:</a:t>
            </a:r>
            <a:br>
              <a:rPr lang="ru-RU" sz="2000" dirty="0"/>
            </a:br>
            <a:r>
              <a:rPr lang="ru-RU" sz="2000" dirty="0"/>
              <a:t>– использование хорошо проверенных серийных компонентов;</a:t>
            </a:r>
            <a:br>
              <a:rPr lang="ru-RU" sz="2000" dirty="0"/>
            </a:br>
            <a:r>
              <a:rPr lang="ru-RU" sz="2000" dirty="0"/>
              <a:t>– более простой процесс тестирования и отладки;</a:t>
            </a:r>
            <a:br>
              <a:rPr lang="ru-RU" sz="2000" dirty="0"/>
            </a:br>
            <a:r>
              <a:rPr lang="ru-RU" sz="2000" dirty="0"/>
              <a:t>– возможность замены неисправных компонентов;</a:t>
            </a:r>
            <a:br>
              <a:rPr lang="ru-RU" sz="2000" dirty="0"/>
            </a:br>
            <a:r>
              <a:rPr lang="ru-RU" sz="2000" dirty="0"/>
              <a:t>– низкая стоимость создания опытных образцов и малых серий.</a:t>
            </a:r>
          </a:p>
        </p:txBody>
      </p:sp>
      <p:sp>
        <p:nvSpPr>
          <p:cNvPr id="6" name="Прямоугольник 5"/>
          <p:cNvSpPr/>
          <p:nvPr/>
        </p:nvSpPr>
        <p:spPr>
          <a:xfrm>
            <a:off x="104180" y="1844824"/>
            <a:ext cx="8932316" cy="1323439"/>
          </a:xfrm>
          <a:prstGeom prst="rect">
            <a:avLst/>
          </a:prstGeom>
        </p:spPr>
        <p:txBody>
          <a:bodyPr wrap="square">
            <a:spAutoFit/>
          </a:bodyPr>
          <a:lstStyle/>
          <a:p>
            <a:r>
              <a:rPr lang="ru-RU" sz="2000" b="1" dirty="0"/>
              <a:t>Преимущества систем на кристалле</a:t>
            </a:r>
            <a:r>
              <a:rPr lang="ru-RU" sz="2000" dirty="0"/>
              <a:t>:</a:t>
            </a:r>
            <a:br>
              <a:rPr lang="ru-RU" sz="2000" dirty="0"/>
            </a:br>
            <a:r>
              <a:rPr lang="ru-RU" sz="2000" dirty="0"/>
              <a:t>– возможность получения более высоких технических показателей (производительность, энергопотребление, массогабаритные характеристики);</a:t>
            </a:r>
            <a:br>
              <a:rPr lang="ru-RU" sz="2000" dirty="0"/>
            </a:br>
            <a:r>
              <a:rPr lang="ru-RU" sz="2000" dirty="0"/>
              <a:t>– более низкая стоимость при крупносерийном выпуске.</a:t>
            </a:r>
          </a:p>
        </p:txBody>
      </p:sp>
      <p:sp>
        <p:nvSpPr>
          <p:cNvPr id="7" name="Прямоугольник 6"/>
          <p:cNvSpPr/>
          <p:nvPr/>
        </p:nvSpPr>
        <p:spPr>
          <a:xfrm>
            <a:off x="29716" y="3789040"/>
            <a:ext cx="8934772" cy="1938992"/>
          </a:xfrm>
          <a:prstGeom prst="rect">
            <a:avLst/>
          </a:prstGeom>
        </p:spPr>
        <p:txBody>
          <a:bodyPr wrap="square">
            <a:spAutoFit/>
          </a:bodyPr>
          <a:lstStyle/>
          <a:p>
            <a:r>
              <a:rPr lang="ru-RU" sz="2000" b="1" dirty="0"/>
              <a:t>Преимущества реализации </a:t>
            </a:r>
            <a:r>
              <a:rPr lang="en-US" sz="2000" b="1" dirty="0" smtClean="0"/>
              <a:t>SOC </a:t>
            </a:r>
            <a:r>
              <a:rPr lang="ru-RU" sz="2000" b="1" dirty="0" smtClean="0"/>
              <a:t>на </a:t>
            </a:r>
            <a:r>
              <a:rPr lang="ru-RU" sz="2000" b="1" dirty="0"/>
              <a:t>базе FPGA:</a:t>
            </a:r>
            <a:br>
              <a:rPr lang="ru-RU" sz="2000" b="1" dirty="0"/>
            </a:br>
            <a:r>
              <a:rPr lang="ru-RU" sz="2000" dirty="0"/>
              <a:t>– малые затраты на разработку и создание опытных образцов;</a:t>
            </a:r>
            <a:br>
              <a:rPr lang="ru-RU" sz="2000" dirty="0"/>
            </a:br>
            <a:r>
              <a:rPr lang="ru-RU" sz="2000" dirty="0"/>
              <a:t>– возможность многократной коррекции проекта;</a:t>
            </a:r>
            <a:br>
              <a:rPr lang="ru-RU" sz="2000" dirty="0"/>
            </a:br>
            <a:r>
              <a:rPr lang="ru-RU" sz="2000" dirty="0"/>
              <a:t>– использование хорошо проверенных серийных изделий;</a:t>
            </a:r>
            <a:br>
              <a:rPr lang="ru-RU" sz="2000" dirty="0"/>
            </a:br>
            <a:r>
              <a:rPr lang="ru-RU" sz="2000" dirty="0"/>
              <a:t>– более простой процесс тестирования и отладки (возможность реализации и отладки «по частям»).</a:t>
            </a:r>
          </a:p>
        </p:txBody>
      </p:sp>
    </p:spTree>
    <p:extLst>
      <p:ext uri="{BB962C8B-B14F-4D97-AF65-F5344CB8AC3E}">
        <p14:creationId xmlns:p14="http://schemas.microsoft.com/office/powerpoint/2010/main" val="280796805"/>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88640"/>
            <a:ext cx="8772772" cy="6555641"/>
          </a:xfrm>
          <a:prstGeom prst="rect">
            <a:avLst/>
          </a:prstGeom>
        </p:spPr>
        <p:txBody>
          <a:bodyPr wrap="square">
            <a:spAutoFit/>
          </a:bodyPr>
          <a:lstStyle/>
          <a:p>
            <a:r>
              <a:rPr lang="en-US" sz="2000" b="1" dirty="0" smtClean="0"/>
              <a:t>SOC </a:t>
            </a:r>
            <a:r>
              <a:rPr lang="ru-RU" sz="2000" b="1" dirty="0" smtClean="0"/>
              <a:t>может </a:t>
            </a:r>
            <a:r>
              <a:rPr lang="ru-RU" sz="2000" b="1" dirty="0"/>
              <a:t>включать </a:t>
            </a:r>
            <a:r>
              <a:rPr lang="ru-RU" sz="2000" dirty="0"/>
              <a:t>как </a:t>
            </a:r>
            <a:r>
              <a:rPr lang="ru-RU" sz="2000" i="1" dirty="0"/>
              <a:t>цифровые</a:t>
            </a:r>
            <a:r>
              <a:rPr lang="ru-RU" sz="2000" dirty="0"/>
              <a:t>, так и </a:t>
            </a:r>
            <a:r>
              <a:rPr lang="ru-RU" sz="2000" i="1" dirty="0"/>
              <a:t>аналоговые</a:t>
            </a:r>
            <a:r>
              <a:rPr lang="ru-RU" sz="2000" dirty="0"/>
              <a:t> блоки. </a:t>
            </a:r>
            <a:endParaRPr lang="en-US" sz="2000" dirty="0" smtClean="0"/>
          </a:p>
          <a:p>
            <a:endParaRPr lang="en-US" sz="2000" dirty="0"/>
          </a:p>
          <a:p>
            <a:r>
              <a:rPr lang="ru-RU" sz="2000" b="1" dirty="0" smtClean="0"/>
              <a:t>Основным </a:t>
            </a:r>
            <a:r>
              <a:rPr lang="ru-RU" sz="2000" b="1" dirty="0"/>
              <a:t>цифровым блоком</a:t>
            </a:r>
            <a:r>
              <a:rPr lang="ru-RU" sz="2000" dirty="0"/>
              <a:t> обычно является </a:t>
            </a:r>
            <a:r>
              <a:rPr lang="ru-RU" sz="2000" i="1" dirty="0"/>
              <a:t>процессор</a:t>
            </a:r>
            <a:r>
              <a:rPr lang="ru-RU" sz="2000" dirty="0"/>
              <a:t>, выполняющий программную обработку цифровых данных. </a:t>
            </a:r>
            <a:endParaRPr lang="ru-RU" sz="2000" dirty="0" smtClean="0"/>
          </a:p>
          <a:p>
            <a:r>
              <a:rPr lang="ru-RU" sz="2000" b="1" dirty="0" smtClean="0"/>
              <a:t>Специализированные </a:t>
            </a:r>
            <a:r>
              <a:rPr lang="ru-RU" sz="2000" b="1" dirty="0"/>
              <a:t>блоки обработки</a:t>
            </a:r>
            <a:r>
              <a:rPr lang="ru-RU" sz="2000" dirty="0"/>
              <a:t> </a:t>
            </a:r>
            <a:r>
              <a:rPr lang="ru-RU" sz="2000" dirty="0" smtClean="0"/>
              <a:t>включают</a:t>
            </a:r>
            <a:r>
              <a:rPr lang="en-US" sz="2000" dirty="0" smtClean="0"/>
              <a:t>:</a:t>
            </a:r>
            <a:r>
              <a:rPr lang="ru-RU" sz="2000" dirty="0" smtClean="0"/>
              <a:t> </a:t>
            </a:r>
            <a:r>
              <a:rPr lang="ru-RU" sz="2000" dirty="0"/>
              <a:t>блоки цифровой обработки сигналов (DSP), аналоговые </a:t>
            </a:r>
            <a:r>
              <a:rPr lang="ru-RU" sz="2000" dirty="0" smtClean="0"/>
              <a:t>схемы, преобразователи </a:t>
            </a:r>
            <a:r>
              <a:rPr lang="ru-RU" sz="2000" dirty="0"/>
              <a:t>потоков данных и др. устройства. </a:t>
            </a:r>
            <a:endParaRPr lang="ru-RU" sz="2000" dirty="0" smtClean="0"/>
          </a:p>
          <a:p>
            <a:r>
              <a:rPr lang="ru-RU" sz="2000" b="1" dirty="0" smtClean="0"/>
              <a:t>Блоки памяти включают</a:t>
            </a:r>
            <a:r>
              <a:rPr lang="en-US" sz="2000" b="1" dirty="0" smtClean="0"/>
              <a:t>:</a:t>
            </a:r>
            <a:r>
              <a:rPr lang="en-US" sz="2000" dirty="0" smtClean="0"/>
              <a:t> </a:t>
            </a:r>
            <a:r>
              <a:rPr lang="ru-RU" sz="2000" dirty="0" smtClean="0"/>
              <a:t>SRAM</a:t>
            </a:r>
            <a:r>
              <a:rPr lang="ru-RU" sz="2000" dirty="0"/>
              <a:t>, DRAM, ROM, EEPROM, </a:t>
            </a:r>
            <a:r>
              <a:rPr lang="ru-RU" sz="2000" dirty="0" err="1" smtClean="0"/>
              <a:t>Flash</a:t>
            </a:r>
            <a:r>
              <a:rPr lang="ru-RU" sz="2000" dirty="0" smtClean="0"/>
              <a:t> </a:t>
            </a:r>
            <a:r>
              <a:rPr lang="en-US" sz="2000" dirty="0" smtClean="0"/>
              <a:t>(</a:t>
            </a:r>
            <a:r>
              <a:rPr lang="ru-RU" sz="2000" dirty="0" smtClean="0"/>
              <a:t>могут подключаться </a:t>
            </a:r>
            <a:r>
              <a:rPr lang="ru-RU" sz="2000" dirty="0"/>
              <a:t>к ней как внешние </a:t>
            </a:r>
            <a:r>
              <a:rPr lang="ru-RU" sz="2000" dirty="0" smtClean="0"/>
              <a:t>блоки</a:t>
            </a:r>
            <a:r>
              <a:rPr lang="en-US" sz="2000" dirty="0" smtClean="0"/>
              <a:t>)</a:t>
            </a:r>
          </a:p>
          <a:p>
            <a:r>
              <a:rPr lang="ru-RU" sz="2000" b="1" dirty="0" smtClean="0"/>
              <a:t>Периферийные устройства</a:t>
            </a:r>
            <a:r>
              <a:rPr lang="en-US" sz="2000" dirty="0" smtClean="0"/>
              <a:t>:</a:t>
            </a:r>
            <a:r>
              <a:rPr lang="ru-RU" sz="2000" dirty="0" smtClean="0"/>
              <a:t> таймеры</a:t>
            </a:r>
            <a:r>
              <a:rPr lang="ru-RU" sz="2000" dirty="0"/>
              <a:t>, АЦП и ЦАП, широтно-импульсные модуляторы и </a:t>
            </a:r>
            <a:r>
              <a:rPr lang="ru-RU" sz="2000" dirty="0" smtClean="0"/>
              <a:t>др. </a:t>
            </a:r>
          </a:p>
          <a:p>
            <a:r>
              <a:rPr lang="ru-RU" sz="2000" b="1" dirty="0" smtClean="0"/>
              <a:t>Блоки внешних интерфейсов включают</a:t>
            </a:r>
            <a:r>
              <a:rPr lang="en-US" sz="2000" dirty="0" smtClean="0"/>
              <a:t>: </a:t>
            </a:r>
            <a:r>
              <a:rPr lang="ru-RU" sz="2000" dirty="0" smtClean="0"/>
              <a:t>параллельны</a:t>
            </a:r>
            <a:r>
              <a:rPr lang="ru-RU" sz="2000" dirty="0"/>
              <a:t>е</a:t>
            </a:r>
            <a:r>
              <a:rPr lang="ru-RU" sz="2000" dirty="0" smtClean="0"/>
              <a:t> </a:t>
            </a:r>
            <a:r>
              <a:rPr lang="ru-RU" sz="2000" dirty="0"/>
              <a:t>и </a:t>
            </a:r>
            <a:r>
              <a:rPr lang="ru-RU" sz="2000" dirty="0" smtClean="0"/>
              <a:t>последовательные порты, шинных </a:t>
            </a:r>
            <a:r>
              <a:rPr lang="ru-RU" sz="2000" dirty="0"/>
              <a:t>и </a:t>
            </a:r>
            <a:r>
              <a:rPr lang="ru-RU" sz="2000" dirty="0" smtClean="0"/>
              <a:t>коммуникационных (сетевых) контроллеров.</a:t>
            </a:r>
          </a:p>
          <a:p>
            <a:endParaRPr lang="ru-RU" sz="2000" dirty="0"/>
          </a:p>
          <a:p>
            <a:r>
              <a:rPr lang="ru-RU" sz="2000" b="1" dirty="0" smtClean="0">
                <a:solidFill>
                  <a:srgbClr val="FF0000"/>
                </a:solidFill>
              </a:rPr>
              <a:t>Состав </a:t>
            </a:r>
            <a:r>
              <a:rPr lang="ru-RU" sz="2000" b="1" dirty="0">
                <a:solidFill>
                  <a:srgbClr val="FF0000"/>
                </a:solidFill>
              </a:rPr>
              <a:t>блоков, интегрируемых в конкретной </a:t>
            </a:r>
            <a:r>
              <a:rPr lang="en-US" sz="2000" b="1" dirty="0" smtClean="0">
                <a:solidFill>
                  <a:srgbClr val="FF0000"/>
                </a:solidFill>
              </a:rPr>
              <a:t>SOC </a:t>
            </a:r>
            <a:r>
              <a:rPr lang="ru-RU" sz="2000" b="1" dirty="0" smtClean="0">
                <a:solidFill>
                  <a:srgbClr val="FF0000"/>
                </a:solidFill>
              </a:rPr>
              <a:t>, </a:t>
            </a:r>
            <a:r>
              <a:rPr lang="ru-RU" sz="2000" b="1" dirty="0">
                <a:solidFill>
                  <a:srgbClr val="FF0000"/>
                </a:solidFill>
              </a:rPr>
              <a:t>варьируется в зависимости от ее функционального назначения</a:t>
            </a:r>
            <a:r>
              <a:rPr lang="ru-RU" sz="2000" b="1" dirty="0"/>
              <a:t>. </a:t>
            </a:r>
            <a:endParaRPr lang="ru-RU" sz="2000" b="1" dirty="0" smtClean="0"/>
          </a:p>
          <a:p>
            <a:endParaRPr lang="ru-RU" sz="2000" dirty="0"/>
          </a:p>
          <a:p>
            <a:r>
              <a:rPr lang="ru-RU" sz="2000" dirty="0" smtClean="0"/>
              <a:t>Организация </a:t>
            </a:r>
            <a:r>
              <a:rPr lang="ru-RU" sz="2000" dirty="0"/>
              <a:t>связей между блоками системы также может быть различной: возможно использование различных стандартизованных шин </a:t>
            </a:r>
            <a:r>
              <a:rPr lang="ru-RU" sz="2000" dirty="0" smtClean="0"/>
              <a:t>или </a:t>
            </a:r>
            <a:r>
              <a:rPr lang="ru-RU" sz="2000" dirty="0"/>
              <a:t>специализированных локальных интерфейсов.</a:t>
            </a:r>
            <a:br>
              <a:rPr lang="ru-RU" sz="2000" dirty="0"/>
            </a:br>
            <a:endParaRPr lang="ru-RU" sz="2000" dirty="0"/>
          </a:p>
        </p:txBody>
      </p:sp>
    </p:spTree>
    <p:extLst>
      <p:ext uri="{BB962C8B-B14F-4D97-AF65-F5344CB8AC3E}">
        <p14:creationId xmlns:p14="http://schemas.microsoft.com/office/powerpoint/2010/main" val="2853998316"/>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6772" y="2543091"/>
            <a:ext cx="8712968" cy="923330"/>
          </a:xfrm>
          <a:prstGeom prst="rect">
            <a:avLst/>
          </a:prstGeom>
        </p:spPr>
        <p:txBody>
          <a:bodyPr wrap="square">
            <a:spAutoFit/>
          </a:bodyPr>
          <a:lstStyle/>
          <a:p>
            <a:r>
              <a:rPr lang="ru-RU" b="1" dirty="0"/>
              <a:t>IP </a:t>
            </a:r>
            <a:r>
              <a:rPr lang="ru-RU" b="1" dirty="0" err="1"/>
              <a:t>cores</a:t>
            </a:r>
            <a:r>
              <a:rPr lang="ru-RU" b="1" dirty="0"/>
              <a:t> (IP-ядра, от англ. </a:t>
            </a:r>
            <a:r>
              <a:rPr lang="ru-RU" b="1" dirty="0" err="1"/>
              <a:t>Intellectual</a:t>
            </a:r>
            <a:r>
              <a:rPr lang="ru-RU" b="1" dirty="0"/>
              <a:t> </a:t>
            </a:r>
            <a:r>
              <a:rPr lang="ru-RU" b="1" dirty="0" err="1"/>
              <a:t>Property</a:t>
            </a:r>
            <a:r>
              <a:rPr lang="ru-RU" b="1" dirty="0"/>
              <a:t> — интеллектуальный продукт. Также IP-блоки, сложные функциональные (СФ) блоки; </a:t>
            </a:r>
            <a:r>
              <a:rPr lang="ru-RU" b="1" dirty="0" smtClean="0"/>
              <a:t>— </a:t>
            </a:r>
            <a:r>
              <a:rPr lang="ru-RU" b="1" dirty="0"/>
              <a:t>готовые блоки для проектирования микросхем (например, построения систем на кристалле).</a:t>
            </a:r>
          </a:p>
        </p:txBody>
      </p:sp>
      <p:sp>
        <p:nvSpPr>
          <p:cNvPr id="5" name="TextBox 4"/>
          <p:cNvSpPr txBox="1"/>
          <p:nvPr/>
        </p:nvSpPr>
        <p:spPr>
          <a:xfrm>
            <a:off x="2726181" y="107340"/>
            <a:ext cx="4031873" cy="400110"/>
          </a:xfrm>
          <a:prstGeom prst="rect">
            <a:avLst/>
          </a:prstGeom>
          <a:noFill/>
        </p:spPr>
        <p:txBody>
          <a:bodyPr wrap="none" rtlCol="0">
            <a:spAutoFit/>
          </a:bodyPr>
          <a:lstStyle/>
          <a:p>
            <a:r>
              <a:rPr lang="ru-RU" sz="2000" b="1" dirty="0" smtClean="0"/>
              <a:t>Особенности проектирования </a:t>
            </a:r>
            <a:r>
              <a:rPr lang="en-US" sz="2000" b="1" dirty="0" smtClean="0"/>
              <a:t>SOC</a:t>
            </a:r>
            <a:endParaRPr lang="ru-RU" sz="2000" b="1" dirty="0"/>
          </a:p>
        </p:txBody>
      </p:sp>
      <p:sp>
        <p:nvSpPr>
          <p:cNvPr id="6" name="Прямоугольник 5"/>
          <p:cNvSpPr/>
          <p:nvPr/>
        </p:nvSpPr>
        <p:spPr>
          <a:xfrm>
            <a:off x="179512" y="507450"/>
            <a:ext cx="8856984" cy="2031325"/>
          </a:xfrm>
          <a:prstGeom prst="rect">
            <a:avLst/>
          </a:prstGeom>
        </p:spPr>
        <p:txBody>
          <a:bodyPr wrap="square">
            <a:spAutoFit/>
          </a:bodyPr>
          <a:lstStyle/>
          <a:p>
            <a:r>
              <a:rPr lang="ru-RU" dirty="0"/>
              <a:t>Проектирование  систем  на  кристалле  требует  больших  затрат  труда  и  времени. </a:t>
            </a:r>
          </a:p>
          <a:p>
            <a:r>
              <a:rPr lang="ru-RU" dirty="0"/>
              <a:t>В</a:t>
            </a:r>
            <a:r>
              <a:rPr lang="ru-RU" dirty="0" smtClean="0"/>
              <a:t>  </a:t>
            </a:r>
            <a:r>
              <a:rPr lang="ru-RU" dirty="0"/>
              <a:t>рамках  традиционного  проектирования  разработка  сложной </a:t>
            </a:r>
            <a:r>
              <a:rPr lang="ru-RU" dirty="0" smtClean="0"/>
              <a:t> СБИС  </a:t>
            </a:r>
            <a:r>
              <a:rPr lang="ru-RU" dirty="0"/>
              <a:t>потребовала  бы  </a:t>
            </a:r>
            <a:r>
              <a:rPr lang="ru-RU" b="1" dirty="0"/>
              <a:t>500 … 1 000  человеко-лет.   </a:t>
            </a:r>
          </a:p>
          <a:p>
            <a:r>
              <a:rPr lang="ru-RU" b="1" dirty="0"/>
              <a:t>Снижение</a:t>
            </a:r>
            <a:r>
              <a:rPr lang="ru-RU" dirty="0"/>
              <a:t>  </a:t>
            </a:r>
            <a:r>
              <a:rPr lang="ru-RU" b="1" dirty="0"/>
              <a:t>трудоемкости  и  стоимости  проектирования  </a:t>
            </a:r>
            <a:r>
              <a:rPr lang="ru-RU" dirty="0"/>
              <a:t>—  одна  из  важнейших </a:t>
            </a:r>
          </a:p>
          <a:p>
            <a:r>
              <a:rPr lang="ru-RU" dirty="0"/>
              <a:t>задач  </a:t>
            </a:r>
            <a:r>
              <a:rPr lang="ru-RU" dirty="0" smtClean="0"/>
              <a:t>микроэлектроники.</a:t>
            </a:r>
            <a:endParaRPr lang="en-US" dirty="0" smtClean="0"/>
          </a:p>
          <a:p>
            <a:endParaRPr lang="ru-RU" dirty="0" smtClean="0"/>
          </a:p>
          <a:p>
            <a:r>
              <a:rPr lang="ru-RU" dirty="0" smtClean="0"/>
              <a:t>Один   </a:t>
            </a:r>
            <a:r>
              <a:rPr lang="ru-RU" dirty="0"/>
              <a:t>из  основных  путей  решения </a:t>
            </a:r>
            <a:r>
              <a:rPr lang="ru-RU" dirty="0" smtClean="0"/>
              <a:t>-</a:t>
            </a:r>
            <a:r>
              <a:rPr lang="ru-RU" b="1" dirty="0" smtClean="0"/>
              <a:t>создание  </a:t>
            </a:r>
            <a:r>
              <a:rPr lang="ru-RU" b="1" dirty="0"/>
              <a:t>библиотек  IP-блоков</a:t>
            </a:r>
            <a:r>
              <a:rPr lang="ru-RU" dirty="0"/>
              <a:t>. </a:t>
            </a:r>
          </a:p>
        </p:txBody>
      </p:sp>
      <p:sp>
        <p:nvSpPr>
          <p:cNvPr id="7" name="Прямоугольник 6"/>
          <p:cNvSpPr/>
          <p:nvPr/>
        </p:nvSpPr>
        <p:spPr>
          <a:xfrm>
            <a:off x="46772" y="3573016"/>
            <a:ext cx="9097228" cy="2246769"/>
          </a:xfrm>
          <a:prstGeom prst="rect">
            <a:avLst/>
          </a:prstGeom>
        </p:spPr>
        <p:txBody>
          <a:bodyPr wrap="square">
            <a:spAutoFit/>
          </a:bodyPr>
          <a:lstStyle/>
          <a:p>
            <a:r>
              <a:rPr lang="ru-RU" sz="2000" dirty="0" smtClean="0"/>
              <a:t>Созданием  </a:t>
            </a:r>
            <a:r>
              <a:rPr lang="ru-RU" sz="2000" dirty="0"/>
              <a:t>IP-блоков  занимаются  </a:t>
            </a:r>
            <a:r>
              <a:rPr lang="ru-RU" sz="2000" dirty="0" smtClean="0"/>
              <a:t>изготовители  кристаллов </a:t>
            </a:r>
            <a:r>
              <a:rPr lang="ru-RU" sz="2000" dirty="0"/>
              <a:t>и  специализированные  </a:t>
            </a:r>
            <a:r>
              <a:rPr lang="ru-RU" sz="2000" dirty="0" smtClean="0"/>
              <a:t>фирмы</a:t>
            </a:r>
            <a:r>
              <a:rPr lang="en-US" sz="2000" dirty="0" smtClean="0"/>
              <a:t>.</a:t>
            </a:r>
            <a:r>
              <a:rPr lang="ru-RU" sz="2000" dirty="0" smtClean="0"/>
              <a:t>  Разработанные IP-блоки могут использоваться для  </a:t>
            </a:r>
            <a:r>
              <a:rPr lang="ru-RU" sz="2000" dirty="0"/>
              <a:t>кристаллов  разных  производителей.  </a:t>
            </a:r>
            <a:endParaRPr lang="ru-RU" sz="2000" dirty="0" smtClean="0"/>
          </a:p>
          <a:p>
            <a:endParaRPr lang="ru-RU" sz="2000" dirty="0" smtClean="0"/>
          </a:p>
          <a:p>
            <a:r>
              <a:rPr lang="ru-RU" sz="2000" dirty="0" smtClean="0"/>
              <a:t>Диапазон  сложности  </a:t>
            </a:r>
            <a:r>
              <a:rPr lang="ru-RU" sz="2000" dirty="0"/>
              <a:t>синтезированных  </a:t>
            </a:r>
            <a:r>
              <a:rPr lang="ru-RU" sz="2000" dirty="0" smtClean="0"/>
              <a:t>IP-блоков -от  </a:t>
            </a:r>
            <a:r>
              <a:rPr lang="ru-RU" sz="2000" dirty="0"/>
              <a:t>уровня  функциональных  узлов  (счетчиков,  регистров  и </a:t>
            </a:r>
            <a:r>
              <a:rPr lang="ru-RU" sz="2000" dirty="0" smtClean="0"/>
              <a:t>т</a:t>
            </a:r>
            <a:r>
              <a:rPr lang="ru-RU" sz="2000" dirty="0"/>
              <a:t>.  п.)  до  уровня </a:t>
            </a:r>
            <a:r>
              <a:rPr lang="ru-RU" sz="2000" dirty="0" smtClean="0"/>
              <a:t>микропроцессоров,  микроконтроллеров, </a:t>
            </a:r>
            <a:r>
              <a:rPr lang="en-US" sz="2000" dirty="0" smtClean="0"/>
              <a:t>DSP</a:t>
            </a:r>
            <a:r>
              <a:rPr lang="ru-RU" sz="2000" dirty="0" smtClean="0"/>
              <a:t>-блоков.</a:t>
            </a:r>
            <a:endParaRPr lang="ru-RU" sz="2000" dirty="0"/>
          </a:p>
        </p:txBody>
      </p:sp>
    </p:spTree>
    <p:extLst>
      <p:ext uri="{BB962C8B-B14F-4D97-AF65-F5344CB8AC3E}">
        <p14:creationId xmlns:p14="http://schemas.microsoft.com/office/powerpoint/2010/main" val="3307946301"/>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2554" y="116632"/>
            <a:ext cx="8964488" cy="5016758"/>
          </a:xfrm>
          <a:prstGeom prst="rect">
            <a:avLst/>
          </a:prstGeom>
        </p:spPr>
        <p:txBody>
          <a:bodyPr wrap="square">
            <a:spAutoFit/>
          </a:bodyPr>
          <a:lstStyle/>
          <a:p>
            <a:r>
              <a:rPr lang="ru-RU" sz="2000" b="1" dirty="0" smtClean="0"/>
              <a:t>Варианты </a:t>
            </a:r>
            <a:r>
              <a:rPr lang="en-US" sz="2000" b="1" dirty="0" smtClean="0"/>
              <a:t>IP-</a:t>
            </a:r>
            <a:r>
              <a:rPr lang="ru-RU" sz="2000" b="1" dirty="0" smtClean="0"/>
              <a:t>блоков: </a:t>
            </a:r>
            <a:endParaRPr lang="ru-RU" sz="2000" b="1" dirty="0"/>
          </a:p>
          <a:p>
            <a:r>
              <a:rPr lang="ru-RU" sz="2000" i="1" dirty="0" err="1" smtClean="0"/>
              <a:t>soft</a:t>
            </a:r>
            <a:r>
              <a:rPr lang="ru-RU" sz="2000" i="1" dirty="0" smtClean="0"/>
              <a:t>-ядра</a:t>
            </a:r>
            <a:r>
              <a:rPr lang="ru-RU" sz="2000" dirty="0" smtClean="0"/>
              <a:t>  </a:t>
            </a:r>
            <a:r>
              <a:rPr lang="ru-RU" sz="2000" dirty="0"/>
              <a:t>—  это  файлы,  определяющие  конфигурирование  некоторой  области </a:t>
            </a:r>
            <a:r>
              <a:rPr lang="ru-RU" sz="2000" dirty="0" smtClean="0"/>
              <a:t>кристалла  </a:t>
            </a:r>
            <a:r>
              <a:rPr lang="ru-RU" sz="2000" dirty="0"/>
              <a:t>таким  образом,  что  в  ней  создается  устройство  заданного  типа.  Эти </a:t>
            </a:r>
            <a:r>
              <a:rPr lang="ru-RU" sz="2000" dirty="0" smtClean="0"/>
              <a:t>файлы  </a:t>
            </a:r>
            <a:r>
              <a:rPr lang="ru-RU" sz="2000" dirty="0"/>
              <a:t>можно  интегрировать  в  описание  проектируемого  устройства  на  языках </a:t>
            </a:r>
            <a:r>
              <a:rPr lang="ru-RU" sz="2000" dirty="0" smtClean="0"/>
              <a:t> HDL (</a:t>
            </a:r>
            <a:r>
              <a:rPr lang="ru-RU" sz="2000" dirty="0" err="1" smtClean="0"/>
              <a:t>Hardware</a:t>
            </a:r>
            <a:r>
              <a:rPr lang="ru-RU" sz="2000" dirty="0" smtClean="0"/>
              <a:t>  </a:t>
            </a:r>
            <a:r>
              <a:rPr lang="ru-RU" sz="2000" dirty="0" err="1"/>
              <a:t>Description</a:t>
            </a:r>
            <a:r>
              <a:rPr lang="ru-RU" sz="2000" dirty="0"/>
              <a:t>  </a:t>
            </a:r>
            <a:r>
              <a:rPr lang="ru-RU" sz="2000" dirty="0" err="1"/>
              <a:t>Language</a:t>
            </a:r>
            <a:r>
              <a:rPr lang="ru-RU" sz="2000" dirty="0"/>
              <a:t>); </a:t>
            </a:r>
          </a:p>
          <a:p>
            <a:endParaRPr lang="ru-RU" sz="2000" dirty="0"/>
          </a:p>
          <a:p>
            <a:r>
              <a:rPr lang="ru-RU" sz="2000" i="1" dirty="0" err="1" smtClean="0"/>
              <a:t>firm</a:t>
            </a:r>
            <a:r>
              <a:rPr lang="ru-RU" sz="2000" i="1" dirty="0" smtClean="0"/>
              <a:t>-ядра</a:t>
            </a:r>
            <a:r>
              <a:rPr lang="ru-RU" sz="2000" dirty="0" smtClean="0"/>
              <a:t>  применяют  для блоков</a:t>
            </a:r>
            <a:r>
              <a:rPr lang="ru-RU" sz="2000" dirty="0"/>
              <a:t>, </a:t>
            </a:r>
            <a:r>
              <a:rPr lang="ru-RU" sz="2000" dirty="0" smtClean="0"/>
              <a:t>быстродействие  </a:t>
            </a:r>
            <a:r>
              <a:rPr lang="ru-RU" sz="2000" dirty="0"/>
              <a:t>которых  особенно  важно.  В  этих  ядрах  задание </a:t>
            </a:r>
            <a:r>
              <a:rPr lang="ru-RU" sz="2000" dirty="0" smtClean="0"/>
              <a:t>схемы  </a:t>
            </a:r>
            <a:r>
              <a:rPr lang="ru-RU" sz="2000" dirty="0"/>
              <a:t>является </a:t>
            </a:r>
            <a:r>
              <a:rPr lang="ru-RU" sz="2000" dirty="0" smtClean="0"/>
              <a:t>более  жестким,  чем  </a:t>
            </a:r>
            <a:r>
              <a:rPr lang="ru-RU" sz="2000" dirty="0"/>
              <a:t>в  файле  поведенческого  описания,  свойственного  </a:t>
            </a:r>
            <a:r>
              <a:rPr lang="ru-RU" sz="2000" i="1" dirty="0" err="1" smtClean="0"/>
              <a:t>soft</a:t>
            </a:r>
            <a:r>
              <a:rPr lang="ru-RU" sz="2000" dirty="0" smtClean="0"/>
              <a:t>-ядрам</a:t>
            </a:r>
            <a:r>
              <a:rPr lang="ru-RU" sz="2000" dirty="0"/>
              <a:t>,  поскольку  в  описании  </a:t>
            </a:r>
            <a:r>
              <a:rPr lang="ru-RU" sz="2000" i="1" dirty="0" err="1"/>
              <a:t>firm</a:t>
            </a:r>
            <a:r>
              <a:rPr lang="ru-RU" sz="2000" dirty="0"/>
              <a:t>-блока  предопределены  некоторые  схемные </a:t>
            </a:r>
            <a:r>
              <a:rPr lang="ru-RU" sz="2000" dirty="0" smtClean="0"/>
              <a:t> </a:t>
            </a:r>
            <a:r>
              <a:rPr lang="ru-RU" sz="2000" dirty="0" err="1" smtClean="0"/>
              <a:t>межсоединения</a:t>
            </a:r>
            <a:r>
              <a:rPr lang="ru-RU" sz="2000" dirty="0"/>
              <a:t>; </a:t>
            </a:r>
          </a:p>
          <a:p>
            <a:endParaRPr lang="ru-RU" sz="2000" dirty="0"/>
          </a:p>
          <a:p>
            <a:r>
              <a:rPr lang="ru-RU" sz="2000" i="1" dirty="0" err="1" smtClean="0"/>
              <a:t>hard</a:t>
            </a:r>
            <a:r>
              <a:rPr lang="ru-RU" sz="2000" i="1" dirty="0" smtClean="0"/>
              <a:t>-ядра</a:t>
            </a:r>
            <a:r>
              <a:rPr lang="ru-RU" sz="2000" dirty="0" smtClean="0"/>
              <a:t>  </a:t>
            </a:r>
            <a:r>
              <a:rPr lang="ru-RU" sz="2000" dirty="0"/>
              <a:t>—  представляют  собой  реализованные  на  кристалле  области  с </a:t>
            </a:r>
            <a:r>
              <a:rPr lang="ru-RU" sz="2000" dirty="0" smtClean="0"/>
              <a:t>фиксированными  </a:t>
            </a:r>
            <a:r>
              <a:rPr lang="ru-RU" sz="2000" dirty="0"/>
              <a:t>функциями  (устройства).  Заказное  проектирование  </a:t>
            </a:r>
            <a:r>
              <a:rPr lang="ru-RU" sz="2000" i="1" dirty="0" err="1"/>
              <a:t>hard</a:t>
            </a:r>
            <a:r>
              <a:rPr lang="ru-RU" sz="2000" i="1" dirty="0"/>
              <a:t>-</a:t>
            </a:r>
            <a:r>
              <a:rPr lang="ru-RU" sz="2000" dirty="0"/>
              <a:t>ядер  </a:t>
            </a:r>
            <a:r>
              <a:rPr lang="ru-RU" sz="2000" dirty="0" smtClean="0"/>
              <a:t>позволяет  </a:t>
            </a:r>
            <a:r>
              <a:rPr lang="ru-RU" sz="2000" dirty="0"/>
              <a:t>оптимизировать  соответствующие  схемы,  не  содержащие  средств  </a:t>
            </a:r>
            <a:r>
              <a:rPr lang="ru-RU" sz="2000" dirty="0" smtClean="0"/>
              <a:t>программирования</a:t>
            </a:r>
            <a:r>
              <a:rPr lang="ru-RU" sz="2000" dirty="0"/>
              <a:t>,  но  не  позволяет  как-либо  </a:t>
            </a:r>
            <a:r>
              <a:rPr lang="ru-RU" sz="2000" dirty="0" err="1"/>
              <a:t>репрограммировать</a:t>
            </a:r>
            <a:r>
              <a:rPr lang="ru-RU" sz="2000" dirty="0"/>
              <a:t>  эти  ядра. </a:t>
            </a:r>
          </a:p>
        </p:txBody>
      </p:sp>
      <p:sp>
        <p:nvSpPr>
          <p:cNvPr id="5" name="Прямоугольник 4"/>
          <p:cNvSpPr/>
          <p:nvPr/>
        </p:nvSpPr>
        <p:spPr>
          <a:xfrm>
            <a:off x="25276" y="5301208"/>
            <a:ext cx="9059044" cy="1015663"/>
          </a:xfrm>
          <a:prstGeom prst="rect">
            <a:avLst/>
          </a:prstGeom>
        </p:spPr>
        <p:txBody>
          <a:bodyPr wrap="square">
            <a:spAutoFit/>
          </a:bodyPr>
          <a:lstStyle/>
          <a:p>
            <a:r>
              <a:rPr lang="ru-RU" sz="2000" dirty="0"/>
              <a:t> </a:t>
            </a:r>
            <a:r>
              <a:rPr lang="ru-RU" sz="2000" i="1" dirty="0" err="1"/>
              <a:t>Hard</a:t>
            </a:r>
            <a:r>
              <a:rPr lang="ru-RU" sz="2000" i="1" dirty="0"/>
              <a:t>-ядра</a:t>
            </a:r>
            <a:r>
              <a:rPr lang="ru-RU" sz="2000" dirty="0"/>
              <a:t>  приобретаются  вместе  с  микросхемой  как  ее  части  и </a:t>
            </a:r>
          </a:p>
          <a:p>
            <a:r>
              <a:rPr lang="ru-RU" sz="2000" dirty="0"/>
              <a:t>не  являются  </a:t>
            </a:r>
            <a:r>
              <a:rPr lang="ru-RU" sz="2000" dirty="0" smtClean="0"/>
              <a:t>самостоятельным  </a:t>
            </a:r>
            <a:r>
              <a:rPr lang="ru-RU" sz="2000" dirty="0"/>
              <a:t>товаром.  </a:t>
            </a:r>
            <a:r>
              <a:rPr lang="ru-RU" sz="2000" i="1" dirty="0" err="1"/>
              <a:t>Soft</a:t>
            </a:r>
            <a:r>
              <a:rPr lang="ru-RU" sz="2000" i="1" dirty="0"/>
              <a:t>-  </a:t>
            </a:r>
            <a:r>
              <a:rPr lang="ru-RU" sz="2000" dirty="0"/>
              <a:t>и </a:t>
            </a:r>
            <a:r>
              <a:rPr lang="ru-RU" sz="2000" i="1" dirty="0"/>
              <a:t> </a:t>
            </a:r>
            <a:r>
              <a:rPr lang="ru-RU" sz="2000" i="1" dirty="0" err="1"/>
              <a:t>firm</a:t>
            </a:r>
            <a:r>
              <a:rPr lang="ru-RU" sz="2000" i="1" dirty="0"/>
              <a:t>-ядра  </a:t>
            </a:r>
            <a:r>
              <a:rPr lang="ru-RU" sz="2000" dirty="0" smtClean="0"/>
              <a:t>приобретаются  </a:t>
            </a:r>
            <a:r>
              <a:rPr lang="ru-RU" sz="2000" dirty="0"/>
              <a:t>как  самостоятельные  продукты </a:t>
            </a:r>
            <a:r>
              <a:rPr lang="ru-RU" sz="2000" dirty="0" smtClean="0"/>
              <a:t>. </a:t>
            </a:r>
            <a:endParaRPr lang="ru-RU" sz="2000" dirty="0"/>
          </a:p>
        </p:txBody>
      </p:sp>
    </p:spTree>
    <p:extLst>
      <p:ext uri="{BB962C8B-B14F-4D97-AF65-F5344CB8AC3E}">
        <p14:creationId xmlns:p14="http://schemas.microsoft.com/office/powerpoint/2010/main" val="1582168666"/>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3645023"/>
            <a:ext cx="9036496" cy="2554545"/>
          </a:xfrm>
          <a:prstGeom prst="rect">
            <a:avLst/>
          </a:prstGeom>
        </p:spPr>
        <p:txBody>
          <a:bodyPr wrap="square">
            <a:spAutoFit/>
          </a:bodyPr>
          <a:lstStyle/>
          <a:p>
            <a:r>
              <a:rPr lang="ru-RU" sz="2000" b="1" dirty="0" smtClean="0"/>
              <a:t>Системы  </a:t>
            </a:r>
            <a:r>
              <a:rPr lang="ru-RU" sz="2000" b="1" dirty="0"/>
              <a:t>однородного  типа. </a:t>
            </a:r>
          </a:p>
          <a:p>
            <a:r>
              <a:rPr lang="ru-RU" sz="2000" dirty="0" smtClean="0"/>
              <a:t>Системы высшей  </a:t>
            </a:r>
            <a:r>
              <a:rPr lang="ru-RU" sz="2000" dirty="0"/>
              <a:t>сложности  и </a:t>
            </a:r>
            <a:r>
              <a:rPr lang="ru-RU" sz="2000" dirty="0" smtClean="0"/>
              <a:t>производительности</a:t>
            </a:r>
            <a:r>
              <a:rPr lang="ru-RU" sz="2000" dirty="0"/>
              <a:t>,  в  которых  применяются  преимущественно  </a:t>
            </a:r>
            <a:r>
              <a:rPr lang="ru-RU" sz="2000" i="1" dirty="0" err="1"/>
              <a:t>soft</a:t>
            </a:r>
            <a:r>
              <a:rPr lang="ru-RU" sz="2000" dirty="0"/>
              <a:t>-ядра,  </a:t>
            </a:r>
            <a:r>
              <a:rPr lang="ru-RU" sz="2000" dirty="0" smtClean="0"/>
              <a:t>реализуемые  </a:t>
            </a:r>
            <a:r>
              <a:rPr lang="ru-RU" sz="2000" dirty="0"/>
              <a:t>схемотехнически  однотипными  ресурсами  в  тех </a:t>
            </a:r>
            <a:r>
              <a:rPr lang="ru-RU" sz="2000" dirty="0" smtClean="0"/>
              <a:t>или  </a:t>
            </a:r>
            <a:r>
              <a:rPr lang="ru-RU" sz="2000" dirty="0"/>
              <a:t>иных  областях  </a:t>
            </a:r>
            <a:r>
              <a:rPr lang="ru-RU" sz="2000" dirty="0" smtClean="0"/>
              <a:t>кристалла  </a:t>
            </a:r>
            <a:r>
              <a:rPr lang="ru-RU" sz="2000" dirty="0"/>
              <a:t>благодаря  </a:t>
            </a:r>
            <a:r>
              <a:rPr lang="ru-RU" sz="2000" dirty="0" smtClean="0"/>
              <a:t>их</a:t>
            </a:r>
            <a:r>
              <a:rPr lang="en-US" sz="2000" dirty="0" smtClean="0"/>
              <a:t> </a:t>
            </a:r>
            <a:r>
              <a:rPr lang="ru-RU" sz="2000" dirty="0" smtClean="0"/>
              <a:t>программируемости.</a:t>
            </a:r>
          </a:p>
          <a:p>
            <a:endParaRPr lang="en-US" sz="2000" dirty="0" smtClean="0"/>
          </a:p>
          <a:p>
            <a:r>
              <a:rPr lang="ru-RU" sz="2000" b="1" dirty="0" smtClean="0"/>
              <a:t>Области применения</a:t>
            </a:r>
            <a:r>
              <a:rPr lang="en-US" sz="2000" b="1" dirty="0" smtClean="0"/>
              <a:t>:</a:t>
            </a:r>
          </a:p>
          <a:p>
            <a:r>
              <a:rPr lang="ru-RU" sz="2000" dirty="0" smtClean="0"/>
              <a:t>телекоммуникации</a:t>
            </a:r>
            <a:r>
              <a:rPr lang="ru-RU" sz="2000" dirty="0"/>
              <a:t>,  сетевые  приложения,  </a:t>
            </a:r>
            <a:r>
              <a:rPr lang="ru-RU" sz="2000" dirty="0" smtClean="0"/>
              <a:t>обработка  изображений, речи и </a:t>
            </a:r>
            <a:r>
              <a:rPr lang="ru-RU" sz="2000" dirty="0" err="1" smtClean="0"/>
              <a:t>т.д</a:t>
            </a:r>
            <a:r>
              <a:rPr lang="ru-RU" sz="2000" dirty="0" smtClean="0"/>
              <a:t> .</a:t>
            </a:r>
            <a:endParaRPr lang="ru-RU" sz="2000" dirty="0"/>
          </a:p>
        </p:txBody>
      </p:sp>
      <p:sp>
        <p:nvSpPr>
          <p:cNvPr id="5" name="Прямоугольник 4"/>
          <p:cNvSpPr/>
          <p:nvPr/>
        </p:nvSpPr>
        <p:spPr>
          <a:xfrm>
            <a:off x="2411760" y="212676"/>
            <a:ext cx="4248472" cy="400110"/>
          </a:xfrm>
          <a:prstGeom prst="rect">
            <a:avLst/>
          </a:prstGeom>
        </p:spPr>
        <p:txBody>
          <a:bodyPr wrap="square">
            <a:spAutoFit/>
          </a:bodyPr>
          <a:lstStyle/>
          <a:p>
            <a:r>
              <a:rPr lang="ru-RU" sz="2000" b="1" dirty="0" smtClean="0"/>
              <a:t>Типы программируемых </a:t>
            </a:r>
            <a:r>
              <a:rPr lang="en-US" sz="2000" b="1" dirty="0" smtClean="0"/>
              <a:t> SOC</a:t>
            </a:r>
            <a:endParaRPr lang="ru-RU" sz="2000" b="1" dirty="0"/>
          </a:p>
        </p:txBody>
      </p:sp>
      <p:sp>
        <p:nvSpPr>
          <p:cNvPr id="6" name="Прямоугольник 5"/>
          <p:cNvSpPr/>
          <p:nvPr/>
        </p:nvSpPr>
        <p:spPr>
          <a:xfrm>
            <a:off x="198810" y="590815"/>
            <a:ext cx="8674372" cy="646331"/>
          </a:xfrm>
          <a:prstGeom prst="rect">
            <a:avLst/>
          </a:prstGeom>
        </p:spPr>
        <p:txBody>
          <a:bodyPr wrap="square">
            <a:spAutoFit/>
          </a:bodyPr>
          <a:lstStyle/>
          <a:p>
            <a:r>
              <a:rPr lang="ru-RU" dirty="0"/>
              <a:t>Все  программируемые  </a:t>
            </a:r>
            <a:r>
              <a:rPr lang="en-US" dirty="0" smtClean="0"/>
              <a:t>SOC </a:t>
            </a:r>
            <a:r>
              <a:rPr lang="ru-RU" dirty="0" smtClean="0"/>
              <a:t>подобны  </a:t>
            </a:r>
            <a:r>
              <a:rPr lang="ru-RU" dirty="0"/>
              <a:t>друг  другу  тем,  что </a:t>
            </a:r>
            <a:r>
              <a:rPr lang="en-US" dirty="0" smtClean="0"/>
              <a:t> </a:t>
            </a:r>
            <a:r>
              <a:rPr lang="ru-RU" dirty="0" smtClean="0"/>
              <a:t>синтезируются  </a:t>
            </a:r>
            <a:r>
              <a:rPr lang="ru-RU" dirty="0"/>
              <a:t>с  помощью  ядер. </a:t>
            </a:r>
          </a:p>
        </p:txBody>
      </p:sp>
      <p:sp>
        <p:nvSpPr>
          <p:cNvPr id="8" name="TextBox 7"/>
          <p:cNvSpPr txBox="1"/>
          <p:nvPr/>
        </p:nvSpPr>
        <p:spPr>
          <a:xfrm>
            <a:off x="2801268" y="1276858"/>
            <a:ext cx="2416111" cy="400110"/>
          </a:xfrm>
          <a:prstGeom prst="rect">
            <a:avLst/>
          </a:prstGeom>
          <a:noFill/>
        </p:spPr>
        <p:txBody>
          <a:bodyPr wrap="none" rtlCol="0">
            <a:spAutoFit/>
          </a:bodyPr>
          <a:lstStyle/>
          <a:p>
            <a:r>
              <a:rPr lang="ru-RU" sz="2000" b="1" dirty="0" smtClean="0"/>
              <a:t>Классификация </a:t>
            </a:r>
            <a:r>
              <a:rPr lang="en-US" sz="2000" b="1" dirty="0" smtClean="0"/>
              <a:t>SOC</a:t>
            </a:r>
            <a:endParaRPr lang="ru-RU" sz="2000" b="1" dirty="0"/>
          </a:p>
        </p:txBody>
      </p:sp>
      <p:sp>
        <p:nvSpPr>
          <p:cNvPr id="9" name="Прямоугольник 8"/>
          <p:cNvSpPr/>
          <p:nvPr/>
        </p:nvSpPr>
        <p:spPr>
          <a:xfrm>
            <a:off x="1259632" y="1980355"/>
            <a:ext cx="201622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Однородные </a:t>
            </a:r>
            <a:endParaRPr lang="ru-RU" dirty="0"/>
          </a:p>
        </p:txBody>
      </p:sp>
      <p:sp>
        <p:nvSpPr>
          <p:cNvPr id="10" name="Прямоугольник 9"/>
          <p:cNvSpPr/>
          <p:nvPr/>
        </p:nvSpPr>
        <p:spPr>
          <a:xfrm>
            <a:off x="4603554" y="1980355"/>
            <a:ext cx="201622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Блочные</a:t>
            </a:r>
            <a:endParaRPr lang="ru-RU" dirty="0"/>
          </a:p>
        </p:txBody>
      </p:sp>
      <p:cxnSp>
        <p:nvCxnSpPr>
          <p:cNvPr id="12" name="Прямая со стрелкой 11"/>
          <p:cNvCxnSpPr/>
          <p:nvPr/>
        </p:nvCxnSpPr>
        <p:spPr>
          <a:xfrm flipH="1">
            <a:off x="3203848" y="1676968"/>
            <a:ext cx="504056" cy="3033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p:nvPr/>
        </p:nvCxnSpPr>
        <p:spPr>
          <a:xfrm>
            <a:off x="4535996" y="1676968"/>
            <a:ext cx="324036" cy="3033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7358564"/>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332656"/>
            <a:ext cx="8856984" cy="2246769"/>
          </a:xfrm>
          <a:prstGeom prst="rect">
            <a:avLst/>
          </a:prstGeom>
        </p:spPr>
        <p:txBody>
          <a:bodyPr wrap="square">
            <a:spAutoFit/>
          </a:bodyPr>
          <a:lstStyle/>
          <a:p>
            <a:r>
              <a:rPr lang="ru-RU" sz="2000" b="1" dirty="0"/>
              <a:t>Системы  блочного  типа.</a:t>
            </a:r>
            <a:r>
              <a:rPr lang="ru-RU" sz="2000" dirty="0"/>
              <a:t>  </a:t>
            </a:r>
            <a:endParaRPr lang="en-US" sz="2000" dirty="0"/>
          </a:p>
          <a:p>
            <a:r>
              <a:rPr lang="ru-RU" sz="2000" dirty="0"/>
              <a:t>С</a:t>
            </a:r>
            <a:r>
              <a:rPr lang="ru-RU" sz="2000" dirty="0" smtClean="0"/>
              <a:t>истемы  </a:t>
            </a:r>
            <a:r>
              <a:rPr lang="ru-RU" sz="2000" dirty="0"/>
              <a:t>умеренной  сложности  и  </a:t>
            </a:r>
            <a:r>
              <a:rPr lang="ru-RU" sz="2000" dirty="0" smtClean="0"/>
              <a:t>производительности</a:t>
            </a:r>
            <a:r>
              <a:rPr lang="en-US" sz="2000" dirty="0"/>
              <a:t>.</a:t>
            </a:r>
            <a:r>
              <a:rPr lang="ru-RU" sz="2000" dirty="0" smtClean="0"/>
              <a:t>  </a:t>
            </a:r>
            <a:endParaRPr lang="ru-RU" sz="2000" dirty="0"/>
          </a:p>
          <a:p>
            <a:r>
              <a:rPr lang="ru-RU" sz="2000" b="1" dirty="0" smtClean="0"/>
              <a:t>Область применения</a:t>
            </a:r>
            <a:r>
              <a:rPr lang="en-US" sz="2000" dirty="0" smtClean="0"/>
              <a:t>: </a:t>
            </a:r>
            <a:r>
              <a:rPr lang="ru-RU" sz="2000" dirty="0" smtClean="0"/>
              <a:t>управление  </a:t>
            </a:r>
            <a:r>
              <a:rPr lang="ru-RU" sz="2000" dirty="0"/>
              <a:t>техническими  объектами  и  </a:t>
            </a:r>
            <a:r>
              <a:rPr lang="ru-RU" sz="2000" dirty="0" smtClean="0"/>
              <a:t>технологическими  </a:t>
            </a:r>
            <a:r>
              <a:rPr lang="ru-RU" sz="2000" dirty="0"/>
              <a:t>процессами.  </a:t>
            </a:r>
            <a:endParaRPr lang="ru-RU" sz="2000" dirty="0" smtClean="0"/>
          </a:p>
          <a:p>
            <a:r>
              <a:rPr lang="en-US" sz="2000" dirty="0" smtClean="0"/>
              <a:t>	</a:t>
            </a:r>
            <a:r>
              <a:rPr lang="ru-RU" sz="2000" dirty="0" smtClean="0"/>
              <a:t>В    </a:t>
            </a:r>
            <a:r>
              <a:rPr lang="ru-RU" sz="2000" dirty="0"/>
              <a:t>системах  наряду  с  </a:t>
            </a:r>
            <a:r>
              <a:rPr lang="en-US" sz="2000" i="1" dirty="0" smtClean="0"/>
              <a:t>soft-</a:t>
            </a:r>
            <a:r>
              <a:rPr lang="ru-RU" sz="2000" i="1" dirty="0" smtClean="0"/>
              <a:t>ядрами</a:t>
            </a:r>
            <a:r>
              <a:rPr lang="ru-RU" sz="2000" dirty="0" smtClean="0"/>
              <a:t>  </a:t>
            </a:r>
            <a:r>
              <a:rPr lang="ru-RU" sz="2000" dirty="0"/>
              <a:t>широко </a:t>
            </a:r>
            <a:r>
              <a:rPr lang="ru-RU" sz="2000" dirty="0" smtClean="0"/>
              <a:t> применяются  </a:t>
            </a:r>
            <a:r>
              <a:rPr lang="ru-RU" sz="2000" i="1" dirty="0" err="1"/>
              <a:t>hard</a:t>
            </a:r>
            <a:r>
              <a:rPr lang="ru-RU" sz="2000" i="1" dirty="0"/>
              <a:t>-ядра</a:t>
            </a:r>
            <a:r>
              <a:rPr lang="ru-RU" sz="2000" dirty="0"/>
              <a:t>,  т.  е.  на  кристалле  выделяются  области  с  фиксированными </a:t>
            </a:r>
            <a:r>
              <a:rPr lang="ru-RU" sz="2000" dirty="0" smtClean="0"/>
              <a:t> функциями</a:t>
            </a:r>
            <a:r>
              <a:rPr lang="ru-RU" sz="2000" dirty="0"/>
              <a:t>,  не  содержащие  средств  программирования  структуры.  </a:t>
            </a:r>
            <a:endParaRPr lang="ru-RU" sz="2000" dirty="0" smtClean="0"/>
          </a:p>
        </p:txBody>
      </p:sp>
      <p:pic>
        <p:nvPicPr>
          <p:cNvPr id="6451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7264" y="2780928"/>
            <a:ext cx="4320000" cy="3557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515"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349478" y="2692752"/>
            <a:ext cx="4320000" cy="38349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475656" y="6312822"/>
            <a:ext cx="1909625" cy="369332"/>
          </a:xfrm>
          <a:prstGeom prst="rect">
            <a:avLst/>
          </a:prstGeom>
          <a:noFill/>
        </p:spPr>
        <p:txBody>
          <a:bodyPr wrap="none" rtlCol="0">
            <a:spAutoFit/>
          </a:bodyPr>
          <a:lstStyle/>
          <a:p>
            <a:r>
              <a:rPr lang="ru-RU" b="1" dirty="0" smtClean="0">
                <a:solidFill>
                  <a:srgbClr val="FF0000"/>
                </a:solidFill>
              </a:rPr>
              <a:t>Однородный тип</a:t>
            </a:r>
            <a:endParaRPr lang="ru-RU" b="1" dirty="0">
              <a:solidFill>
                <a:srgbClr val="FF0000"/>
              </a:solidFill>
            </a:endParaRPr>
          </a:p>
        </p:txBody>
      </p:sp>
      <p:sp>
        <p:nvSpPr>
          <p:cNvPr id="8" name="TextBox 7"/>
          <p:cNvSpPr txBox="1"/>
          <p:nvPr/>
        </p:nvSpPr>
        <p:spPr>
          <a:xfrm>
            <a:off x="7191796" y="6140856"/>
            <a:ext cx="1484702" cy="369332"/>
          </a:xfrm>
          <a:prstGeom prst="rect">
            <a:avLst/>
          </a:prstGeom>
          <a:noFill/>
        </p:spPr>
        <p:txBody>
          <a:bodyPr wrap="none" rtlCol="0">
            <a:spAutoFit/>
          </a:bodyPr>
          <a:lstStyle/>
          <a:p>
            <a:r>
              <a:rPr lang="ru-RU" b="1" dirty="0" smtClean="0">
                <a:solidFill>
                  <a:srgbClr val="FF0000"/>
                </a:solidFill>
              </a:rPr>
              <a:t>Блочный тип</a:t>
            </a:r>
            <a:endParaRPr lang="ru-RU" b="1" dirty="0">
              <a:solidFill>
                <a:srgbClr val="FF0000"/>
              </a:solidFill>
            </a:endParaRPr>
          </a:p>
        </p:txBody>
      </p:sp>
    </p:spTree>
    <p:extLst>
      <p:ext uri="{BB962C8B-B14F-4D97-AF65-F5344CB8AC3E}">
        <p14:creationId xmlns:p14="http://schemas.microsoft.com/office/powerpoint/2010/main" val="2397806589"/>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96032" y="548680"/>
            <a:ext cx="8712968" cy="5016758"/>
          </a:xfrm>
          <a:prstGeom prst="rect">
            <a:avLst/>
          </a:prstGeom>
        </p:spPr>
        <p:txBody>
          <a:bodyPr wrap="square">
            <a:spAutoFit/>
          </a:bodyPr>
          <a:lstStyle/>
          <a:p>
            <a:pPr algn="ctr"/>
            <a:r>
              <a:rPr lang="ru-RU" sz="2000" b="1" dirty="0" smtClean="0"/>
              <a:t>Сравнение </a:t>
            </a:r>
            <a:r>
              <a:rPr lang="en-US" sz="2000" b="1" dirty="0" smtClean="0"/>
              <a:t>soft- </a:t>
            </a:r>
            <a:r>
              <a:rPr lang="ru-RU" sz="2000" b="1" dirty="0" smtClean="0"/>
              <a:t>и </a:t>
            </a:r>
            <a:r>
              <a:rPr lang="en-US" sz="2000" b="1" dirty="0" smtClean="0"/>
              <a:t>hard-</a:t>
            </a:r>
            <a:r>
              <a:rPr lang="ru-RU" sz="2000" b="1" dirty="0" smtClean="0"/>
              <a:t>ядер</a:t>
            </a:r>
          </a:p>
          <a:p>
            <a:endParaRPr lang="ru-RU" sz="2000" dirty="0"/>
          </a:p>
          <a:p>
            <a:r>
              <a:rPr lang="en-US" sz="2000" b="1" i="1" dirty="0" smtClean="0"/>
              <a:t>Soft</a:t>
            </a:r>
            <a:r>
              <a:rPr lang="en-US" sz="2000" b="1" dirty="0" smtClean="0"/>
              <a:t>-</a:t>
            </a:r>
            <a:r>
              <a:rPr lang="ru-RU" sz="2000" b="1" dirty="0" smtClean="0"/>
              <a:t> ядра </a:t>
            </a:r>
            <a:r>
              <a:rPr lang="ru-RU" sz="2000" dirty="0" smtClean="0"/>
              <a:t>обеспечивают взаимозаменяемость компонентов от различных разработчиков,  большую гибкость в реализации, универсальность</a:t>
            </a:r>
          </a:p>
          <a:p>
            <a:r>
              <a:rPr lang="ru-RU" sz="2000" b="1" dirty="0" smtClean="0"/>
              <a:t>Недостатки</a:t>
            </a:r>
            <a:r>
              <a:rPr lang="en-US" sz="2000" b="1" dirty="0" smtClean="0"/>
              <a:t>:</a:t>
            </a:r>
            <a:r>
              <a:rPr lang="en-US" sz="2000" dirty="0" smtClean="0"/>
              <a:t> </a:t>
            </a:r>
            <a:r>
              <a:rPr lang="ru-RU" sz="2000" dirty="0" smtClean="0"/>
              <a:t>быстродействие и компактность ядер.</a:t>
            </a:r>
          </a:p>
          <a:p>
            <a:endParaRPr lang="ru-RU" sz="2000" dirty="0" smtClean="0"/>
          </a:p>
          <a:p>
            <a:r>
              <a:rPr lang="ru-RU" sz="2000" b="1" i="1" dirty="0" err="1" smtClean="0"/>
              <a:t>Hard</a:t>
            </a:r>
            <a:r>
              <a:rPr lang="ru-RU" sz="2000" b="1" dirty="0" smtClean="0"/>
              <a:t>-ядра</a:t>
            </a:r>
            <a:r>
              <a:rPr lang="ru-RU" sz="2000" dirty="0" smtClean="0"/>
              <a:t>  занимают  </a:t>
            </a:r>
            <a:r>
              <a:rPr lang="ru-RU" sz="2000" dirty="0"/>
              <a:t>на  кристалле  значительно </a:t>
            </a:r>
            <a:r>
              <a:rPr lang="ru-RU" sz="2000" dirty="0" smtClean="0"/>
              <a:t>меньшую  </a:t>
            </a:r>
            <a:r>
              <a:rPr lang="ru-RU" sz="2000" dirty="0"/>
              <a:t>площадь  </a:t>
            </a:r>
            <a:r>
              <a:rPr lang="ru-RU" sz="2000" dirty="0" smtClean="0"/>
              <a:t>(не  </a:t>
            </a:r>
            <a:r>
              <a:rPr lang="ru-RU" sz="2000" dirty="0"/>
              <a:t>содержат </a:t>
            </a:r>
            <a:r>
              <a:rPr lang="ru-RU" sz="2000" dirty="0" smtClean="0"/>
              <a:t>средств  </a:t>
            </a:r>
            <a:r>
              <a:rPr lang="ru-RU" sz="2000" dirty="0"/>
              <a:t>конфигурирования </a:t>
            </a:r>
            <a:r>
              <a:rPr lang="ru-RU" sz="2000" dirty="0" smtClean="0"/>
              <a:t>) </a:t>
            </a:r>
            <a:r>
              <a:rPr lang="ru-RU" sz="2000" dirty="0"/>
              <a:t>и  оптимизированы  для  выполнения  конкретной  </a:t>
            </a:r>
            <a:r>
              <a:rPr lang="ru-RU" sz="2000" dirty="0" smtClean="0"/>
              <a:t>функции. Обладают большим чем </a:t>
            </a:r>
            <a:r>
              <a:rPr lang="en-US" sz="2000" i="1" dirty="0" smtClean="0"/>
              <a:t>soft</a:t>
            </a:r>
            <a:r>
              <a:rPr lang="en-US" sz="2000" dirty="0" smtClean="0"/>
              <a:t>-</a:t>
            </a:r>
            <a:r>
              <a:rPr lang="ru-RU" sz="2000" dirty="0" smtClean="0"/>
              <a:t>ядра быстродействием.</a:t>
            </a:r>
          </a:p>
          <a:p>
            <a:r>
              <a:rPr lang="ru-RU" sz="2000" b="1" dirty="0" smtClean="0"/>
              <a:t>Недостатки</a:t>
            </a:r>
            <a:r>
              <a:rPr lang="en-US" sz="2000" b="1" dirty="0" smtClean="0"/>
              <a:t>:</a:t>
            </a:r>
            <a:r>
              <a:rPr lang="en-US" sz="2000" dirty="0" smtClean="0"/>
              <a:t> </a:t>
            </a:r>
            <a:r>
              <a:rPr lang="ru-RU" sz="2000" dirty="0" smtClean="0"/>
              <a:t>уменьшение   функциональной  гибкости  </a:t>
            </a:r>
            <a:r>
              <a:rPr lang="ru-RU" sz="2000" dirty="0"/>
              <a:t>и </a:t>
            </a:r>
            <a:r>
              <a:rPr lang="ru-RU" sz="2000" dirty="0" smtClean="0"/>
              <a:t>сужение  круга потребителей.  </a:t>
            </a:r>
            <a:r>
              <a:rPr lang="ru-RU" sz="2000" i="1" dirty="0" err="1" smtClean="0"/>
              <a:t>Hard</a:t>
            </a:r>
            <a:r>
              <a:rPr lang="ru-RU" sz="2000" dirty="0" smtClean="0"/>
              <a:t>-ядра  </a:t>
            </a:r>
            <a:r>
              <a:rPr lang="ru-RU" sz="2000" dirty="0"/>
              <a:t>фиксированы  на  площади  кристалла,  что  </a:t>
            </a:r>
            <a:r>
              <a:rPr lang="ru-RU" sz="2000" dirty="0" smtClean="0"/>
              <a:t>усложняет  </a:t>
            </a:r>
            <a:r>
              <a:rPr lang="ru-RU" sz="2000" dirty="0"/>
              <a:t>решение  задач </a:t>
            </a:r>
            <a:r>
              <a:rPr lang="ru-RU" sz="2000" dirty="0" smtClean="0"/>
              <a:t>размещения  </a:t>
            </a:r>
            <a:r>
              <a:rPr lang="ru-RU" sz="2000" dirty="0"/>
              <a:t>и  </a:t>
            </a:r>
            <a:r>
              <a:rPr lang="ru-RU" sz="2000" dirty="0" smtClean="0"/>
              <a:t>трассировки. На </a:t>
            </a:r>
            <a:r>
              <a:rPr lang="ru-RU" sz="2000" i="1" dirty="0" err="1" smtClean="0"/>
              <a:t>hard</a:t>
            </a:r>
            <a:r>
              <a:rPr lang="ru-RU" sz="2000" dirty="0" smtClean="0"/>
              <a:t>-ядрах реализуются функциональные  </a:t>
            </a:r>
            <a:r>
              <a:rPr lang="ru-RU" sz="2000" dirty="0"/>
              <a:t>блоки,  которые  нужны  многим  </a:t>
            </a:r>
            <a:r>
              <a:rPr lang="ru-RU" sz="2000" dirty="0" smtClean="0"/>
              <a:t>потребителям</a:t>
            </a:r>
            <a:r>
              <a:rPr lang="en-US" sz="2000" dirty="0" smtClean="0"/>
              <a:t>:</a:t>
            </a:r>
            <a:r>
              <a:rPr lang="ru-RU" sz="2000" dirty="0" smtClean="0"/>
              <a:t> блоки</a:t>
            </a:r>
            <a:r>
              <a:rPr lang="en-US" sz="2000" dirty="0" smtClean="0"/>
              <a:t> </a:t>
            </a:r>
            <a:r>
              <a:rPr lang="ru-RU" sz="2000" dirty="0" smtClean="0"/>
              <a:t>памяти  </a:t>
            </a:r>
            <a:r>
              <a:rPr lang="ru-RU" sz="2000" dirty="0"/>
              <a:t>с  возможностью  </a:t>
            </a:r>
            <a:r>
              <a:rPr lang="ru-RU" sz="2000" dirty="0" smtClean="0"/>
              <a:t>изменения  </a:t>
            </a:r>
            <a:r>
              <a:rPr lang="ru-RU" sz="2000" dirty="0"/>
              <a:t>их  </a:t>
            </a:r>
            <a:r>
              <a:rPr lang="ru-RU" sz="2000" dirty="0" smtClean="0"/>
              <a:t>организации, аппаратные  умножители,  контроллеры шинных интерфейсов, </a:t>
            </a:r>
            <a:r>
              <a:rPr lang="ru-RU" sz="2000" dirty="0"/>
              <a:t>микропроцессоры  и  микроконтроллеры. </a:t>
            </a:r>
          </a:p>
        </p:txBody>
      </p:sp>
    </p:spTree>
    <p:extLst>
      <p:ext uri="{BB962C8B-B14F-4D97-AF65-F5344CB8AC3E}">
        <p14:creationId xmlns:p14="http://schemas.microsoft.com/office/powerpoint/2010/main" val="1532026132"/>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0" y="910690"/>
            <a:ext cx="8889910" cy="5832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059832" y="185650"/>
            <a:ext cx="3717813" cy="400110"/>
          </a:xfrm>
          <a:prstGeom prst="rect">
            <a:avLst/>
          </a:prstGeom>
          <a:noFill/>
        </p:spPr>
        <p:txBody>
          <a:bodyPr wrap="none" rtlCol="0">
            <a:spAutoFit/>
          </a:bodyPr>
          <a:lstStyle/>
          <a:p>
            <a:r>
              <a:rPr lang="ru-RU" sz="2000" b="1" dirty="0" smtClean="0">
                <a:solidFill>
                  <a:srgbClr val="FF0000"/>
                </a:solidFill>
              </a:rPr>
              <a:t>Характеристики некоторых </a:t>
            </a:r>
            <a:r>
              <a:rPr lang="en-US" sz="2000" b="1" dirty="0" smtClean="0">
                <a:solidFill>
                  <a:srgbClr val="FF0000"/>
                </a:solidFill>
              </a:rPr>
              <a:t>SOC</a:t>
            </a:r>
            <a:endParaRPr lang="ru-RU" sz="2000" b="1" dirty="0">
              <a:solidFill>
                <a:srgbClr val="FF0000"/>
              </a:solidFill>
            </a:endParaRPr>
          </a:p>
        </p:txBody>
      </p:sp>
      <p:sp>
        <p:nvSpPr>
          <p:cNvPr id="6" name="TextBox 5"/>
          <p:cNvSpPr txBox="1"/>
          <p:nvPr/>
        </p:nvSpPr>
        <p:spPr>
          <a:xfrm>
            <a:off x="7884368" y="508030"/>
            <a:ext cx="959622" cy="461665"/>
          </a:xfrm>
          <a:prstGeom prst="rect">
            <a:avLst/>
          </a:prstGeom>
          <a:noFill/>
        </p:spPr>
        <p:txBody>
          <a:bodyPr wrap="none" rtlCol="0">
            <a:spAutoFit/>
          </a:bodyPr>
          <a:lstStyle/>
          <a:p>
            <a:r>
              <a:rPr lang="en-US" sz="2400" b="1" dirty="0" smtClean="0"/>
              <a:t>Altera</a:t>
            </a:r>
            <a:endParaRPr lang="ru-RU" sz="2400" b="1" dirty="0"/>
          </a:p>
        </p:txBody>
      </p:sp>
    </p:spTree>
    <p:extLst>
      <p:ext uri="{BB962C8B-B14F-4D97-AF65-F5344CB8AC3E}">
        <p14:creationId xmlns:p14="http://schemas.microsoft.com/office/powerpoint/2010/main" val="4102024692"/>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004" y="1700808"/>
            <a:ext cx="9106242"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8100392" y="1331476"/>
            <a:ext cx="883896" cy="461665"/>
          </a:xfrm>
          <a:prstGeom prst="rect">
            <a:avLst/>
          </a:prstGeom>
          <a:noFill/>
        </p:spPr>
        <p:txBody>
          <a:bodyPr wrap="none" rtlCol="0">
            <a:spAutoFit/>
          </a:bodyPr>
          <a:lstStyle/>
          <a:p>
            <a:r>
              <a:rPr lang="en-US" sz="2400" b="1" dirty="0"/>
              <a:t>Xilinx</a:t>
            </a:r>
            <a:endParaRPr lang="ru-RU" sz="2400" b="1" dirty="0"/>
          </a:p>
        </p:txBody>
      </p:sp>
    </p:spTree>
    <p:extLst>
      <p:ext uri="{BB962C8B-B14F-4D97-AF65-F5344CB8AC3E}">
        <p14:creationId xmlns:p14="http://schemas.microsoft.com/office/powerpoint/2010/main" val="2244577031"/>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51720" y="260648"/>
            <a:ext cx="5497787" cy="400110"/>
          </a:xfrm>
          <a:prstGeom prst="rect">
            <a:avLst/>
          </a:prstGeom>
          <a:noFill/>
        </p:spPr>
        <p:txBody>
          <a:bodyPr wrap="none" rtlCol="0">
            <a:spAutoFit/>
          </a:bodyPr>
          <a:lstStyle/>
          <a:p>
            <a:r>
              <a:rPr lang="ru-RU" sz="2000" b="1" dirty="0" err="1" smtClean="0">
                <a:solidFill>
                  <a:srgbClr val="FF0000"/>
                </a:solidFill>
              </a:rPr>
              <a:t>Полузаказные</a:t>
            </a:r>
            <a:r>
              <a:rPr lang="ru-RU" sz="2000" b="1" dirty="0" smtClean="0">
                <a:solidFill>
                  <a:srgbClr val="FF0000"/>
                </a:solidFill>
              </a:rPr>
              <a:t> и заказные интегральные схемы</a:t>
            </a:r>
            <a:endParaRPr lang="ru-RU" sz="2000" b="1" dirty="0">
              <a:solidFill>
                <a:srgbClr val="FF0000"/>
              </a:solidFill>
            </a:endParaRPr>
          </a:p>
        </p:txBody>
      </p:sp>
      <p:sp>
        <p:nvSpPr>
          <p:cNvPr id="5" name="TextBox 4"/>
          <p:cNvSpPr txBox="1"/>
          <p:nvPr/>
        </p:nvSpPr>
        <p:spPr>
          <a:xfrm>
            <a:off x="82104" y="705520"/>
            <a:ext cx="6495945" cy="400110"/>
          </a:xfrm>
          <a:prstGeom prst="rect">
            <a:avLst/>
          </a:prstGeom>
          <a:noFill/>
        </p:spPr>
        <p:txBody>
          <a:bodyPr wrap="none" rtlCol="0">
            <a:spAutoFit/>
          </a:bodyPr>
          <a:lstStyle/>
          <a:p>
            <a:r>
              <a:rPr lang="ru-RU" sz="2000" b="1" dirty="0" smtClean="0"/>
              <a:t>Особенность</a:t>
            </a:r>
            <a:r>
              <a:rPr lang="en-US" sz="2000" dirty="0" smtClean="0"/>
              <a:t>: </a:t>
            </a:r>
            <a:r>
              <a:rPr lang="ru-RU" sz="2000" dirty="0" smtClean="0"/>
              <a:t>программируются на стадии </a:t>
            </a:r>
            <a:r>
              <a:rPr lang="ru-RU" sz="2000" i="1" dirty="0" smtClean="0"/>
              <a:t>изготовления</a:t>
            </a:r>
            <a:endParaRPr lang="ru-RU" sz="2000" i="1" dirty="0"/>
          </a:p>
        </p:txBody>
      </p:sp>
      <p:sp>
        <p:nvSpPr>
          <p:cNvPr id="7" name="Прямоугольник 6"/>
          <p:cNvSpPr/>
          <p:nvPr/>
        </p:nvSpPr>
        <p:spPr>
          <a:xfrm>
            <a:off x="115392" y="1350961"/>
            <a:ext cx="8856984" cy="3785652"/>
          </a:xfrm>
          <a:prstGeom prst="rect">
            <a:avLst/>
          </a:prstGeom>
        </p:spPr>
        <p:txBody>
          <a:bodyPr wrap="square">
            <a:spAutoFit/>
          </a:bodyPr>
          <a:lstStyle/>
          <a:p>
            <a:r>
              <a:rPr lang="ru-RU" sz="2000" b="1" dirty="0"/>
              <a:t>Максимальные  показатели</a:t>
            </a:r>
            <a:r>
              <a:rPr lang="ru-RU" sz="2000" dirty="0"/>
              <a:t>  качества  БИС  (минимальные  площадь  кристалла  и  </a:t>
            </a:r>
            <a:r>
              <a:rPr lang="ru-RU" sz="2000" dirty="0" smtClean="0"/>
              <a:t>мощность  </a:t>
            </a:r>
            <a:r>
              <a:rPr lang="ru-RU" sz="2000" dirty="0"/>
              <a:t>потребления,  максимальное  быстродействие  и  т.  д.)  достигаются  при </a:t>
            </a:r>
            <a:r>
              <a:rPr lang="ru-RU" sz="2000" dirty="0" smtClean="0"/>
              <a:t>дорогостоящем  </a:t>
            </a:r>
            <a:r>
              <a:rPr lang="ru-RU" sz="2000" b="1" dirty="0"/>
              <a:t>индивидуальном  полностью  заказном  </a:t>
            </a:r>
            <a:r>
              <a:rPr lang="ru-RU" sz="2000" dirty="0"/>
              <a:t>проектировании,  </a:t>
            </a:r>
            <a:r>
              <a:rPr lang="ru-RU" sz="2000" dirty="0" smtClean="0"/>
              <a:t>учитывающем  </a:t>
            </a:r>
            <a:r>
              <a:rPr lang="ru-RU" sz="2000" dirty="0"/>
              <a:t>все  особенности  реализуемого  устройства</a:t>
            </a:r>
            <a:r>
              <a:rPr lang="ru-RU" sz="2000" dirty="0" smtClean="0"/>
              <a:t>.</a:t>
            </a:r>
          </a:p>
          <a:p>
            <a:endParaRPr lang="ru-RU" sz="2000" dirty="0"/>
          </a:p>
          <a:p>
            <a:r>
              <a:rPr lang="ru-RU" sz="2000" b="1" dirty="0" smtClean="0"/>
              <a:t>Стоимость  </a:t>
            </a:r>
            <a:r>
              <a:rPr lang="ru-RU" sz="2000" b="1" dirty="0"/>
              <a:t>разработки  снижается</a:t>
            </a:r>
            <a:r>
              <a:rPr lang="ru-RU" sz="2000" dirty="0"/>
              <a:t>,  если  при  проектировании  используются  заранее </a:t>
            </a:r>
            <a:r>
              <a:rPr lang="ru-RU" sz="2000" dirty="0" smtClean="0"/>
              <a:t>разработанные  </a:t>
            </a:r>
            <a:r>
              <a:rPr lang="ru-RU" sz="2000" dirty="0"/>
              <a:t>библиотечные  фрагменты  </a:t>
            </a:r>
            <a:r>
              <a:rPr lang="ru-RU" sz="2000" dirty="0" smtClean="0"/>
              <a:t>схем ("схемы  </a:t>
            </a:r>
            <a:r>
              <a:rPr lang="ru-RU" sz="2000" dirty="0"/>
              <a:t>на  стандартных  ячейках"  (SCL,  </a:t>
            </a:r>
            <a:r>
              <a:rPr lang="ru-RU" sz="2000" dirty="0" err="1"/>
              <a:t>Standard</a:t>
            </a:r>
            <a:r>
              <a:rPr lang="ru-RU" sz="2000" dirty="0"/>
              <a:t>  </a:t>
            </a:r>
            <a:r>
              <a:rPr lang="ru-RU" sz="2000" dirty="0" err="1"/>
              <a:t>Cells</a:t>
            </a:r>
            <a:r>
              <a:rPr lang="ru-RU" sz="2000" dirty="0"/>
              <a:t>  </a:t>
            </a:r>
            <a:r>
              <a:rPr lang="ru-RU" sz="2000" dirty="0" err="1"/>
              <a:t>Logic</a:t>
            </a:r>
            <a:r>
              <a:rPr lang="ru-RU" sz="2000" dirty="0" smtClean="0"/>
              <a:t>)). </a:t>
            </a:r>
          </a:p>
          <a:p>
            <a:endParaRPr lang="ru-RU" sz="2000" dirty="0"/>
          </a:p>
          <a:p>
            <a:r>
              <a:rPr lang="ru-RU" sz="2000" dirty="0" smtClean="0"/>
              <a:t>Схемы</a:t>
            </a:r>
            <a:r>
              <a:rPr lang="en-US" sz="2000" dirty="0" smtClean="0"/>
              <a:t> </a:t>
            </a:r>
            <a:r>
              <a:rPr lang="ru-RU" sz="2000" dirty="0" smtClean="0"/>
              <a:t>SCL  </a:t>
            </a:r>
            <a:r>
              <a:rPr lang="ru-RU" sz="2000" dirty="0"/>
              <a:t>уступают  полностью  заказным  по  уровню  технических  параметров,  но  </a:t>
            </a:r>
            <a:r>
              <a:rPr lang="ru-RU" sz="2000" dirty="0" smtClean="0"/>
              <a:t>дешевле  </a:t>
            </a:r>
            <a:r>
              <a:rPr lang="ru-RU" sz="2000" dirty="0"/>
              <a:t>в  разработке  и  получили  </a:t>
            </a:r>
            <a:r>
              <a:rPr lang="ru-RU" sz="2000" dirty="0" smtClean="0"/>
              <a:t>широкое  </a:t>
            </a:r>
            <a:r>
              <a:rPr lang="ru-RU" sz="2000" dirty="0"/>
              <a:t>распространение.  </a:t>
            </a:r>
          </a:p>
        </p:txBody>
      </p:sp>
    </p:spTree>
    <p:extLst>
      <p:ext uri="{BB962C8B-B14F-4D97-AF65-F5344CB8AC3E}">
        <p14:creationId xmlns:p14="http://schemas.microsoft.com/office/powerpoint/2010/main" val="395724515"/>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35560" y="60593"/>
            <a:ext cx="3886705" cy="400110"/>
          </a:xfrm>
          <a:prstGeom prst="rect">
            <a:avLst/>
          </a:prstGeom>
        </p:spPr>
        <p:txBody>
          <a:bodyPr wrap="none">
            <a:spAutoFit/>
          </a:bodyPr>
          <a:lstStyle/>
          <a:p>
            <a:r>
              <a:rPr lang="ru-RU" sz="2000" b="1" dirty="0"/>
              <a:t> Базовые  </a:t>
            </a:r>
            <a:r>
              <a:rPr lang="ru-RU" sz="2000" b="1" dirty="0" smtClean="0"/>
              <a:t>матричные  кристаллы</a:t>
            </a:r>
            <a:endParaRPr lang="ru-RU" sz="2000" b="1" dirty="0"/>
          </a:p>
        </p:txBody>
      </p:sp>
      <p:sp>
        <p:nvSpPr>
          <p:cNvPr id="5" name="Прямоугольник 4"/>
          <p:cNvSpPr/>
          <p:nvPr/>
        </p:nvSpPr>
        <p:spPr>
          <a:xfrm>
            <a:off x="-10964" y="488807"/>
            <a:ext cx="9047460" cy="3170099"/>
          </a:xfrm>
          <a:prstGeom prst="rect">
            <a:avLst/>
          </a:prstGeom>
        </p:spPr>
        <p:txBody>
          <a:bodyPr wrap="square">
            <a:spAutoFit/>
          </a:bodyPr>
          <a:lstStyle/>
          <a:p>
            <a:r>
              <a:rPr lang="ru-RU" sz="2000" dirty="0"/>
              <a:t>Схемы  на  основе  базовых  матричных  кристаллов  (БМК)  относят  к  </a:t>
            </a:r>
            <a:r>
              <a:rPr lang="ru-RU" sz="2000" dirty="0" err="1"/>
              <a:t>полузаказным</a:t>
            </a:r>
            <a:r>
              <a:rPr lang="ru-RU" sz="2000" dirty="0"/>
              <a:t>. </a:t>
            </a:r>
            <a:r>
              <a:rPr lang="ru-RU" sz="2000" dirty="0" smtClean="0"/>
              <a:t> При  </a:t>
            </a:r>
            <a:r>
              <a:rPr lang="ru-RU" sz="2000" dirty="0"/>
              <a:t>их  создании  используется  стандартный  полуфабрикат  (постоянная  часть  БИС), </a:t>
            </a:r>
            <a:r>
              <a:rPr lang="ru-RU" sz="2000" dirty="0" smtClean="0"/>
              <a:t>который  </a:t>
            </a:r>
            <a:r>
              <a:rPr lang="ru-RU" sz="2000" dirty="0"/>
              <a:t>доделывается  далее  по  конкретным  условиям  заказчика  (переменная  часть </a:t>
            </a:r>
            <a:r>
              <a:rPr lang="ru-RU" sz="2000" dirty="0" smtClean="0"/>
              <a:t>БИС</a:t>
            </a:r>
            <a:r>
              <a:rPr lang="ru-RU" sz="2000" dirty="0"/>
              <a:t>).  При  этом  на  заказчика  падают  расходы  только  по  доработке  полуфабриката, </a:t>
            </a:r>
            <a:r>
              <a:rPr lang="ru-RU" sz="2000" dirty="0" smtClean="0"/>
              <a:t>что  </a:t>
            </a:r>
            <a:r>
              <a:rPr lang="ru-RU" sz="2000" dirty="0"/>
              <a:t>в  несколько  раз  дешевле  полной  разработки  схемы.  Соответственно  снижаются </a:t>
            </a:r>
            <a:r>
              <a:rPr lang="ru-RU" sz="2000" dirty="0" smtClean="0"/>
              <a:t> и сроки  </a:t>
            </a:r>
            <a:r>
              <a:rPr lang="ru-RU" sz="2000" dirty="0"/>
              <a:t>проектирования. </a:t>
            </a:r>
            <a:r>
              <a:rPr lang="ru-RU" sz="2000" dirty="0" smtClean="0"/>
              <a:t>В  </a:t>
            </a:r>
            <a:r>
              <a:rPr lang="ru-RU" sz="2000" dirty="0"/>
              <a:t>английской  терминологии  БМК  называются  GA  (</a:t>
            </a:r>
            <a:r>
              <a:rPr lang="ru-RU" sz="2000" dirty="0" err="1"/>
              <a:t>Gate</a:t>
            </a:r>
            <a:r>
              <a:rPr lang="ru-RU" sz="2000" dirty="0"/>
              <a:t>  </a:t>
            </a:r>
            <a:r>
              <a:rPr lang="ru-RU" sz="2000" dirty="0" err="1"/>
              <a:t>Arrays</a:t>
            </a:r>
            <a:r>
              <a:rPr lang="ru-RU" sz="2000" dirty="0"/>
              <a:t>), </a:t>
            </a:r>
            <a:r>
              <a:rPr lang="ru-RU" sz="2000" dirty="0" smtClean="0"/>
              <a:t> в русском  </a:t>
            </a:r>
            <a:r>
              <a:rPr lang="ru-RU" sz="2000" dirty="0"/>
              <a:t>языке </a:t>
            </a:r>
            <a:r>
              <a:rPr lang="ru-RU" sz="2000" dirty="0" smtClean="0"/>
              <a:t> термину </a:t>
            </a:r>
            <a:r>
              <a:rPr lang="en-US" sz="2000" dirty="0" smtClean="0"/>
              <a:t>GA</a:t>
            </a:r>
            <a:r>
              <a:rPr lang="ru-RU" sz="2000" dirty="0" smtClean="0"/>
              <a:t> </a:t>
            </a:r>
            <a:r>
              <a:rPr lang="ru-RU" sz="2000" dirty="0"/>
              <a:t>соответствует  термин  ВМ  (вентильные  матрицы).  Наряду  с  SCL </a:t>
            </a:r>
            <a:r>
              <a:rPr lang="ru-RU" sz="2000" dirty="0" smtClean="0"/>
              <a:t>вентильные  </a:t>
            </a:r>
            <a:r>
              <a:rPr lang="ru-RU" sz="2000" dirty="0"/>
              <a:t>матрицы  входят  в  число  ИС,  называемых  </a:t>
            </a:r>
            <a:r>
              <a:rPr lang="ru-RU" sz="2000" dirty="0" err="1"/>
              <a:t>ASICs</a:t>
            </a:r>
            <a:r>
              <a:rPr lang="ru-RU" sz="2000" dirty="0"/>
              <a:t>  (</a:t>
            </a:r>
            <a:r>
              <a:rPr lang="ru-RU" sz="2000" dirty="0" err="1"/>
              <a:t>Application</a:t>
            </a:r>
            <a:r>
              <a:rPr lang="ru-RU" sz="2000" dirty="0"/>
              <a:t>  </a:t>
            </a:r>
            <a:r>
              <a:rPr lang="ru-RU" sz="2000" dirty="0" err="1"/>
              <a:t>Specific</a:t>
            </a:r>
            <a:r>
              <a:rPr lang="ru-RU" sz="2000" dirty="0"/>
              <a:t> </a:t>
            </a:r>
            <a:r>
              <a:rPr lang="ru-RU" sz="2000" dirty="0" smtClean="0"/>
              <a:t> </a:t>
            </a:r>
            <a:r>
              <a:rPr lang="ru-RU" sz="2000" dirty="0" err="1" smtClean="0"/>
              <a:t>Integrated</a:t>
            </a:r>
            <a:r>
              <a:rPr lang="ru-RU" sz="2000" dirty="0" smtClean="0"/>
              <a:t>  </a:t>
            </a:r>
            <a:r>
              <a:rPr lang="ru-RU" sz="2000" dirty="0" err="1"/>
              <a:t>Circuits</a:t>
            </a:r>
            <a:r>
              <a:rPr lang="ru-RU" sz="2000" dirty="0"/>
              <a:t>) </a:t>
            </a:r>
            <a:r>
              <a:rPr lang="en-US" sz="2000" dirty="0"/>
              <a:t>.</a:t>
            </a:r>
            <a:endParaRPr lang="ru-RU" sz="2000" dirty="0"/>
          </a:p>
        </p:txBody>
      </p:sp>
      <p:pic>
        <p:nvPicPr>
          <p:cNvPr id="74754" name="Picture 2" descr="ASIC Интегральные микросхемы Топология базового матричного кристалл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125" y="3658906"/>
            <a:ext cx="7524750" cy="318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7162"/>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347864" y="404664"/>
            <a:ext cx="2317173" cy="369332"/>
          </a:xfrm>
          <a:prstGeom prst="rect">
            <a:avLst/>
          </a:prstGeom>
        </p:spPr>
        <p:txBody>
          <a:bodyPr wrap="none">
            <a:spAutoFit/>
          </a:bodyPr>
          <a:lstStyle/>
          <a:p>
            <a:r>
              <a:rPr lang="ru-RU" b="1" dirty="0"/>
              <a:t>Классификация  БМК</a:t>
            </a:r>
          </a:p>
        </p:txBody>
      </p:sp>
      <p:pic>
        <p:nvPicPr>
          <p:cNvPr id="6758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12988" y="980728"/>
            <a:ext cx="7920880" cy="52643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6770742"/>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0936" y="4221088"/>
            <a:ext cx="8910736" cy="1631216"/>
          </a:xfrm>
          <a:prstGeom prst="rect">
            <a:avLst/>
          </a:prstGeom>
        </p:spPr>
        <p:txBody>
          <a:bodyPr wrap="square">
            <a:spAutoFit/>
          </a:bodyPr>
          <a:lstStyle/>
          <a:p>
            <a:r>
              <a:rPr lang="ru-RU" sz="2000" dirty="0" smtClean="0"/>
              <a:t>Канальные  </a:t>
            </a:r>
            <a:r>
              <a:rPr lang="ru-RU" sz="2000" dirty="0"/>
              <a:t>БМК  могут  иметь  большие  возможности </a:t>
            </a:r>
            <a:r>
              <a:rPr lang="en-US" sz="2000" dirty="0" smtClean="0"/>
              <a:t> </a:t>
            </a:r>
            <a:r>
              <a:rPr lang="ru-RU" sz="2000" dirty="0" smtClean="0"/>
              <a:t>по  </a:t>
            </a:r>
            <a:r>
              <a:rPr lang="ru-RU" sz="2000" dirty="0"/>
              <a:t>созданию  связей,  но  имеют  низкую  плотность  упаковки  из-за  значительных  </a:t>
            </a:r>
            <a:r>
              <a:rPr lang="ru-RU" sz="2000" dirty="0" smtClean="0"/>
              <a:t>затрат  </a:t>
            </a:r>
            <a:r>
              <a:rPr lang="ru-RU" sz="2000" dirty="0"/>
              <a:t>площади  кристалла  на  области  </a:t>
            </a:r>
            <a:r>
              <a:rPr lang="ru-RU" sz="2000" dirty="0" err="1"/>
              <a:t>межсоединений</a:t>
            </a:r>
            <a:r>
              <a:rPr lang="ru-RU" sz="2000" dirty="0"/>
              <a:t>.  Канальная  архитектура  </a:t>
            </a:r>
            <a:r>
              <a:rPr lang="ru-RU" sz="2000" dirty="0" smtClean="0"/>
              <a:t>характерна  </a:t>
            </a:r>
            <a:r>
              <a:rPr lang="ru-RU" sz="2000" dirty="0"/>
              <a:t>для  биполярных  БМК,  т.  к.  значительная  мощность  рассеивания  биполярных </a:t>
            </a:r>
            <a:r>
              <a:rPr lang="en-US" sz="2000" dirty="0" smtClean="0"/>
              <a:t> </a:t>
            </a:r>
            <a:r>
              <a:rPr lang="ru-RU" sz="2000" dirty="0" smtClean="0"/>
              <a:t>БЯ</a:t>
            </a:r>
            <a:r>
              <a:rPr lang="en-US" sz="2000" dirty="0" smtClean="0"/>
              <a:t> </a:t>
            </a:r>
            <a:r>
              <a:rPr lang="ru-RU" sz="2000" dirty="0" smtClean="0"/>
              <a:t>сама  </a:t>
            </a:r>
            <a:r>
              <a:rPr lang="ru-RU" sz="2000" dirty="0"/>
              <a:t>по  себе  препятствует  их  плотной  упаковке. </a:t>
            </a:r>
          </a:p>
        </p:txBody>
      </p:sp>
      <p:grpSp>
        <p:nvGrpSpPr>
          <p:cNvPr id="8" name="Группа 7"/>
          <p:cNvGrpSpPr/>
          <p:nvPr/>
        </p:nvGrpSpPr>
        <p:grpSpPr>
          <a:xfrm>
            <a:off x="1253311" y="566922"/>
            <a:ext cx="6810466" cy="3012519"/>
            <a:chOff x="1114159" y="-43467"/>
            <a:chExt cx="6810466" cy="3012519"/>
          </a:xfrm>
        </p:grpSpPr>
        <p:pic>
          <p:nvPicPr>
            <p:cNvPr id="686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869" y="49758"/>
              <a:ext cx="2701130" cy="2385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9252" y="-43467"/>
              <a:ext cx="2511897" cy="26140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1114159" y="2570540"/>
              <a:ext cx="3197607" cy="369332"/>
            </a:xfrm>
            <a:prstGeom prst="rect">
              <a:avLst/>
            </a:prstGeom>
          </p:spPr>
          <p:txBody>
            <a:bodyPr wrap="none">
              <a:spAutoFit/>
            </a:bodyPr>
            <a:lstStyle/>
            <a:p>
              <a:r>
                <a:rPr lang="ru-RU" dirty="0"/>
                <a:t>матрица  базовых  ячеек  —  1 </a:t>
              </a:r>
            </a:p>
          </p:txBody>
        </p:sp>
        <p:sp>
          <p:nvSpPr>
            <p:cNvPr id="6" name="Прямоугольник 5"/>
            <p:cNvSpPr/>
            <p:nvPr/>
          </p:nvSpPr>
          <p:spPr>
            <a:xfrm>
              <a:off x="4689252" y="2599720"/>
              <a:ext cx="3235373" cy="369332"/>
            </a:xfrm>
            <a:prstGeom prst="rect">
              <a:avLst/>
            </a:prstGeom>
          </p:spPr>
          <p:txBody>
            <a:bodyPr wrap="none">
              <a:spAutoFit/>
            </a:bodyPr>
            <a:lstStyle/>
            <a:p>
              <a:r>
                <a:rPr lang="ru-RU" dirty="0"/>
                <a:t>каналы  для  трассировки  —  2</a:t>
              </a:r>
            </a:p>
          </p:txBody>
        </p:sp>
      </p:grpSp>
      <p:sp>
        <p:nvSpPr>
          <p:cNvPr id="7" name="Прямоугольник 6"/>
          <p:cNvSpPr/>
          <p:nvPr/>
        </p:nvSpPr>
        <p:spPr>
          <a:xfrm>
            <a:off x="3408753" y="188640"/>
            <a:ext cx="2118850" cy="400110"/>
          </a:xfrm>
          <a:prstGeom prst="rect">
            <a:avLst/>
          </a:prstGeom>
        </p:spPr>
        <p:txBody>
          <a:bodyPr wrap="none">
            <a:spAutoFit/>
          </a:bodyPr>
          <a:lstStyle/>
          <a:p>
            <a:r>
              <a:rPr lang="ru-RU" sz="2000" b="1" dirty="0"/>
              <a:t>Канальные  </a:t>
            </a:r>
            <a:r>
              <a:rPr lang="ru-RU" sz="2000" b="1" dirty="0" smtClean="0"/>
              <a:t>БМК </a:t>
            </a:r>
            <a:endParaRPr lang="ru-RU" sz="2000" b="1" dirty="0"/>
          </a:p>
        </p:txBody>
      </p:sp>
    </p:spTree>
    <p:extLst>
      <p:ext uri="{BB962C8B-B14F-4D97-AF65-F5344CB8AC3E}">
        <p14:creationId xmlns:p14="http://schemas.microsoft.com/office/powerpoint/2010/main" val="3013292840"/>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2987824" y="116632"/>
            <a:ext cx="2547429" cy="400110"/>
          </a:xfrm>
          <a:prstGeom prst="rect">
            <a:avLst/>
          </a:prstGeom>
        </p:spPr>
        <p:txBody>
          <a:bodyPr wrap="none">
            <a:spAutoFit/>
          </a:bodyPr>
          <a:lstStyle/>
          <a:p>
            <a:r>
              <a:rPr lang="ru-RU" sz="2000" b="1" dirty="0" err="1"/>
              <a:t>Бесканальные</a:t>
            </a:r>
            <a:r>
              <a:rPr lang="ru-RU" sz="2000" b="1" dirty="0"/>
              <a:t>  БМК. </a:t>
            </a:r>
          </a:p>
        </p:txBody>
      </p:sp>
      <p:pic>
        <p:nvPicPr>
          <p:cNvPr id="696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0800" y="-992"/>
            <a:ext cx="2339752" cy="2454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179512" y="2276872"/>
            <a:ext cx="8931076" cy="4093428"/>
          </a:xfrm>
          <a:prstGeom prst="rect">
            <a:avLst/>
          </a:prstGeom>
        </p:spPr>
        <p:txBody>
          <a:bodyPr wrap="square">
            <a:spAutoFit/>
          </a:bodyPr>
          <a:lstStyle/>
          <a:p>
            <a:r>
              <a:rPr lang="ru-RU" sz="2000" dirty="0" smtClean="0"/>
              <a:t>Повышение  </a:t>
            </a:r>
            <a:r>
              <a:rPr lang="ru-RU" sz="2000" dirty="0"/>
              <a:t>уровня  интеграции  БМК  ведет  к  быстрому  </a:t>
            </a:r>
            <a:r>
              <a:rPr lang="ru-RU" sz="2000" dirty="0" smtClean="0"/>
              <a:t>усложнению  </a:t>
            </a:r>
            <a:r>
              <a:rPr lang="ru-RU" sz="2000" dirty="0" err="1"/>
              <a:t>межсоединений</a:t>
            </a:r>
            <a:r>
              <a:rPr lang="ru-RU" sz="2000" dirty="0"/>
              <a:t> </a:t>
            </a:r>
            <a:r>
              <a:rPr lang="ru-RU" sz="2000" dirty="0" smtClean="0"/>
              <a:t>и </a:t>
            </a:r>
            <a:r>
              <a:rPr lang="en-US" sz="2000" dirty="0" smtClean="0"/>
              <a:t> </a:t>
            </a:r>
            <a:r>
              <a:rPr lang="ru-RU" sz="2000" dirty="0" smtClean="0"/>
              <a:t>увеличению  их площади. Метод решения </a:t>
            </a:r>
            <a:r>
              <a:rPr lang="ru-RU" sz="2000" dirty="0"/>
              <a:t> </a:t>
            </a:r>
            <a:r>
              <a:rPr lang="ru-RU" sz="2000" dirty="0" smtClean="0"/>
              <a:t>переход к  </a:t>
            </a:r>
            <a:r>
              <a:rPr lang="ru-RU" sz="2000" dirty="0" err="1"/>
              <a:t>бесканальной</a:t>
            </a:r>
            <a:r>
              <a:rPr lang="ru-RU" sz="2000" dirty="0"/>
              <a:t>  архитектуре  БМК </a:t>
            </a:r>
            <a:r>
              <a:rPr lang="ru-RU" sz="2000" dirty="0" smtClean="0"/>
              <a:t>(также  используются термины  «море  вентилей»,  «море  транзисторов». Внутренняя  </a:t>
            </a:r>
            <a:r>
              <a:rPr lang="ru-RU" sz="2000" dirty="0"/>
              <a:t>область  такого  БМК  содержит  плотно </a:t>
            </a:r>
            <a:r>
              <a:rPr lang="ru-RU" sz="2000" dirty="0" smtClean="0"/>
              <a:t> упакованные  </a:t>
            </a:r>
            <a:r>
              <a:rPr lang="ru-RU" sz="2000" dirty="0"/>
              <a:t>ряды  базовых  ячеек  и  не  имеет  фиксированных  трассировочных  </a:t>
            </a:r>
            <a:r>
              <a:rPr lang="ru-RU" sz="2000" dirty="0" smtClean="0"/>
              <a:t>каналов . </a:t>
            </a:r>
            <a:r>
              <a:rPr lang="ru-RU" sz="2000" dirty="0"/>
              <a:t>Л</a:t>
            </a:r>
            <a:r>
              <a:rPr lang="ru-RU" sz="2000" dirty="0" smtClean="0"/>
              <a:t>юбая  </a:t>
            </a:r>
            <a:r>
              <a:rPr lang="ru-RU" sz="2000" dirty="0"/>
              <a:t>область,  в  которой  расположены  БЯ </a:t>
            </a:r>
            <a:r>
              <a:rPr lang="ru-RU" sz="2000" dirty="0" smtClean="0"/>
              <a:t>(</a:t>
            </a:r>
            <a:r>
              <a:rPr lang="ru-RU" sz="2000" dirty="0"/>
              <a:t>строка,  столбец  либо  их  часть),  может  быть  использована  для  создания  как  </a:t>
            </a:r>
            <a:r>
              <a:rPr lang="ru-RU" sz="2000" dirty="0" smtClean="0"/>
              <a:t>логической  схемы ,  так  </a:t>
            </a:r>
            <a:r>
              <a:rPr lang="ru-RU" sz="2000" dirty="0"/>
              <a:t>и  </a:t>
            </a:r>
            <a:r>
              <a:rPr lang="ru-RU" sz="2000" dirty="0" err="1"/>
              <a:t>межсоединений</a:t>
            </a:r>
            <a:r>
              <a:rPr lang="ru-RU" sz="2000" dirty="0"/>
              <a:t>.  Вследствие  более  рационального  </a:t>
            </a:r>
            <a:r>
              <a:rPr lang="ru-RU" sz="2000" dirty="0" smtClean="0"/>
              <a:t>расположения связей  </a:t>
            </a:r>
            <a:r>
              <a:rPr lang="ru-RU" sz="2000" dirty="0"/>
              <a:t>в  </a:t>
            </a:r>
            <a:r>
              <a:rPr lang="ru-RU" sz="2000" dirty="0" err="1"/>
              <a:t>бесканальном</a:t>
            </a:r>
            <a:r>
              <a:rPr lang="ru-RU" sz="2000" dirty="0"/>
              <a:t>  БМК  уменьшается  и  задержка  передачи  сигналов  по </a:t>
            </a:r>
            <a:r>
              <a:rPr lang="ru-RU" sz="2000" dirty="0" smtClean="0"/>
              <a:t>связям. </a:t>
            </a:r>
            <a:r>
              <a:rPr lang="ru-RU" sz="2000" dirty="0" err="1" smtClean="0"/>
              <a:t>Бесканальные</a:t>
            </a:r>
            <a:r>
              <a:rPr lang="ru-RU" sz="2000" dirty="0" smtClean="0"/>
              <a:t>  </a:t>
            </a:r>
            <a:r>
              <a:rPr lang="ru-RU" sz="2000" dirty="0"/>
              <a:t>БМК  характерны  для  </a:t>
            </a:r>
            <a:r>
              <a:rPr lang="ru-RU" sz="2000" b="1" dirty="0"/>
              <a:t>КМОП-</a:t>
            </a:r>
            <a:r>
              <a:rPr lang="ru-RU" sz="2000" b="1" dirty="0" err="1"/>
              <a:t>схемотехники</a:t>
            </a:r>
            <a:r>
              <a:rPr lang="ru-RU" sz="2000" dirty="0"/>
              <a:t>,  в  которой  компактность </a:t>
            </a:r>
            <a:r>
              <a:rPr lang="ru-RU" sz="2000" dirty="0" smtClean="0"/>
              <a:t> схемных  </a:t>
            </a:r>
            <a:r>
              <a:rPr lang="ru-RU" sz="2000" dirty="0"/>
              <a:t>элементов  и  малая  мощность  рассеяния  БЯ  при  их  работе  на  не  слишком </a:t>
            </a:r>
            <a:r>
              <a:rPr lang="ru-RU" sz="2000" dirty="0" smtClean="0"/>
              <a:t> высоких  </a:t>
            </a:r>
            <a:r>
              <a:rPr lang="ru-RU" sz="2000" dirty="0"/>
              <a:t>частотах  способствуют  возможностям  плотной  упаковки  базовых  ячеек. </a:t>
            </a:r>
          </a:p>
        </p:txBody>
      </p:sp>
    </p:spTree>
    <p:extLst>
      <p:ext uri="{BB962C8B-B14F-4D97-AF65-F5344CB8AC3E}">
        <p14:creationId xmlns:p14="http://schemas.microsoft.com/office/powerpoint/2010/main" val="1328609994"/>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388" y="3212976"/>
            <a:ext cx="8784976" cy="2862322"/>
          </a:xfrm>
          <a:prstGeom prst="rect">
            <a:avLst/>
          </a:prstGeom>
        </p:spPr>
        <p:txBody>
          <a:bodyPr wrap="square">
            <a:spAutoFit/>
          </a:bodyPr>
          <a:lstStyle/>
          <a:p>
            <a:r>
              <a:rPr lang="ru-RU" sz="2000" dirty="0" smtClean="0"/>
              <a:t>Рост  </a:t>
            </a:r>
            <a:r>
              <a:rPr lang="ru-RU" sz="2000" dirty="0"/>
              <a:t>уровня  интеграции  ведет  к  усложнению  </a:t>
            </a:r>
            <a:r>
              <a:rPr lang="ru-RU" sz="2000" dirty="0" smtClean="0"/>
              <a:t>БМК.  Архитектура  блочных БМК упрощает  построение  </a:t>
            </a:r>
            <a:r>
              <a:rPr lang="ru-RU" sz="2000" dirty="0"/>
              <a:t>комбинированных  систем,  содержащих  как  блоки </a:t>
            </a:r>
            <a:r>
              <a:rPr lang="ru-RU" sz="2000" dirty="0" smtClean="0"/>
              <a:t>логической  обработки данных,  так и память  </a:t>
            </a:r>
            <a:r>
              <a:rPr lang="ru-RU" sz="2000" dirty="0"/>
              <a:t>и  другие </a:t>
            </a:r>
            <a:r>
              <a:rPr lang="ru-RU" sz="2000" dirty="0" smtClean="0"/>
              <a:t>специализированные  </a:t>
            </a:r>
            <a:r>
              <a:rPr lang="ru-RU" sz="2000" dirty="0"/>
              <a:t>блоки.  </a:t>
            </a:r>
            <a:endParaRPr lang="ru-RU" sz="2000" dirty="0" smtClean="0"/>
          </a:p>
          <a:p>
            <a:r>
              <a:rPr lang="ru-RU" sz="2000" dirty="0" smtClean="0"/>
              <a:t>	В  </a:t>
            </a:r>
            <a:r>
              <a:rPr lang="ru-RU" sz="2000" dirty="0"/>
              <a:t>блочных  БМК </a:t>
            </a:r>
            <a:r>
              <a:rPr lang="ru-RU" sz="2000" dirty="0" smtClean="0"/>
              <a:t>реализуются  </a:t>
            </a:r>
            <a:r>
              <a:rPr lang="ru-RU" sz="2000" dirty="0"/>
              <a:t>несколько  блоков-подматриц,  каждый  из  которых  имеет  как  бы </a:t>
            </a:r>
            <a:r>
              <a:rPr lang="ru-RU" sz="2000" dirty="0" smtClean="0"/>
              <a:t>структуру  </a:t>
            </a:r>
            <a:r>
              <a:rPr lang="ru-RU" sz="2000" dirty="0"/>
              <a:t>БМК  меньшей  размерности.  Между  блоками  располагаются  </a:t>
            </a:r>
            <a:r>
              <a:rPr lang="ru-RU" sz="2000" dirty="0" smtClean="0"/>
              <a:t>трассировочные  каналы.  </a:t>
            </a:r>
            <a:r>
              <a:rPr lang="ru-RU" sz="2000" dirty="0"/>
              <a:t>На  периферии  блоков  изготовляются  внутренние  </a:t>
            </a:r>
            <a:r>
              <a:rPr lang="ru-RU" sz="2000" dirty="0" smtClean="0"/>
              <a:t>буферные  </a:t>
            </a:r>
            <a:r>
              <a:rPr lang="ru-RU" sz="2000" dirty="0"/>
              <a:t>каскады,  формирующие  достаточно  мощные  сигналы  для  передач  по </a:t>
            </a:r>
            <a:r>
              <a:rPr lang="ru-RU" sz="2000" dirty="0" smtClean="0"/>
              <a:t>межблочным  связям.</a:t>
            </a:r>
            <a:endParaRPr lang="ru-RU" sz="2000" dirty="0"/>
          </a:p>
        </p:txBody>
      </p:sp>
      <p:sp>
        <p:nvSpPr>
          <p:cNvPr id="5" name="Прямоугольник 4"/>
          <p:cNvSpPr/>
          <p:nvPr/>
        </p:nvSpPr>
        <p:spPr>
          <a:xfrm>
            <a:off x="3203848" y="332656"/>
            <a:ext cx="1930337" cy="400110"/>
          </a:xfrm>
          <a:prstGeom prst="rect">
            <a:avLst/>
          </a:prstGeom>
        </p:spPr>
        <p:txBody>
          <a:bodyPr wrap="none">
            <a:spAutoFit/>
          </a:bodyPr>
          <a:lstStyle/>
          <a:p>
            <a:r>
              <a:rPr lang="ru-RU" sz="2000" b="1" dirty="0"/>
              <a:t>Блочные  БМК. </a:t>
            </a:r>
          </a:p>
        </p:txBody>
      </p:sp>
      <p:pic>
        <p:nvPicPr>
          <p:cNvPr id="7065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187624" y="706994"/>
            <a:ext cx="7456492" cy="23147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1742761"/>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77154" y="20504"/>
            <a:ext cx="5150449" cy="400110"/>
          </a:xfrm>
          <a:prstGeom prst="rect">
            <a:avLst/>
          </a:prstGeom>
        </p:spPr>
        <p:txBody>
          <a:bodyPr wrap="none">
            <a:spAutoFit/>
          </a:bodyPr>
          <a:lstStyle/>
          <a:p>
            <a:r>
              <a:rPr lang="ru-RU" sz="2000" b="1" dirty="0"/>
              <a:t>Структурированные  вентильные  матрицы. </a:t>
            </a:r>
          </a:p>
        </p:txBody>
      </p:sp>
      <p:sp>
        <p:nvSpPr>
          <p:cNvPr id="5" name="Прямоугольник 4"/>
          <p:cNvSpPr/>
          <p:nvPr/>
        </p:nvSpPr>
        <p:spPr>
          <a:xfrm>
            <a:off x="117597" y="390318"/>
            <a:ext cx="8918899" cy="6247864"/>
          </a:xfrm>
          <a:prstGeom prst="rect">
            <a:avLst/>
          </a:prstGeom>
        </p:spPr>
        <p:txBody>
          <a:bodyPr wrap="square">
            <a:spAutoFit/>
          </a:bodyPr>
          <a:lstStyle/>
          <a:p>
            <a:r>
              <a:rPr lang="ru-RU" sz="2000" i="1" dirty="0" smtClean="0"/>
              <a:t>Современные тенденции при создании БМК </a:t>
            </a:r>
            <a:r>
              <a:rPr lang="en-US" sz="2000" i="1" dirty="0" smtClean="0"/>
              <a:t>:</a:t>
            </a:r>
            <a:endParaRPr lang="ru-RU" sz="2000" i="1" dirty="0" smtClean="0"/>
          </a:p>
          <a:p>
            <a:r>
              <a:rPr lang="ru-RU" sz="2000" dirty="0" smtClean="0"/>
              <a:t>Удешевление и сокращение времени  разработки проекта, экономный  расход  </a:t>
            </a:r>
            <a:r>
              <a:rPr lang="ru-RU" sz="2000" dirty="0"/>
              <a:t>площади  </a:t>
            </a:r>
            <a:r>
              <a:rPr lang="ru-RU" sz="2000" dirty="0" smtClean="0"/>
              <a:t>кристалла , более  высокое  быстродействие.</a:t>
            </a:r>
          </a:p>
          <a:p>
            <a:endParaRPr lang="ru-RU" sz="2000" dirty="0"/>
          </a:p>
          <a:p>
            <a:r>
              <a:rPr lang="ru-RU" sz="2000" dirty="0"/>
              <a:t>Классические  БМК  имеют  простые  логические  блоки,  идентичные  вентилям  </a:t>
            </a:r>
            <a:r>
              <a:rPr lang="ru-RU" sz="2000" dirty="0" smtClean="0"/>
              <a:t>2И-НЕ</a:t>
            </a:r>
            <a:r>
              <a:rPr lang="en-US" sz="2000" dirty="0" smtClean="0"/>
              <a:t>, </a:t>
            </a:r>
            <a:r>
              <a:rPr lang="ru-RU" sz="2000" dirty="0" err="1" smtClean="0"/>
              <a:t>т.е</a:t>
            </a:r>
            <a:r>
              <a:rPr lang="ru-RU" sz="2000" dirty="0" smtClean="0"/>
              <a:t>  имеют «мелкозернистую» структуру. "</a:t>
            </a:r>
            <a:r>
              <a:rPr lang="ru-RU" sz="2000" dirty="0" err="1"/>
              <a:t>Мелкозернистость</a:t>
            </a:r>
            <a:r>
              <a:rPr lang="ru-RU" sz="2000" dirty="0"/>
              <a:t>"  блоков  </a:t>
            </a:r>
            <a:r>
              <a:rPr lang="ru-RU" sz="2000" dirty="0" smtClean="0"/>
              <a:t>обеспечивает  полноту  </a:t>
            </a:r>
            <a:r>
              <a:rPr lang="ru-RU" sz="2000" dirty="0"/>
              <a:t>их  </a:t>
            </a:r>
            <a:r>
              <a:rPr lang="ru-RU" sz="2000" dirty="0" smtClean="0"/>
              <a:t>использования и </a:t>
            </a:r>
            <a:r>
              <a:rPr lang="ru-RU" sz="2000" dirty="0"/>
              <a:t>повышает </a:t>
            </a:r>
            <a:r>
              <a:rPr lang="en-US" sz="2000" dirty="0" smtClean="0"/>
              <a:t> </a:t>
            </a:r>
            <a:r>
              <a:rPr lang="ru-RU" sz="2000" dirty="0" smtClean="0"/>
              <a:t>быстродействие  схем</a:t>
            </a:r>
            <a:r>
              <a:rPr lang="ru-RU" sz="2000" dirty="0"/>
              <a:t>.  </a:t>
            </a:r>
            <a:r>
              <a:rPr lang="ru-RU" sz="2000" dirty="0" smtClean="0"/>
              <a:t>С другой стороны , для </a:t>
            </a:r>
            <a:r>
              <a:rPr lang="ru-RU" sz="2000" dirty="0"/>
              <a:t>полной  трассировки  мелкозернистых  элементов  </a:t>
            </a:r>
            <a:r>
              <a:rPr lang="ru-RU" sz="2000" dirty="0" smtClean="0"/>
              <a:t>требуется  </a:t>
            </a:r>
            <a:r>
              <a:rPr lang="ru-RU" sz="2000" dirty="0"/>
              <a:t>много  (до  5—6)  заказных  слоев  металлизации  </a:t>
            </a:r>
            <a:r>
              <a:rPr lang="ru-RU" sz="2000" dirty="0" smtClean="0"/>
              <a:t>и</a:t>
            </a:r>
            <a:r>
              <a:rPr lang="ru-RU" sz="2000" dirty="0"/>
              <a:t> </a:t>
            </a:r>
            <a:r>
              <a:rPr lang="ru-RU" sz="2000" dirty="0" smtClean="0"/>
              <a:t> дорогостоящих  </a:t>
            </a:r>
            <a:r>
              <a:rPr lang="ru-RU" sz="2000" dirty="0"/>
              <a:t>фотошаблонов. </a:t>
            </a:r>
          </a:p>
          <a:p>
            <a:endParaRPr lang="ru-RU" sz="2000" dirty="0" smtClean="0"/>
          </a:p>
          <a:p>
            <a:r>
              <a:rPr lang="ru-RU" sz="2000" dirty="0" smtClean="0"/>
              <a:t>	Логические  </a:t>
            </a:r>
            <a:r>
              <a:rPr lang="ru-RU" sz="2000" dirty="0"/>
              <a:t>блоки  структурированных  вентильных  матриц  более  сложны  ("</a:t>
            </a:r>
            <a:r>
              <a:rPr lang="ru-RU" sz="2000" dirty="0" smtClean="0"/>
              <a:t>крупнозернисты").  </a:t>
            </a:r>
            <a:r>
              <a:rPr lang="ru-RU" sz="2000" dirty="0"/>
              <a:t>Это  снижает  эффективность  использования  логических  ресурсов  при </a:t>
            </a:r>
            <a:r>
              <a:rPr lang="ru-RU" sz="2000" dirty="0" smtClean="0"/>
              <a:t>реализации  </a:t>
            </a:r>
            <a:r>
              <a:rPr lang="ru-RU" sz="2000" dirty="0"/>
              <a:t>проектов,  поскольку  многие  логические  преобразования  не  требуют </a:t>
            </a:r>
            <a:r>
              <a:rPr lang="ru-RU" sz="2000" dirty="0" smtClean="0"/>
              <a:t> привлечения  </a:t>
            </a:r>
            <a:r>
              <a:rPr lang="ru-RU" sz="2000" dirty="0"/>
              <a:t>всей  функциональной  мощности  блока.  В  то  же  время  система  </a:t>
            </a:r>
            <a:r>
              <a:rPr lang="ru-RU" sz="2000" dirty="0" smtClean="0"/>
              <a:t>коммутации  </a:t>
            </a:r>
            <a:r>
              <a:rPr lang="ru-RU" sz="2000" dirty="0"/>
              <a:t>для  структур  с  крупнозернистыми  блоками  упрощается,  и  для  ее  создания </a:t>
            </a:r>
            <a:r>
              <a:rPr lang="ru-RU" sz="2000" dirty="0" smtClean="0"/>
              <a:t>могут  </a:t>
            </a:r>
            <a:r>
              <a:rPr lang="ru-RU" sz="2000" dirty="0"/>
              <a:t>оказаться  достаточными  </a:t>
            </a:r>
            <a:r>
              <a:rPr lang="ru-RU" sz="2000" dirty="0" smtClean="0"/>
              <a:t>1  </a:t>
            </a:r>
            <a:r>
              <a:rPr lang="ru-RU" sz="2000" dirty="0"/>
              <a:t>или </a:t>
            </a:r>
            <a:r>
              <a:rPr lang="ru-RU" sz="2000" dirty="0" smtClean="0"/>
              <a:t>2  слоя  </a:t>
            </a:r>
            <a:r>
              <a:rPr lang="ru-RU" sz="2000" dirty="0"/>
              <a:t>заказной  металлизации. С</a:t>
            </a:r>
            <a:r>
              <a:rPr lang="ru-RU" sz="2000" dirty="0" smtClean="0"/>
              <a:t>труктурированные  </a:t>
            </a:r>
            <a:r>
              <a:rPr lang="ru-RU" sz="2000" dirty="0"/>
              <a:t>вентильные  матрицы  требуют  для  своей  </a:t>
            </a:r>
            <a:r>
              <a:rPr lang="ru-RU" sz="2000" dirty="0" smtClean="0"/>
              <a:t>индивидуализации  </a:t>
            </a:r>
            <a:r>
              <a:rPr lang="ru-RU" sz="2000" dirty="0"/>
              <a:t>(</a:t>
            </a:r>
            <a:r>
              <a:rPr lang="ru-RU" sz="2000" dirty="0" err="1"/>
              <a:t>Customisation</a:t>
            </a:r>
            <a:r>
              <a:rPr lang="ru-RU" sz="2000" dirty="0"/>
              <a:t>)  меньшее  число  заказных  слоев  металлизации. </a:t>
            </a:r>
          </a:p>
        </p:txBody>
      </p:sp>
    </p:spTree>
    <p:extLst>
      <p:ext uri="{BB962C8B-B14F-4D97-AF65-F5344CB8AC3E}">
        <p14:creationId xmlns:p14="http://schemas.microsoft.com/office/powerpoint/2010/main" val="2552131438"/>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260648"/>
            <a:ext cx="8856984" cy="6247864"/>
          </a:xfrm>
          <a:prstGeom prst="rect">
            <a:avLst/>
          </a:prstGeom>
        </p:spPr>
        <p:txBody>
          <a:bodyPr wrap="square">
            <a:spAutoFit/>
          </a:bodyPr>
          <a:lstStyle/>
          <a:p>
            <a:r>
              <a:rPr lang="ru-RU" sz="2000" b="1" dirty="0" smtClean="0"/>
              <a:t>Структурированные вентильные матрицы семейства </a:t>
            </a:r>
            <a:r>
              <a:rPr lang="ru-RU" sz="2000" b="1" dirty="0" err="1"/>
              <a:t>Nextreme</a:t>
            </a:r>
            <a:r>
              <a:rPr lang="ru-RU" sz="2000" b="1" dirty="0"/>
              <a:t>  фирмы  </a:t>
            </a:r>
            <a:r>
              <a:rPr lang="ru-RU" sz="2000" b="1" dirty="0" err="1"/>
              <a:t>eASIC</a:t>
            </a:r>
            <a:endParaRPr lang="ru-RU" sz="2000" b="1" dirty="0" smtClean="0"/>
          </a:p>
          <a:p>
            <a:r>
              <a:rPr lang="ru-RU" sz="2000" dirty="0" smtClean="0"/>
              <a:t>С  </a:t>
            </a:r>
            <a:r>
              <a:rPr lang="ru-RU" sz="2000" dirty="0"/>
              <a:t>2007  г.  на  рынке  появились </a:t>
            </a:r>
            <a:r>
              <a:rPr lang="ru-RU" sz="2000" dirty="0" smtClean="0"/>
              <a:t>структурированные вентильные  </a:t>
            </a:r>
            <a:r>
              <a:rPr lang="ru-RU" sz="2000" dirty="0"/>
              <a:t>матрицы  </a:t>
            </a:r>
            <a:r>
              <a:rPr lang="ru-RU" sz="2000" dirty="0" smtClean="0"/>
              <a:t> фирмы  </a:t>
            </a:r>
            <a:r>
              <a:rPr lang="ru-RU" sz="2000" dirty="0" err="1"/>
              <a:t>eASIC</a:t>
            </a:r>
            <a:r>
              <a:rPr lang="ru-RU" sz="2000" dirty="0"/>
              <a:t> </a:t>
            </a:r>
            <a:r>
              <a:rPr lang="en-US" sz="2000" dirty="0" smtClean="0"/>
              <a:t>:</a:t>
            </a:r>
            <a:endParaRPr lang="ru-RU" sz="2000" dirty="0" smtClean="0"/>
          </a:p>
          <a:p>
            <a:r>
              <a:rPr lang="ru-RU" sz="2000" dirty="0" err="1" smtClean="0"/>
              <a:t>Nextreme</a:t>
            </a:r>
            <a:r>
              <a:rPr lang="ru-RU" sz="2000" dirty="0" smtClean="0"/>
              <a:t>- </a:t>
            </a:r>
            <a:r>
              <a:rPr lang="ru-RU" sz="2000" dirty="0"/>
              <a:t>(технология  90  </a:t>
            </a:r>
            <a:r>
              <a:rPr lang="ru-RU" sz="2000" dirty="0" err="1"/>
              <a:t>нм</a:t>
            </a:r>
            <a:r>
              <a:rPr lang="ru-RU" sz="2000" dirty="0"/>
              <a:t>)</a:t>
            </a:r>
          </a:p>
          <a:p>
            <a:r>
              <a:rPr lang="ru-RU" sz="2000" dirty="0" smtClean="0"/>
              <a:t>Nextreme-2  </a:t>
            </a:r>
            <a:r>
              <a:rPr lang="ru-RU" sz="2000" dirty="0"/>
              <a:t>(технология  45  </a:t>
            </a:r>
            <a:r>
              <a:rPr lang="ru-RU" sz="2000" dirty="0" err="1"/>
              <a:t>нм</a:t>
            </a:r>
            <a:r>
              <a:rPr lang="ru-RU" sz="2000" dirty="0" smtClean="0"/>
              <a:t>)</a:t>
            </a:r>
          </a:p>
          <a:p>
            <a:r>
              <a:rPr lang="ru-RU" sz="2000" dirty="0" smtClean="0"/>
              <a:t>Nextreme-3 </a:t>
            </a:r>
            <a:r>
              <a:rPr lang="ru-RU" sz="2000" dirty="0"/>
              <a:t>(технология  </a:t>
            </a:r>
            <a:r>
              <a:rPr lang="ru-RU" sz="2000" dirty="0" smtClean="0"/>
              <a:t>28  </a:t>
            </a:r>
            <a:r>
              <a:rPr lang="ru-RU" sz="2000" dirty="0" err="1"/>
              <a:t>нм</a:t>
            </a:r>
            <a:r>
              <a:rPr lang="ru-RU" sz="2000" dirty="0"/>
              <a:t>)</a:t>
            </a:r>
          </a:p>
          <a:p>
            <a:r>
              <a:rPr lang="ru-RU" sz="2000" dirty="0" smtClean="0"/>
              <a:t>Эти  </a:t>
            </a:r>
            <a:r>
              <a:rPr lang="ru-RU" sz="2000" dirty="0"/>
              <a:t>серии  представляют </a:t>
            </a:r>
            <a:r>
              <a:rPr lang="ru-RU" sz="2000" dirty="0" smtClean="0"/>
              <a:t> собою шаг  </a:t>
            </a:r>
            <a:r>
              <a:rPr lang="ru-RU" sz="2000" dirty="0"/>
              <a:t>в  направлении  </a:t>
            </a:r>
            <a:r>
              <a:rPr lang="ru-RU" sz="2000" dirty="0" smtClean="0"/>
              <a:t>конвергенции   </a:t>
            </a:r>
            <a:r>
              <a:rPr lang="ru-RU" sz="2000" dirty="0"/>
              <a:t>БМК  и</a:t>
            </a:r>
            <a:r>
              <a:rPr lang="ru-RU" sz="2000" dirty="0" smtClean="0"/>
              <a:t> </a:t>
            </a:r>
            <a:r>
              <a:rPr lang="ru-RU" sz="2000" dirty="0"/>
              <a:t>FPGA. </a:t>
            </a:r>
            <a:endParaRPr lang="ru-RU" sz="2000" dirty="0" smtClean="0"/>
          </a:p>
          <a:p>
            <a:r>
              <a:rPr lang="ru-RU" sz="2000" dirty="0"/>
              <a:t>	</a:t>
            </a:r>
            <a:r>
              <a:rPr lang="ru-RU" sz="2000" dirty="0" smtClean="0"/>
              <a:t>В  </a:t>
            </a:r>
            <a:r>
              <a:rPr lang="ru-RU" sz="2000" dirty="0"/>
              <a:t>микросхемах  </a:t>
            </a:r>
            <a:r>
              <a:rPr lang="ru-RU" sz="2000" dirty="0" err="1"/>
              <a:t>Nextreme</a:t>
            </a:r>
            <a:r>
              <a:rPr lang="ru-RU" sz="2000" dirty="0"/>
              <a:t>  три </a:t>
            </a:r>
            <a:r>
              <a:rPr lang="ru-RU" sz="2000" dirty="0" smtClean="0"/>
              <a:t>нижних слоя,  в которых  </a:t>
            </a:r>
            <a:r>
              <a:rPr lang="ru-RU" sz="2000" dirty="0"/>
              <a:t>реализуются  логические  структуры,  конфигурируются  как </a:t>
            </a:r>
            <a:r>
              <a:rPr lang="ru-RU" sz="2000" dirty="0" smtClean="0"/>
              <a:t>FPGA,  т</a:t>
            </a:r>
            <a:r>
              <a:rPr lang="ru-RU" sz="2000" dirty="0"/>
              <a:t>.  е.  загрузкой  битового  потока. В них расположены  традиционные  для  FPGA  крупнозернистые  логические  блоки  (e-ячейки,  </a:t>
            </a:r>
            <a:r>
              <a:rPr lang="ru-RU" sz="2000" dirty="0" err="1"/>
              <a:t>eCells</a:t>
            </a:r>
            <a:r>
              <a:rPr lang="ru-RU" sz="2000" dirty="0"/>
              <a:t>),  построенные  на  основе  связки  "LUT-блок  +триггер" .    Следующие  четыре  слоя  конфигурируются  с  помощью  металлических  сегментов,  </a:t>
            </a:r>
            <a:r>
              <a:rPr lang="ru-RU" sz="2000" dirty="0" err="1" smtClean="0"/>
              <a:t>межсоединения</a:t>
            </a:r>
            <a:r>
              <a:rPr lang="ru-RU" sz="2000" dirty="0" smtClean="0"/>
              <a:t>  </a:t>
            </a:r>
            <a:r>
              <a:rPr lang="ru-RU" sz="2000" dirty="0"/>
              <a:t>которых  реализуются  перемычками  </a:t>
            </a:r>
            <a:r>
              <a:rPr lang="ru-RU" sz="2000" dirty="0" err="1"/>
              <a:t>Via</a:t>
            </a:r>
            <a:r>
              <a:rPr lang="ru-RU" sz="2000" dirty="0"/>
              <a:t>  без  помощи  шаблонов  по  лучевой  технологии  </a:t>
            </a:r>
            <a:r>
              <a:rPr lang="ru-RU" sz="2000" dirty="0" err="1"/>
              <a:t>Direct</a:t>
            </a:r>
            <a:r>
              <a:rPr lang="ru-RU" sz="2000" dirty="0"/>
              <a:t>  </a:t>
            </a:r>
            <a:r>
              <a:rPr lang="ru-RU" sz="2000" dirty="0" err="1"/>
              <a:t>Write</a:t>
            </a:r>
            <a:r>
              <a:rPr lang="ru-RU" sz="2000" dirty="0"/>
              <a:t>  </a:t>
            </a:r>
            <a:r>
              <a:rPr lang="ru-RU" sz="2000" dirty="0" err="1"/>
              <a:t>eBeam</a:t>
            </a:r>
            <a:r>
              <a:rPr lang="ru-RU" sz="2000" dirty="0"/>
              <a:t>.  И  только  один  верхний  слой  специализируется </a:t>
            </a:r>
            <a:r>
              <a:rPr lang="ru-RU" sz="2000" dirty="0" smtClean="0"/>
              <a:t> шаблоном</a:t>
            </a:r>
            <a:r>
              <a:rPr lang="ru-RU" sz="2000" dirty="0"/>
              <a:t>.  Достигается  высокая  плотность  трассировки  при  применении  всего  одного  шаблона  и  гибкость  функциональных  структур,  свойственная  конфигурированию  битовым  потоком.   </a:t>
            </a:r>
          </a:p>
          <a:p>
            <a:endParaRPr lang="ru-RU" sz="2000" dirty="0"/>
          </a:p>
        </p:txBody>
      </p:sp>
    </p:spTree>
    <p:extLst>
      <p:ext uri="{BB962C8B-B14F-4D97-AF65-F5344CB8AC3E}">
        <p14:creationId xmlns:p14="http://schemas.microsoft.com/office/powerpoint/2010/main" val="3089707264"/>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656283" y="332656"/>
            <a:ext cx="5717521"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779912" y="4290814"/>
            <a:ext cx="2242217" cy="400110"/>
          </a:xfrm>
          <a:prstGeom prst="rect">
            <a:avLst/>
          </a:prstGeom>
          <a:noFill/>
        </p:spPr>
        <p:txBody>
          <a:bodyPr wrap="none" rtlCol="0">
            <a:spAutoFit/>
          </a:bodyPr>
          <a:lstStyle/>
          <a:p>
            <a:r>
              <a:rPr lang="ru-RU" sz="2000" dirty="0" smtClean="0"/>
              <a:t>Схема ячейки </a:t>
            </a:r>
            <a:r>
              <a:rPr lang="en-US" sz="2000" dirty="0" err="1" smtClean="0"/>
              <a:t>eCell</a:t>
            </a:r>
            <a:endParaRPr lang="ru-RU" sz="2000" dirty="0"/>
          </a:p>
        </p:txBody>
      </p:sp>
      <p:sp>
        <p:nvSpPr>
          <p:cNvPr id="5" name="Прямоугольник 4"/>
          <p:cNvSpPr/>
          <p:nvPr/>
        </p:nvSpPr>
        <p:spPr>
          <a:xfrm>
            <a:off x="2051720" y="3026420"/>
            <a:ext cx="792088"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268581034"/>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84325" y="842095"/>
            <a:ext cx="7380163" cy="5016758"/>
          </a:xfrm>
          <a:prstGeom prst="rect">
            <a:avLst/>
          </a:prstGeom>
        </p:spPr>
        <p:txBody>
          <a:bodyPr wrap="square">
            <a:spAutoFit/>
          </a:bodyPr>
          <a:lstStyle/>
          <a:p>
            <a:pPr marL="285750" indent="-285750">
              <a:buFont typeface="Arial" panose="020B0604020202020204" pitchFamily="34" charset="0"/>
              <a:buChar char="•"/>
            </a:pPr>
            <a:r>
              <a:rPr lang="en-US" sz="2000" dirty="0"/>
              <a:t>TSMC 28nm HP process with core operating voltage of 0.85 V</a:t>
            </a:r>
          </a:p>
          <a:p>
            <a:pPr marL="285750" indent="-285750">
              <a:buFont typeface="Arial" panose="020B0604020202020204" pitchFamily="34" charset="0"/>
              <a:buChar char="•"/>
            </a:pPr>
            <a:r>
              <a:rPr lang="en-US" sz="2000" dirty="0"/>
              <a:t>Up to 80% lower power than FPGAs</a:t>
            </a:r>
          </a:p>
          <a:p>
            <a:pPr marL="285750" indent="-285750">
              <a:buFont typeface="Arial" panose="020B0604020202020204" pitchFamily="34" charset="0"/>
              <a:buChar char="•"/>
            </a:pPr>
            <a:r>
              <a:rPr lang="en-US" sz="2000" dirty="0"/>
              <a:t>Up to twice the performance of 28 nm FPGAs</a:t>
            </a:r>
          </a:p>
          <a:p>
            <a:pPr marL="285750" indent="-285750">
              <a:buFont typeface="Arial" panose="020B0604020202020204" pitchFamily="34" charset="0"/>
              <a:buChar char="•"/>
            </a:pPr>
            <a:r>
              <a:rPr lang="en-US" sz="2000" dirty="0" smtClean="0"/>
              <a:t>Up </a:t>
            </a:r>
            <a:r>
              <a:rPr lang="en-US" sz="2000" dirty="0"/>
              <a:t>to 1.3M </a:t>
            </a:r>
            <a:r>
              <a:rPr lang="en-US" sz="2000" dirty="0" err="1"/>
              <a:t>eCELLS</a:t>
            </a:r>
            <a:r>
              <a:rPr lang="en-US" sz="2000" dirty="0"/>
              <a:t> (18M equivalent ASIC gates)</a:t>
            </a:r>
          </a:p>
          <a:p>
            <a:pPr marL="285750" indent="-285750">
              <a:buFont typeface="Arial" panose="020B0604020202020204" pitchFamily="34" charset="0"/>
              <a:buChar char="•"/>
            </a:pPr>
            <a:r>
              <a:rPr lang="en-US" sz="2000" dirty="0"/>
              <a:t>Up to 56 </a:t>
            </a:r>
            <a:r>
              <a:rPr lang="en-US" sz="2000" dirty="0" err="1"/>
              <a:t>Mbits</a:t>
            </a:r>
            <a:r>
              <a:rPr lang="en-US" sz="2000" dirty="0"/>
              <a:t> of embedded memory blocks (</a:t>
            </a:r>
            <a:r>
              <a:rPr lang="en-US" sz="2000" dirty="0" err="1"/>
              <a:t>bRAMS</a:t>
            </a:r>
            <a:r>
              <a:rPr lang="en-US" sz="2000" dirty="0"/>
              <a:t>) with Built-In-Self Repair</a:t>
            </a:r>
          </a:p>
          <a:p>
            <a:pPr marL="285750" indent="-285750">
              <a:buFont typeface="Arial" panose="020B0604020202020204" pitchFamily="34" charset="0"/>
              <a:buChar char="•"/>
            </a:pPr>
            <a:r>
              <a:rPr lang="en-US" sz="2000" dirty="0"/>
              <a:t>800 MHz fine grained 9K bits memory blocks</a:t>
            </a:r>
          </a:p>
          <a:p>
            <a:pPr marL="285750" indent="-285750">
              <a:buFont typeface="Arial" panose="020B0604020202020204" pitchFamily="34" charset="0"/>
              <a:buChar char="•"/>
            </a:pPr>
            <a:r>
              <a:rPr lang="en-US" sz="2000" dirty="0"/>
              <a:t>Embedded one bit fast adders for high-speed arithmetic and DSP functions</a:t>
            </a:r>
          </a:p>
          <a:p>
            <a:pPr marL="285750" indent="-285750">
              <a:buFont typeface="Arial" panose="020B0604020202020204" pitchFamily="34" charset="0"/>
              <a:buChar char="•"/>
            </a:pPr>
            <a:r>
              <a:rPr lang="en-US" sz="2000" dirty="0"/>
              <a:t>Multi-gigabit I/O with speeds up to 12.5 </a:t>
            </a:r>
            <a:r>
              <a:rPr lang="en-US" sz="2000" dirty="0" err="1"/>
              <a:t>Gbps</a:t>
            </a:r>
            <a:endParaRPr lang="en-US" sz="2000" dirty="0"/>
          </a:p>
          <a:p>
            <a:pPr marL="285750" indent="-285750">
              <a:buFont typeface="Arial" panose="020B0604020202020204" pitchFamily="34" charset="0"/>
              <a:buChar char="•"/>
            </a:pPr>
            <a:r>
              <a:rPr lang="en-US" sz="2000" dirty="0"/>
              <a:t>New enhanced clocking structure with 36 global clock trees</a:t>
            </a:r>
          </a:p>
          <a:p>
            <a:pPr marL="285750" indent="-285750">
              <a:buFont typeface="Arial" panose="020B0604020202020204" pitchFamily="34" charset="0"/>
              <a:buChar char="•"/>
            </a:pPr>
            <a:r>
              <a:rPr lang="en-US" sz="2000" dirty="0" err="1"/>
              <a:t>GreenPowerVia</a:t>
            </a:r>
            <a:r>
              <a:rPr lang="en-US" sz="2000" dirty="0"/>
              <a:t> disables power to unused logic</a:t>
            </a:r>
          </a:p>
          <a:p>
            <a:pPr marL="285750" indent="-285750">
              <a:buFont typeface="Arial" panose="020B0604020202020204" pitchFamily="34" charset="0"/>
              <a:buChar char="•"/>
            </a:pPr>
            <a:r>
              <a:rPr lang="en-US" sz="2000" dirty="0"/>
              <a:t>Support for 3.3 V, 2.5 V, 1.8 V, 1.5 V, 1.35 V and 1.2 V IO standards</a:t>
            </a:r>
          </a:p>
          <a:p>
            <a:pPr marL="285750" indent="-285750">
              <a:buFont typeface="Arial" panose="020B0604020202020204" pitchFamily="34" charset="0"/>
              <a:buChar char="•"/>
            </a:pPr>
            <a:r>
              <a:rPr lang="en-US" sz="2000" dirty="0" err="1"/>
              <a:t>eFUSE</a:t>
            </a:r>
            <a:r>
              <a:rPr lang="en-US" sz="2000" dirty="0"/>
              <a:t> for traceability and storing special keys</a:t>
            </a:r>
          </a:p>
          <a:p>
            <a:pPr marL="285750" indent="-285750">
              <a:buFont typeface="Arial" panose="020B0604020202020204" pitchFamily="34" charset="0"/>
              <a:buChar char="•"/>
            </a:pPr>
            <a:r>
              <a:rPr lang="en-US" sz="2000" dirty="0"/>
              <a:t>Temperature sensing diode</a:t>
            </a:r>
          </a:p>
          <a:p>
            <a:pPr marL="285750" indent="-285750">
              <a:buFont typeface="Arial" panose="020B0604020202020204" pitchFamily="34" charset="0"/>
              <a:buChar char="•"/>
            </a:pPr>
            <a:r>
              <a:rPr lang="en-US" sz="2000" dirty="0"/>
              <a:t>FPGA like design tools and flow</a:t>
            </a:r>
          </a:p>
        </p:txBody>
      </p:sp>
      <p:pic>
        <p:nvPicPr>
          <p:cNvPr id="76802" name="Picture 2" descr="eASIC Nextreme-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27720"/>
            <a:ext cx="1428750" cy="14287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987824" y="476672"/>
            <a:ext cx="4067973" cy="400110"/>
          </a:xfrm>
          <a:prstGeom prst="rect">
            <a:avLst/>
          </a:prstGeom>
          <a:noFill/>
        </p:spPr>
        <p:txBody>
          <a:bodyPr wrap="none" rtlCol="0">
            <a:spAutoFit/>
          </a:bodyPr>
          <a:lstStyle/>
          <a:p>
            <a:r>
              <a:rPr lang="ru-RU" sz="2000" b="1" dirty="0" smtClean="0"/>
              <a:t>Характеристики серии </a:t>
            </a:r>
            <a:r>
              <a:rPr lang="ru-RU" sz="2000" b="1" dirty="0"/>
              <a:t>Nextreme-3</a:t>
            </a:r>
            <a:r>
              <a:rPr lang="ru-RU" sz="2000" b="1" dirty="0" smtClean="0"/>
              <a:t> </a:t>
            </a:r>
            <a:endParaRPr lang="ru-RU" sz="2000" b="1" dirty="0"/>
          </a:p>
        </p:txBody>
      </p:sp>
    </p:spTree>
    <p:extLst>
      <p:ext uri="{BB962C8B-B14F-4D97-AF65-F5344CB8AC3E}">
        <p14:creationId xmlns:p14="http://schemas.microsoft.com/office/powerpoint/2010/main" val="3843300635"/>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extLst>
              <p:ext uri="{D42A27DB-BD31-4B8C-83A1-F6EECF244321}">
                <p14:modId xmlns:p14="http://schemas.microsoft.com/office/powerpoint/2010/main" val="3246534134"/>
              </p:ext>
            </p:extLst>
          </p:nvPr>
        </p:nvGraphicFramePr>
        <p:xfrm>
          <a:off x="539553" y="332656"/>
          <a:ext cx="8352925" cy="5744272"/>
        </p:xfrm>
        <a:graphic>
          <a:graphicData uri="http://schemas.openxmlformats.org/drawingml/2006/table">
            <a:tbl>
              <a:tblPr/>
              <a:tblGrid>
                <a:gridCol w="1670585"/>
                <a:gridCol w="1670585"/>
                <a:gridCol w="1670585"/>
                <a:gridCol w="1670585"/>
                <a:gridCol w="1670585"/>
              </a:tblGrid>
              <a:tr h="270207">
                <a:tc>
                  <a:txBody>
                    <a:bodyPr/>
                    <a:lstStyle/>
                    <a:p>
                      <a:pPr algn="l" fontAlgn="ctr"/>
                      <a:r>
                        <a:rPr lang="ru-RU" sz="1800" b="1" dirty="0">
                          <a:solidFill>
                            <a:srgbClr val="222222"/>
                          </a:solidFill>
                          <a:effectLst/>
                        </a:rPr>
                        <a:t> </a:t>
                      </a:r>
                    </a:p>
                  </a:txBody>
                  <a:tcPr marL="67552" marR="67552" marT="33776" marB="33776" anchor="ctr">
                    <a:lnL>
                      <a:noFill/>
                    </a:lnL>
                    <a:lnR>
                      <a:noFill/>
                    </a:lnR>
                    <a:lnT>
                      <a:noFill/>
                    </a:lnT>
                    <a:lnB w="9525" cap="flat" cmpd="sng" algn="ctr">
                      <a:solidFill>
                        <a:srgbClr val="DDDDDD"/>
                      </a:solidFill>
                      <a:prstDash val="solid"/>
                      <a:round/>
                      <a:headEnd type="none" w="med" len="med"/>
                      <a:tailEnd type="none" w="med" len="med"/>
                    </a:lnB>
                    <a:solidFill>
                      <a:srgbClr val="F3F3F3"/>
                    </a:solidFill>
                  </a:tcPr>
                </a:tc>
                <a:tc>
                  <a:txBody>
                    <a:bodyPr/>
                    <a:lstStyle/>
                    <a:p>
                      <a:pPr algn="ctr" fontAlgn="ctr"/>
                      <a:r>
                        <a:rPr lang="en-US" sz="1800" b="1">
                          <a:solidFill>
                            <a:srgbClr val="222222"/>
                          </a:solidFill>
                          <a:effectLst/>
                        </a:rPr>
                        <a:t>N3XT390</a:t>
                      </a:r>
                    </a:p>
                  </a:txBody>
                  <a:tcPr marL="67552" marR="67552" marT="33776" marB="33776" anchor="ctr">
                    <a:lnL>
                      <a:noFill/>
                    </a:lnL>
                    <a:lnR>
                      <a:noFill/>
                    </a:lnR>
                    <a:lnT>
                      <a:noFill/>
                    </a:lnT>
                    <a:lnB w="9525" cap="flat" cmpd="sng" algn="ctr">
                      <a:solidFill>
                        <a:srgbClr val="DDDDDD"/>
                      </a:solidFill>
                      <a:prstDash val="solid"/>
                      <a:round/>
                      <a:headEnd type="none" w="med" len="med"/>
                      <a:tailEnd type="none" w="med" len="med"/>
                    </a:lnB>
                    <a:solidFill>
                      <a:srgbClr val="F3F3F3"/>
                    </a:solidFill>
                  </a:tcPr>
                </a:tc>
                <a:tc>
                  <a:txBody>
                    <a:bodyPr/>
                    <a:lstStyle/>
                    <a:p>
                      <a:pPr algn="ctr" fontAlgn="ctr"/>
                      <a:r>
                        <a:rPr lang="en-US" sz="1800" b="1">
                          <a:solidFill>
                            <a:srgbClr val="222222"/>
                          </a:solidFill>
                          <a:effectLst/>
                        </a:rPr>
                        <a:t>N3XT500</a:t>
                      </a:r>
                    </a:p>
                  </a:txBody>
                  <a:tcPr marL="67552" marR="67552" marT="33776" marB="33776" anchor="ctr">
                    <a:lnL>
                      <a:noFill/>
                    </a:lnL>
                    <a:lnR>
                      <a:noFill/>
                    </a:lnR>
                    <a:lnT>
                      <a:noFill/>
                    </a:lnT>
                    <a:lnB w="9525" cap="flat" cmpd="sng" algn="ctr">
                      <a:solidFill>
                        <a:srgbClr val="DDDDDD"/>
                      </a:solidFill>
                      <a:prstDash val="solid"/>
                      <a:round/>
                      <a:headEnd type="none" w="med" len="med"/>
                      <a:tailEnd type="none" w="med" len="med"/>
                    </a:lnB>
                    <a:solidFill>
                      <a:srgbClr val="F3F3F3"/>
                    </a:solidFill>
                  </a:tcPr>
                </a:tc>
                <a:tc>
                  <a:txBody>
                    <a:bodyPr/>
                    <a:lstStyle/>
                    <a:p>
                      <a:pPr algn="ctr" fontAlgn="ctr"/>
                      <a:r>
                        <a:rPr lang="en-US" sz="1800" b="1">
                          <a:solidFill>
                            <a:srgbClr val="222222"/>
                          </a:solidFill>
                          <a:effectLst/>
                        </a:rPr>
                        <a:t>N3XT900</a:t>
                      </a:r>
                    </a:p>
                  </a:txBody>
                  <a:tcPr marL="67552" marR="67552" marT="33776" marB="33776" anchor="ctr">
                    <a:lnL>
                      <a:noFill/>
                    </a:lnL>
                    <a:lnR>
                      <a:noFill/>
                    </a:lnR>
                    <a:lnT>
                      <a:noFill/>
                    </a:lnT>
                    <a:lnB w="9525" cap="flat" cmpd="sng" algn="ctr">
                      <a:solidFill>
                        <a:srgbClr val="DDDDDD"/>
                      </a:solidFill>
                      <a:prstDash val="solid"/>
                      <a:round/>
                      <a:headEnd type="none" w="med" len="med"/>
                      <a:tailEnd type="none" w="med" len="med"/>
                    </a:lnB>
                    <a:solidFill>
                      <a:srgbClr val="F3F3F3"/>
                    </a:solidFill>
                  </a:tcPr>
                </a:tc>
                <a:tc>
                  <a:txBody>
                    <a:bodyPr/>
                    <a:lstStyle/>
                    <a:p>
                      <a:pPr algn="ctr" fontAlgn="ctr"/>
                      <a:r>
                        <a:rPr lang="en-US" sz="1800" b="1">
                          <a:solidFill>
                            <a:srgbClr val="222222"/>
                          </a:solidFill>
                          <a:effectLst/>
                        </a:rPr>
                        <a:t>N3XT1300</a:t>
                      </a:r>
                    </a:p>
                  </a:txBody>
                  <a:tcPr marL="67552" marR="67552" marT="33776" marB="33776" anchor="ctr">
                    <a:lnL>
                      <a:noFill/>
                    </a:lnL>
                    <a:lnR>
                      <a:noFill/>
                    </a:lnR>
                    <a:lnT>
                      <a:noFill/>
                    </a:lnT>
                    <a:lnB w="9525" cap="flat" cmpd="sng" algn="ctr">
                      <a:solidFill>
                        <a:srgbClr val="DDDDDD"/>
                      </a:solidFill>
                      <a:prstDash val="solid"/>
                      <a:round/>
                      <a:headEnd type="none" w="med" len="med"/>
                      <a:tailEnd type="none" w="med" len="med"/>
                    </a:lnB>
                    <a:solidFill>
                      <a:srgbClr val="F3F3F3"/>
                    </a:solidFill>
                  </a:tcPr>
                </a:tc>
              </a:tr>
              <a:tr h="270207">
                <a:tc>
                  <a:txBody>
                    <a:bodyPr/>
                    <a:lstStyle/>
                    <a:p>
                      <a:pPr algn="l" fontAlgn="t"/>
                      <a:r>
                        <a:rPr lang="en-US" sz="1800">
                          <a:solidFill>
                            <a:srgbClr val="222222"/>
                          </a:solidFill>
                          <a:effectLst/>
                        </a:rPr>
                        <a:t>eCells</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391,680</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503,424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870,912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1,292,544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2862">
                <a:tc>
                  <a:txBody>
                    <a:bodyPr/>
                    <a:lstStyle/>
                    <a:p>
                      <a:pPr algn="l" fontAlgn="t"/>
                      <a:r>
                        <a:rPr lang="en-US" sz="1800">
                          <a:solidFill>
                            <a:srgbClr val="222222"/>
                          </a:solidFill>
                          <a:effectLst/>
                        </a:rPr>
                        <a:t>Equivalent gates (Millions)</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3.9</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5</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8.7</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13</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270207">
                <a:tc>
                  <a:txBody>
                    <a:bodyPr/>
                    <a:lstStyle/>
                    <a:p>
                      <a:pPr algn="l" fontAlgn="t"/>
                      <a:r>
                        <a:rPr lang="en-US" sz="1800">
                          <a:solidFill>
                            <a:srgbClr val="222222"/>
                          </a:solidFill>
                          <a:effectLst/>
                        </a:rPr>
                        <a:t>eDFFs</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269,280</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346,104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620,928</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888,624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270207">
                <a:tc>
                  <a:txBody>
                    <a:bodyPr/>
                    <a:lstStyle/>
                    <a:p>
                      <a:pPr algn="l" fontAlgn="t"/>
                      <a:r>
                        <a:rPr lang="en-US" sz="1800">
                          <a:solidFill>
                            <a:srgbClr val="222222"/>
                          </a:solidFill>
                          <a:effectLst/>
                        </a:rPr>
                        <a:t>Full Adders</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391,680</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503,424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903,168</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1,292,544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270207">
                <a:tc>
                  <a:txBody>
                    <a:bodyPr/>
                    <a:lstStyle/>
                    <a:p>
                      <a:pPr algn="l" fontAlgn="t"/>
                      <a:r>
                        <a:rPr lang="en-US" sz="1800">
                          <a:solidFill>
                            <a:srgbClr val="222222"/>
                          </a:solidFill>
                          <a:effectLst/>
                        </a:rPr>
                        <a:t>bRAM Kbits</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3F3F3"/>
                    </a:solidFill>
                  </a:tcPr>
                </a:tc>
                <a:tc>
                  <a:txBody>
                    <a:bodyPr/>
                    <a:lstStyle/>
                    <a:p>
                      <a:pPr algn="ctr" fontAlgn="t"/>
                      <a:r>
                        <a:rPr lang="ru-RU" sz="1800">
                          <a:solidFill>
                            <a:srgbClr val="222222"/>
                          </a:solidFill>
                          <a:effectLst/>
                        </a:rPr>
                        <a:t>11,796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3F3F3"/>
                    </a:solidFill>
                  </a:tcPr>
                </a:tc>
                <a:tc>
                  <a:txBody>
                    <a:bodyPr/>
                    <a:lstStyle/>
                    <a:p>
                      <a:pPr algn="ctr" fontAlgn="t"/>
                      <a:r>
                        <a:rPr lang="ru-RU" sz="1800">
                          <a:solidFill>
                            <a:srgbClr val="222222"/>
                          </a:solidFill>
                          <a:effectLst/>
                        </a:rPr>
                        <a:t>15,048</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3F3F3"/>
                    </a:solidFill>
                  </a:tcPr>
                </a:tc>
                <a:tc>
                  <a:txBody>
                    <a:bodyPr/>
                    <a:lstStyle/>
                    <a:p>
                      <a:pPr algn="ctr" fontAlgn="t"/>
                      <a:r>
                        <a:rPr lang="ru-RU" sz="1800">
                          <a:solidFill>
                            <a:srgbClr val="222222"/>
                          </a:solidFill>
                          <a:effectLst/>
                        </a:rPr>
                        <a:t>27,869</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3F3F3"/>
                    </a:solidFill>
                  </a:tcPr>
                </a:tc>
                <a:tc>
                  <a:txBody>
                    <a:bodyPr/>
                    <a:lstStyle/>
                    <a:p>
                      <a:pPr algn="ctr" fontAlgn="t"/>
                      <a:r>
                        <a:rPr lang="ru-RU" sz="1800">
                          <a:solidFill>
                            <a:srgbClr val="222222"/>
                          </a:solidFill>
                          <a:effectLst/>
                        </a:rPr>
                        <a:t>40,108</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3F3F3"/>
                    </a:solidFill>
                  </a:tcPr>
                </a:tc>
              </a:tr>
              <a:tr h="270207">
                <a:tc>
                  <a:txBody>
                    <a:bodyPr/>
                    <a:lstStyle/>
                    <a:p>
                      <a:pPr algn="l" fontAlgn="t"/>
                      <a:r>
                        <a:rPr lang="en-US" sz="1800">
                          <a:solidFill>
                            <a:srgbClr val="222222"/>
                          </a:solidFill>
                          <a:effectLst/>
                        </a:rPr>
                        <a:t>bRAM blocks</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1,280</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1,672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3,024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4,352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270207">
                <a:tc>
                  <a:txBody>
                    <a:bodyPr/>
                    <a:lstStyle/>
                    <a:p>
                      <a:pPr algn="l" fontAlgn="t"/>
                      <a:r>
                        <a:rPr lang="en-US" sz="1800" dirty="0">
                          <a:solidFill>
                            <a:srgbClr val="222222"/>
                          </a:solidFill>
                          <a:effectLst/>
                        </a:rPr>
                        <a:t>PLL</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16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16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24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28</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270207">
                <a:tc>
                  <a:txBody>
                    <a:bodyPr/>
                    <a:lstStyle/>
                    <a:p>
                      <a:pPr algn="l" fontAlgn="t"/>
                      <a:r>
                        <a:rPr lang="en-US" sz="1800" dirty="0">
                          <a:solidFill>
                            <a:srgbClr val="222222"/>
                          </a:solidFill>
                          <a:effectLst/>
                        </a:rPr>
                        <a:t>DLL</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42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42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66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78</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270207">
                <a:tc>
                  <a:txBody>
                    <a:bodyPr/>
                    <a:lstStyle/>
                    <a:p>
                      <a:pPr algn="l" fontAlgn="t"/>
                      <a:r>
                        <a:rPr lang="en-US" sz="1800">
                          <a:solidFill>
                            <a:srgbClr val="222222"/>
                          </a:solidFill>
                          <a:effectLst/>
                        </a:rPr>
                        <a:t>MGIO-T</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14</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18</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22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52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270207">
                <a:tc gridSpan="5">
                  <a:txBody>
                    <a:bodyPr/>
                    <a:lstStyle/>
                    <a:p>
                      <a:pPr algn="l" fontAlgn="t"/>
                      <a:r>
                        <a:rPr lang="en-US" sz="1800" b="1">
                          <a:solidFill>
                            <a:srgbClr val="222222"/>
                          </a:solidFill>
                          <a:effectLst/>
                        </a:rPr>
                        <a:t>Packages (MGIO-T/ User IO) </a:t>
                      </a:r>
                      <a:r>
                        <a:rPr lang="en-US" sz="1800" b="1">
                          <a:solidFill>
                            <a:srgbClr val="CC1632"/>
                          </a:solidFill>
                          <a:effectLst/>
                        </a:rPr>
                        <a:t>*</a:t>
                      </a:r>
                      <a:endParaRPr lang="en-US"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270207">
                <a:tc>
                  <a:txBody>
                    <a:bodyPr/>
                    <a:lstStyle/>
                    <a:p>
                      <a:pPr algn="l" fontAlgn="t"/>
                      <a:r>
                        <a:rPr lang="en-US" sz="1800">
                          <a:solidFill>
                            <a:srgbClr val="222222"/>
                          </a:solidFill>
                          <a:effectLst/>
                        </a:rPr>
                        <a:t>FC672 (27mm)</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8/316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270207">
                <a:tc>
                  <a:txBody>
                    <a:bodyPr/>
                    <a:lstStyle/>
                    <a:p>
                      <a:pPr algn="l" fontAlgn="t"/>
                      <a:r>
                        <a:rPr lang="en-US" sz="1800">
                          <a:solidFill>
                            <a:srgbClr val="222222"/>
                          </a:solidFill>
                          <a:effectLst/>
                        </a:rPr>
                        <a:t>FC780 (29mm)</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14/336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270207">
                <a:tc>
                  <a:txBody>
                    <a:bodyPr/>
                    <a:lstStyle/>
                    <a:p>
                      <a:pPr algn="l" fontAlgn="t"/>
                      <a:r>
                        <a:rPr lang="en-US" sz="1800">
                          <a:solidFill>
                            <a:srgbClr val="222222"/>
                          </a:solidFill>
                          <a:effectLst/>
                        </a:rPr>
                        <a:t>FC896 (31mm)</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ru-RU" sz="1800">
                          <a:solidFill>
                            <a:srgbClr val="222222"/>
                          </a:solidFill>
                          <a:effectLst/>
                        </a:rPr>
                        <a:t>18/336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270207">
                <a:tc>
                  <a:txBody>
                    <a:bodyPr/>
                    <a:lstStyle/>
                    <a:p>
                      <a:pPr algn="l" fontAlgn="t"/>
                      <a:r>
                        <a:rPr lang="en-US" sz="1800">
                          <a:solidFill>
                            <a:srgbClr val="222222"/>
                          </a:solidFill>
                          <a:effectLst/>
                        </a:rPr>
                        <a:t>FC1152(35mm)</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18/392</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22/616</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ru-RU" sz="1800">
                          <a:solidFill>
                            <a:srgbClr val="222222"/>
                          </a:solidFill>
                          <a:effectLst/>
                        </a:rPr>
                        <a:t>32/600</a:t>
                      </a:r>
                    </a:p>
                  </a:txBody>
                  <a:tcPr marL="67552" marR="67552" marT="33776" marB="33776">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270207">
                <a:tc>
                  <a:txBody>
                    <a:bodyPr/>
                    <a:lstStyle/>
                    <a:p>
                      <a:pPr algn="l" fontAlgn="t"/>
                      <a:r>
                        <a:rPr lang="en-US" sz="1800">
                          <a:solidFill>
                            <a:srgbClr val="222222"/>
                          </a:solidFill>
                          <a:effectLst/>
                        </a:rPr>
                        <a:t>FC1517(40mm)</a:t>
                      </a:r>
                    </a:p>
                  </a:txBody>
                  <a:tcPr marL="67552" marR="67552" marT="33776" marB="33776">
                    <a:lnL>
                      <a:noFill/>
                    </a:lnL>
                    <a:lnR>
                      <a:noFill/>
                    </a:lnR>
                    <a:lnT w="9525" cap="flat" cmpd="sng" algn="ctr">
                      <a:solidFill>
                        <a:srgbClr val="DDDDDD"/>
                      </a:solidFill>
                      <a:prstDash val="solid"/>
                      <a:round/>
                      <a:headEnd type="none" w="med" len="med"/>
                      <a:tailEnd type="none" w="med" len="med"/>
                    </a:lnT>
                    <a:lnB>
                      <a:noFill/>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a:noFill/>
                    </a:lnB>
                    <a:solidFill>
                      <a:srgbClr val="FFFFFF"/>
                    </a:solidFill>
                  </a:tcPr>
                </a:tc>
                <a:tc>
                  <a:txBody>
                    <a:bodyPr/>
                    <a:lstStyle/>
                    <a:p>
                      <a:pPr algn="ctr" fontAlgn="t"/>
                      <a:endParaRPr lang="ru-RU" sz="180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a:noFill/>
                    </a:lnB>
                    <a:solidFill>
                      <a:srgbClr val="FFFFFF"/>
                    </a:solidFill>
                  </a:tcPr>
                </a:tc>
                <a:tc>
                  <a:txBody>
                    <a:bodyPr/>
                    <a:lstStyle/>
                    <a:p>
                      <a:pPr algn="ctr" fontAlgn="t"/>
                      <a:endParaRPr lang="ru-RU" sz="1800" dirty="0">
                        <a:solidFill>
                          <a:srgbClr val="222222"/>
                        </a:solidFill>
                        <a:effectLst/>
                      </a:endParaRPr>
                    </a:p>
                  </a:txBody>
                  <a:tcPr marL="67552" marR="67552" marT="33776" marB="33776">
                    <a:lnL>
                      <a:noFill/>
                    </a:lnL>
                    <a:lnR>
                      <a:noFill/>
                    </a:lnR>
                    <a:lnT w="9525" cap="flat" cmpd="sng" algn="ctr">
                      <a:solidFill>
                        <a:srgbClr val="DDDDDD"/>
                      </a:solidFill>
                      <a:prstDash val="solid"/>
                      <a:round/>
                      <a:headEnd type="none" w="med" len="med"/>
                      <a:tailEnd type="none" w="med" len="med"/>
                    </a:lnT>
                    <a:lnB>
                      <a:noFill/>
                    </a:lnB>
                    <a:solidFill>
                      <a:srgbClr val="FFFFFF"/>
                    </a:solidFill>
                  </a:tcPr>
                </a:tc>
                <a:tc>
                  <a:txBody>
                    <a:bodyPr/>
                    <a:lstStyle/>
                    <a:p>
                      <a:pPr algn="ctr" fontAlgn="t"/>
                      <a:r>
                        <a:rPr lang="ru-RU" sz="1800" dirty="0">
                          <a:solidFill>
                            <a:srgbClr val="222222"/>
                          </a:solidFill>
                          <a:effectLst/>
                        </a:rPr>
                        <a:t>52/624</a:t>
                      </a:r>
                    </a:p>
                  </a:txBody>
                  <a:tcPr marL="67552" marR="67552" marT="33776" marB="33776">
                    <a:lnL>
                      <a:noFill/>
                    </a:lnL>
                    <a:lnR>
                      <a:noFill/>
                    </a:lnR>
                    <a:lnT w="9525" cap="flat" cmpd="sng" algn="ctr">
                      <a:solidFill>
                        <a:srgbClr val="DDDDDD"/>
                      </a:solidFill>
                      <a:prstDash val="solid"/>
                      <a:round/>
                      <a:headEnd type="none" w="med" len="med"/>
                      <a:tailEnd type="none" w="med" len="med"/>
                    </a:lnT>
                    <a:lnB>
                      <a:noFill/>
                    </a:lnB>
                    <a:solidFill>
                      <a:srgbClr val="FFFFFF"/>
                    </a:solidFill>
                  </a:tcPr>
                </a:tc>
              </a:tr>
            </a:tbl>
          </a:graphicData>
        </a:graphic>
      </p:graphicFrame>
      <p:sp>
        <p:nvSpPr>
          <p:cNvPr id="5" name="Rectangle 1"/>
          <p:cNvSpPr>
            <a:spLocks noChangeArrowheads="1"/>
          </p:cNvSpPr>
          <p:nvPr/>
        </p:nvSpPr>
        <p:spPr bwMode="auto">
          <a:xfrm>
            <a:off x="1531938"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altLang="ru-RU" sz="1800" b="0" i="0" u="none" strike="noStrike" cap="none" normalizeH="0" baseline="0" smtClean="0">
                <a:ln>
                  <a:noFill/>
                </a:ln>
                <a:solidFill>
                  <a:schemeClr val="tx1"/>
                </a:solidFill>
                <a:effectLst/>
                <a:latin typeface="Arial" charset="0"/>
                <a:cs typeface="Arial" charset="0"/>
              </a:rPr>
              <a:t/>
            </a:r>
            <a:br>
              <a:rPr kumimoji="0" lang="ru-RU" altLang="ru-RU" sz="1800" b="0" i="0" u="none" strike="noStrike" cap="none" normalizeH="0" baseline="0" smtClean="0">
                <a:ln>
                  <a:noFill/>
                </a:ln>
                <a:solidFill>
                  <a:schemeClr val="tx1"/>
                </a:solidFill>
                <a:effectLst/>
                <a:latin typeface="Arial" charset="0"/>
                <a:cs typeface="Arial" charset="0"/>
              </a:rPr>
            </a:br>
            <a:endParaRPr kumimoji="0" lang="ru-RU" altLang="ru-RU" sz="18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52870554"/>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23728" y="147990"/>
            <a:ext cx="4547655" cy="369332"/>
          </a:xfrm>
          <a:prstGeom prst="rect">
            <a:avLst/>
          </a:prstGeom>
        </p:spPr>
        <p:txBody>
          <a:bodyPr wrap="none">
            <a:spAutoFit/>
          </a:bodyPr>
          <a:lstStyle/>
          <a:p>
            <a:r>
              <a:rPr lang="ru-RU" b="1" dirty="0"/>
              <a:t>Компонентный  состав  базовых  </a:t>
            </a:r>
            <a:r>
              <a:rPr lang="ru-RU" b="1" dirty="0" smtClean="0"/>
              <a:t>ячеек (БЯ)</a:t>
            </a:r>
            <a:endParaRPr lang="ru-RU" b="1" dirty="0"/>
          </a:p>
        </p:txBody>
      </p:sp>
      <p:pic>
        <p:nvPicPr>
          <p:cNvPr id="716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835606" y="714762"/>
            <a:ext cx="2026025" cy="3482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3" name="Picture 3"/>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rot="5400000">
            <a:off x="5102684" y="-34918"/>
            <a:ext cx="3144959" cy="42494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Прямоугольник 4"/>
          <p:cNvSpPr/>
          <p:nvPr/>
        </p:nvSpPr>
        <p:spPr>
          <a:xfrm>
            <a:off x="80740" y="3490222"/>
            <a:ext cx="9036496" cy="3170099"/>
          </a:xfrm>
          <a:prstGeom prst="rect">
            <a:avLst/>
          </a:prstGeom>
        </p:spPr>
        <p:txBody>
          <a:bodyPr wrap="square">
            <a:spAutoFit/>
          </a:bodyPr>
          <a:lstStyle/>
          <a:p>
            <a:r>
              <a:rPr lang="ru-RU" sz="2000" dirty="0" smtClean="0"/>
              <a:t>Компонентами  БЯ служат  </a:t>
            </a:r>
            <a:r>
              <a:rPr lang="ru-RU" sz="2000" dirty="0"/>
              <a:t>только  транзисторы  с  р-  и  n-каналами.  Число  транзисторов  в  ячейке  </a:t>
            </a:r>
            <a:r>
              <a:rPr lang="ru-RU" sz="2000" dirty="0" smtClean="0"/>
              <a:t>выбирается  </a:t>
            </a:r>
            <a:r>
              <a:rPr lang="ru-RU" sz="2000" dirty="0"/>
              <a:t>по  результатам  анализа  частоты  использования  различных  логических </a:t>
            </a:r>
            <a:r>
              <a:rPr lang="ru-RU" sz="2000" dirty="0" smtClean="0"/>
              <a:t>элементов  </a:t>
            </a:r>
            <a:r>
              <a:rPr lang="ru-RU" sz="2000" dirty="0"/>
              <a:t>в  устройствах  заданного  </a:t>
            </a:r>
            <a:r>
              <a:rPr lang="ru-RU" sz="2000" dirty="0" smtClean="0"/>
              <a:t>типа. Высокий  </a:t>
            </a:r>
            <a:r>
              <a:rPr lang="ru-RU" sz="2000" dirty="0"/>
              <a:t>коэффициент  </a:t>
            </a:r>
            <a:r>
              <a:rPr lang="ru-RU" sz="2000" dirty="0" smtClean="0"/>
              <a:t>использования  </a:t>
            </a:r>
            <a:r>
              <a:rPr lang="ru-RU" sz="2000" dirty="0"/>
              <a:t>транзисторов  дают  кристаллы  с  числом  транзисторов  в  ячейке  4,  8  или  1 0 . </a:t>
            </a:r>
            <a:r>
              <a:rPr lang="ru-RU" sz="2000" dirty="0" smtClean="0"/>
              <a:t> Квадратные  </a:t>
            </a:r>
            <a:r>
              <a:rPr lang="ru-RU" sz="2000" dirty="0"/>
              <a:t>элементы  топологического  рисунка  —  контактные  площадки  к </a:t>
            </a:r>
            <a:r>
              <a:rPr lang="ru-RU" sz="2000" dirty="0" smtClean="0"/>
              <a:t> затворам  </a:t>
            </a:r>
            <a:r>
              <a:rPr lang="ru-RU" sz="2000" dirty="0"/>
              <a:t>и  фиксированные  контактные  окна  к  элементам  ячейки.  Транзисторы </a:t>
            </a:r>
            <a:r>
              <a:rPr lang="ru-RU" sz="2000" dirty="0" smtClean="0"/>
              <a:t>можно  </a:t>
            </a:r>
            <a:r>
              <a:rPr lang="ru-RU" sz="2000" dirty="0"/>
              <a:t>соединять  последовательно  или  </a:t>
            </a:r>
            <a:r>
              <a:rPr lang="ru-RU" sz="2000" dirty="0" smtClean="0"/>
              <a:t>параллельно и </a:t>
            </a:r>
            <a:r>
              <a:rPr lang="ru-RU" sz="2000" dirty="0"/>
              <a:t>можно  получать  </a:t>
            </a:r>
            <a:r>
              <a:rPr lang="ru-RU" sz="2000" dirty="0" smtClean="0"/>
              <a:t>типовые  </a:t>
            </a:r>
            <a:r>
              <a:rPr lang="ru-RU" sz="2000" dirty="0"/>
              <a:t>подсхемы  логических  элементов  </a:t>
            </a:r>
            <a:r>
              <a:rPr lang="ru-RU" sz="2000" i="1" dirty="0"/>
              <a:t>И-НЕ</a:t>
            </a:r>
            <a:r>
              <a:rPr lang="ru-RU" sz="2000" dirty="0"/>
              <a:t>  и  </a:t>
            </a:r>
            <a:r>
              <a:rPr lang="ru-RU" sz="2000" i="1" dirty="0"/>
              <a:t>ИЛИ-НЕ</a:t>
            </a:r>
            <a:r>
              <a:rPr lang="ru-RU" sz="2000" dirty="0"/>
              <a:t>. </a:t>
            </a:r>
            <a:r>
              <a:rPr lang="ru-RU" sz="2000" dirty="0" smtClean="0"/>
              <a:t>Усложнение  </a:t>
            </a:r>
            <a:r>
              <a:rPr lang="ru-RU" sz="2000" dirty="0"/>
              <a:t>схем  достигается  объединением  простых  ячеек  в  группу. </a:t>
            </a:r>
          </a:p>
        </p:txBody>
      </p:sp>
      <p:sp>
        <p:nvSpPr>
          <p:cNvPr id="6" name="Прямоугольник 5"/>
          <p:cNvSpPr/>
          <p:nvPr/>
        </p:nvSpPr>
        <p:spPr>
          <a:xfrm>
            <a:off x="2575821" y="517322"/>
            <a:ext cx="2896177" cy="369332"/>
          </a:xfrm>
          <a:prstGeom prst="rect">
            <a:avLst/>
          </a:prstGeom>
        </p:spPr>
        <p:txBody>
          <a:bodyPr wrap="none">
            <a:spAutoFit/>
          </a:bodyPr>
          <a:lstStyle/>
          <a:p>
            <a:r>
              <a:rPr lang="ru-RU" b="1" dirty="0"/>
              <a:t>БЯ  в  </a:t>
            </a:r>
            <a:r>
              <a:rPr lang="ru-RU" b="1" dirty="0" err="1"/>
              <a:t>схемотехнике</a:t>
            </a:r>
            <a:r>
              <a:rPr lang="ru-RU" b="1" dirty="0"/>
              <a:t>  КМОП</a:t>
            </a:r>
          </a:p>
        </p:txBody>
      </p:sp>
    </p:spTree>
    <p:extLst>
      <p:ext uri="{BB962C8B-B14F-4D97-AF65-F5344CB8AC3E}">
        <p14:creationId xmlns:p14="http://schemas.microsoft.com/office/powerpoint/2010/main" val="3169924706"/>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0368" y="1052736"/>
            <a:ext cx="8640960" cy="3785652"/>
          </a:xfrm>
          <a:prstGeom prst="rect">
            <a:avLst/>
          </a:prstGeom>
        </p:spPr>
        <p:txBody>
          <a:bodyPr wrap="square">
            <a:spAutoFit/>
          </a:bodyPr>
          <a:lstStyle/>
          <a:p>
            <a:r>
              <a:rPr lang="ru-RU" sz="2000" dirty="0" smtClean="0"/>
              <a:t>Параметры  </a:t>
            </a:r>
            <a:r>
              <a:rPr lang="ru-RU" sz="2000" dirty="0"/>
              <a:t>БМК  можно  разделить  на  4  группы:   </a:t>
            </a:r>
          </a:p>
          <a:p>
            <a:pPr marL="342900" indent="-342900">
              <a:buFont typeface="Arial" panose="020B0604020202020204" pitchFamily="34" charset="0"/>
              <a:buChar char="•"/>
            </a:pPr>
            <a:r>
              <a:rPr lang="ru-RU" sz="2000" dirty="0" smtClean="0"/>
              <a:t>параметры</a:t>
            </a:r>
            <a:r>
              <a:rPr lang="ru-RU" sz="2000" dirty="0"/>
              <a:t>,  характеризующие  функциональные  возможности  БМК  (число  </a:t>
            </a:r>
            <a:r>
              <a:rPr lang="ru-RU" sz="2000" dirty="0" smtClean="0"/>
              <a:t>эквивалентных  вентилей,  тип  БЯ, состав  </a:t>
            </a:r>
            <a:r>
              <a:rPr lang="ru-RU" sz="2000" dirty="0"/>
              <a:t>библиотеки </a:t>
            </a:r>
            <a:r>
              <a:rPr lang="ru-RU" sz="2000" dirty="0" smtClean="0"/>
              <a:t>функциональных  </a:t>
            </a:r>
            <a:r>
              <a:rPr lang="ru-RU" sz="2000" dirty="0"/>
              <a:t>ячеек  и  т.  п.);   </a:t>
            </a:r>
          </a:p>
          <a:p>
            <a:pPr marL="342900" indent="-342900">
              <a:buFont typeface="Arial" panose="020B0604020202020204" pitchFamily="34" charset="0"/>
              <a:buChar char="•"/>
            </a:pPr>
            <a:r>
              <a:rPr lang="ru-RU" sz="2000" dirty="0" smtClean="0"/>
              <a:t>электрические  </a:t>
            </a:r>
            <a:r>
              <a:rPr lang="ru-RU" sz="2000" dirty="0"/>
              <a:t>параметры  (уровни  напряжений,  кодирующих  логические  </a:t>
            </a:r>
            <a:r>
              <a:rPr lang="ru-RU" sz="2000" dirty="0" smtClean="0"/>
              <a:t>сигналы,  напряжения  </a:t>
            </a:r>
            <a:r>
              <a:rPr lang="ru-RU" sz="2000" dirty="0"/>
              <a:t>питания,  потребляемые  токи,  задержки </a:t>
            </a:r>
            <a:r>
              <a:rPr lang="ru-RU" sz="2000" dirty="0" smtClean="0"/>
              <a:t>распространения  сигналов,  максимальные  </a:t>
            </a:r>
            <a:r>
              <a:rPr lang="ru-RU" sz="2000" dirty="0"/>
              <a:t>частоты  переключений  и  т.  п.);   </a:t>
            </a:r>
          </a:p>
          <a:p>
            <a:pPr marL="342900" indent="-342900">
              <a:buFont typeface="Arial" panose="020B0604020202020204" pitchFamily="34" charset="0"/>
              <a:buChar char="•"/>
            </a:pPr>
            <a:r>
              <a:rPr lang="ru-RU" sz="2000" dirty="0" smtClean="0"/>
              <a:t>конструктивно-технологические  </a:t>
            </a:r>
            <a:r>
              <a:rPr lang="ru-RU" sz="2000" dirty="0"/>
              <a:t>параметры  (тип  корпуса,  число  выводов,  число </a:t>
            </a:r>
            <a:r>
              <a:rPr lang="ru-RU" sz="2000" dirty="0" smtClean="0"/>
              <a:t>уровней  </a:t>
            </a:r>
            <a:r>
              <a:rPr lang="ru-RU" sz="2000" dirty="0"/>
              <a:t>металлизации,  площадь  кристалла  и  т.  п.); </a:t>
            </a:r>
            <a:endParaRPr lang="ru-RU" sz="2000" dirty="0" smtClean="0"/>
          </a:p>
          <a:p>
            <a:pPr marL="342900" indent="-342900">
              <a:buFont typeface="Arial" panose="020B0604020202020204" pitchFamily="34" charset="0"/>
              <a:buChar char="•"/>
            </a:pPr>
            <a:r>
              <a:rPr lang="ru-RU" sz="2000" dirty="0" smtClean="0"/>
              <a:t>эксплуатационные  </a:t>
            </a:r>
            <a:r>
              <a:rPr lang="ru-RU" sz="2000" dirty="0"/>
              <a:t>характеристики  (устойчивость  к  воздействию  внешних  </a:t>
            </a:r>
            <a:r>
              <a:rPr lang="ru-RU" sz="2000" dirty="0" smtClean="0"/>
              <a:t>факторов</a:t>
            </a:r>
            <a:r>
              <a:rPr lang="ru-RU" sz="2000" dirty="0"/>
              <a:t>,  надежность  и  т.  п.) . </a:t>
            </a:r>
          </a:p>
        </p:txBody>
      </p:sp>
      <p:sp>
        <p:nvSpPr>
          <p:cNvPr id="5" name="Прямоугольник 4"/>
          <p:cNvSpPr/>
          <p:nvPr/>
        </p:nvSpPr>
        <p:spPr>
          <a:xfrm>
            <a:off x="2987824" y="332656"/>
            <a:ext cx="2154116" cy="400110"/>
          </a:xfrm>
          <a:prstGeom prst="rect">
            <a:avLst/>
          </a:prstGeom>
        </p:spPr>
        <p:txBody>
          <a:bodyPr wrap="none">
            <a:spAutoFit/>
          </a:bodyPr>
          <a:lstStyle/>
          <a:p>
            <a:r>
              <a:rPr lang="ru-RU" sz="2000" b="1" dirty="0"/>
              <a:t>Параметры  БМК </a:t>
            </a:r>
          </a:p>
        </p:txBody>
      </p:sp>
    </p:spTree>
    <p:extLst>
      <p:ext uri="{BB962C8B-B14F-4D97-AF65-F5344CB8AC3E}">
        <p14:creationId xmlns:p14="http://schemas.microsoft.com/office/powerpoint/2010/main" val="2361474113"/>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95536" y="629980"/>
            <a:ext cx="8204282" cy="2808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411760" y="260648"/>
            <a:ext cx="3845092" cy="369332"/>
          </a:xfrm>
          <a:prstGeom prst="rect">
            <a:avLst/>
          </a:prstGeom>
          <a:noFill/>
        </p:spPr>
        <p:txBody>
          <a:bodyPr wrap="none" rtlCol="0">
            <a:spAutoFit/>
          </a:bodyPr>
          <a:lstStyle/>
          <a:p>
            <a:r>
              <a:rPr lang="ru-RU" b="1" dirty="0" smtClean="0"/>
              <a:t>Характеристики отечественных БМК</a:t>
            </a:r>
            <a:endParaRPr lang="ru-RU" b="1" dirty="0"/>
          </a:p>
        </p:txBody>
      </p:sp>
    </p:spTree>
    <p:extLst>
      <p:ext uri="{BB962C8B-B14F-4D97-AF65-F5344CB8AC3E}">
        <p14:creationId xmlns:p14="http://schemas.microsoft.com/office/powerpoint/2010/main" val="2084989405"/>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908720"/>
            <a:ext cx="8784976" cy="3477875"/>
          </a:xfrm>
          <a:prstGeom prst="rect">
            <a:avLst/>
          </a:prstGeom>
        </p:spPr>
        <p:txBody>
          <a:bodyPr wrap="square">
            <a:spAutoFit/>
          </a:bodyPr>
          <a:lstStyle/>
          <a:p>
            <a:r>
              <a:rPr lang="ru-RU" sz="2000" dirty="0" smtClean="0"/>
              <a:t>Исходное  </a:t>
            </a:r>
            <a:r>
              <a:rPr lang="ru-RU" sz="2000" dirty="0"/>
              <a:t>описание  подлежащего  реализации  проекта  может  проводиться  в  разных </a:t>
            </a:r>
            <a:r>
              <a:rPr lang="ru-RU" sz="2000" dirty="0" smtClean="0"/>
              <a:t>вариантах</a:t>
            </a:r>
            <a:r>
              <a:rPr lang="ru-RU" sz="2000" dirty="0"/>
              <a:t>. </a:t>
            </a:r>
          </a:p>
          <a:p>
            <a:pPr marL="342900" indent="-342900">
              <a:buFont typeface="Arial" panose="020B0604020202020204" pitchFamily="34" charset="0"/>
              <a:buChar char="•"/>
            </a:pPr>
            <a:r>
              <a:rPr lang="ru-RU" sz="2000" dirty="0" smtClean="0"/>
              <a:t>В виде  </a:t>
            </a:r>
            <a:r>
              <a:rPr lang="ru-RU" sz="2000" dirty="0"/>
              <a:t>схемы,  составленной  из  элементов  библиотеки  БМК; </a:t>
            </a:r>
          </a:p>
          <a:p>
            <a:pPr marL="342900" indent="-342900">
              <a:buFont typeface="Arial" panose="020B0604020202020204" pitchFamily="34" charset="0"/>
              <a:buChar char="•"/>
            </a:pPr>
            <a:r>
              <a:rPr lang="ru-RU" sz="2000" dirty="0" smtClean="0"/>
              <a:t>В виде  </a:t>
            </a:r>
            <a:r>
              <a:rPr lang="ru-RU" sz="2000" dirty="0"/>
              <a:t>описания  на  языках  VHDL  или  </a:t>
            </a:r>
            <a:r>
              <a:rPr lang="ru-RU" sz="2000" dirty="0" err="1"/>
              <a:t>Verilog</a:t>
            </a:r>
            <a:r>
              <a:rPr lang="ru-RU" sz="2000" dirty="0"/>
              <a:t>  (наиболее  популярных  языках  из </a:t>
            </a:r>
            <a:r>
              <a:rPr lang="ru-RU" sz="2000" dirty="0" smtClean="0"/>
              <a:t>числа  </a:t>
            </a:r>
            <a:r>
              <a:rPr lang="ru-RU" sz="2000" dirty="0"/>
              <a:t>языков  описания  аппаратуры,  называемых  HDL,  </a:t>
            </a:r>
            <a:r>
              <a:rPr lang="ru-RU" sz="2000" dirty="0" err="1"/>
              <a:t>Hardware</a:t>
            </a:r>
            <a:r>
              <a:rPr lang="ru-RU" sz="2000" dirty="0"/>
              <a:t>  </a:t>
            </a:r>
            <a:r>
              <a:rPr lang="ru-RU" sz="2000" dirty="0" err="1"/>
              <a:t>Description</a:t>
            </a:r>
            <a:r>
              <a:rPr lang="ru-RU" sz="2000" dirty="0"/>
              <a:t> </a:t>
            </a:r>
            <a:r>
              <a:rPr lang="ru-RU" sz="2000" dirty="0" err="1" smtClean="0"/>
              <a:t>Languages</a:t>
            </a:r>
            <a:r>
              <a:rPr lang="ru-RU" sz="2000" dirty="0"/>
              <a:t>); </a:t>
            </a:r>
          </a:p>
          <a:p>
            <a:pPr marL="342900" indent="-342900">
              <a:buFont typeface="Arial" panose="020B0604020202020204" pitchFamily="34" charset="0"/>
              <a:buChar char="•"/>
            </a:pPr>
            <a:r>
              <a:rPr lang="ru-RU" sz="2000" dirty="0" smtClean="0"/>
              <a:t>В виде  </a:t>
            </a:r>
            <a:r>
              <a:rPr lang="ru-RU" sz="2000" dirty="0"/>
              <a:t>схемы,  составленной  в  элементном  базисе  микросхем  программируемой </a:t>
            </a:r>
            <a:r>
              <a:rPr lang="ru-RU" sz="2000" dirty="0" smtClean="0"/>
              <a:t>логики, выпускаемых  </a:t>
            </a:r>
            <a:r>
              <a:rPr lang="ru-RU" sz="2000" dirty="0"/>
              <a:t>фирмами  </a:t>
            </a:r>
            <a:r>
              <a:rPr lang="ru-RU" sz="2000" dirty="0" err="1"/>
              <a:t>Xilinx</a:t>
            </a:r>
            <a:r>
              <a:rPr lang="ru-RU" sz="2000" dirty="0"/>
              <a:t>,  </a:t>
            </a:r>
            <a:r>
              <a:rPr lang="ru-RU" sz="2000" dirty="0" err="1"/>
              <a:t>Altera</a:t>
            </a:r>
            <a:r>
              <a:rPr lang="ru-RU" sz="2000" dirty="0"/>
              <a:t>,  </a:t>
            </a:r>
            <a:r>
              <a:rPr lang="ru-RU" sz="2000" dirty="0" err="1"/>
              <a:t>Actel</a:t>
            </a:r>
            <a:r>
              <a:rPr lang="ru-RU" sz="2000" dirty="0"/>
              <a:t>; </a:t>
            </a:r>
          </a:p>
          <a:p>
            <a:pPr marL="342900" indent="-342900">
              <a:buFont typeface="Arial" panose="020B0604020202020204" pitchFamily="34" charset="0"/>
              <a:buChar char="•"/>
            </a:pPr>
            <a:r>
              <a:rPr lang="ru-RU" sz="2000" dirty="0" smtClean="0"/>
              <a:t>В виде  </a:t>
            </a:r>
            <a:r>
              <a:rPr lang="ru-RU" sz="2000" dirty="0"/>
              <a:t>электрической  схемы,  выполненной  в  любой  библиотеке  элементов; </a:t>
            </a:r>
          </a:p>
          <a:p>
            <a:pPr marL="342900" indent="-342900">
              <a:buFont typeface="Arial" panose="020B0604020202020204" pitchFamily="34" charset="0"/>
              <a:buChar char="•"/>
            </a:pPr>
            <a:r>
              <a:rPr lang="ru-RU" sz="2000" dirty="0" smtClean="0"/>
              <a:t>на  </a:t>
            </a:r>
            <a:r>
              <a:rPr lang="ru-RU" sz="2000" dirty="0"/>
              <a:t>основе  технического  задания. </a:t>
            </a:r>
          </a:p>
        </p:txBody>
      </p:sp>
      <p:sp>
        <p:nvSpPr>
          <p:cNvPr id="5" name="Прямоугольник 4"/>
          <p:cNvSpPr/>
          <p:nvPr/>
        </p:nvSpPr>
        <p:spPr>
          <a:xfrm>
            <a:off x="2483768" y="188640"/>
            <a:ext cx="3459601" cy="400110"/>
          </a:xfrm>
          <a:prstGeom prst="rect">
            <a:avLst/>
          </a:prstGeom>
        </p:spPr>
        <p:txBody>
          <a:bodyPr wrap="none">
            <a:spAutoFit/>
          </a:bodyPr>
          <a:lstStyle/>
          <a:p>
            <a:r>
              <a:rPr lang="ru-RU" sz="2000" b="1" dirty="0"/>
              <a:t>Этапы  проектирования  БМК</a:t>
            </a:r>
          </a:p>
        </p:txBody>
      </p:sp>
      <p:grpSp>
        <p:nvGrpSpPr>
          <p:cNvPr id="12" name="Группа 11"/>
          <p:cNvGrpSpPr/>
          <p:nvPr/>
        </p:nvGrpSpPr>
        <p:grpSpPr>
          <a:xfrm>
            <a:off x="851839" y="5159742"/>
            <a:ext cx="6817627" cy="422414"/>
            <a:chOff x="102539" y="5159742"/>
            <a:chExt cx="6817627" cy="422414"/>
          </a:xfrm>
        </p:grpSpPr>
        <p:sp>
          <p:nvSpPr>
            <p:cNvPr id="6" name="TextBox 5"/>
            <p:cNvSpPr txBox="1"/>
            <p:nvPr/>
          </p:nvSpPr>
          <p:spPr>
            <a:xfrm>
              <a:off x="102539" y="5159742"/>
              <a:ext cx="2381229" cy="400110"/>
            </a:xfrm>
            <a:prstGeom prst="rect">
              <a:avLst/>
            </a:prstGeom>
            <a:noFill/>
          </p:spPr>
          <p:txBody>
            <a:bodyPr wrap="none" rtlCol="0">
              <a:spAutoFit/>
            </a:bodyPr>
            <a:lstStyle/>
            <a:p>
              <a:r>
                <a:rPr lang="ru-RU" sz="2000" b="1" dirty="0" smtClean="0"/>
                <a:t>Исходное описание</a:t>
              </a:r>
              <a:endParaRPr lang="ru-RU" sz="2000" b="1" dirty="0"/>
            </a:p>
          </p:txBody>
        </p:sp>
        <p:sp>
          <p:nvSpPr>
            <p:cNvPr id="10" name="TextBox 9"/>
            <p:cNvSpPr txBox="1"/>
            <p:nvPr/>
          </p:nvSpPr>
          <p:spPr>
            <a:xfrm>
              <a:off x="4158576" y="5172442"/>
              <a:ext cx="2761590" cy="400110"/>
            </a:xfrm>
            <a:prstGeom prst="rect">
              <a:avLst/>
            </a:prstGeom>
            <a:noFill/>
          </p:spPr>
          <p:txBody>
            <a:bodyPr wrap="none" rtlCol="0">
              <a:spAutoFit/>
            </a:bodyPr>
            <a:lstStyle/>
            <a:p>
              <a:r>
                <a:rPr lang="ru-RU" sz="2000" b="1" dirty="0" smtClean="0"/>
                <a:t>Базис библиотеки БМК</a:t>
              </a:r>
              <a:endParaRPr lang="ru-RU" sz="2000" b="1" dirty="0"/>
            </a:p>
          </p:txBody>
        </p:sp>
        <p:sp>
          <p:nvSpPr>
            <p:cNvPr id="11" name="Стрелка вправо 10"/>
            <p:cNvSpPr/>
            <p:nvPr/>
          </p:nvSpPr>
          <p:spPr>
            <a:xfrm>
              <a:off x="2555776" y="5212824"/>
              <a:ext cx="1512168"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Tree>
    <p:extLst>
      <p:ext uri="{BB962C8B-B14F-4D97-AF65-F5344CB8AC3E}">
        <p14:creationId xmlns:p14="http://schemas.microsoft.com/office/powerpoint/2010/main" val="3447872129"/>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364088" y="214999"/>
            <a:ext cx="3456384" cy="6643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2123728" y="171065"/>
            <a:ext cx="3190874" cy="400110"/>
          </a:xfrm>
          <a:prstGeom prst="rect">
            <a:avLst/>
          </a:prstGeom>
        </p:spPr>
        <p:txBody>
          <a:bodyPr wrap="none">
            <a:spAutoFit/>
          </a:bodyPr>
          <a:lstStyle/>
          <a:p>
            <a:r>
              <a:rPr lang="ru-RU" sz="2000" b="1" dirty="0"/>
              <a:t>Маршрут  </a:t>
            </a:r>
            <a:r>
              <a:rPr lang="ru-RU" sz="2000" b="1" dirty="0" smtClean="0"/>
              <a:t>проектирования</a:t>
            </a:r>
            <a:endParaRPr lang="ru-RU" sz="2000" b="1" dirty="0"/>
          </a:p>
        </p:txBody>
      </p:sp>
      <p:sp>
        <p:nvSpPr>
          <p:cNvPr id="5" name="Прямоугольник 4"/>
          <p:cNvSpPr/>
          <p:nvPr/>
        </p:nvSpPr>
        <p:spPr>
          <a:xfrm>
            <a:off x="107504" y="2636912"/>
            <a:ext cx="5256584" cy="1015663"/>
          </a:xfrm>
          <a:prstGeom prst="rect">
            <a:avLst/>
          </a:prstGeom>
        </p:spPr>
        <p:txBody>
          <a:bodyPr wrap="square">
            <a:spAutoFit/>
          </a:bodyPr>
          <a:lstStyle/>
          <a:p>
            <a:r>
              <a:rPr lang="ru-RU" sz="2000" b="1" dirty="0"/>
              <a:t>Для  разных  по  сложности  БМК  полный  цикл  проектирования </a:t>
            </a:r>
            <a:r>
              <a:rPr lang="ru-RU" sz="2000" b="1" dirty="0" smtClean="0"/>
              <a:t> занимает  </a:t>
            </a:r>
            <a:r>
              <a:rPr lang="ru-RU" sz="2000" b="1" dirty="0"/>
              <a:t>от </a:t>
            </a:r>
          </a:p>
          <a:p>
            <a:r>
              <a:rPr lang="ru-RU" sz="2000" b="1" dirty="0" smtClean="0"/>
              <a:t>1,5  </a:t>
            </a:r>
            <a:r>
              <a:rPr lang="ru-RU" sz="2000" b="1" dirty="0"/>
              <a:t>до  3  </a:t>
            </a:r>
            <a:r>
              <a:rPr lang="ru-RU" sz="2000" b="1" dirty="0" smtClean="0"/>
              <a:t>месяцев. </a:t>
            </a:r>
            <a:endParaRPr lang="ru-RU" sz="2000" b="1" dirty="0"/>
          </a:p>
        </p:txBody>
      </p:sp>
    </p:spTree>
    <p:extLst>
      <p:ext uri="{BB962C8B-B14F-4D97-AF65-F5344CB8AC3E}">
        <p14:creationId xmlns:p14="http://schemas.microsoft.com/office/powerpoint/2010/main" val="35437664"/>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6898" y="332656"/>
            <a:ext cx="8928992" cy="4708981"/>
          </a:xfrm>
          <a:prstGeom prst="rect">
            <a:avLst/>
          </a:prstGeom>
        </p:spPr>
        <p:txBody>
          <a:bodyPr wrap="square">
            <a:spAutoFit/>
          </a:bodyPr>
          <a:lstStyle/>
          <a:p>
            <a:r>
              <a:rPr lang="ru-RU" sz="2000" b="1" dirty="0"/>
              <a:t>Проектирование  </a:t>
            </a:r>
            <a:r>
              <a:rPr lang="ru-RU" sz="2000" dirty="0"/>
              <a:t>—  разработка  технической  документации,  позволяющей  </a:t>
            </a:r>
            <a:r>
              <a:rPr lang="ru-RU" sz="2000" dirty="0" smtClean="0"/>
              <a:t>изготовить</a:t>
            </a:r>
            <a:r>
              <a:rPr lang="en-US" sz="2000" dirty="0" smtClean="0"/>
              <a:t> </a:t>
            </a:r>
            <a:r>
              <a:rPr lang="ru-RU" sz="2000" dirty="0" smtClean="0"/>
              <a:t>устройство  </a:t>
            </a:r>
            <a:r>
              <a:rPr lang="ru-RU" sz="2000" dirty="0"/>
              <a:t>с  заданными  функционированием  и  свойствами  в  заданных  </a:t>
            </a:r>
            <a:r>
              <a:rPr lang="ru-RU" sz="2000" dirty="0" smtClean="0"/>
              <a:t>условиях.</a:t>
            </a:r>
            <a:endParaRPr lang="en-US" sz="2000" dirty="0" smtClean="0"/>
          </a:p>
          <a:p>
            <a:r>
              <a:rPr lang="ru-RU" sz="2000" dirty="0" smtClean="0"/>
              <a:t>   </a:t>
            </a:r>
            <a:endParaRPr lang="ru-RU" sz="2000" dirty="0"/>
          </a:p>
          <a:p>
            <a:r>
              <a:rPr lang="ru-RU" sz="2000" i="1" dirty="0" err="1"/>
              <a:t>Cложность</a:t>
            </a:r>
            <a:r>
              <a:rPr lang="ru-RU" sz="2000" dirty="0"/>
              <a:t>  современных  систем  заставляет  рассматривать  их  с  различных  позиций </a:t>
            </a:r>
            <a:r>
              <a:rPr lang="ru-RU" sz="2000" dirty="0" smtClean="0"/>
              <a:t>и</a:t>
            </a:r>
            <a:r>
              <a:rPr lang="en-US" sz="2000" dirty="0" smtClean="0"/>
              <a:t> </a:t>
            </a:r>
            <a:r>
              <a:rPr lang="ru-RU" sz="2000" dirty="0" smtClean="0"/>
              <a:t>с  </a:t>
            </a:r>
            <a:r>
              <a:rPr lang="ru-RU" sz="2000" dirty="0"/>
              <a:t>различной  степенью  детализации.  Устройство  (и/или  его  модели)  могут  быть </a:t>
            </a:r>
            <a:r>
              <a:rPr lang="en-US" sz="2000" dirty="0" smtClean="0"/>
              <a:t> </a:t>
            </a:r>
            <a:r>
              <a:rPr lang="ru-RU" sz="2000" dirty="0" smtClean="0"/>
              <a:t>описаны  </a:t>
            </a:r>
            <a:r>
              <a:rPr lang="ru-RU" sz="2000" dirty="0"/>
              <a:t>в  формах: </a:t>
            </a:r>
            <a:endParaRPr lang="en-US" sz="2000" dirty="0" smtClean="0"/>
          </a:p>
          <a:p>
            <a:pPr marL="342900" indent="-342900">
              <a:buFont typeface="Arial" panose="020B0604020202020204" pitchFamily="34" charset="0"/>
              <a:buChar char="•"/>
            </a:pPr>
            <a:r>
              <a:rPr lang="ru-RU" sz="2000" dirty="0" smtClean="0"/>
              <a:t>определения  </a:t>
            </a:r>
            <a:r>
              <a:rPr lang="ru-RU" sz="2000" dirty="0"/>
              <a:t>выходных  откликов  на  входные  воздействия  —  это  </a:t>
            </a:r>
            <a:r>
              <a:rPr lang="ru-RU" sz="2000" i="1" dirty="0" smtClean="0"/>
              <a:t>функциональное  </a:t>
            </a:r>
            <a:r>
              <a:rPr lang="ru-RU" sz="2000" i="1" dirty="0"/>
              <a:t>описание</a:t>
            </a:r>
            <a:r>
              <a:rPr lang="ru-RU" sz="2000" dirty="0"/>
              <a:t>;   </a:t>
            </a:r>
          </a:p>
          <a:p>
            <a:pPr marL="342900" indent="-342900">
              <a:buFont typeface="Arial" panose="020B0604020202020204" pitchFamily="34" charset="0"/>
              <a:buChar char="•"/>
            </a:pPr>
            <a:endParaRPr lang="ru-RU" sz="2000" dirty="0"/>
          </a:p>
          <a:p>
            <a:pPr marL="342900" indent="-342900">
              <a:buFont typeface="Arial" panose="020B0604020202020204" pitchFamily="34" charset="0"/>
              <a:buChar char="•"/>
            </a:pPr>
            <a:r>
              <a:rPr lang="ru-RU" sz="2000" dirty="0" smtClean="0"/>
              <a:t>в</a:t>
            </a:r>
            <a:r>
              <a:rPr lang="en-US" sz="2000" dirty="0" smtClean="0"/>
              <a:t> </a:t>
            </a:r>
            <a:r>
              <a:rPr lang="ru-RU" sz="2000" dirty="0" smtClean="0"/>
              <a:t>терминах  </a:t>
            </a:r>
            <a:r>
              <a:rPr lang="ru-RU" sz="2000" dirty="0"/>
              <a:t>соединения  более  примитивных  элементов  —  это  </a:t>
            </a:r>
            <a:r>
              <a:rPr lang="ru-RU" sz="2000" i="1" dirty="0"/>
              <a:t>структурное  </a:t>
            </a:r>
            <a:r>
              <a:rPr lang="ru-RU" sz="2000" i="1" dirty="0" smtClean="0"/>
              <a:t>описание</a:t>
            </a:r>
            <a:r>
              <a:rPr lang="ru-RU" sz="2000" dirty="0" smtClean="0"/>
              <a:t>.</a:t>
            </a:r>
            <a:endParaRPr lang="en-US" sz="2000" dirty="0" smtClean="0"/>
          </a:p>
          <a:p>
            <a:r>
              <a:rPr lang="ru-RU" sz="2000" dirty="0" smtClean="0"/>
              <a:t> </a:t>
            </a:r>
            <a:endParaRPr lang="ru-RU" sz="2000" dirty="0"/>
          </a:p>
          <a:p>
            <a:r>
              <a:rPr lang="ru-RU" sz="2000" dirty="0"/>
              <a:t>Как  правило,  используется  смесь  обоих  способов  описания  в  иерархически  или </a:t>
            </a:r>
            <a:r>
              <a:rPr lang="en-US" sz="2000" dirty="0" smtClean="0"/>
              <a:t> </a:t>
            </a:r>
            <a:r>
              <a:rPr lang="ru-RU" sz="2000" dirty="0" smtClean="0"/>
              <a:t>смешанно  </a:t>
            </a:r>
            <a:r>
              <a:rPr lang="ru-RU" sz="2000" dirty="0"/>
              <a:t>организованной  форме. </a:t>
            </a:r>
          </a:p>
        </p:txBody>
      </p:sp>
    </p:spTree>
    <p:extLst>
      <p:ext uri="{BB962C8B-B14F-4D97-AF65-F5344CB8AC3E}">
        <p14:creationId xmlns:p14="http://schemas.microsoft.com/office/powerpoint/2010/main" val="254113357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9537" y="260648"/>
            <a:ext cx="9104463" cy="6237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070561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620688"/>
            <a:ext cx="8712968" cy="3170099"/>
          </a:xfrm>
          <a:prstGeom prst="rect">
            <a:avLst/>
          </a:prstGeom>
        </p:spPr>
        <p:txBody>
          <a:bodyPr wrap="square">
            <a:spAutoFit/>
          </a:bodyPr>
          <a:lstStyle/>
          <a:p>
            <a:r>
              <a:rPr lang="ru-RU" sz="2000" b="1" dirty="0"/>
              <a:t>Техническая  сторона  проектирования  </a:t>
            </a:r>
            <a:r>
              <a:rPr lang="ru-RU" sz="2000" dirty="0"/>
              <a:t>определяется  тремя  основными  </a:t>
            </a:r>
            <a:r>
              <a:rPr lang="ru-RU" sz="2000" dirty="0" smtClean="0"/>
              <a:t>составляющими</a:t>
            </a:r>
            <a:r>
              <a:rPr lang="ru-RU" sz="2000" dirty="0"/>
              <a:t>: </a:t>
            </a:r>
          </a:p>
          <a:p>
            <a:pPr marL="285750" indent="-285750">
              <a:buFont typeface="Arial" panose="020B0604020202020204" pitchFamily="34" charset="0"/>
              <a:buChar char="•"/>
            </a:pPr>
            <a:r>
              <a:rPr lang="ru-RU" sz="2000" dirty="0" smtClean="0"/>
              <a:t>используемой  </a:t>
            </a:r>
            <a:r>
              <a:rPr lang="ru-RU" sz="2000" dirty="0"/>
              <a:t>компонентной  </a:t>
            </a:r>
            <a:r>
              <a:rPr lang="ru-RU" sz="2000" dirty="0" smtClean="0"/>
              <a:t>базой; </a:t>
            </a:r>
            <a:endParaRPr lang="ru-RU" sz="2000" dirty="0"/>
          </a:p>
          <a:p>
            <a:pPr marL="285750" indent="-285750">
              <a:buFont typeface="Arial" panose="020B0604020202020204" pitchFamily="34" charset="0"/>
              <a:buChar char="•"/>
            </a:pPr>
            <a:endParaRPr lang="ru-RU" sz="2000" dirty="0"/>
          </a:p>
          <a:p>
            <a:pPr marL="285750" indent="-285750">
              <a:buFont typeface="Arial" panose="020B0604020202020204" pitchFamily="34" charset="0"/>
              <a:buChar char="•"/>
            </a:pPr>
            <a:r>
              <a:rPr lang="ru-RU" sz="2000" dirty="0" smtClean="0"/>
              <a:t>инструментарием  </a:t>
            </a:r>
            <a:r>
              <a:rPr lang="ru-RU" sz="2000" dirty="0"/>
              <a:t>проектировщика  (при  ориентации  на  разработку  </a:t>
            </a:r>
            <a:r>
              <a:rPr lang="ru-RU" sz="2000" dirty="0" smtClean="0"/>
              <a:t>аппаратно-программных  </a:t>
            </a:r>
            <a:r>
              <a:rPr lang="ru-RU" sz="2000" dirty="0"/>
              <a:t>систем  —  это  САПР); </a:t>
            </a:r>
          </a:p>
          <a:p>
            <a:pPr marL="285750" indent="-285750">
              <a:buFont typeface="Arial" panose="020B0604020202020204" pitchFamily="34" charset="0"/>
              <a:buChar char="•"/>
            </a:pPr>
            <a:endParaRPr lang="ru-RU" sz="2000" dirty="0"/>
          </a:p>
          <a:p>
            <a:pPr marL="285750" indent="-285750">
              <a:buFont typeface="Arial" panose="020B0604020202020204" pitchFamily="34" charset="0"/>
              <a:buChar char="•"/>
            </a:pPr>
            <a:r>
              <a:rPr lang="ru-RU" sz="2000" dirty="0" smtClean="0"/>
              <a:t>методикой  </a:t>
            </a:r>
            <a:r>
              <a:rPr lang="ru-RU" sz="2000" dirty="0"/>
              <a:t>использования  инструмента  и  </a:t>
            </a:r>
            <a:r>
              <a:rPr lang="ru-RU" sz="2000" dirty="0" smtClean="0"/>
              <a:t>компонентной базы  </a:t>
            </a:r>
            <a:r>
              <a:rPr lang="ru-RU" sz="2000" dirty="0"/>
              <a:t>(обычно  для  этого  </a:t>
            </a:r>
            <a:r>
              <a:rPr lang="ru-RU" sz="2000" dirty="0" smtClean="0"/>
              <a:t>используется  </a:t>
            </a:r>
            <a:r>
              <a:rPr lang="ru-RU" sz="2000" dirty="0"/>
              <a:t>термин  </a:t>
            </a:r>
            <a:r>
              <a:rPr lang="ru-RU" sz="2000" dirty="0" err="1"/>
              <a:t>Design</a:t>
            </a:r>
            <a:r>
              <a:rPr lang="ru-RU" sz="2000" dirty="0"/>
              <a:t>  </a:t>
            </a:r>
            <a:r>
              <a:rPr lang="ru-RU" sz="2000" dirty="0" err="1"/>
              <a:t>Flow</a:t>
            </a:r>
            <a:r>
              <a:rPr lang="ru-RU" sz="2000" dirty="0"/>
              <a:t>  —  маршрут  проектирования). </a:t>
            </a:r>
          </a:p>
        </p:txBody>
      </p:sp>
    </p:spTree>
    <p:extLst>
      <p:ext uri="{BB962C8B-B14F-4D97-AF65-F5344CB8AC3E}">
        <p14:creationId xmlns:p14="http://schemas.microsoft.com/office/powerpoint/2010/main" val="196366284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87176"/>
            <a:ext cx="8856984" cy="2554545"/>
          </a:xfrm>
          <a:prstGeom prst="rect">
            <a:avLst/>
          </a:prstGeom>
        </p:spPr>
        <p:txBody>
          <a:bodyPr wrap="square">
            <a:spAutoFit/>
          </a:bodyPr>
          <a:lstStyle/>
          <a:p>
            <a:r>
              <a:rPr lang="ru-RU" sz="2000" dirty="0"/>
              <a:t>При  выборе  типа  </a:t>
            </a:r>
            <a:r>
              <a:rPr lang="ru-RU" sz="2000" dirty="0" smtClean="0"/>
              <a:t>компонентной базы  </a:t>
            </a:r>
            <a:r>
              <a:rPr lang="ru-RU" sz="2000" dirty="0"/>
              <a:t>для  реализации  проекта  </a:t>
            </a:r>
            <a:r>
              <a:rPr lang="ru-RU" sz="2000" dirty="0" smtClean="0"/>
              <a:t>учитываются  </a:t>
            </a:r>
            <a:r>
              <a:rPr lang="ru-RU" sz="2000" dirty="0"/>
              <a:t>следующие  факторы: </a:t>
            </a:r>
          </a:p>
          <a:p>
            <a:pPr marL="285750" indent="-285750">
              <a:buFont typeface="Arial" panose="020B0604020202020204" pitchFamily="34" charset="0"/>
              <a:buChar char="•"/>
            </a:pPr>
            <a:r>
              <a:rPr lang="ru-RU" sz="2000" dirty="0" smtClean="0"/>
              <a:t>сложность  </a:t>
            </a:r>
            <a:r>
              <a:rPr lang="ru-RU" sz="2000" dirty="0"/>
              <a:t>проекта; </a:t>
            </a:r>
          </a:p>
          <a:p>
            <a:pPr marL="285750" indent="-285750">
              <a:buFont typeface="Arial" panose="020B0604020202020204" pitchFamily="34" charset="0"/>
              <a:buChar char="•"/>
            </a:pPr>
            <a:r>
              <a:rPr lang="ru-RU" sz="2000" dirty="0" smtClean="0"/>
              <a:t>требуемое  </a:t>
            </a:r>
            <a:r>
              <a:rPr lang="ru-RU" sz="2000" dirty="0"/>
              <a:t>быстродействие  (производительность); </a:t>
            </a:r>
          </a:p>
          <a:p>
            <a:pPr marL="285750" indent="-285750">
              <a:buFont typeface="Arial" panose="020B0604020202020204" pitchFamily="34" charset="0"/>
              <a:buChar char="•"/>
            </a:pPr>
            <a:r>
              <a:rPr lang="ru-RU" sz="2000" dirty="0" smtClean="0"/>
              <a:t>потребляемая  </a:t>
            </a:r>
            <a:r>
              <a:rPr lang="ru-RU" sz="2000" dirty="0"/>
              <a:t>мощность  и  габаритные  показатели; </a:t>
            </a:r>
          </a:p>
          <a:p>
            <a:pPr marL="285750" indent="-285750">
              <a:buFont typeface="Arial" panose="020B0604020202020204" pitchFamily="34" charset="0"/>
              <a:buChar char="•"/>
            </a:pPr>
            <a:r>
              <a:rPr lang="ru-RU" sz="2000" dirty="0" smtClean="0"/>
              <a:t>время  </a:t>
            </a:r>
            <a:r>
              <a:rPr lang="ru-RU" sz="2000" dirty="0"/>
              <a:t>подготовки  производства  изделия; </a:t>
            </a:r>
          </a:p>
          <a:p>
            <a:pPr marL="285750" indent="-285750">
              <a:buFont typeface="Arial" panose="020B0604020202020204" pitchFamily="34" charset="0"/>
              <a:buChar char="•"/>
            </a:pPr>
            <a:r>
              <a:rPr lang="ru-RU" sz="2000" dirty="0" smtClean="0"/>
              <a:t>стоимость  </a:t>
            </a:r>
            <a:r>
              <a:rPr lang="ru-RU" sz="2000" dirty="0"/>
              <a:t>производимой  продукции. </a:t>
            </a:r>
          </a:p>
          <a:p>
            <a:endParaRPr lang="ru-RU" sz="2000" dirty="0" smtClean="0"/>
          </a:p>
        </p:txBody>
      </p:sp>
      <p:pic>
        <p:nvPicPr>
          <p:cNvPr id="645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9" y="2258136"/>
            <a:ext cx="4968552" cy="4374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137532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9091"/>
            <a:ext cx="6066136" cy="3770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1115616" y="3613854"/>
            <a:ext cx="7200800" cy="369332"/>
          </a:xfrm>
          <a:prstGeom prst="rect">
            <a:avLst/>
          </a:prstGeom>
        </p:spPr>
        <p:txBody>
          <a:bodyPr wrap="square">
            <a:spAutoFit/>
          </a:bodyPr>
          <a:lstStyle/>
          <a:p>
            <a:r>
              <a:rPr lang="ru-RU" b="1" dirty="0" smtClean="0"/>
              <a:t>Зависимость  стоимости  партии  микросхем  </a:t>
            </a:r>
            <a:r>
              <a:rPr lang="ru-RU" b="1" dirty="0"/>
              <a:t>от  объема  </a:t>
            </a:r>
            <a:r>
              <a:rPr lang="ru-RU" b="1" dirty="0" smtClean="0"/>
              <a:t>партии</a:t>
            </a:r>
            <a:endParaRPr lang="ru-RU" b="1" dirty="0"/>
          </a:p>
        </p:txBody>
      </p:sp>
      <p:sp>
        <p:nvSpPr>
          <p:cNvPr id="6" name="Прямоугольник 5"/>
          <p:cNvSpPr/>
          <p:nvPr/>
        </p:nvSpPr>
        <p:spPr>
          <a:xfrm>
            <a:off x="195457" y="4149080"/>
            <a:ext cx="8784976" cy="2554545"/>
          </a:xfrm>
          <a:prstGeom prst="rect">
            <a:avLst/>
          </a:prstGeom>
        </p:spPr>
        <p:txBody>
          <a:bodyPr wrap="square">
            <a:spAutoFit/>
          </a:bodyPr>
          <a:lstStyle/>
          <a:p>
            <a:r>
              <a:rPr lang="ru-RU" sz="2000" b="1" dirty="0"/>
              <a:t>Н</a:t>
            </a:r>
            <a:r>
              <a:rPr lang="ru-RU" sz="2000" b="1" dirty="0" smtClean="0"/>
              <a:t>екоторые  количественные  характеристики  больших  проектов</a:t>
            </a:r>
            <a:r>
              <a:rPr lang="ru-RU" sz="2000" b="1" dirty="0"/>
              <a:t>: </a:t>
            </a:r>
            <a:endParaRPr lang="ru-RU" sz="2000" b="1" dirty="0" smtClean="0"/>
          </a:p>
          <a:p>
            <a:endParaRPr lang="ru-RU" sz="2000" b="1" dirty="0"/>
          </a:p>
          <a:p>
            <a:pPr marL="342900" indent="-342900">
              <a:buFont typeface="Arial" panose="020B0604020202020204" pitchFamily="34" charset="0"/>
              <a:buChar char="•"/>
            </a:pPr>
            <a:r>
              <a:rPr lang="ru-RU" sz="2000" dirty="0" smtClean="0"/>
              <a:t>для  </a:t>
            </a:r>
            <a:r>
              <a:rPr lang="ru-RU" sz="2000" dirty="0"/>
              <a:t>схем  ASIC  (</a:t>
            </a:r>
            <a:r>
              <a:rPr lang="ru-RU" sz="2000" dirty="0" err="1"/>
              <a:t>Application</a:t>
            </a:r>
            <a:r>
              <a:rPr lang="ru-RU" sz="2000" dirty="0"/>
              <a:t>  </a:t>
            </a:r>
            <a:r>
              <a:rPr lang="ru-RU" sz="2000" dirty="0" err="1"/>
              <a:t>Specific</a:t>
            </a:r>
            <a:r>
              <a:rPr lang="ru-RU" sz="2000" dirty="0"/>
              <a:t>  </a:t>
            </a:r>
            <a:r>
              <a:rPr lang="ru-RU" sz="2000" dirty="0" err="1"/>
              <a:t>Integrated</a:t>
            </a:r>
            <a:r>
              <a:rPr lang="ru-RU" sz="2000" dirty="0"/>
              <a:t>  </a:t>
            </a:r>
            <a:r>
              <a:rPr lang="ru-RU" sz="2000" dirty="0" err="1"/>
              <a:t>Circuits</a:t>
            </a:r>
            <a:r>
              <a:rPr lang="ru-RU" sz="2000" dirty="0"/>
              <a:t>)  —  более  20  млн  </a:t>
            </a:r>
            <a:r>
              <a:rPr lang="ru-RU" sz="2000" dirty="0" smtClean="0"/>
              <a:t>вентилей  </a:t>
            </a:r>
            <a:r>
              <a:rPr lang="ru-RU" sz="2000" dirty="0"/>
              <a:t>в  кристалле,  для  ПЛИС  —  более  5  млн  вентилей; </a:t>
            </a:r>
          </a:p>
          <a:p>
            <a:pPr marL="342900" indent="-342900">
              <a:buFont typeface="Arial" panose="020B0604020202020204" pitchFamily="34" charset="0"/>
              <a:buChar char="•"/>
            </a:pPr>
            <a:r>
              <a:rPr lang="ru-RU" sz="2000" dirty="0" smtClean="0"/>
              <a:t>для  </a:t>
            </a:r>
            <a:r>
              <a:rPr lang="ru-RU" sz="2000" dirty="0"/>
              <a:t>описания  поведения  проекта  на  системном  уровне  требуется  более  0,5  млн </a:t>
            </a:r>
            <a:r>
              <a:rPr lang="ru-RU" sz="2000" dirty="0" smtClean="0"/>
              <a:t>строк  </a:t>
            </a:r>
            <a:r>
              <a:rPr lang="ru-RU" sz="2000" dirty="0"/>
              <a:t>кода  на  языке  СИ; </a:t>
            </a:r>
          </a:p>
          <a:p>
            <a:pPr marL="342900" indent="-342900">
              <a:buFont typeface="Arial" panose="020B0604020202020204" pitchFamily="34" charset="0"/>
              <a:buChar char="•"/>
            </a:pPr>
            <a:r>
              <a:rPr lang="ru-RU" sz="2000" dirty="0" smtClean="0"/>
              <a:t>при  </a:t>
            </a:r>
            <a:r>
              <a:rPr lang="ru-RU" sz="2000" dirty="0"/>
              <a:t>описании  проекта  на  уровне  регистровых  передач  используется  более </a:t>
            </a:r>
            <a:r>
              <a:rPr lang="ru-RU" sz="2000" dirty="0" smtClean="0"/>
              <a:t> 5  </a:t>
            </a:r>
            <a:r>
              <a:rPr lang="ru-RU" sz="2000" dirty="0"/>
              <a:t>млн  строк  кода  RTL. </a:t>
            </a:r>
          </a:p>
        </p:txBody>
      </p:sp>
    </p:spTree>
    <p:extLst>
      <p:ext uri="{BB962C8B-B14F-4D97-AF65-F5344CB8AC3E}">
        <p14:creationId xmlns:p14="http://schemas.microsoft.com/office/powerpoint/2010/main" val="261333263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35082</TotalTime>
  <Words>14437</Words>
  <Application>Microsoft Office PowerPoint</Application>
  <PresentationFormat>Экран (4:3)</PresentationFormat>
  <Paragraphs>2823</Paragraphs>
  <Slides>200</Slides>
  <Notes>1</Notes>
  <HiddenSlides>0</HiddenSlides>
  <MMClips>0</MMClips>
  <ScaleCrop>false</ScaleCrop>
  <HeadingPairs>
    <vt:vector size="8" baseType="variant">
      <vt:variant>
        <vt:lpstr>Использованные шрифты</vt:lpstr>
      </vt:variant>
      <vt:variant>
        <vt:i4>3</vt:i4>
      </vt:variant>
      <vt:variant>
        <vt:lpstr>Тема</vt:lpstr>
      </vt:variant>
      <vt:variant>
        <vt:i4>1</vt:i4>
      </vt:variant>
      <vt:variant>
        <vt:lpstr>Внедренные серверы OLE</vt:lpstr>
      </vt:variant>
      <vt:variant>
        <vt:i4>1</vt:i4>
      </vt:variant>
      <vt:variant>
        <vt:lpstr>Заголовки слайдов</vt:lpstr>
      </vt:variant>
      <vt:variant>
        <vt:i4>200</vt:i4>
      </vt:variant>
    </vt:vector>
  </HeadingPairs>
  <TitlesOfParts>
    <vt:vector size="205" baseType="lpstr">
      <vt:lpstr>Arial</vt:lpstr>
      <vt:lpstr>Calibri</vt:lpstr>
      <vt:lpstr>Times New Roman</vt:lpstr>
      <vt:lpstr>Тема Office</vt:lpstr>
      <vt:lpstr>Equation</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Евгений Бегинин</dc:creator>
  <cp:lastModifiedBy>Евгений</cp:lastModifiedBy>
  <cp:revision>351</cp:revision>
  <dcterms:created xsi:type="dcterms:W3CDTF">2016-09-14T16:11:23Z</dcterms:created>
  <dcterms:modified xsi:type="dcterms:W3CDTF">2020-07-24T08:41:04Z</dcterms:modified>
</cp:coreProperties>
</file>